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4"/>
  </p:notesMasterIdLst>
  <p:sldIdLst>
    <p:sldId id="377" r:id="rId2"/>
    <p:sldId id="402" r:id="rId3"/>
    <p:sldId id="332" r:id="rId4"/>
    <p:sldId id="333" r:id="rId5"/>
    <p:sldId id="334" r:id="rId6"/>
    <p:sldId id="335" r:id="rId7"/>
    <p:sldId id="336" r:id="rId8"/>
    <p:sldId id="337" r:id="rId9"/>
    <p:sldId id="338" r:id="rId10"/>
    <p:sldId id="444" r:id="rId11"/>
    <p:sldId id="555" r:id="rId12"/>
    <p:sldId id="398" r:id="rId13"/>
    <p:sldId id="390" r:id="rId14"/>
    <p:sldId id="391" r:id="rId15"/>
    <p:sldId id="520" r:id="rId16"/>
    <p:sldId id="346" r:id="rId17"/>
    <p:sldId id="392" r:id="rId18"/>
    <p:sldId id="393" r:id="rId19"/>
    <p:sldId id="394" r:id="rId20"/>
    <p:sldId id="445" r:id="rId21"/>
    <p:sldId id="446" r:id="rId22"/>
    <p:sldId id="347" r:id="rId23"/>
    <p:sldId id="401" r:id="rId24"/>
    <p:sldId id="556" r:id="rId25"/>
    <p:sldId id="349" r:id="rId26"/>
    <p:sldId id="408" r:id="rId27"/>
    <p:sldId id="410" r:id="rId28"/>
    <p:sldId id="407" r:id="rId29"/>
    <p:sldId id="411" r:id="rId30"/>
    <p:sldId id="409" r:id="rId31"/>
    <p:sldId id="547" r:id="rId32"/>
    <p:sldId id="355" r:id="rId33"/>
    <p:sldId id="356" r:id="rId34"/>
    <p:sldId id="539" r:id="rId35"/>
    <p:sldId id="538" r:id="rId36"/>
    <p:sldId id="540" r:id="rId37"/>
    <p:sldId id="521" r:id="rId38"/>
    <p:sldId id="560" r:id="rId39"/>
    <p:sldId id="537" r:id="rId40"/>
    <p:sldId id="541" r:id="rId41"/>
    <p:sldId id="542" r:id="rId42"/>
    <p:sldId id="543" r:id="rId43"/>
    <p:sldId id="357" r:id="rId44"/>
    <p:sldId id="403" r:id="rId45"/>
    <p:sldId id="561" r:id="rId46"/>
    <p:sldId id="544" r:id="rId47"/>
    <p:sldId id="545" r:id="rId48"/>
    <p:sldId id="546" r:id="rId49"/>
    <p:sldId id="505" r:id="rId50"/>
    <p:sldId id="405" r:id="rId51"/>
    <p:sldId id="351" r:id="rId52"/>
    <p:sldId id="506" r:id="rId53"/>
    <p:sldId id="508" r:id="rId54"/>
    <p:sldId id="510" r:id="rId55"/>
    <p:sldId id="548" r:id="rId56"/>
    <p:sldId id="509" r:id="rId57"/>
    <p:sldId id="527" r:id="rId58"/>
    <p:sldId id="512" r:id="rId59"/>
    <p:sldId id="524" r:id="rId60"/>
    <p:sldId id="515" r:id="rId61"/>
    <p:sldId id="549" r:id="rId62"/>
    <p:sldId id="526" r:id="rId63"/>
    <p:sldId id="528" r:id="rId64"/>
    <p:sldId id="516" r:id="rId65"/>
    <p:sldId id="517" r:id="rId66"/>
    <p:sldId id="518" r:id="rId67"/>
    <p:sldId id="519" r:id="rId68"/>
    <p:sldId id="507" r:id="rId69"/>
    <p:sldId id="414" r:id="rId70"/>
    <p:sldId id="358" r:id="rId71"/>
    <p:sldId id="550" r:id="rId72"/>
    <p:sldId id="359" r:id="rId73"/>
    <p:sldId id="489" r:id="rId74"/>
    <p:sldId id="360" r:id="rId75"/>
    <p:sldId id="531" r:id="rId76"/>
    <p:sldId id="361" r:id="rId77"/>
    <p:sldId id="551" r:id="rId78"/>
    <p:sldId id="552" r:id="rId79"/>
    <p:sldId id="503" r:id="rId80"/>
    <p:sldId id="532" r:id="rId81"/>
    <p:sldId id="504" r:id="rId82"/>
    <p:sldId id="496" r:id="rId83"/>
    <p:sldId id="558" r:id="rId84"/>
    <p:sldId id="459" r:id="rId85"/>
    <p:sldId id="413" r:id="rId86"/>
    <p:sldId id="367" r:id="rId87"/>
    <p:sldId id="417" r:id="rId88"/>
    <p:sldId id="454" r:id="rId89"/>
    <p:sldId id="536" r:id="rId90"/>
    <p:sldId id="554" r:id="rId91"/>
    <p:sldId id="553" r:id="rId92"/>
    <p:sldId id="437" r:id="rId9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47" autoAdjust="0"/>
    <p:restoredTop sz="87700" autoAdjust="0"/>
  </p:normalViewPr>
  <p:slideViewPr>
    <p:cSldViewPr>
      <p:cViewPr varScale="1">
        <p:scale>
          <a:sx n="81" d="100"/>
          <a:sy n="81" d="100"/>
        </p:scale>
        <p:origin x="1000" y="5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0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楷体" panose="02010609060101010101" pitchFamily="49" charset="-122"/>
              </a:defRPr>
            </a:lvl1pPr>
          </a:lstStyle>
          <a:p>
            <a:endParaRPr lang="zh-CN" alt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楷体" panose="02010609060101010101" pitchFamily="49" charset="-122"/>
              </a:defRPr>
            </a:lvl1pPr>
          </a:lstStyle>
          <a:p>
            <a:fld id="{F5EC25CE-CB28-4BB0-88D1-486EF836DED4}" type="datetimeFigureOut">
              <a:rPr lang="zh-CN" altLang="en-US" smtClean="0"/>
              <a:pPr/>
              <a:t>2024/10/17</a:t>
            </a:fld>
            <a:endParaRPr lang="zh-CN" alt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楷体" panose="02010609060101010101" pitchFamily="49" charset="-122"/>
              </a:defRPr>
            </a:lvl1pPr>
          </a:lstStyle>
          <a:p>
            <a:endParaRPr lang="zh-CN" alt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楷体" panose="02010609060101010101" pitchFamily="49" charset="-122"/>
              </a:defRPr>
            </a:lvl1pPr>
          </a:lstStyle>
          <a:p>
            <a:fld id="{4EA215E7-E73A-4063-945D-6EE66474C503}" type="slidenum">
              <a:rPr lang="zh-CN" altLang="en-US" smtClean="0"/>
              <a:pPr/>
              <a:t>‹#›</a:t>
            </a:fld>
            <a:endParaRPr lang="zh-CN" altLang="en-US" dirty="0"/>
          </a:p>
        </p:txBody>
      </p:sp>
    </p:spTree>
    <p:extLst>
      <p:ext uri="{BB962C8B-B14F-4D97-AF65-F5344CB8AC3E}">
        <p14:creationId xmlns:p14="http://schemas.microsoft.com/office/powerpoint/2010/main" val="3201397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楷体" panose="02010609060101010101" pitchFamily="49" charset="-122"/>
        <a:cs typeface="+mn-cs"/>
      </a:defRPr>
    </a:lvl1pPr>
    <a:lvl2pPr marL="457200" algn="l" defTabSz="914400" rtl="0" eaLnBrk="1" latinLnBrk="0" hangingPunct="1">
      <a:defRPr sz="1200" kern="1200">
        <a:solidFill>
          <a:schemeClr val="tx1"/>
        </a:solidFill>
        <a:latin typeface="+mn-lt"/>
        <a:ea typeface="楷体" panose="02010609060101010101" pitchFamily="49" charset="-122"/>
        <a:cs typeface="+mn-cs"/>
      </a:defRPr>
    </a:lvl2pPr>
    <a:lvl3pPr marL="914400" algn="l" defTabSz="914400" rtl="0" eaLnBrk="1" latinLnBrk="0" hangingPunct="1">
      <a:defRPr sz="1200" kern="1200">
        <a:solidFill>
          <a:schemeClr val="tx1"/>
        </a:solidFill>
        <a:latin typeface="+mn-lt"/>
        <a:ea typeface="楷体" panose="02010609060101010101" pitchFamily="49" charset="-122"/>
        <a:cs typeface="+mn-cs"/>
      </a:defRPr>
    </a:lvl3pPr>
    <a:lvl4pPr marL="1371600" algn="l" defTabSz="914400" rtl="0" eaLnBrk="1" latinLnBrk="0" hangingPunct="1">
      <a:defRPr sz="1200" kern="1200">
        <a:solidFill>
          <a:schemeClr val="tx1"/>
        </a:solidFill>
        <a:latin typeface="+mn-lt"/>
        <a:ea typeface="楷体" panose="02010609060101010101" pitchFamily="49" charset="-122"/>
        <a:cs typeface="+mn-cs"/>
      </a:defRPr>
    </a:lvl4pPr>
    <a:lvl5pPr marL="1828800" algn="l" defTabSz="914400" rtl="0" eaLnBrk="1" latinLnBrk="0" hangingPunct="1">
      <a:defRPr sz="1200" kern="1200">
        <a:solidFill>
          <a:schemeClr val="tx1"/>
        </a:solidFill>
        <a:latin typeface="+mn-lt"/>
        <a:ea typeface="楷体"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i="1" dirty="0">
                <a:solidFill>
                  <a:srgbClr val="FF0000"/>
                </a:solidFill>
              </a:rPr>
              <a:t>使用已经存在的类</a:t>
            </a:r>
            <a:r>
              <a:rPr lang="en-US" altLang="zh-CN" i="1" dirty="0">
                <a:solidFill>
                  <a:srgbClr val="FF0000"/>
                </a:solidFill>
              </a:rPr>
              <a:t>:</a:t>
            </a:r>
            <a:r>
              <a:rPr lang="zh-CN" altLang="en-US" i="1" dirty="0">
                <a:solidFill>
                  <a:srgbClr val="FF0000"/>
                </a:solidFill>
              </a:rPr>
              <a:t>表示承上启下</a:t>
            </a:r>
            <a:endParaRPr lang="en-US" altLang="zh-CN" i="1" dirty="0">
              <a:solidFill>
                <a:srgbClr val="FF0000"/>
              </a:solidFill>
            </a:endParaRPr>
          </a:p>
          <a:p>
            <a:r>
              <a:rPr lang="en-US" altLang="zh-CN" i="1" dirty="0">
                <a:solidFill>
                  <a:srgbClr val="FF0000"/>
                </a:solidFill>
              </a:rPr>
              <a:t>Is</a:t>
            </a:r>
            <a:r>
              <a:rPr lang="en-US" altLang="zh-CN" i="1" baseline="0" dirty="0">
                <a:solidFill>
                  <a:srgbClr val="FF0000"/>
                </a:solidFill>
              </a:rPr>
              <a:t> a</a:t>
            </a:r>
            <a:r>
              <a:rPr lang="zh-CN" altLang="en-US" i="1" baseline="0" dirty="0">
                <a:solidFill>
                  <a:srgbClr val="FF0000"/>
                </a:solidFill>
              </a:rPr>
              <a:t>表示父类和子类的关系</a:t>
            </a:r>
            <a:endParaRPr lang="zh-CN" altLang="en-US" dirty="0"/>
          </a:p>
        </p:txBody>
      </p:sp>
      <p:sp>
        <p:nvSpPr>
          <p:cNvPr id="4" name="Slide Number Placeholder 3"/>
          <p:cNvSpPr>
            <a:spLocks noGrp="1"/>
          </p:cNvSpPr>
          <p:nvPr>
            <p:ph type="sldNum" sz="quarter" idx="10"/>
          </p:nvPr>
        </p:nvSpPr>
        <p:spPr/>
        <p:txBody>
          <a:bodyPr/>
          <a:lstStyle/>
          <a:p>
            <a:fld id="{4EA215E7-E73A-4063-945D-6EE66474C503}" type="slidenum">
              <a:rPr lang="zh-CN" altLang="en-US" smtClean="0"/>
              <a:t>1</a:t>
            </a:fld>
            <a:endParaRPr lang="zh-CN" altLang="en-US"/>
          </a:p>
        </p:txBody>
      </p:sp>
    </p:spTree>
    <p:extLst>
      <p:ext uri="{BB962C8B-B14F-4D97-AF65-F5344CB8AC3E}">
        <p14:creationId xmlns:p14="http://schemas.microsoft.com/office/powerpoint/2010/main" val="4235406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A215E7-E73A-4063-945D-6EE66474C503}" type="slidenum">
              <a:rPr lang="zh-CN" altLang="en-US" smtClean="0"/>
              <a:t>9</a:t>
            </a:fld>
            <a:endParaRPr lang="zh-CN" altLang="en-US"/>
          </a:p>
        </p:txBody>
      </p:sp>
    </p:spTree>
    <p:extLst>
      <p:ext uri="{BB962C8B-B14F-4D97-AF65-F5344CB8AC3E}">
        <p14:creationId xmlns:p14="http://schemas.microsoft.com/office/powerpoint/2010/main" val="532641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1200" b="1" dirty="0" err="1">
                <a:solidFill>
                  <a:srgbClr val="CC3300"/>
                </a:solidFill>
                <a:effectLst>
                  <a:outerShdw blurRad="38100" dist="38100" dir="2700000" algn="tl">
                    <a:srgbClr val="C0C0C0"/>
                  </a:outerShdw>
                </a:effectLst>
                <a:latin typeface="Times New Roman" pitchFamily="18" charset="0"/>
              </a:rPr>
              <a:t>CommunityMember</a:t>
            </a:r>
            <a:r>
              <a:rPr kumimoji="1" lang="en-US" altLang="zh-CN" sz="1200" b="1" dirty="0">
                <a:solidFill>
                  <a:srgbClr val="CC3300"/>
                </a:solidFill>
                <a:effectLst>
                  <a:outerShdw blurRad="38100" dist="38100" dir="2700000" algn="tl">
                    <a:srgbClr val="C0C0C0"/>
                  </a:outerShdw>
                </a:effectLst>
                <a:latin typeface="Times New Roman" pitchFamily="18" charset="0"/>
              </a:rPr>
              <a:t>:</a:t>
            </a:r>
            <a:r>
              <a:rPr kumimoji="1" lang="zh-CN" altLang="en-US" sz="1200" b="1" dirty="0">
                <a:solidFill>
                  <a:srgbClr val="CC3300"/>
                </a:solidFill>
                <a:effectLst>
                  <a:outerShdw blurRad="38100" dist="38100" dir="2700000" algn="tl">
                    <a:srgbClr val="C0C0C0"/>
                  </a:outerShdw>
                </a:effectLst>
                <a:latin typeface="Times New Roman" pitchFamily="18" charset="0"/>
              </a:rPr>
              <a:t>社区成员</a:t>
            </a:r>
            <a:endParaRPr kumimoji="1" lang="en-US" altLang="zh-CN" sz="1200" b="1" dirty="0">
              <a:solidFill>
                <a:srgbClr val="CC3300"/>
              </a:solidFill>
              <a:effectLst>
                <a:outerShdw blurRad="38100" dist="38100" dir="2700000" algn="tl">
                  <a:srgbClr val="C0C0C0"/>
                </a:outerShdw>
              </a:effectLst>
              <a:latin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b="1" dirty="0">
              <a:solidFill>
                <a:srgbClr val="CC3300"/>
              </a:solidFill>
              <a:effectLst>
                <a:outerShdw blurRad="38100" dist="38100" dir="2700000" algn="tl">
                  <a:srgbClr val="C0C0C0"/>
                </a:outerShdw>
              </a:effectLst>
              <a:latin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1200" b="1" dirty="0">
                <a:solidFill>
                  <a:srgbClr val="CC3300"/>
                </a:solidFill>
                <a:effectLst>
                  <a:outerShdw blurRad="38100" dist="38100" dir="2700000" algn="tl">
                    <a:srgbClr val="C0C0C0"/>
                  </a:outerShdw>
                </a:effectLst>
                <a:latin typeface="Times New Roman" pitchFamily="18" charset="0"/>
              </a:rPr>
              <a:t>Alumnus</a:t>
            </a:r>
            <a:r>
              <a:rPr kumimoji="0" lang="zh-CN" altLang="en-US" sz="1200" b="0" dirty="0">
                <a:solidFill>
                  <a:schemeClr val="tx1"/>
                </a:solidFill>
                <a:effectLst/>
                <a:latin typeface="+mn-lt"/>
              </a:rPr>
              <a:t>：校友</a:t>
            </a:r>
            <a:endParaRPr kumimoji="0" lang="en-US" altLang="zh-CN" sz="1200" b="0" dirty="0">
              <a:solidFill>
                <a:schemeClr val="tx1"/>
              </a:solidFill>
              <a:effectLst/>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200" b="0" dirty="0">
                <a:solidFill>
                  <a:schemeClr val="tx1"/>
                </a:solidFill>
                <a:effectLst/>
                <a:latin typeface="+mn-lt"/>
              </a:rPr>
              <a:t>Faculty</a:t>
            </a:r>
            <a:r>
              <a:rPr kumimoji="0" lang="zh-CN" altLang="en-US" sz="1200" b="0" dirty="0">
                <a:solidFill>
                  <a:schemeClr val="tx1"/>
                </a:solidFill>
                <a:effectLst/>
                <a:latin typeface="+mn-lt"/>
              </a:rPr>
              <a:t>：</a:t>
            </a:r>
            <a:r>
              <a:rPr lang="zh-CN" altLang="en-US" sz="1200" b="0" i="0" kern="1200" dirty="0">
                <a:solidFill>
                  <a:schemeClr val="tx1"/>
                </a:solidFill>
                <a:effectLst/>
                <a:latin typeface="+mn-lt"/>
                <a:cs typeface="+mn-cs"/>
              </a:rPr>
              <a:t>全体教职员</a:t>
            </a:r>
            <a:endParaRPr lang="en-US" altLang="zh-CN" sz="1200" b="0" i="0" kern="1200" dirty="0">
              <a:solidFill>
                <a:schemeClr val="tx1"/>
              </a:solidFill>
              <a:effectLst/>
              <a:latin typeface="+mn-lt"/>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kern="1200" dirty="0">
                <a:solidFill>
                  <a:schemeClr val="tx1"/>
                </a:solidFill>
                <a:effectLst/>
                <a:latin typeface="+mn-lt"/>
                <a:cs typeface="+mn-cs"/>
              </a:rPr>
              <a:t>Staff:</a:t>
            </a:r>
            <a:r>
              <a:rPr kumimoji="0" lang="zh-CN" altLang="en-US" sz="1200" b="0" i="0" kern="1200" dirty="0">
                <a:solidFill>
                  <a:schemeClr val="tx1"/>
                </a:solidFill>
                <a:effectLst/>
                <a:latin typeface="+mn-lt"/>
                <a:cs typeface="+mn-cs"/>
              </a:rPr>
              <a:t>行政职员</a:t>
            </a:r>
            <a:endParaRPr kumimoji="0" lang="en-US" altLang="zh-CN" sz="1200" b="0" dirty="0">
              <a:solidFill>
                <a:schemeClr val="tx1"/>
              </a:solidFill>
              <a:effectLst/>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b="1" dirty="0">
              <a:solidFill>
                <a:srgbClr val="CC3300"/>
              </a:solidFill>
              <a:effectLst>
                <a:outerShdw blurRad="38100" dist="38100" dir="2700000" algn="tl">
                  <a:srgbClr val="C0C0C0"/>
                </a:outerShdw>
              </a:effectLst>
              <a:latin typeface="Times New Roman" pitchFamily="18" charset="0"/>
            </a:endParaRPr>
          </a:p>
        </p:txBody>
      </p:sp>
      <p:sp>
        <p:nvSpPr>
          <p:cNvPr id="4" name="Slide Number Placeholder 3"/>
          <p:cNvSpPr>
            <a:spLocks noGrp="1"/>
          </p:cNvSpPr>
          <p:nvPr>
            <p:ph type="sldNum" sz="quarter" idx="10"/>
          </p:nvPr>
        </p:nvSpPr>
        <p:spPr/>
        <p:txBody>
          <a:bodyPr/>
          <a:lstStyle/>
          <a:p>
            <a:fld id="{4EA215E7-E73A-4063-945D-6EE66474C503}" type="slidenum">
              <a:rPr lang="zh-CN" altLang="en-US" smtClean="0"/>
              <a:t>18</a:t>
            </a:fld>
            <a:endParaRPr lang="zh-CN" altLang="en-US"/>
          </a:p>
        </p:txBody>
      </p:sp>
    </p:spTree>
    <p:extLst>
      <p:ext uri="{BB962C8B-B14F-4D97-AF65-F5344CB8AC3E}">
        <p14:creationId xmlns:p14="http://schemas.microsoft.com/office/powerpoint/2010/main" val="17150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Sphere:</a:t>
            </a:r>
            <a:r>
              <a:rPr lang="zh-CN" altLang="en-US" dirty="0"/>
              <a:t>球体</a:t>
            </a:r>
          </a:p>
        </p:txBody>
      </p:sp>
      <p:sp>
        <p:nvSpPr>
          <p:cNvPr id="4" name="Slide Number Placeholder 3"/>
          <p:cNvSpPr>
            <a:spLocks noGrp="1"/>
          </p:cNvSpPr>
          <p:nvPr>
            <p:ph type="sldNum" sz="quarter" idx="10"/>
          </p:nvPr>
        </p:nvSpPr>
        <p:spPr/>
        <p:txBody>
          <a:bodyPr/>
          <a:lstStyle/>
          <a:p>
            <a:fld id="{4EA215E7-E73A-4063-945D-6EE66474C503}" type="slidenum">
              <a:rPr lang="zh-CN" altLang="en-US" smtClean="0"/>
              <a:t>19</a:t>
            </a:fld>
            <a:endParaRPr lang="zh-CN" altLang="en-US"/>
          </a:p>
        </p:txBody>
      </p:sp>
    </p:spTree>
    <p:extLst>
      <p:ext uri="{BB962C8B-B14F-4D97-AF65-F5344CB8AC3E}">
        <p14:creationId xmlns:p14="http://schemas.microsoft.com/office/powerpoint/2010/main" val="2557871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4EA215E7-E73A-4063-945D-6EE66474C503}" type="slidenum">
              <a:rPr lang="zh-CN" altLang="en-US" smtClean="0"/>
              <a:t>23</a:t>
            </a:fld>
            <a:endParaRPr lang="zh-CN" altLang="en-US"/>
          </a:p>
        </p:txBody>
      </p:sp>
    </p:spTree>
    <p:extLst>
      <p:ext uri="{BB962C8B-B14F-4D97-AF65-F5344CB8AC3E}">
        <p14:creationId xmlns:p14="http://schemas.microsoft.com/office/powerpoint/2010/main" val="3225483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cs typeface="+mn-cs"/>
              </a:rPr>
              <a:t>分析内存后，会发现，当一个子类被实例化的时候，默认会先调用父类的构造方法对父类进行初始化，即在内存中创建一个父类对象，然后再父类对象的外部放上子类独有的属性，两者合起来成为一个子类的对象。</a:t>
            </a:r>
            <a:endParaRPr lang="zh-CN" altLang="en-US" dirty="0"/>
          </a:p>
        </p:txBody>
      </p:sp>
      <p:sp>
        <p:nvSpPr>
          <p:cNvPr id="4" name="Slide Number Placeholder 3"/>
          <p:cNvSpPr>
            <a:spLocks noGrp="1"/>
          </p:cNvSpPr>
          <p:nvPr>
            <p:ph type="sldNum" sz="quarter" idx="10"/>
          </p:nvPr>
        </p:nvSpPr>
        <p:spPr/>
        <p:txBody>
          <a:bodyPr/>
          <a:lstStyle/>
          <a:p>
            <a:fld id="{4EA215E7-E73A-4063-945D-6EE66474C503}" type="slidenum">
              <a:rPr lang="zh-CN" altLang="en-US" smtClean="0"/>
              <a:t>43</a:t>
            </a:fld>
            <a:endParaRPr lang="zh-CN" altLang="en-US"/>
          </a:p>
        </p:txBody>
      </p:sp>
    </p:spTree>
    <p:extLst>
      <p:ext uri="{BB962C8B-B14F-4D97-AF65-F5344CB8AC3E}">
        <p14:creationId xmlns:p14="http://schemas.microsoft.com/office/powerpoint/2010/main" val="456417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像搭积木一样，从低向上</a:t>
            </a:r>
          </a:p>
        </p:txBody>
      </p:sp>
      <p:sp>
        <p:nvSpPr>
          <p:cNvPr id="4" name="Slide Number Placeholder 3"/>
          <p:cNvSpPr>
            <a:spLocks noGrp="1"/>
          </p:cNvSpPr>
          <p:nvPr>
            <p:ph type="sldNum" sz="quarter" idx="10"/>
          </p:nvPr>
        </p:nvSpPr>
        <p:spPr/>
        <p:txBody>
          <a:bodyPr/>
          <a:lstStyle/>
          <a:p>
            <a:fld id="{4EA215E7-E73A-4063-945D-6EE66474C503}" type="slidenum">
              <a:rPr lang="zh-CN" altLang="en-US" smtClean="0"/>
              <a:t>44</a:t>
            </a:fld>
            <a:endParaRPr lang="zh-CN" altLang="en-US"/>
          </a:p>
        </p:txBody>
      </p:sp>
    </p:spTree>
    <p:extLst>
      <p:ext uri="{BB962C8B-B14F-4D97-AF65-F5344CB8AC3E}">
        <p14:creationId xmlns:p14="http://schemas.microsoft.com/office/powerpoint/2010/main" val="697673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承前继后，铺垫作用</a:t>
            </a:r>
            <a:endParaRPr lang="en-US" altLang="zh-CN" dirty="0"/>
          </a:p>
          <a:p>
            <a:r>
              <a:rPr lang="zh-CN" altLang="en-US" dirty="0"/>
              <a:t>面向对象是一种思考问题的方法，是一种解决问题的思路，更加注重软件的可维护，可扩展，可复用，可伸缩等特性，更加适合于大型软件系统</a:t>
            </a:r>
          </a:p>
        </p:txBody>
      </p:sp>
      <p:sp>
        <p:nvSpPr>
          <p:cNvPr id="4" name="Slide Number Placeholder 3"/>
          <p:cNvSpPr>
            <a:spLocks noGrp="1"/>
          </p:cNvSpPr>
          <p:nvPr>
            <p:ph type="sldNum" sz="quarter" idx="10"/>
          </p:nvPr>
        </p:nvSpPr>
        <p:spPr/>
        <p:txBody>
          <a:bodyPr/>
          <a:lstStyle/>
          <a:p>
            <a:pPr>
              <a:defRPr/>
            </a:pPr>
            <a:fld id="{D17A33A3-4F6A-4FE7-BBA6-FA8C4E80F8F7}" type="slidenum">
              <a:rPr lang="zh-CN" altLang="en-US" smtClean="0"/>
              <a:pPr>
                <a:defRPr/>
              </a:pPr>
              <a:t>49</a:t>
            </a:fld>
            <a:endParaRPr lang="zh-CN" altLang="en-US"/>
          </a:p>
        </p:txBody>
      </p:sp>
    </p:spTree>
    <p:extLst>
      <p:ext uri="{BB962C8B-B14F-4D97-AF65-F5344CB8AC3E}">
        <p14:creationId xmlns:p14="http://schemas.microsoft.com/office/powerpoint/2010/main" val="572640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https://blog.csdn.net/nsx_truth/article/details/105970590</a:t>
            </a:r>
            <a:endParaRPr lang="zh-CN" altLang="en-US" dirty="0"/>
          </a:p>
        </p:txBody>
      </p:sp>
      <p:sp>
        <p:nvSpPr>
          <p:cNvPr id="4" name="灯片编号占位符 3"/>
          <p:cNvSpPr>
            <a:spLocks noGrp="1"/>
          </p:cNvSpPr>
          <p:nvPr>
            <p:ph type="sldNum" sz="quarter" idx="5"/>
          </p:nvPr>
        </p:nvSpPr>
        <p:spPr/>
        <p:txBody>
          <a:bodyPr/>
          <a:lstStyle/>
          <a:p>
            <a:fld id="{5E7D2274-A954-40E2-A53F-7FCF7BDECF20}" type="slidenum">
              <a:rPr lang="zh-CN" altLang="en-US" smtClean="0"/>
              <a:t>68</a:t>
            </a:fld>
            <a:endParaRPr lang="zh-CN" altLang="en-US"/>
          </a:p>
        </p:txBody>
      </p:sp>
    </p:spTree>
    <p:extLst>
      <p:ext uri="{BB962C8B-B14F-4D97-AF65-F5344CB8AC3E}">
        <p14:creationId xmlns:p14="http://schemas.microsoft.com/office/powerpoint/2010/main" val="3754783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承前继后，铺垫作用</a:t>
            </a:r>
            <a:endParaRPr lang="en-US" altLang="zh-CN" dirty="0"/>
          </a:p>
          <a:p>
            <a:r>
              <a:rPr lang="zh-CN" altLang="en-US" dirty="0"/>
              <a:t>面向对象是一种思考问题的方法，是一种解决问题的思路，更加注重软件的可维护，可扩展，可复用，可伸缩等特性，更加适合于大型软件系统</a:t>
            </a:r>
          </a:p>
        </p:txBody>
      </p:sp>
      <p:sp>
        <p:nvSpPr>
          <p:cNvPr id="4" name="Slide Number Placeholder 3"/>
          <p:cNvSpPr>
            <a:spLocks noGrp="1"/>
          </p:cNvSpPr>
          <p:nvPr>
            <p:ph type="sldNum" sz="quarter" idx="10"/>
          </p:nvPr>
        </p:nvSpPr>
        <p:spPr/>
        <p:txBody>
          <a:bodyPr/>
          <a:lstStyle/>
          <a:p>
            <a:pPr>
              <a:defRPr/>
            </a:pPr>
            <a:fld id="{D17A33A3-4F6A-4FE7-BBA6-FA8C4E80F8F7}" type="slidenum">
              <a:rPr lang="zh-CN" altLang="en-US" smtClean="0"/>
              <a:pPr>
                <a:defRPr/>
              </a:pPr>
              <a:t>71</a:t>
            </a:fld>
            <a:endParaRPr lang="zh-CN" altLang="en-US"/>
          </a:p>
        </p:txBody>
      </p:sp>
    </p:spTree>
    <p:extLst>
      <p:ext uri="{BB962C8B-B14F-4D97-AF65-F5344CB8AC3E}">
        <p14:creationId xmlns:p14="http://schemas.microsoft.com/office/powerpoint/2010/main" val="1933674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222226"/>
                </a:solidFill>
                <a:effectLst/>
                <a:latin typeface="PingFang SC"/>
              </a:rPr>
              <a:t>聊聊</a:t>
            </a:r>
            <a:r>
              <a:rPr lang="en-US" altLang="zh-CN" b="1" i="0" dirty="0">
                <a:solidFill>
                  <a:srgbClr val="222226"/>
                </a:solidFill>
                <a:effectLst/>
                <a:latin typeface="PingFang SC"/>
              </a:rPr>
              <a:t>java</a:t>
            </a:r>
            <a:r>
              <a:rPr lang="zh-CN" altLang="en-US" b="1" i="0" dirty="0">
                <a:solidFill>
                  <a:srgbClr val="222226"/>
                </a:solidFill>
                <a:effectLst/>
                <a:latin typeface="PingFang SC"/>
              </a:rPr>
              <a:t>中</a:t>
            </a:r>
            <a:r>
              <a:rPr lang="en-US" altLang="zh-CN" b="1" i="0" dirty="0">
                <a:solidFill>
                  <a:srgbClr val="222226"/>
                </a:solidFill>
                <a:effectLst/>
                <a:latin typeface="PingFang SC"/>
              </a:rPr>
              <a:t>final</a:t>
            </a:r>
            <a:r>
              <a:rPr lang="zh-CN" altLang="en-US" b="1" i="0" dirty="0">
                <a:solidFill>
                  <a:srgbClr val="222226"/>
                </a:solidFill>
                <a:effectLst/>
                <a:latin typeface="PingFang SC"/>
              </a:rPr>
              <a:t>那点事</a:t>
            </a:r>
          </a:p>
          <a:p>
            <a:r>
              <a:rPr lang="en-US" altLang="zh-CN" dirty="0"/>
              <a:t>https://blog.csdn.net/qq_27525611/article/details/102749576?utm_medium=distribute.pc_relevant.none-task-blog-2%7Edefault%7EBlogCommendFromMachineLearnPai2%7Edefault-3.control&amp;dist_request_id=&amp;depth_1-utm_source=distribute.pc_relevant.none-task-blog-2%7Edefault%7EBlogCommendFromMachineLearnPai2%7Edefault-3.control</a:t>
            </a:r>
            <a:endParaRPr lang="zh-CN" altLang="en-US" dirty="0"/>
          </a:p>
        </p:txBody>
      </p:sp>
      <p:sp>
        <p:nvSpPr>
          <p:cNvPr id="4" name="灯片编号占位符 3"/>
          <p:cNvSpPr>
            <a:spLocks noGrp="1"/>
          </p:cNvSpPr>
          <p:nvPr>
            <p:ph type="sldNum" sz="quarter" idx="5"/>
          </p:nvPr>
        </p:nvSpPr>
        <p:spPr/>
        <p:txBody>
          <a:bodyPr/>
          <a:lstStyle/>
          <a:p>
            <a:fld id="{4EA215E7-E73A-4063-945D-6EE66474C503}" type="slidenum">
              <a:rPr lang="zh-CN" altLang="en-US" smtClean="0"/>
              <a:t>79</a:t>
            </a:fld>
            <a:endParaRPr lang="zh-CN" altLang="en-US"/>
          </a:p>
        </p:txBody>
      </p:sp>
    </p:spTree>
    <p:extLst>
      <p:ext uri="{BB962C8B-B14F-4D97-AF65-F5344CB8AC3E}">
        <p14:creationId xmlns:p14="http://schemas.microsoft.com/office/powerpoint/2010/main" val="2927770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222226"/>
                </a:solidFill>
                <a:effectLst/>
                <a:latin typeface="PingFang SC"/>
              </a:rPr>
              <a:t>聊聊</a:t>
            </a:r>
            <a:r>
              <a:rPr lang="en-US" altLang="zh-CN" b="1" i="0" dirty="0">
                <a:solidFill>
                  <a:srgbClr val="222226"/>
                </a:solidFill>
                <a:effectLst/>
                <a:latin typeface="PingFang SC"/>
              </a:rPr>
              <a:t>java</a:t>
            </a:r>
            <a:r>
              <a:rPr lang="zh-CN" altLang="en-US" b="1" i="0" dirty="0">
                <a:solidFill>
                  <a:srgbClr val="222226"/>
                </a:solidFill>
                <a:effectLst/>
                <a:latin typeface="PingFang SC"/>
              </a:rPr>
              <a:t>中</a:t>
            </a:r>
            <a:r>
              <a:rPr lang="en-US" altLang="zh-CN" b="1" i="0" dirty="0">
                <a:solidFill>
                  <a:srgbClr val="222226"/>
                </a:solidFill>
                <a:effectLst/>
                <a:latin typeface="PingFang SC"/>
              </a:rPr>
              <a:t>final</a:t>
            </a:r>
            <a:r>
              <a:rPr lang="zh-CN" altLang="en-US" b="1" i="0" dirty="0">
                <a:solidFill>
                  <a:srgbClr val="222226"/>
                </a:solidFill>
                <a:effectLst/>
                <a:latin typeface="PingFang SC"/>
              </a:rPr>
              <a:t>那点事</a:t>
            </a:r>
          </a:p>
          <a:p>
            <a:r>
              <a:rPr lang="en-US" altLang="zh-CN" dirty="0"/>
              <a:t>https://blog.csdn.net/qq_27525611/article/details/102749576?utm_medium=distribute.pc_relevant.none-task-blog-2%7Edefault%7EBlogCommendFromMachineLearnPai2%7Edefault-3.control&amp;dist_request_id=&amp;depth_1-utm_source=distribute.pc_relevant.none-task-blog-2%7Edefault%7EBlogCommendFromMachineLearnPai2%7Edefault-3.control</a:t>
            </a:r>
            <a:endParaRPr lang="zh-CN" altLang="en-US" dirty="0"/>
          </a:p>
        </p:txBody>
      </p:sp>
      <p:sp>
        <p:nvSpPr>
          <p:cNvPr id="4" name="灯片编号占位符 3"/>
          <p:cNvSpPr>
            <a:spLocks noGrp="1"/>
          </p:cNvSpPr>
          <p:nvPr>
            <p:ph type="sldNum" sz="quarter" idx="5"/>
          </p:nvPr>
        </p:nvSpPr>
        <p:spPr/>
        <p:txBody>
          <a:bodyPr/>
          <a:lstStyle/>
          <a:p>
            <a:fld id="{4EA215E7-E73A-4063-945D-6EE66474C503}" type="slidenum">
              <a:rPr lang="zh-CN" altLang="en-US" smtClean="0"/>
              <a:t>80</a:t>
            </a:fld>
            <a:endParaRPr lang="zh-CN" altLang="en-US"/>
          </a:p>
        </p:txBody>
      </p:sp>
    </p:spTree>
    <p:extLst>
      <p:ext uri="{BB962C8B-B14F-4D97-AF65-F5344CB8AC3E}">
        <p14:creationId xmlns:p14="http://schemas.microsoft.com/office/powerpoint/2010/main" val="1952383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静态方法不参与动态联编</a:t>
            </a:r>
          </a:p>
        </p:txBody>
      </p:sp>
      <p:sp>
        <p:nvSpPr>
          <p:cNvPr id="4" name="灯片编号占位符 3"/>
          <p:cNvSpPr>
            <a:spLocks noGrp="1"/>
          </p:cNvSpPr>
          <p:nvPr>
            <p:ph type="sldNum" sz="quarter" idx="5"/>
          </p:nvPr>
        </p:nvSpPr>
        <p:spPr/>
        <p:txBody>
          <a:bodyPr/>
          <a:lstStyle/>
          <a:p>
            <a:fld id="{4EA215E7-E73A-4063-945D-6EE66474C503}" type="slidenum">
              <a:rPr lang="zh-CN" altLang="en-US" smtClean="0"/>
              <a:t>81</a:t>
            </a:fld>
            <a:endParaRPr lang="zh-CN" altLang="en-US"/>
          </a:p>
        </p:txBody>
      </p:sp>
    </p:spTree>
    <p:extLst>
      <p:ext uri="{BB962C8B-B14F-4D97-AF65-F5344CB8AC3E}">
        <p14:creationId xmlns:p14="http://schemas.microsoft.com/office/powerpoint/2010/main" val="3365395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4EA215E7-E73A-4063-945D-6EE66474C503}" type="slidenum">
              <a:rPr lang="zh-CN" altLang="en-US" smtClean="0"/>
              <a:t>85</a:t>
            </a:fld>
            <a:endParaRPr lang="zh-CN" altLang="en-US"/>
          </a:p>
        </p:txBody>
      </p:sp>
    </p:spTree>
    <p:extLst>
      <p:ext uri="{BB962C8B-B14F-4D97-AF65-F5344CB8AC3E}">
        <p14:creationId xmlns:p14="http://schemas.microsoft.com/office/powerpoint/2010/main" val="4130880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227198C-9E03-4A51-90E4-8A19CCFF1FC8}" type="datetime1">
              <a:rPr lang="zh-CN" altLang="en-US" smtClean="0"/>
              <a:t>2024/10/17</a:t>
            </a:fld>
            <a:endParaRPr lang="en-US"/>
          </a:p>
        </p:txBody>
      </p:sp>
      <p:sp>
        <p:nvSpPr>
          <p:cNvPr id="5" name="Footer Placeholder 4"/>
          <p:cNvSpPr>
            <a:spLocks noGrp="1"/>
          </p:cNvSpPr>
          <p:nvPr>
            <p:ph type="ftr" sz="quarter" idx="11"/>
          </p:nvPr>
        </p:nvSpPr>
        <p:spPr/>
        <p:txBody>
          <a:bodyPr/>
          <a:lstStyle/>
          <a:p>
            <a:r>
              <a:rPr lang="en-US" dirty="0"/>
              <a:t>Xiang Gao</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931587-4B0E-4E7D-AD39-2A2CF08BC26F}" type="datetime1">
              <a:rPr lang="zh-CN" altLang="en-US" smtClean="0"/>
              <a:t>2024/10/17</a:t>
            </a:fld>
            <a:endParaRPr lang="en-US"/>
          </a:p>
        </p:txBody>
      </p:sp>
      <p:sp>
        <p:nvSpPr>
          <p:cNvPr id="5" name="Footer Placeholder 4"/>
          <p:cNvSpPr>
            <a:spLocks noGrp="1"/>
          </p:cNvSpPr>
          <p:nvPr>
            <p:ph type="ftr" sz="quarter" idx="11"/>
          </p:nvPr>
        </p:nvSpPr>
        <p:spPr/>
        <p:txBody>
          <a:bodyPr/>
          <a:lstStyle/>
          <a:p>
            <a:r>
              <a:rPr lang="en-US" dirty="0"/>
              <a:t>Xiang Gao</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78D223-73A1-4784-B337-0DB0881BD985}" type="datetime1">
              <a:rPr lang="zh-CN" altLang="en-US" smtClean="0"/>
              <a:t>2024/10/17</a:t>
            </a:fld>
            <a:endParaRPr lang="en-US"/>
          </a:p>
        </p:txBody>
      </p:sp>
      <p:sp>
        <p:nvSpPr>
          <p:cNvPr id="5" name="Footer Placeholder 4"/>
          <p:cNvSpPr>
            <a:spLocks noGrp="1"/>
          </p:cNvSpPr>
          <p:nvPr>
            <p:ph type="ftr" sz="quarter" idx="11"/>
          </p:nvPr>
        </p:nvSpPr>
        <p:spPr/>
        <p:txBody>
          <a:bodyPr/>
          <a:lstStyle/>
          <a:p>
            <a:r>
              <a:rPr lang="en-US" dirty="0"/>
              <a:t>Xiang Gao</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38FDEF-4170-4112-B7A1-2AD068678744}" type="datetime1">
              <a:rPr lang="zh-CN" altLang="en-US" smtClean="0"/>
              <a:t>2024/10/17</a:t>
            </a:fld>
            <a:endParaRPr lang="en-US"/>
          </a:p>
        </p:txBody>
      </p:sp>
      <p:sp>
        <p:nvSpPr>
          <p:cNvPr id="6" name="Footer Placeholder 5"/>
          <p:cNvSpPr>
            <a:spLocks noGrp="1"/>
          </p:cNvSpPr>
          <p:nvPr>
            <p:ph type="ftr" sz="quarter" idx="11"/>
          </p:nvPr>
        </p:nvSpPr>
        <p:spPr/>
        <p:txBody>
          <a:bodyPr/>
          <a:lstStyle/>
          <a:p>
            <a:r>
              <a:rPr lang="en-US" dirty="0"/>
              <a:t>Xiang Gao</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DF565D2-2DFE-4997-9E87-6A843FE99B29}" type="datetime1">
              <a:rPr lang="zh-CN" altLang="en-US" smtClean="0"/>
              <a:t>2024/10/17</a:t>
            </a:fld>
            <a:endParaRPr lang="en-US"/>
          </a:p>
        </p:txBody>
      </p:sp>
      <p:sp>
        <p:nvSpPr>
          <p:cNvPr id="8" name="Footer Placeholder 7"/>
          <p:cNvSpPr>
            <a:spLocks noGrp="1"/>
          </p:cNvSpPr>
          <p:nvPr>
            <p:ph type="ftr" sz="quarter" idx="11"/>
          </p:nvPr>
        </p:nvSpPr>
        <p:spPr/>
        <p:txBody>
          <a:bodyPr/>
          <a:lstStyle/>
          <a:p>
            <a:r>
              <a:rPr lang="en-US" dirty="0"/>
              <a:t>Xiang Gao</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C3A581-4635-4236-9B65-4845B7BED694}" type="datetime1">
              <a:rPr lang="zh-CN" altLang="en-US" smtClean="0"/>
              <a:t>2024/10/17</a:t>
            </a:fld>
            <a:endParaRPr lang="en-US"/>
          </a:p>
        </p:txBody>
      </p:sp>
      <p:sp>
        <p:nvSpPr>
          <p:cNvPr id="4" name="Footer Placeholder 3"/>
          <p:cNvSpPr>
            <a:spLocks noGrp="1"/>
          </p:cNvSpPr>
          <p:nvPr>
            <p:ph type="ftr" sz="quarter" idx="11"/>
          </p:nvPr>
        </p:nvSpPr>
        <p:spPr/>
        <p:txBody>
          <a:bodyPr/>
          <a:lstStyle/>
          <a:p>
            <a:r>
              <a:rPr lang="en-US" dirty="0"/>
              <a:t>Xiang Gao</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3134B3-DB77-4FB3-9A92-8CCB53A0769C}" type="datetime1">
              <a:rPr lang="zh-CN" altLang="en-US" smtClean="0"/>
              <a:t>2024/10/17</a:t>
            </a:fld>
            <a:endParaRPr lang="en-US"/>
          </a:p>
        </p:txBody>
      </p:sp>
      <p:sp>
        <p:nvSpPr>
          <p:cNvPr id="3" name="Footer Placeholder 2"/>
          <p:cNvSpPr>
            <a:spLocks noGrp="1"/>
          </p:cNvSpPr>
          <p:nvPr>
            <p:ph type="ftr" sz="quarter" idx="11"/>
          </p:nvPr>
        </p:nvSpPr>
        <p:spPr/>
        <p:txBody>
          <a:bodyPr/>
          <a:lstStyle/>
          <a:p>
            <a:r>
              <a:rPr lang="en-US" dirty="0"/>
              <a:t>Xiang Gao</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DBA5D1-D9A1-45C3-9591-B22E5AEBD3FE}" type="datetime1">
              <a:rPr lang="zh-CN" altLang="en-US" smtClean="0"/>
              <a:t>2024/10/17</a:t>
            </a:fld>
            <a:endParaRPr lang="en-US"/>
          </a:p>
        </p:txBody>
      </p:sp>
      <p:sp>
        <p:nvSpPr>
          <p:cNvPr id="6" name="Footer Placeholder 5"/>
          <p:cNvSpPr>
            <a:spLocks noGrp="1"/>
          </p:cNvSpPr>
          <p:nvPr>
            <p:ph type="ftr" sz="quarter" idx="11"/>
          </p:nvPr>
        </p:nvSpPr>
        <p:spPr/>
        <p:txBody>
          <a:bodyPr/>
          <a:lstStyle/>
          <a:p>
            <a:r>
              <a:rPr lang="en-US" dirty="0"/>
              <a:t>Xiang Gao</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5F0BB1-F04D-4F6E-B9FF-DD429B4C019A}" type="datetime1">
              <a:rPr lang="zh-CN" altLang="en-US" smtClean="0"/>
              <a:t>2024/10/17</a:t>
            </a:fld>
            <a:endParaRPr lang="en-US"/>
          </a:p>
        </p:txBody>
      </p:sp>
      <p:sp>
        <p:nvSpPr>
          <p:cNvPr id="6" name="Footer Placeholder 5"/>
          <p:cNvSpPr>
            <a:spLocks noGrp="1"/>
          </p:cNvSpPr>
          <p:nvPr>
            <p:ph type="ftr" sz="quarter" idx="11"/>
          </p:nvPr>
        </p:nvSpPr>
        <p:spPr/>
        <p:txBody>
          <a:bodyPr/>
          <a:lstStyle/>
          <a:p>
            <a:r>
              <a:rPr lang="en-US" dirty="0"/>
              <a:t>Xiang Gao</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E4FE64-7B03-4A82-A023-C34DAB1B7E18}" type="datetime1">
              <a:rPr lang="zh-CN" altLang="en-US" smtClean="0"/>
              <a:t>2024/10/17</a:t>
            </a:fld>
            <a:endParaRPr lang="en-US"/>
          </a:p>
        </p:txBody>
      </p:sp>
      <p:sp>
        <p:nvSpPr>
          <p:cNvPr id="5" name="Footer Placeholder 4"/>
          <p:cNvSpPr>
            <a:spLocks noGrp="1"/>
          </p:cNvSpPr>
          <p:nvPr>
            <p:ph type="ftr" sz="quarter" idx="11"/>
          </p:nvPr>
        </p:nvSpPr>
        <p:spPr/>
        <p:txBody>
          <a:bodyPr/>
          <a:lstStyle/>
          <a:p>
            <a:r>
              <a:rPr lang="en-US" dirty="0"/>
              <a:t>Xiang Gao</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049184-F877-4D5A-ABDE-483A943FD356}" type="datetime1">
              <a:rPr lang="zh-CN" altLang="en-US" smtClean="0"/>
              <a:t>2024/10/17</a:t>
            </a:fld>
            <a:endParaRPr lang="en-US"/>
          </a:p>
        </p:txBody>
      </p:sp>
      <p:sp>
        <p:nvSpPr>
          <p:cNvPr id="5" name="Footer Placeholder 4"/>
          <p:cNvSpPr>
            <a:spLocks noGrp="1"/>
          </p:cNvSpPr>
          <p:nvPr>
            <p:ph type="ftr" sz="quarter" idx="11"/>
          </p:nvPr>
        </p:nvSpPr>
        <p:spPr/>
        <p:txBody>
          <a:bodyPr/>
          <a:lstStyle/>
          <a:p>
            <a:r>
              <a:rPr lang="en-US" dirty="0"/>
              <a:t>Xiang Gao</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cxnSp>
        <p:nvCxnSpPr>
          <p:cNvPr id="4" name="直接连接符 7"/>
          <p:cNvCxnSpPr/>
          <p:nvPr/>
        </p:nvCxnSpPr>
        <p:spPr>
          <a:xfrm>
            <a:off x="0" y="69215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内容占位符 2"/>
          <p:cNvSpPr>
            <a:spLocks noGrp="1"/>
          </p:cNvSpPr>
          <p:nvPr>
            <p:ph idx="1"/>
          </p:nvPr>
        </p:nvSpPr>
        <p:spPr>
          <a:xfrm>
            <a:off x="457200" y="908720"/>
            <a:ext cx="8229600" cy="4525963"/>
          </a:xfrm>
        </p:spPr>
        <p:txBody>
          <a:bodyPr/>
          <a:lstStyle>
            <a:lvl1pPr>
              <a:defRPr>
                <a:ea typeface="楷体" panose="02010609060101010101" pitchFamily="49" charset="-122"/>
              </a:defRPr>
            </a:lvl1pPr>
            <a:lvl2pPr>
              <a:defRPr>
                <a:ea typeface="楷体" panose="02010609060101010101" pitchFamily="49" charset="-122"/>
              </a:defRPr>
            </a:lvl2pPr>
            <a:lvl3pPr>
              <a:defRPr>
                <a:ea typeface="楷体" panose="02010609060101010101" pitchFamily="49" charset="-122"/>
              </a:defRPr>
            </a:lvl3pPr>
            <a:lvl4pPr>
              <a:defRPr>
                <a:ea typeface="楷体" panose="02010609060101010101" pitchFamily="49" charset="-122"/>
              </a:defRPr>
            </a:lvl4pPr>
            <a:lvl5pPr>
              <a:defRPr>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标题 1"/>
          <p:cNvSpPr>
            <a:spLocks noGrp="1"/>
          </p:cNvSpPr>
          <p:nvPr>
            <p:ph type="title"/>
          </p:nvPr>
        </p:nvSpPr>
        <p:spPr>
          <a:xfrm>
            <a:off x="107504" y="44624"/>
            <a:ext cx="8640960" cy="634082"/>
          </a:xfrm>
        </p:spPr>
        <p:txBody>
          <a:bodyPr/>
          <a:lstStyle>
            <a:lvl1pPr algn="l">
              <a:defRPr sz="2800">
                <a:solidFill>
                  <a:schemeClr val="accent2"/>
                </a:solidFill>
                <a:latin typeface="楷体" panose="02010609060101010101" pitchFamily="49" charset="-122"/>
                <a:ea typeface="楷体" panose="02010609060101010101" pitchFamily="49" charset="-122"/>
              </a:defRPr>
            </a:lvl1pPr>
          </a:lstStyle>
          <a:p>
            <a:r>
              <a:rPr lang="zh-CN" altLang="en-US" dirty="0"/>
              <a:t>单击此处编辑母版标题样式</a:t>
            </a:r>
          </a:p>
        </p:txBody>
      </p:sp>
      <p:sp>
        <p:nvSpPr>
          <p:cNvPr id="5" name="日期占位符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ea typeface="楷体" panose="02010609060101010101" pitchFamily="49" charset="-122"/>
              </a:defRPr>
            </a:lvl1pPr>
          </a:lstStyle>
          <a:p>
            <a:pPr>
              <a:defRPr/>
            </a:pPr>
            <a:fld id="{0A2225CD-78D2-4B53-92C5-68EA37F34EDD}" type="datetime1">
              <a:rPr lang="zh-CN" altLang="en-US" smtClean="0"/>
              <a:pPr>
                <a:defRPr/>
              </a:pPr>
              <a:t>2024/10/17</a:t>
            </a:fld>
            <a:endParaRPr lang="en-US" altLang="zh-CN" dirty="0"/>
          </a:p>
        </p:txBody>
      </p:sp>
      <p:sp>
        <p:nvSpPr>
          <p:cNvPr id="6" name="页脚占位符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ea typeface="楷体" panose="02010609060101010101" pitchFamily="49" charset="-122"/>
              </a:defRPr>
            </a:lvl1pPr>
          </a:lstStyle>
          <a:p>
            <a:pPr>
              <a:defRPr/>
            </a:pPr>
            <a:r>
              <a:rPr lang="en-US" altLang="zh-CN" dirty="0"/>
              <a:t>Xiang Gao</a:t>
            </a:r>
          </a:p>
        </p:txBody>
      </p:sp>
      <p:sp>
        <p:nvSpPr>
          <p:cNvPr id="7" name="灯片编号占位符 5"/>
          <p:cNvSpPr>
            <a:spLocks noGrp="1"/>
          </p:cNvSpPr>
          <p:nvPr>
            <p:ph type="sldNum" sz="quarter" idx="12"/>
          </p:nvPr>
        </p:nvSpPr>
        <p:spPr>
          <a:xfrm>
            <a:off x="6553200" y="6356350"/>
            <a:ext cx="2133600" cy="365125"/>
          </a:xfrm>
          <a:prstGeom prst="rect">
            <a:avLst/>
          </a:prstGeom>
        </p:spPr>
        <p:txBody>
          <a:bodyPr/>
          <a:lstStyle>
            <a:lvl1pPr>
              <a:defRPr>
                <a:ea typeface="楷体" panose="02010609060101010101" pitchFamily="49" charset="-122"/>
              </a:defRPr>
            </a:lvl1pPr>
          </a:lstStyle>
          <a:p>
            <a:pPr>
              <a:defRPr/>
            </a:pPr>
            <a:fld id="{F7C8A414-E22E-4DF8-8FC5-FF8056582F45}" type="slidenum">
              <a:rPr lang="en-US" altLang="zh-CN" smtClean="0"/>
              <a:pPr>
                <a:defRPr/>
              </a:pPr>
              <a:t>‹#›</a:t>
            </a:fld>
            <a:endParaRPr lang="en-US" altLang="zh-CN" dirty="0"/>
          </a:p>
        </p:txBody>
      </p:sp>
    </p:spTree>
    <p:extLst>
      <p:ext uri="{BB962C8B-B14F-4D97-AF65-F5344CB8AC3E}">
        <p14:creationId xmlns:p14="http://schemas.microsoft.com/office/powerpoint/2010/main" val="818242485"/>
      </p:ext>
    </p:extLst>
  </p:cSld>
  <p:clrMapOvr>
    <a:masterClrMapping/>
  </p:clrMapOvr>
  <p:transition spd="med">
    <p:pull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En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CB4B4D-7CA3-9044-876B-883B54F8677D}" type="slidenum">
              <a:rPr lang="uk-UA" smtClean="0"/>
              <a:t>‹#›</a:t>
            </a:fld>
            <a:endParaRPr lang="uk-UA"/>
          </a:p>
        </p:txBody>
      </p:sp>
      <p:pic>
        <p:nvPicPr>
          <p:cNvPr id="6" name="Picture 5"/>
          <p:cNvPicPr>
            <a:picLocks noChangeAspect="1"/>
          </p:cNvPicPr>
          <p:nvPr userDrawn="1"/>
        </p:nvPicPr>
        <p:blipFill>
          <a:blip r:embed="rId2"/>
          <a:stretch>
            <a:fillRect/>
          </a:stretch>
        </p:blipFill>
        <p:spPr>
          <a:xfrm>
            <a:off x="404813" y="2216150"/>
            <a:ext cx="8334375" cy="2425700"/>
          </a:xfrm>
          <a:prstGeom prst="rect">
            <a:avLst/>
          </a:prstGeom>
        </p:spPr>
      </p:pic>
      <p:sp>
        <p:nvSpPr>
          <p:cNvPr id="7" name="Shape 153"/>
          <p:cNvSpPr txBox="1">
            <a:spLocks/>
          </p:cNvSpPr>
          <p:nvPr userDrawn="1"/>
        </p:nvSpPr>
        <p:spPr>
          <a:xfrm>
            <a:off x="1409827" y="3075021"/>
            <a:ext cx="6324346" cy="1041050"/>
          </a:xfrm>
          <a:prstGeom prst="rect">
            <a:avLst/>
          </a:prstGeom>
        </p:spPr>
        <p:txBody>
          <a:bodyPr lIns="91425" tIns="91425" rIns="91425" bIns="91425" anchor="b" anchorCtr="0">
            <a:noAutofit/>
          </a:bodyPr>
          <a:lstStyle>
            <a:lvl1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9pPr>
          </a:lstStyle>
          <a:p>
            <a:pPr algn="ctr" hangingPunct="1"/>
            <a:endParaRPr lang="en" sz="4800" dirty="0">
              <a:solidFill>
                <a:schemeClr val="bg1"/>
              </a:solidFill>
            </a:endParaRPr>
          </a:p>
        </p:txBody>
      </p:sp>
      <p:sp>
        <p:nvSpPr>
          <p:cNvPr id="30" name="Title 29"/>
          <p:cNvSpPr>
            <a:spLocks noGrp="1"/>
          </p:cNvSpPr>
          <p:nvPr>
            <p:ph type="title"/>
          </p:nvPr>
        </p:nvSpPr>
        <p:spPr>
          <a:xfrm>
            <a:off x="663773" y="2790509"/>
            <a:ext cx="7886700" cy="1325563"/>
          </a:xfrm>
        </p:spPr>
        <p:txBody>
          <a:bodyPr>
            <a:normAutofit/>
          </a:bodyPr>
          <a:lstStyle>
            <a:lvl1pPr algn="ctr">
              <a:defRPr sz="4800" b="1" i="0">
                <a:solidFill>
                  <a:schemeClr val="bg1"/>
                </a:solidFill>
                <a:latin typeface="Microsoft JhengHei" charset="-120"/>
                <a:ea typeface="Microsoft JhengHei" charset="-120"/>
                <a:cs typeface="Microsoft JhengHei" charset="-120"/>
              </a:defRPr>
            </a:lvl1pPr>
          </a:lstStyle>
          <a:p>
            <a:r>
              <a:rPr lang="en-US" dirty="0"/>
              <a:t>Click to edit Master title style</a:t>
            </a:r>
          </a:p>
        </p:txBody>
      </p:sp>
      <p:sp>
        <p:nvSpPr>
          <p:cNvPr id="32" name="Text Placeholder 31"/>
          <p:cNvSpPr>
            <a:spLocks noGrp="1"/>
          </p:cNvSpPr>
          <p:nvPr>
            <p:ph type="body" sz="quarter" idx="13" hasCustomPrompt="1"/>
          </p:nvPr>
        </p:nvSpPr>
        <p:spPr>
          <a:xfrm>
            <a:off x="1905000" y="4851400"/>
            <a:ext cx="5334000" cy="364808"/>
          </a:xfrm>
        </p:spPr>
        <p:txBody>
          <a:bodyPr>
            <a:normAutofit/>
          </a:bodyPr>
          <a:lstStyle>
            <a:lvl1pPr marL="0" indent="0" algn="ctr">
              <a:buNone/>
              <a:defRPr sz="2000" baseline="0">
                <a:ea typeface="楷体" panose="02010609060101010101" pitchFamily="49" charset="-122"/>
              </a:defRPr>
            </a:lvl1pPr>
          </a:lstStyle>
          <a:p>
            <a:pPr lvl="0"/>
            <a:r>
              <a:rPr lang="en-US" altLang="zh-CN" dirty="0"/>
              <a:t>Click</a:t>
            </a:r>
            <a:r>
              <a:rPr lang="zh-CN" altLang="en-US" dirty="0"/>
              <a:t> </a:t>
            </a:r>
            <a:r>
              <a:rPr lang="en-US" altLang="zh-CN" dirty="0"/>
              <a:t>here</a:t>
            </a:r>
            <a:r>
              <a:rPr lang="zh-CN" altLang="en-US" dirty="0"/>
              <a:t> </a:t>
            </a:r>
            <a:r>
              <a:rPr lang="en-US" altLang="zh-CN" dirty="0"/>
              <a:t>to</a:t>
            </a:r>
            <a:r>
              <a:rPr lang="zh-CN" altLang="en-US" dirty="0"/>
              <a:t> </a:t>
            </a:r>
            <a:r>
              <a:rPr lang="en-US" altLang="zh-CN" dirty="0"/>
              <a:t>edit</a:t>
            </a:r>
            <a:r>
              <a:rPr lang="zh-CN" altLang="en-US" dirty="0"/>
              <a:t> </a:t>
            </a:r>
            <a:r>
              <a:rPr lang="en-US" altLang="zh-CN" dirty="0"/>
              <a:t>more</a:t>
            </a:r>
            <a:r>
              <a:rPr lang="zh-CN" altLang="en-US" dirty="0"/>
              <a:t> </a:t>
            </a:r>
            <a:r>
              <a:rPr lang="en-US" altLang="zh-CN" dirty="0"/>
              <a:t>content</a:t>
            </a:r>
            <a:endParaRPr lang="en-US" dirty="0"/>
          </a:p>
        </p:txBody>
      </p:sp>
    </p:spTree>
    <p:extLst>
      <p:ext uri="{BB962C8B-B14F-4D97-AF65-F5344CB8AC3E}">
        <p14:creationId xmlns:p14="http://schemas.microsoft.com/office/powerpoint/2010/main" val="1766288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楷体" panose="02010609060101010101" pitchFamily="49" charset="-122"/>
              </a:defRPr>
            </a:lvl1pPr>
          </a:lstStyle>
          <a:p>
            <a:fld id="{7B28D6CA-9EC8-4533-A41F-FE8EA23BAB43}" type="datetime1">
              <a:rPr lang="zh-CN" altLang="en-US" smtClean="0"/>
              <a:pPr/>
              <a:t>2024/10/17</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Xiang Gao</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28650" y="2586856"/>
            <a:ext cx="7886700" cy="1684700"/>
          </a:xfrm>
        </p:spPr>
        <p:txBody>
          <a:bodyPr>
            <a:normAutofit fontScale="90000"/>
          </a:bodyPr>
          <a:lstStyle/>
          <a:p>
            <a:r>
              <a:rPr lang="en-US" altLang="zh-CN" sz="4400" dirty="0">
                <a:solidFill>
                  <a:srgbClr val="FF0000"/>
                </a:solidFill>
              </a:rPr>
              <a:t>Lesson5</a:t>
            </a:r>
            <a:br>
              <a:rPr lang="en-US" altLang="zh-CN" sz="4000" i="1" dirty="0">
                <a:solidFill>
                  <a:srgbClr val="FF0000"/>
                </a:solidFill>
              </a:rPr>
            </a:br>
            <a:r>
              <a:rPr lang="zh-CN" altLang="zh-CN" sz="4000" dirty="0"/>
              <a:t>面向对象的三大特称之</a:t>
            </a:r>
            <a:r>
              <a:rPr lang="zh-CN" altLang="en-US" sz="4000" dirty="0"/>
              <a:t>二：继承</a:t>
            </a:r>
            <a:r>
              <a:rPr lang="en-US" altLang="zh-CN" sz="4000" dirty="0"/>
              <a:t>(inheritance)</a:t>
            </a:r>
            <a:endParaRPr lang="zh-CN" altLang="en-US" dirty="0"/>
          </a:p>
        </p:txBody>
      </p:sp>
      <p:grpSp>
        <p:nvGrpSpPr>
          <p:cNvPr id="6" name="Group 6"/>
          <p:cNvGrpSpPr>
            <a:grpSpLocks/>
          </p:cNvGrpSpPr>
          <p:nvPr/>
        </p:nvGrpSpPr>
        <p:grpSpPr bwMode="auto">
          <a:xfrm>
            <a:off x="7391400" y="5105400"/>
            <a:ext cx="1295400" cy="1524000"/>
            <a:chOff x="3627" y="2688"/>
            <a:chExt cx="1174" cy="977"/>
          </a:xfrm>
        </p:grpSpPr>
        <p:grpSp>
          <p:nvGrpSpPr>
            <p:cNvPr id="7" name="Group 7"/>
            <p:cNvGrpSpPr>
              <a:grpSpLocks/>
            </p:cNvGrpSpPr>
            <p:nvPr/>
          </p:nvGrpSpPr>
          <p:grpSpPr bwMode="auto">
            <a:xfrm>
              <a:off x="4137" y="2688"/>
              <a:ext cx="664" cy="970"/>
              <a:chOff x="4137" y="2688"/>
              <a:chExt cx="664" cy="970"/>
            </a:xfrm>
          </p:grpSpPr>
          <p:sp>
            <p:nvSpPr>
              <p:cNvPr id="37" name="Freeform 8"/>
              <p:cNvSpPr>
                <a:spLocks/>
              </p:cNvSpPr>
              <p:nvPr/>
            </p:nvSpPr>
            <p:spPr bwMode="auto">
              <a:xfrm>
                <a:off x="4430" y="3093"/>
                <a:ext cx="371" cy="553"/>
              </a:xfrm>
              <a:custGeom>
                <a:avLst/>
                <a:gdLst>
                  <a:gd name="T0" fmla="*/ 0 w 371"/>
                  <a:gd name="T1" fmla="*/ 260 h 553"/>
                  <a:gd name="T2" fmla="*/ 105 w 371"/>
                  <a:gd name="T3" fmla="*/ 205 h 553"/>
                  <a:gd name="T4" fmla="*/ 222 w 371"/>
                  <a:gd name="T5" fmla="*/ 11 h 553"/>
                  <a:gd name="T6" fmla="*/ 226 w 371"/>
                  <a:gd name="T7" fmla="*/ 8 h 553"/>
                  <a:gd name="T8" fmla="*/ 235 w 371"/>
                  <a:gd name="T9" fmla="*/ 3 h 553"/>
                  <a:gd name="T10" fmla="*/ 244 w 371"/>
                  <a:gd name="T11" fmla="*/ 2 h 553"/>
                  <a:gd name="T12" fmla="*/ 256 w 371"/>
                  <a:gd name="T13" fmla="*/ 0 h 553"/>
                  <a:gd name="T14" fmla="*/ 267 w 371"/>
                  <a:gd name="T15" fmla="*/ 2 h 553"/>
                  <a:gd name="T16" fmla="*/ 278 w 371"/>
                  <a:gd name="T17" fmla="*/ 5 h 553"/>
                  <a:gd name="T18" fmla="*/ 291 w 371"/>
                  <a:gd name="T19" fmla="*/ 11 h 553"/>
                  <a:gd name="T20" fmla="*/ 307 w 371"/>
                  <a:gd name="T21" fmla="*/ 19 h 553"/>
                  <a:gd name="T22" fmla="*/ 320 w 371"/>
                  <a:gd name="T23" fmla="*/ 27 h 553"/>
                  <a:gd name="T24" fmla="*/ 332 w 371"/>
                  <a:gd name="T25" fmla="*/ 35 h 553"/>
                  <a:gd name="T26" fmla="*/ 340 w 371"/>
                  <a:gd name="T27" fmla="*/ 42 h 553"/>
                  <a:gd name="T28" fmla="*/ 348 w 371"/>
                  <a:gd name="T29" fmla="*/ 52 h 553"/>
                  <a:gd name="T30" fmla="*/ 358 w 371"/>
                  <a:gd name="T31" fmla="*/ 65 h 553"/>
                  <a:gd name="T32" fmla="*/ 363 w 371"/>
                  <a:gd name="T33" fmla="*/ 75 h 553"/>
                  <a:gd name="T34" fmla="*/ 368 w 371"/>
                  <a:gd name="T35" fmla="*/ 89 h 553"/>
                  <a:gd name="T36" fmla="*/ 370 w 371"/>
                  <a:gd name="T37" fmla="*/ 105 h 553"/>
                  <a:gd name="T38" fmla="*/ 370 w 371"/>
                  <a:gd name="T39" fmla="*/ 129 h 553"/>
                  <a:gd name="T40" fmla="*/ 366 w 371"/>
                  <a:gd name="T41" fmla="*/ 156 h 553"/>
                  <a:gd name="T42" fmla="*/ 361 w 371"/>
                  <a:gd name="T43" fmla="*/ 182 h 553"/>
                  <a:gd name="T44" fmla="*/ 351 w 371"/>
                  <a:gd name="T45" fmla="*/ 213 h 553"/>
                  <a:gd name="T46" fmla="*/ 341 w 371"/>
                  <a:gd name="T47" fmla="*/ 238 h 553"/>
                  <a:gd name="T48" fmla="*/ 333 w 371"/>
                  <a:gd name="T49" fmla="*/ 255 h 553"/>
                  <a:gd name="T50" fmla="*/ 320 w 371"/>
                  <a:gd name="T51" fmla="*/ 274 h 553"/>
                  <a:gd name="T52" fmla="*/ 309 w 371"/>
                  <a:gd name="T53" fmla="*/ 287 h 553"/>
                  <a:gd name="T54" fmla="*/ 298 w 371"/>
                  <a:gd name="T55" fmla="*/ 301 h 553"/>
                  <a:gd name="T56" fmla="*/ 286 w 371"/>
                  <a:gd name="T57" fmla="*/ 316 h 553"/>
                  <a:gd name="T58" fmla="*/ 274 w 371"/>
                  <a:gd name="T59" fmla="*/ 324 h 553"/>
                  <a:gd name="T60" fmla="*/ 44 w 371"/>
                  <a:gd name="T61" fmla="*/ 308 h 553"/>
                  <a:gd name="T62" fmla="*/ 34 w 371"/>
                  <a:gd name="T63" fmla="*/ 328 h 553"/>
                  <a:gd name="T64" fmla="*/ 34 w 371"/>
                  <a:gd name="T65" fmla="*/ 473 h 553"/>
                  <a:gd name="T66" fmla="*/ 36 w 371"/>
                  <a:gd name="T67" fmla="*/ 487 h 553"/>
                  <a:gd name="T68" fmla="*/ 38 w 371"/>
                  <a:gd name="T69" fmla="*/ 496 h 553"/>
                  <a:gd name="T70" fmla="*/ 43 w 371"/>
                  <a:gd name="T71" fmla="*/ 505 h 553"/>
                  <a:gd name="T72" fmla="*/ 48 w 371"/>
                  <a:gd name="T73" fmla="*/ 512 h 553"/>
                  <a:gd name="T74" fmla="*/ 56 w 371"/>
                  <a:gd name="T75" fmla="*/ 518 h 553"/>
                  <a:gd name="T76" fmla="*/ 64 w 371"/>
                  <a:gd name="T77" fmla="*/ 522 h 553"/>
                  <a:gd name="T78" fmla="*/ 72 w 371"/>
                  <a:gd name="T79" fmla="*/ 524 h 553"/>
                  <a:gd name="T80" fmla="*/ 81 w 371"/>
                  <a:gd name="T81" fmla="*/ 526 h 553"/>
                  <a:gd name="T82" fmla="*/ 331 w 371"/>
                  <a:gd name="T83" fmla="*/ 525 h 553"/>
                  <a:gd name="T84" fmla="*/ 332 w 371"/>
                  <a:gd name="T85" fmla="*/ 552 h 553"/>
                  <a:gd name="T86" fmla="*/ 75 w 371"/>
                  <a:gd name="T87" fmla="*/ 551 h 553"/>
                  <a:gd name="T88" fmla="*/ 61 w 371"/>
                  <a:gd name="T89" fmla="*/ 550 h 553"/>
                  <a:gd name="T90" fmla="*/ 52 w 371"/>
                  <a:gd name="T91" fmla="*/ 549 h 553"/>
                  <a:gd name="T92" fmla="*/ 42 w 371"/>
                  <a:gd name="T93" fmla="*/ 547 h 553"/>
                  <a:gd name="T94" fmla="*/ 34 w 371"/>
                  <a:gd name="T95" fmla="*/ 543 h 553"/>
                  <a:gd name="T96" fmla="*/ 26 w 371"/>
                  <a:gd name="T97" fmla="*/ 537 h 553"/>
                  <a:gd name="T98" fmla="*/ 18 w 371"/>
                  <a:gd name="T99" fmla="*/ 527 h 553"/>
                  <a:gd name="T100" fmla="*/ 12 w 371"/>
                  <a:gd name="T101" fmla="*/ 518 h 553"/>
                  <a:gd name="T102" fmla="*/ 7 w 371"/>
                  <a:gd name="T103" fmla="*/ 508 h 553"/>
                  <a:gd name="T104" fmla="*/ 4 w 371"/>
                  <a:gd name="T105" fmla="*/ 497 h 553"/>
                  <a:gd name="T106" fmla="*/ 1 w 371"/>
                  <a:gd name="T107" fmla="*/ 485 h 553"/>
                  <a:gd name="T108" fmla="*/ 0 w 371"/>
                  <a:gd name="T109" fmla="*/ 470 h 553"/>
                  <a:gd name="T110" fmla="*/ 0 w 371"/>
                  <a:gd name="T111" fmla="*/ 260 h 55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71" h="553">
                    <a:moveTo>
                      <a:pt x="0" y="260"/>
                    </a:moveTo>
                    <a:lnTo>
                      <a:pt x="105" y="205"/>
                    </a:lnTo>
                    <a:lnTo>
                      <a:pt x="222" y="11"/>
                    </a:lnTo>
                    <a:lnTo>
                      <a:pt x="226" y="8"/>
                    </a:lnTo>
                    <a:lnTo>
                      <a:pt x="235" y="3"/>
                    </a:lnTo>
                    <a:lnTo>
                      <a:pt x="244" y="2"/>
                    </a:lnTo>
                    <a:lnTo>
                      <a:pt x="256" y="0"/>
                    </a:lnTo>
                    <a:lnTo>
                      <a:pt x="267" y="2"/>
                    </a:lnTo>
                    <a:lnTo>
                      <a:pt x="278" y="5"/>
                    </a:lnTo>
                    <a:lnTo>
                      <a:pt x="291" y="11"/>
                    </a:lnTo>
                    <a:lnTo>
                      <a:pt x="307" y="19"/>
                    </a:lnTo>
                    <a:lnTo>
                      <a:pt x="320" y="27"/>
                    </a:lnTo>
                    <a:lnTo>
                      <a:pt x="332" y="35"/>
                    </a:lnTo>
                    <a:lnTo>
                      <a:pt x="340" y="42"/>
                    </a:lnTo>
                    <a:lnTo>
                      <a:pt x="348" y="52"/>
                    </a:lnTo>
                    <a:lnTo>
                      <a:pt x="358" y="65"/>
                    </a:lnTo>
                    <a:lnTo>
                      <a:pt x="363" y="75"/>
                    </a:lnTo>
                    <a:lnTo>
                      <a:pt x="368" y="89"/>
                    </a:lnTo>
                    <a:lnTo>
                      <a:pt x="370" y="105"/>
                    </a:lnTo>
                    <a:lnTo>
                      <a:pt x="370" y="129"/>
                    </a:lnTo>
                    <a:lnTo>
                      <a:pt x="366" y="156"/>
                    </a:lnTo>
                    <a:lnTo>
                      <a:pt x="361" y="182"/>
                    </a:lnTo>
                    <a:lnTo>
                      <a:pt x="351" y="213"/>
                    </a:lnTo>
                    <a:lnTo>
                      <a:pt x="341" y="238"/>
                    </a:lnTo>
                    <a:lnTo>
                      <a:pt x="333" y="255"/>
                    </a:lnTo>
                    <a:lnTo>
                      <a:pt x="320" y="274"/>
                    </a:lnTo>
                    <a:lnTo>
                      <a:pt x="309" y="287"/>
                    </a:lnTo>
                    <a:lnTo>
                      <a:pt x="298" y="301"/>
                    </a:lnTo>
                    <a:lnTo>
                      <a:pt x="286" y="316"/>
                    </a:lnTo>
                    <a:lnTo>
                      <a:pt x="274" y="324"/>
                    </a:lnTo>
                    <a:lnTo>
                      <a:pt x="44" y="308"/>
                    </a:lnTo>
                    <a:lnTo>
                      <a:pt x="34" y="328"/>
                    </a:lnTo>
                    <a:lnTo>
                      <a:pt x="34" y="473"/>
                    </a:lnTo>
                    <a:lnTo>
                      <a:pt x="36" y="487"/>
                    </a:lnTo>
                    <a:lnTo>
                      <a:pt x="38" y="496"/>
                    </a:lnTo>
                    <a:lnTo>
                      <a:pt x="43" y="505"/>
                    </a:lnTo>
                    <a:lnTo>
                      <a:pt x="48" y="512"/>
                    </a:lnTo>
                    <a:lnTo>
                      <a:pt x="56" y="518"/>
                    </a:lnTo>
                    <a:lnTo>
                      <a:pt x="64" y="522"/>
                    </a:lnTo>
                    <a:lnTo>
                      <a:pt x="72" y="524"/>
                    </a:lnTo>
                    <a:lnTo>
                      <a:pt x="81" y="526"/>
                    </a:lnTo>
                    <a:lnTo>
                      <a:pt x="331" y="525"/>
                    </a:lnTo>
                    <a:lnTo>
                      <a:pt x="332" y="552"/>
                    </a:lnTo>
                    <a:lnTo>
                      <a:pt x="75" y="551"/>
                    </a:lnTo>
                    <a:lnTo>
                      <a:pt x="61" y="550"/>
                    </a:lnTo>
                    <a:lnTo>
                      <a:pt x="52" y="549"/>
                    </a:lnTo>
                    <a:lnTo>
                      <a:pt x="42" y="547"/>
                    </a:lnTo>
                    <a:lnTo>
                      <a:pt x="34" y="543"/>
                    </a:lnTo>
                    <a:lnTo>
                      <a:pt x="26" y="537"/>
                    </a:lnTo>
                    <a:lnTo>
                      <a:pt x="18" y="527"/>
                    </a:lnTo>
                    <a:lnTo>
                      <a:pt x="12" y="518"/>
                    </a:lnTo>
                    <a:lnTo>
                      <a:pt x="7" y="508"/>
                    </a:lnTo>
                    <a:lnTo>
                      <a:pt x="4" y="497"/>
                    </a:lnTo>
                    <a:lnTo>
                      <a:pt x="1" y="485"/>
                    </a:lnTo>
                    <a:lnTo>
                      <a:pt x="0" y="470"/>
                    </a:lnTo>
                    <a:lnTo>
                      <a:pt x="0" y="260"/>
                    </a:lnTo>
                  </a:path>
                </a:pathLst>
              </a:custGeom>
              <a:solidFill>
                <a:srgbClr val="000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grpSp>
            <p:nvGrpSpPr>
              <p:cNvPr id="38" name="Group 9"/>
              <p:cNvGrpSpPr>
                <a:grpSpLocks/>
              </p:cNvGrpSpPr>
              <p:nvPr/>
            </p:nvGrpSpPr>
            <p:grpSpPr bwMode="auto">
              <a:xfrm>
                <a:off x="4137" y="2688"/>
                <a:ext cx="583" cy="970"/>
                <a:chOff x="4137" y="2688"/>
                <a:chExt cx="583" cy="970"/>
              </a:xfrm>
            </p:grpSpPr>
            <p:sp>
              <p:nvSpPr>
                <p:cNvPr id="39" name="Freeform 10"/>
                <p:cNvSpPr>
                  <a:spLocks/>
                </p:cNvSpPr>
                <p:nvPr/>
              </p:nvSpPr>
              <p:spPr bwMode="auto">
                <a:xfrm>
                  <a:off x="4137" y="2688"/>
                  <a:ext cx="583" cy="970"/>
                </a:xfrm>
                <a:custGeom>
                  <a:avLst/>
                  <a:gdLst>
                    <a:gd name="T0" fmla="*/ 527 w 583"/>
                    <a:gd name="T1" fmla="*/ 120 h 970"/>
                    <a:gd name="T2" fmla="*/ 479 w 583"/>
                    <a:gd name="T3" fmla="*/ 112 h 970"/>
                    <a:gd name="T4" fmla="*/ 480 w 583"/>
                    <a:gd name="T5" fmla="*/ 100 h 970"/>
                    <a:gd name="T6" fmla="*/ 428 w 583"/>
                    <a:gd name="T7" fmla="*/ 117 h 970"/>
                    <a:gd name="T8" fmla="*/ 430 w 583"/>
                    <a:gd name="T9" fmla="*/ 89 h 970"/>
                    <a:gd name="T10" fmla="*/ 448 w 583"/>
                    <a:gd name="T11" fmla="*/ 41 h 970"/>
                    <a:gd name="T12" fmla="*/ 402 w 583"/>
                    <a:gd name="T13" fmla="*/ 79 h 970"/>
                    <a:gd name="T14" fmla="*/ 406 w 583"/>
                    <a:gd name="T15" fmla="*/ 38 h 970"/>
                    <a:gd name="T16" fmla="*/ 391 w 583"/>
                    <a:gd name="T17" fmla="*/ 38 h 970"/>
                    <a:gd name="T18" fmla="*/ 373 w 583"/>
                    <a:gd name="T19" fmla="*/ 41 h 970"/>
                    <a:gd name="T20" fmla="*/ 349 w 583"/>
                    <a:gd name="T21" fmla="*/ 65 h 970"/>
                    <a:gd name="T22" fmla="*/ 330 w 583"/>
                    <a:gd name="T23" fmla="*/ 42 h 970"/>
                    <a:gd name="T24" fmla="*/ 310 w 583"/>
                    <a:gd name="T25" fmla="*/ 63 h 970"/>
                    <a:gd name="T26" fmla="*/ 284 w 583"/>
                    <a:gd name="T27" fmla="*/ 19 h 970"/>
                    <a:gd name="T28" fmla="*/ 267 w 583"/>
                    <a:gd name="T29" fmla="*/ 57 h 970"/>
                    <a:gd name="T30" fmla="*/ 259 w 583"/>
                    <a:gd name="T31" fmla="*/ 82 h 970"/>
                    <a:gd name="T32" fmla="*/ 230 w 583"/>
                    <a:gd name="T33" fmla="*/ 28 h 970"/>
                    <a:gd name="T34" fmla="*/ 237 w 583"/>
                    <a:gd name="T35" fmla="*/ 77 h 970"/>
                    <a:gd name="T36" fmla="*/ 218 w 583"/>
                    <a:gd name="T37" fmla="*/ 116 h 970"/>
                    <a:gd name="T38" fmla="*/ 177 w 583"/>
                    <a:gd name="T39" fmla="*/ 156 h 970"/>
                    <a:gd name="T40" fmla="*/ 127 w 583"/>
                    <a:gd name="T41" fmla="*/ 215 h 970"/>
                    <a:gd name="T42" fmla="*/ 110 w 583"/>
                    <a:gd name="T43" fmla="*/ 246 h 970"/>
                    <a:gd name="T44" fmla="*/ 121 w 583"/>
                    <a:gd name="T45" fmla="*/ 260 h 970"/>
                    <a:gd name="T46" fmla="*/ 156 w 583"/>
                    <a:gd name="T47" fmla="*/ 266 h 970"/>
                    <a:gd name="T48" fmla="*/ 152 w 583"/>
                    <a:gd name="T49" fmla="*/ 369 h 970"/>
                    <a:gd name="T50" fmla="*/ 164 w 583"/>
                    <a:gd name="T51" fmla="*/ 385 h 970"/>
                    <a:gd name="T52" fmla="*/ 192 w 583"/>
                    <a:gd name="T53" fmla="*/ 391 h 970"/>
                    <a:gd name="T54" fmla="*/ 239 w 583"/>
                    <a:gd name="T55" fmla="*/ 377 h 970"/>
                    <a:gd name="T56" fmla="*/ 210 w 583"/>
                    <a:gd name="T57" fmla="*/ 533 h 970"/>
                    <a:gd name="T58" fmla="*/ 218 w 583"/>
                    <a:gd name="T59" fmla="*/ 556 h 970"/>
                    <a:gd name="T60" fmla="*/ 245 w 583"/>
                    <a:gd name="T61" fmla="*/ 567 h 970"/>
                    <a:gd name="T62" fmla="*/ 282 w 583"/>
                    <a:gd name="T63" fmla="*/ 564 h 970"/>
                    <a:gd name="T64" fmla="*/ 213 w 583"/>
                    <a:gd name="T65" fmla="*/ 646 h 970"/>
                    <a:gd name="T66" fmla="*/ 196 w 583"/>
                    <a:gd name="T67" fmla="*/ 776 h 970"/>
                    <a:gd name="T68" fmla="*/ 173 w 583"/>
                    <a:gd name="T69" fmla="*/ 865 h 970"/>
                    <a:gd name="T70" fmla="*/ 148 w 583"/>
                    <a:gd name="T71" fmla="*/ 884 h 970"/>
                    <a:gd name="T72" fmla="*/ 52 w 583"/>
                    <a:gd name="T73" fmla="*/ 917 h 970"/>
                    <a:gd name="T74" fmla="*/ 6 w 583"/>
                    <a:gd name="T75" fmla="*/ 942 h 970"/>
                    <a:gd name="T76" fmla="*/ 0 w 583"/>
                    <a:gd name="T77" fmla="*/ 961 h 970"/>
                    <a:gd name="T78" fmla="*/ 106 w 583"/>
                    <a:gd name="T79" fmla="*/ 965 h 970"/>
                    <a:gd name="T80" fmla="*/ 190 w 583"/>
                    <a:gd name="T81" fmla="*/ 965 h 970"/>
                    <a:gd name="T82" fmla="*/ 269 w 583"/>
                    <a:gd name="T83" fmla="*/ 964 h 970"/>
                    <a:gd name="T84" fmla="*/ 307 w 583"/>
                    <a:gd name="T85" fmla="*/ 957 h 970"/>
                    <a:gd name="T86" fmla="*/ 305 w 583"/>
                    <a:gd name="T87" fmla="*/ 773 h 970"/>
                    <a:gd name="T88" fmla="*/ 313 w 583"/>
                    <a:gd name="T89" fmla="*/ 696 h 970"/>
                    <a:gd name="T90" fmla="*/ 387 w 583"/>
                    <a:gd name="T91" fmla="*/ 681 h 970"/>
                    <a:gd name="T92" fmla="*/ 474 w 583"/>
                    <a:gd name="T93" fmla="*/ 683 h 970"/>
                    <a:gd name="T94" fmla="*/ 536 w 583"/>
                    <a:gd name="T95" fmla="*/ 678 h 970"/>
                    <a:gd name="T96" fmla="*/ 562 w 583"/>
                    <a:gd name="T97" fmla="*/ 650 h 970"/>
                    <a:gd name="T98" fmla="*/ 577 w 583"/>
                    <a:gd name="T99" fmla="*/ 605 h 970"/>
                    <a:gd name="T100" fmla="*/ 580 w 583"/>
                    <a:gd name="T101" fmla="*/ 550 h 970"/>
                    <a:gd name="T102" fmla="*/ 562 w 583"/>
                    <a:gd name="T103" fmla="*/ 493 h 970"/>
                    <a:gd name="T104" fmla="*/ 528 w 583"/>
                    <a:gd name="T105" fmla="*/ 428 h 970"/>
                    <a:gd name="T106" fmla="*/ 496 w 583"/>
                    <a:gd name="T107" fmla="*/ 370 h 970"/>
                    <a:gd name="T108" fmla="*/ 463 w 583"/>
                    <a:gd name="T109" fmla="*/ 294 h 970"/>
                    <a:gd name="T110" fmla="*/ 452 w 583"/>
                    <a:gd name="T111" fmla="*/ 238 h 97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3" h="970">
                      <a:moveTo>
                        <a:pt x="464" y="142"/>
                      </a:moveTo>
                      <a:lnTo>
                        <a:pt x="494" y="126"/>
                      </a:lnTo>
                      <a:lnTo>
                        <a:pt x="527" y="120"/>
                      </a:lnTo>
                      <a:lnTo>
                        <a:pt x="490" y="121"/>
                      </a:lnTo>
                      <a:lnTo>
                        <a:pt x="461" y="135"/>
                      </a:lnTo>
                      <a:lnTo>
                        <a:pt x="479" y="112"/>
                      </a:lnTo>
                      <a:lnTo>
                        <a:pt x="457" y="122"/>
                      </a:lnTo>
                      <a:lnTo>
                        <a:pt x="447" y="121"/>
                      </a:lnTo>
                      <a:lnTo>
                        <a:pt x="480" y="100"/>
                      </a:lnTo>
                      <a:lnTo>
                        <a:pt x="498" y="74"/>
                      </a:lnTo>
                      <a:lnTo>
                        <a:pt x="472" y="97"/>
                      </a:lnTo>
                      <a:lnTo>
                        <a:pt x="428" y="117"/>
                      </a:lnTo>
                      <a:lnTo>
                        <a:pt x="434" y="98"/>
                      </a:lnTo>
                      <a:lnTo>
                        <a:pt x="458" y="67"/>
                      </a:lnTo>
                      <a:lnTo>
                        <a:pt x="430" y="89"/>
                      </a:lnTo>
                      <a:lnTo>
                        <a:pt x="465" y="41"/>
                      </a:lnTo>
                      <a:lnTo>
                        <a:pt x="480" y="6"/>
                      </a:lnTo>
                      <a:lnTo>
                        <a:pt x="448" y="41"/>
                      </a:lnTo>
                      <a:lnTo>
                        <a:pt x="407" y="97"/>
                      </a:lnTo>
                      <a:lnTo>
                        <a:pt x="437" y="40"/>
                      </a:lnTo>
                      <a:lnTo>
                        <a:pt x="402" y="79"/>
                      </a:lnTo>
                      <a:lnTo>
                        <a:pt x="396" y="80"/>
                      </a:lnTo>
                      <a:lnTo>
                        <a:pt x="420" y="24"/>
                      </a:lnTo>
                      <a:lnTo>
                        <a:pt x="406" y="38"/>
                      </a:lnTo>
                      <a:lnTo>
                        <a:pt x="386" y="71"/>
                      </a:lnTo>
                      <a:lnTo>
                        <a:pt x="401" y="26"/>
                      </a:lnTo>
                      <a:lnTo>
                        <a:pt x="391" y="38"/>
                      </a:lnTo>
                      <a:lnTo>
                        <a:pt x="392" y="0"/>
                      </a:lnTo>
                      <a:lnTo>
                        <a:pt x="376" y="52"/>
                      </a:lnTo>
                      <a:lnTo>
                        <a:pt x="373" y="41"/>
                      </a:lnTo>
                      <a:lnTo>
                        <a:pt x="363" y="59"/>
                      </a:lnTo>
                      <a:lnTo>
                        <a:pt x="374" y="3"/>
                      </a:lnTo>
                      <a:lnTo>
                        <a:pt x="349" y="65"/>
                      </a:lnTo>
                      <a:lnTo>
                        <a:pt x="336" y="66"/>
                      </a:lnTo>
                      <a:lnTo>
                        <a:pt x="345" y="12"/>
                      </a:lnTo>
                      <a:lnTo>
                        <a:pt x="330" y="42"/>
                      </a:lnTo>
                      <a:lnTo>
                        <a:pt x="318" y="65"/>
                      </a:lnTo>
                      <a:lnTo>
                        <a:pt x="319" y="45"/>
                      </a:lnTo>
                      <a:lnTo>
                        <a:pt x="310" y="63"/>
                      </a:lnTo>
                      <a:lnTo>
                        <a:pt x="312" y="16"/>
                      </a:lnTo>
                      <a:lnTo>
                        <a:pt x="294" y="79"/>
                      </a:lnTo>
                      <a:lnTo>
                        <a:pt x="284" y="19"/>
                      </a:lnTo>
                      <a:lnTo>
                        <a:pt x="282" y="59"/>
                      </a:lnTo>
                      <a:lnTo>
                        <a:pt x="276" y="79"/>
                      </a:lnTo>
                      <a:lnTo>
                        <a:pt x="267" y="57"/>
                      </a:lnTo>
                      <a:lnTo>
                        <a:pt x="257" y="27"/>
                      </a:lnTo>
                      <a:lnTo>
                        <a:pt x="261" y="61"/>
                      </a:lnTo>
                      <a:lnTo>
                        <a:pt x="259" y="82"/>
                      </a:lnTo>
                      <a:lnTo>
                        <a:pt x="248" y="31"/>
                      </a:lnTo>
                      <a:lnTo>
                        <a:pt x="246" y="69"/>
                      </a:lnTo>
                      <a:lnTo>
                        <a:pt x="230" y="28"/>
                      </a:lnTo>
                      <a:lnTo>
                        <a:pt x="210" y="11"/>
                      </a:lnTo>
                      <a:lnTo>
                        <a:pt x="225" y="36"/>
                      </a:lnTo>
                      <a:lnTo>
                        <a:pt x="237" y="77"/>
                      </a:lnTo>
                      <a:lnTo>
                        <a:pt x="237" y="101"/>
                      </a:lnTo>
                      <a:lnTo>
                        <a:pt x="229" y="107"/>
                      </a:lnTo>
                      <a:lnTo>
                        <a:pt x="218" y="116"/>
                      </a:lnTo>
                      <a:lnTo>
                        <a:pt x="207" y="127"/>
                      </a:lnTo>
                      <a:lnTo>
                        <a:pt x="192" y="141"/>
                      </a:lnTo>
                      <a:lnTo>
                        <a:pt x="177" y="156"/>
                      </a:lnTo>
                      <a:lnTo>
                        <a:pt x="159" y="176"/>
                      </a:lnTo>
                      <a:lnTo>
                        <a:pt x="142" y="198"/>
                      </a:lnTo>
                      <a:lnTo>
                        <a:pt x="127" y="215"/>
                      </a:lnTo>
                      <a:lnTo>
                        <a:pt x="115" y="231"/>
                      </a:lnTo>
                      <a:lnTo>
                        <a:pt x="112" y="238"/>
                      </a:lnTo>
                      <a:lnTo>
                        <a:pt x="110" y="246"/>
                      </a:lnTo>
                      <a:lnTo>
                        <a:pt x="113" y="253"/>
                      </a:lnTo>
                      <a:lnTo>
                        <a:pt x="115" y="257"/>
                      </a:lnTo>
                      <a:lnTo>
                        <a:pt x="121" y="260"/>
                      </a:lnTo>
                      <a:lnTo>
                        <a:pt x="129" y="262"/>
                      </a:lnTo>
                      <a:lnTo>
                        <a:pt x="146" y="264"/>
                      </a:lnTo>
                      <a:lnTo>
                        <a:pt x="156" y="266"/>
                      </a:lnTo>
                      <a:lnTo>
                        <a:pt x="156" y="300"/>
                      </a:lnTo>
                      <a:lnTo>
                        <a:pt x="150" y="355"/>
                      </a:lnTo>
                      <a:lnTo>
                        <a:pt x="152" y="369"/>
                      </a:lnTo>
                      <a:lnTo>
                        <a:pt x="154" y="376"/>
                      </a:lnTo>
                      <a:lnTo>
                        <a:pt x="157" y="381"/>
                      </a:lnTo>
                      <a:lnTo>
                        <a:pt x="164" y="385"/>
                      </a:lnTo>
                      <a:lnTo>
                        <a:pt x="171" y="388"/>
                      </a:lnTo>
                      <a:lnTo>
                        <a:pt x="180" y="391"/>
                      </a:lnTo>
                      <a:lnTo>
                        <a:pt x="192" y="391"/>
                      </a:lnTo>
                      <a:lnTo>
                        <a:pt x="210" y="388"/>
                      </a:lnTo>
                      <a:lnTo>
                        <a:pt x="226" y="383"/>
                      </a:lnTo>
                      <a:lnTo>
                        <a:pt x="239" y="377"/>
                      </a:lnTo>
                      <a:lnTo>
                        <a:pt x="230" y="433"/>
                      </a:lnTo>
                      <a:lnTo>
                        <a:pt x="219" y="488"/>
                      </a:lnTo>
                      <a:lnTo>
                        <a:pt x="210" y="533"/>
                      </a:lnTo>
                      <a:lnTo>
                        <a:pt x="212" y="543"/>
                      </a:lnTo>
                      <a:lnTo>
                        <a:pt x="214" y="550"/>
                      </a:lnTo>
                      <a:lnTo>
                        <a:pt x="218" y="556"/>
                      </a:lnTo>
                      <a:lnTo>
                        <a:pt x="223" y="560"/>
                      </a:lnTo>
                      <a:lnTo>
                        <a:pt x="228" y="564"/>
                      </a:lnTo>
                      <a:lnTo>
                        <a:pt x="245" y="567"/>
                      </a:lnTo>
                      <a:lnTo>
                        <a:pt x="264" y="570"/>
                      </a:lnTo>
                      <a:lnTo>
                        <a:pt x="272" y="568"/>
                      </a:lnTo>
                      <a:lnTo>
                        <a:pt x="282" y="564"/>
                      </a:lnTo>
                      <a:lnTo>
                        <a:pt x="275" y="602"/>
                      </a:lnTo>
                      <a:lnTo>
                        <a:pt x="228" y="634"/>
                      </a:lnTo>
                      <a:lnTo>
                        <a:pt x="213" y="646"/>
                      </a:lnTo>
                      <a:lnTo>
                        <a:pt x="213" y="672"/>
                      </a:lnTo>
                      <a:lnTo>
                        <a:pt x="204" y="733"/>
                      </a:lnTo>
                      <a:lnTo>
                        <a:pt x="196" y="776"/>
                      </a:lnTo>
                      <a:lnTo>
                        <a:pt x="188" y="829"/>
                      </a:lnTo>
                      <a:lnTo>
                        <a:pt x="183" y="846"/>
                      </a:lnTo>
                      <a:lnTo>
                        <a:pt x="173" y="865"/>
                      </a:lnTo>
                      <a:lnTo>
                        <a:pt x="167" y="870"/>
                      </a:lnTo>
                      <a:lnTo>
                        <a:pt x="157" y="878"/>
                      </a:lnTo>
                      <a:lnTo>
                        <a:pt x="148" y="884"/>
                      </a:lnTo>
                      <a:lnTo>
                        <a:pt x="125" y="893"/>
                      </a:lnTo>
                      <a:lnTo>
                        <a:pt x="91" y="903"/>
                      </a:lnTo>
                      <a:lnTo>
                        <a:pt x="52" y="917"/>
                      </a:lnTo>
                      <a:lnTo>
                        <a:pt x="15" y="931"/>
                      </a:lnTo>
                      <a:lnTo>
                        <a:pt x="9" y="937"/>
                      </a:lnTo>
                      <a:lnTo>
                        <a:pt x="6" y="942"/>
                      </a:lnTo>
                      <a:lnTo>
                        <a:pt x="2" y="949"/>
                      </a:lnTo>
                      <a:lnTo>
                        <a:pt x="0" y="955"/>
                      </a:lnTo>
                      <a:lnTo>
                        <a:pt x="0" y="961"/>
                      </a:lnTo>
                      <a:lnTo>
                        <a:pt x="25" y="966"/>
                      </a:lnTo>
                      <a:lnTo>
                        <a:pt x="71" y="969"/>
                      </a:lnTo>
                      <a:lnTo>
                        <a:pt x="106" y="965"/>
                      </a:lnTo>
                      <a:lnTo>
                        <a:pt x="142" y="959"/>
                      </a:lnTo>
                      <a:lnTo>
                        <a:pt x="159" y="961"/>
                      </a:lnTo>
                      <a:lnTo>
                        <a:pt x="190" y="965"/>
                      </a:lnTo>
                      <a:lnTo>
                        <a:pt x="219" y="966"/>
                      </a:lnTo>
                      <a:lnTo>
                        <a:pt x="239" y="966"/>
                      </a:lnTo>
                      <a:lnTo>
                        <a:pt x="269" y="964"/>
                      </a:lnTo>
                      <a:lnTo>
                        <a:pt x="300" y="964"/>
                      </a:lnTo>
                      <a:lnTo>
                        <a:pt x="305" y="961"/>
                      </a:lnTo>
                      <a:lnTo>
                        <a:pt x="307" y="957"/>
                      </a:lnTo>
                      <a:lnTo>
                        <a:pt x="306" y="912"/>
                      </a:lnTo>
                      <a:lnTo>
                        <a:pt x="303" y="830"/>
                      </a:lnTo>
                      <a:lnTo>
                        <a:pt x="305" y="773"/>
                      </a:lnTo>
                      <a:lnTo>
                        <a:pt x="308" y="721"/>
                      </a:lnTo>
                      <a:lnTo>
                        <a:pt x="310" y="707"/>
                      </a:lnTo>
                      <a:lnTo>
                        <a:pt x="313" y="696"/>
                      </a:lnTo>
                      <a:lnTo>
                        <a:pt x="317" y="689"/>
                      </a:lnTo>
                      <a:lnTo>
                        <a:pt x="321" y="685"/>
                      </a:lnTo>
                      <a:lnTo>
                        <a:pt x="387" y="681"/>
                      </a:lnTo>
                      <a:lnTo>
                        <a:pt x="414" y="682"/>
                      </a:lnTo>
                      <a:lnTo>
                        <a:pt x="439" y="685"/>
                      </a:lnTo>
                      <a:lnTo>
                        <a:pt x="474" y="683"/>
                      </a:lnTo>
                      <a:lnTo>
                        <a:pt x="502" y="682"/>
                      </a:lnTo>
                      <a:lnTo>
                        <a:pt x="524" y="680"/>
                      </a:lnTo>
                      <a:lnTo>
                        <a:pt x="536" y="678"/>
                      </a:lnTo>
                      <a:lnTo>
                        <a:pt x="548" y="674"/>
                      </a:lnTo>
                      <a:lnTo>
                        <a:pt x="554" y="662"/>
                      </a:lnTo>
                      <a:lnTo>
                        <a:pt x="562" y="650"/>
                      </a:lnTo>
                      <a:lnTo>
                        <a:pt x="568" y="633"/>
                      </a:lnTo>
                      <a:lnTo>
                        <a:pt x="573" y="619"/>
                      </a:lnTo>
                      <a:lnTo>
                        <a:pt x="577" y="605"/>
                      </a:lnTo>
                      <a:lnTo>
                        <a:pt x="581" y="587"/>
                      </a:lnTo>
                      <a:lnTo>
                        <a:pt x="582" y="570"/>
                      </a:lnTo>
                      <a:lnTo>
                        <a:pt x="580" y="550"/>
                      </a:lnTo>
                      <a:lnTo>
                        <a:pt x="576" y="533"/>
                      </a:lnTo>
                      <a:lnTo>
                        <a:pt x="570" y="515"/>
                      </a:lnTo>
                      <a:lnTo>
                        <a:pt x="562" y="493"/>
                      </a:lnTo>
                      <a:lnTo>
                        <a:pt x="553" y="475"/>
                      </a:lnTo>
                      <a:lnTo>
                        <a:pt x="540" y="450"/>
                      </a:lnTo>
                      <a:lnTo>
                        <a:pt x="528" y="428"/>
                      </a:lnTo>
                      <a:lnTo>
                        <a:pt x="518" y="410"/>
                      </a:lnTo>
                      <a:lnTo>
                        <a:pt x="509" y="393"/>
                      </a:lnTo>
                      <a:lnTo>
                        <a:pt x="496" y="370"/>
                      </a:lnTo>
                      <a:lnTo>
                        <a:pt x="485" y="347"/>
                      </a:lnTo>
                      <a:lnTo>
                        <a:pt x="474" y="324"/>
                      </a:lnTo>
                      <a:lnTo>
                        <a:pt x="463" y="294"/>
                      </a:lnTo>
                      <a:lnTo>
                        <a:pt x="456" y="273"/>
                      </a:lnTo>
                      <a:lnTo>
                        <a:pt x="453" y="256"/>
                      </a:lnTo>
                      <a:lnTo>
                        <a:pt x="452" y="238"/>
                      </a:lnTo>
                      <a:lnTo>
                        <a:pt x="464" y="142"/>
                      </a:lnTo>
                    </a:path>
                  </a:pathLst>
                </a:custGeom>
                <a:solidFill>
                  <a:srgbClr val="DFD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grpSp>
              <p:nvGrpSpPr>
                <p:cNvPr id="40" name="Group 11"/>
                <p:cNvGrpSpPr>
                  <a:grpSpLocks/>
                </p:cNvGrpSpPr>
                <p:nvPr/>
              </p:nvGrpSpPr>
              <p:grpSpPr bwMode="auto">
                <a:xfrm>
                  <a:off x="4365" y="2834"/>
                  <a:ext cx="213" cy="420"/>
                  <a:chOff x="4365" y="2834"/>
                  <a:chExt cx="213" cy="420"/>
                </a:xfrm>
              </p:grpSpPr>
              <p:sp>
                <p:nvSpPr>
                  <p:cNvPr id="41" name="Oval 12"/>
                  <p:cNvSpPr>
                    <a:spLocks noChangeArrowheads="1"/>
                  </p:cNvSpPr>
                  <p:nvPr/>
                </p:nvSpPr>
                <p:spPr bwMode="auto">
                  <a:xfrm>
                    <a:off x="4383" y="2834"/>
                    <a:ext cx="1" cy="60"/>
                  </a:xfrm>
                  <a:prstGeom prst="ellipse">
                    <a:avLst/>
                  </a:prstGeom>
                  <a:solidFill>
                    <a:srgbClr val="DFD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grpSp>
                <p:nvGrpSpPr>
                  <p:cNvPr id="42" name="Group 13"/>
                  <p:cNvGrpSpPr>
                    <a:grpSpLocks/>
                  </p:cNvGrpSpPr>
                  <p:nvPr/>
                </p:nvGrpSpPr>
                <p:grpSpPr bwMode="auto">
                  <a:xfrm>
                    <a:off x="4365" y="2966"/>
                    <a:ext cx="213" cy="288"/>
                    <a:chOff x="4365" y="2966"/>
                    <a:chExt cx="213" cy="288"/>
                  </a:xfrm>
                </p:grpSpPr>
                <p:sp>
                  <p:nvSpPr>
                    <p:cNvPr id="43" name="Freeform 14"/>
                    <p:cNvSpPr>
                      <a:spLocks/>
                    </p:cNvSpPr>
                    <p:nvPr/>
                  </p:nvSpPr>
                  <p:spPr bwMode="auto">
                    <a:xfrm>
                      <a:off x="4365" y="2966"/>
                      <a:ext cx="182" cy="207"/>
                    </a:xfrm>
                    <a:custGeom>
                      <a:avLst/>
                      <a:gdLst>
                        <a:gd name="T0" fmla="*/ 12 w 182"/>
                        <a:gd name="T1" fmla="*/ 98 h 207"/>
                        <a:gd name="T2" fmla="*/ 7 w 182"/>
                        <a:gd name="T3" fmla="*/ 85 h 207"/>
                        <a:gd name="T4" fmla="*/ 2 w 182"/>
                        <a:gd name="T5" fmla="*/ 67 h 207"/>
                        <a:gd name="T6" fmla="*/ 0 w 182"/>
                        <a:gd name="T7" fmla="*/ 53 h 207"/>
                        <a:gd name="T8" fmla="*/ 1 w 182"/>
                        <a:gd name="T9" fmla="*/ 40 h 207"/>
                        <a:gd name="T10" fmla="*/ 2 w 182"/>
                        <a:gd name="T11" fmla="*/ 26 h 207"/>
                        <a:gd name="T12" fmla="*/ 4 w 182"/>
                        <a:gd name="T13" fmla="*/ 24 h 207"/>
                        <a:gd name="T14" fmla="*/ 7 w 182"/>
                        <a:gd name="T15" fmla="*/ 23 h 207"/>
                        <a:gd name="T16" fmla="*/ 11 w 182"/>
                        <a:gd name="T17" fmla="*/ 24 h 207"/>
                        <a:gd name="T18" fmla="*/ 19 w 182"/>
                        <a:gd name="T19" fmla="*/ 27 h 207"/>
                        <a:gd name="T20" fmla="*/ 29 w 182"/>
                        <a:gd name="T21" fmla="*/ 31 h 207"/>
                        <a:gd name="T22" fmla="*/ 36 w 182"/>
                        <a:gd name="T23" fmla="*/ 31 h 207"/>
                        <a:gd name="T24" fmla="*/ 44 w 182"/>
                        <a:gd name="T25" fmla="*/ 31 h 207"/>
                        <a:gd name="T26" fmla="*/ 56 w 182"/>
                        <a:gd name="T27" fmla="*/ 21 h 207"/>
                        <a:gd name="T28" fmla="*/ 69 w 182"/>
                        <a:gd name="T29" fmla="*/ 11 h 207"/>
                        <a:gd name="T30" fmla="*/ 79 w 182"/>
                        <a:gd name="T31" fmla="*/ 1 h 207"/>
                        <a:gd name="T32" fmla="*/ 82 w 182"/>
                        <a:gd name="T33" fmla="*/ 0 h 207"/>
                        <a:gd name="T34" fmla="*/ 87 w 182"/>
                        <a:gd name="T35" fmla="*/ 1 h 207"/>
                        <a:gd name="T36" fmla="*/ 96 w 182"/>
                        <a:gd name="T37" fmla="*/ 8 h 207"/>
                        <a:gd name="T38" fmla="*/ 104 w 182"/>
                        <a:gd name="T39" fmla="*/ 15 h 207"/>
                        <a:gd name="T40" fmla="*/ 112 w 182"/>
                        <a:gd name="T41" fmla="*/ 18 h 207"/>
                        <a:gd name="T42" fmla="*/ 121 w 182"/>
                        <a:gd name="T43" fmla="*/ 21 h 207"/>
                        <a:gd name="T44" fmla="*/ 130 w 182"/>
                        <a:gd name="T45" fmla="*/ 16 h 207"/>
                        <a:gd name="T46" fmla="*/ 137 w 182"/>
                        <a:gd name="T47" fmla="*/ 14 h 207"/>
                        <a:gd name="T48" fmla="*/ 145 w 182"/>
                        <a:gd name="T49" fmla="*/ 16 h 207"/>
                        <a:gd name="T50" fmla="*/ 149 w 182"/>
                        <a:gd name="T51" fmla="*/ 17 h 207"/>
                        <a:gd name="T52" fmla="*/ 154 w 182"/>
                        <a:gd name="T53" fmla="*/ 21 h 207"/>
                        <a:gd name="T54" fmla="*/ 159 w 182"/>
                        <a:gd name="T55" fmla="*/ 26 h 207"/>
                        <a:gd name="T56" fmla="*/ 161 w 182"/>
                        <a:gd name="T57" fmla="*/ 31 h 207"/>
                        <a:gd name="T58" fmla="*/ 164 w 182"/>
                        <a:gd name="T59" fmla="*/ 40 h 207"/>
                        <a:gd name="T60" fmla="*/ 171 w 182"/>
                        <a:gd name="T61" fmla="*/ 41 h 207"/>
                        <a:gd name="T62" fmla="*/ 176 w 182"/>
                        <a:gd name="T63" fmla="*/ 43 h 207"/>
                        <a:gd name="T64" fmla="*/ 179 w 182"/>
                        <a:gd name="T65" fmla="*/ 45 h 207"/>
                        <a:gd name="T66" fmla="*/ 181 w 182"/>
                        <a:gd name="T67" fmla="*/ 47 h 207"/>
                        <a:gd name="T68" fmla="*/ 179 w 182"/>
                        <a:gd name="T69" fmla="*/ 52 h 207"/>
                        <a:gd name="T70" fmla="*/ 174 w 182"/>
                        <a:gd name="T71" fmla="*/ 70 h 207"/>
                        <a:gd name="T72" fmla="*/ 165 w 182"/>
                        <a:gd name="T73" fmla="*/ 88 h 207"/>
                        <a:gd name="T74" fmla="*/ 151 w 182"/>
                        <a:gd name="T75" fmla="*/ 111 h 207"/>
                        <a:gd name="T76" fmla="*/ 132 w 182"/>
                        <a:gd name="T77" fmla="*/ 131 h 207"/>
                        <a:gd name="T78" fmla="*/ 118 w 182"/>
                        <a:gd name="T79" fmla="*/ 151 h 207"/>
                        <a:gd name="T80" fmla="*/ 104 w 182"/>
                        <a:gd name="T81" fmla="*/ 171 h 207"/>
                        <a:gd name="T82" fmla="*/ 91 w 182"/>
                        <a:gd name="T83" fmla="*/ 184 h 207"/>
                        <a:gd name="T84" fmla="*/ 72 w 182"/>
                        <a:gd name="T85" fmla="*/ 206 h 207"/>
                        <a:gd name="T86" fmla="*/ 89 w 182"/>
                        <a:gd name="T87" fmla="*/ 187 h 207"/>
                        <a:gd name="T88" fmla="*/ 99 w 182"/>
                        <a:gd name="T89" fmla="*/ 180 h 207"/>
                        <a:gd name="T90" fmla="*/ 109 w 182"/>
                        <a:gd name="T91" fmla="*/ 173 h 207"/>
                        <a:gd name="T92" fmla="*/ 118 w 182"/>
                        <a:gd name="T93" fmla="*/ 168 h 207"/>
                        <a:gd name="T94" fmla="*/ 130 w 182"/>
                        <a:gd name="T95" fmla="*/ 166 h 207"/>
                        <a:gd name="T96" fmla="*/ 141 w 182"/>
                        <a:gd name="T97" fmla="*/ 163 h 20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82" h="207">
                          <a:moveTo>
                            <a:pt x="12" y="98"/>
                          </a:moveTo>
                          <a:lnTo>
                            <a:pt x="7" y="85"/>
                          </a:lnTo>
                          <a:lnTo>
                            <a:pt x="2" y="67"/>
                          </a:lnTo>
                          <a:lnTo>
                            <a:pt x="0" y="53"/>
                          </a:lnTo>
                          <a:lnTo>
                            <a:pt x="1" y="40"/>
                          </a:lnTo>
                          <a:lnTo>
                            <a:pt x="2" y="26"/>
                          </a:lnTo>
                          <a:lnTo>
                            <a:pt x="4" y="24"/>
                          </a:lnTo>
                          <a:lnTo>
                            <a:pt x="7" y="23"/>
                          </a:lnTo>
                          <a:lnTo>
                            <a:pt x="11" y="24"/>
                          </a:lnTo>
                          <a:lnTo>
                            <a:pt x="19" y="27"/>
                          </a:lnTo>
                          <a:lnTo>
                            <a:pt x="29" y="31"/>
                          </a:lnTo>
                          <a:lnTo>
                            <a:pt x="36" y="31"/>
                          </a:lnTo>
                          <a:lnTo>
                            <a:pt x="44" y="31"/>
                          </a:lnTo>
                          <a:lnTo>
                            <a:pt x="56" y="21"/>
                          </a:lnTo>
                          <a:lnTo>
                            <a:pt x="69" y="11"/>
                          </a:lnTo>
                          <a:lnTo>
                            <a:pt x="79" y="1"/>
                          </a:lnTo>
                          <a:lnTo>
                            <a:pt x="82" y="0"/>
                          </a:lnTo>
                          <a:lnTo>
                            <a:pt x="87" y="1"/>
                          </a:lnTo>
                          <a:lnTo>
                            <a:pt x="96" y="8"/>
                          </a:lnTo>
                          <a:lnTo>
                            <a:pt x="104" y="15"/>
                          </a:lnTo>
                          <a:lnTo>
                            <a:pt x="112" y="18"/>
                          </a:lnTo>
                          <a:lnTo>
                            <a:pt x="121" y="21"/>
                          </a:lnTo>
                          <a:lnTo>
                            <a:pt x="130" y="16"/>
                          </a:lnTo>
                          <a:lnTo>
                            <a:pt x="137" y="14"/>
                          </a:lnTo>
                          <a:lnTo>
                            <a:pt x="145" y="16"/>
                          </a:lnTo>
                          <a:lnTo>
                            <a:pt x="149" y="17"/>
                          </a:lnTo>
                          <a:lnTo>
                            <a:pt x="154" y="21"/>
                          </a:lnTo>
                          <a:lnTo>
                            <a:pt x="159" y="26"/>
                          </a:lnTo>
                          <a:lnTo>
                            <a:pt x="161" y="31"/>
                          </a:lnTo>
                          <a:lnTo>
                            <a:pt x="164" y="40"/>
                          </a:lnTo>
                          <a:lnTo>
                            <a:pt x="171" y="41"/>
                          </a:lnTo>
                          <a:lnTo>
                            <a:pt x="176" y="43"/>
                          </a:lnTo>
                          <a:lnTo>
                            <a:pt x="179" y="45"/>
                          </a:lnTo>
                          <a:lnTo>
                            <a:pt x="181" y="47"/>
                          </a:lnTo>
                          <a:lnTo>
                            <a:pt x="179" y="52"/>
                          </a:lnTo>
                          <a:lnTo>
                            <a:pt x="174" y="70"/>
                          </a:lnTo>
                          <a:lnTo>
                            <a:pt x="165" y="88"/>
                          </a:lnTo>
                          <a:lnTo>
                            <a:pt x="151" y="111"/>
                          </a:lnTo>
                          <a:lnTo>
                            <a:pt x="132" y="131"/>
                          </a:lnTo>
                          <a:lnTo>
                            <a:pt x="118" y="151"/>
                          </a:lnTo>
                          <a:lnTo>
                            <a:pt x="104" y="171"/>
                          </a:lnTo>
                          <a:lnTo>
                            <a:pt x="91" y="184"/>
                          </a:lnTo>
                          <a:lnTo>
                            <a:pt x="72" y="206"/>
                          </a:lnTo>
                          <a:lnTo>
                            <a:pt x="89" y="187"/>
                          </a:lnTo>
                          <a:lnTo>
                            <a:pt x="99" y="180"/>
                          </a:lnTo>
                          <a:lnTo>
                            <a:pt x="109" y="173"/>
                          </a:lnTo>
                          <a:lnTo>
                            <a:pt x="118" y="168"/>
                          </a:lnTo>
                          <a:lnTo>
                            <a:pt x="130" y="166"/>
                          </a:lnTo>
                          <a:lnTo>
                            <a:pt x="141" y="16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sp>
                  <p:nvSpPr>
                    <p:cNvPr id="44" name="Freeform 15"/>
                    <p:cNvSpPr>
                      <a:spLocks/>
                    </p:cNvSpPr>
                    <p:nvPr/>
                  </p:nvSpPr>
                  <p:spPr bwMode="auto">
                    <a:xfrm>
                      <a:off x="4418" y="3149"/>
                      <a:ext cx="160" cy="105"/>
                    </a:xfrm>
                    <a:custGeom>
                      <a:avLst/>
                      <a:gdLst>
                        <a:gd name="T0" fmla="*/ 159 w 160"/>
                        <a:gd name="T1" fmla="*/ 0 h 105"/>
                        <a:gd name="T2" fmla="*/ 154 w 160"/>
                        <a:gd name="T3" fmla="*/ 10 h 105"/>
                        <a:gd name="T4" fmla="*/ 149 w 160"/>
                        <a:gd name="T5" fmla="*/ 17 h 105"/>
                        <a:gd name="T6" fmla="*/ 129 w 160"/>
                        <a:gd name="T7" fmla="*/ 28 h 105"/>
                        <a:gd name="T8" fmla="*/ 101 w 160"/>
                        <a:gd name="T9" fmla="*/ 42 h 105"/>
                        <a:gd name="T10" fmla="*/ 78 w 160"/>
                        <a:gd name="T11" fmla="*/ 54 h 105"/>
                        <a:gd name="T12" fmla="*/ 61 w 160"/>
                        <a:gd name="T13" fmla="*/ 65 h 105"/>
                        <a:gd name="T14" fmla="*/ 40 w 160"/>
                        <a:gd name="T15" fmla="*/ 78 h 105"/>
                        <a:gd name="T16" fmla="*/ 18 w 160"/>
                        <a:gd name="T17" fmla="*/ 92 h 105"/>
                        <a:gd name="T18" fmla="*/ 0 w 160"/>
                        <a:gd name="T19" fmla="*/ 104 h 1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0" h="105">
                          <a:moveTo>
                            <a:pt x="159" y="0"/>
                          </a:moveTo>
                          <a:lnTo>
                            <a:pt x="154" y="10"/>
                          </a:lnTo>
                          <a:lnTo>
                            <a:pt x="149" y="17"/>
                          </a:lnTo>
                          <a:lnTo>
                            <a:pt x="129" y="28"/>
                          </a:lnTo>
                          <a:lnTo>
                            <a:pt x="101" y="42"/>
                          </a:lnTo>
                          <a:lnTo>
                            <a:pt x="78" y="54"/>
                          </a:lnTo>
                          <a:lnTo>
                            <a:pt x="61" y="65"/>
                          </a:lnTo>
                          <a:lnTo>
                            <a:pt x="40" y="78"/>
                          </a:lnTo>
                          <a:lnTo>
                            <a:pt x="18" y="92"/>
                          </a:lnTo>
                          <a:lnTo>
                            <a:pt x="0" y="104"/>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grpSp>
            </p:grpSp>
          </p:grpSp>
        </p:grpSp>
        <p:grpSp>
          <p:nvGrpSpPr>
            <p:cNvPr id="8" name="Group 16"/>
            <p:cNvGrpSpPr>
              <a:grpSpLocks/>
            </p:cNvGrpSpPr>
            <p:nvPr/>
          </p:nvGrpSpPr>
          <p:grpSpPr bwMode="auto">
            <a:xfrm>
              <a:off x="3627" y="2773"/>
              <a:ext cx="784" cy="892"/>
              <a:chOff x="3627" y="2773"/>
              <a:chExt cx="784" cy="892"/>
            </a:xfrm>
          </p:grpSpPr>
          <p:sp>
            <p:nvSpPr>
              <p:cNvPr id="9" name="Freeform 17"/>
              <p:cNvSpPr>
                <a:spLocks/>
              </p:cNvSpPr>
              <p:nvPr/>
            </p:nvSpPr>
            <p:spPr bwMode="auto">
              <a:xfrm>
                <a:off x="3815" y="3197"/>
                <a:ext cx="596" cy="468"/>
              </a:xfrm>
              <a:custGeom>
                <a:avLst/>
                <a:gdLst>
                  <a:gd name="T0" fmla="*/ 0 w 596"/>
                  <a:gd name="T1" fmla="*/ 466 h 468"/>
                  <a:gd name="T2" fmla="*/ 0 w 596"/>
                  <a:gd name="T3" fmla="*/ 226 h 468"/>
                  <a:gd name="T4" fmla="*/ 8 w 596"/>
                  <a:gd name="T5" fmla="*/ 34 h 468"/>
                  <a:gd name="T6" fmla="*/ 300 w 596"/>
                  <a:gd name="T7" fmla="*/ 0 h 468"/>
                  <a:gd name="T8" fmla="*/ 535 w 596"/>
                  <a:gd name="T9" fmla="*/ 38 h 468"/>
                  <a:gd name="T10" fmla="*/ 538 w 596"/>
                  <a:gd name="T11" fmla="*/ 43 h 468"/>
                  <a:gd name="T12" fmla="*/ 540 w 596"/>
                  <a:gd name="T13" fmla="*/ 47 h 468"/>
                  <a:gd name="T14" fmla="*/ 545 w 596"/>
                  <a:gd name="T15" fmla="*/ 52 h 468"/>
                  <a:gd name="T16" fmla="*/ 550 w 596"/>
                  <a:gd name="T17" fmla="*/ 55 h 468"/>
                  <a:gd name="T18" fmla="*/ 560 w 596"/>
                  <a:gd name="T19" fmla="*/ 57 h 468"/>
                  <a:gd name="T20" fmla="*/ 570 w 596"/>
                  <a:gd name="T21" fmla="*/ 59 h 468"/>
                  <a:gd name="T22" fmla="*/ 577 w 596"/>
                  <a:gd name="T23" fmla="*/ 59 h 468"/>
                  <a:gd name="T24" fmla="*/ 586 w 596"/>
                  <a:gd name="T25" fmla="*/ 60 h 468"/>
                  <a:gd name="T26" fmla="*/ 589 w 596"/>
                  <a:gd name="T27" fmla="*/ 60 h 468"/>
                  <a:gd name="T28" fmla="*/ 595 w 596"/>
                  <a:gd name="T29" fmla="*/ 226 h 468"/>
                  <a:gd name="T30" fmla="*/ 595 w 596"/>
                  <a:gd name="T31" fmla="*/ 463 h 468"/>
                  <a:gd name="T32" fmla="*/ 546 w 596"/>
                  <a:gd name="T33" fmla="*/ 463 h 468"/>
                  <a:gd name="T34" fmla="*/ 540 w 596"/>
                  <a:gd name="T35" fmla="*/ 125 h 468"/>
                  <a:gd name="T36" fmla="*/ 55 w 596"/>
                  <a:gd name="T37" fmla="*/ 125 h 468"/>
                  <a:gd name="T38" fmla="*/ 50 w 596"/>
                  <a:gd name="T39" fmla="*/ 467 h 468"/>
                  <a:gd name="T40" fmla="*/ 0 w 596"/>
                  <a:gd name="T41" fmla="*/ 466 h 4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96" h="468">
                    <a:moveTo>
                      <a:pt x="0" y="466"/>
                    </a:moveTo>
                    <a:lnTo>
                      <a:pt x="0" y="226"/>
                    </a:lnTo>
                    <a:lnTo>
                      <a:pt x="8" y="34"/>
                    </a:lnTo>
                    <a:lnTo>
                      <a:pt x="300" y="0"/>
                    </a:lnTo>
                    <a:lnTo>
                      <a:pt x="535" y="38"/>
                    </a:lnTo>
                    <a:lnTo>
                      <a:pt x="538" y="43"/>
                    </a:lnTo>
                    <a:lnTo>
                      <a:pt x="540" y="47"/>
                    </a:lnTo>
                    <a:lnTo>
                      <a:pt x="545" y="52"/>
                    </a:lnTo>
                    <a:lnTo>
                      <a:pt x="550" y="55"/>
                    </a:lnTo>
                    <a:lnTo>
                      <a:pt x="560" y="57"/>
                    </a:lnTo>
                    <a:lnTo>
                      <a:pt x="570" y="59"/>
                    </a:lnTo>
                    <a:lnTo>
                      <a:pt x="577" y="59"/>
                    </a:lnTo>
                    <a:lnTo>
                      <a:pt x="586" y="60"/>
                    </a:lnTo>
                    <a:lnTo>
                      <a:pt x="589" y="60"/>
                    </a:lnTo>
                    <a:lnTo>
                      <a:pt x="595" y="226"/>
                    </a:lnTo>
                    <a:lnTo>
                      <a:pt x="595" y="463"/>
                    </a:lnTo>
                    <a:lnTo>
                      <a:pt x="546" y="463"/>
                    </a:lnTo>
                    <a:lnTo>
                      <a:pt x="540" y="125"/>
                    </a:lnTo>
                    <a:lnTo>
                      <a:pt x="55" y="125"/>
                    </a:lnTo>
                    <a:lnTo>
                      <a:pt x="50" y="467"/>
                    </a:lnTo>
                    <a:lnTo>
                      <a:pt x="0" y="466"/>
                    </a:lnTo>
                  </a:path>
                </a:pathLst>
              </a:custGeom>
              <a:solidFill>
                <a:srgbClr val="000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grpSp>
            <p:nvGrpSpPr>
              <p:cNvPr id="10" name="Group 18"/>
              <p:cNvGrpSpPr>
                <a:grpSpLocks/>
              </p:cNvGrpSpPr>
              <p:nvPr/>
            </p:nvGrpSpPr>
            <p:grpSpPr bwMode="auto">
              <a:xfrm>
                <a:off x="3627" y="2773"/>
                <a:ext cx="712" cy="697"/>
                <a:chOff x="3627" y="2773"/>
                <a:chExt cx="712" cy="697"/>
              </a:xfrm>
            </p:grpSpPr>
            <p:grpSp>
              <p:nvGrpSpPr>
                <p:cNvPr id="11" name="Group 19"/>
                <p:cNvGrpSpPr>
                  <a:grpSpLocks/>
                </p:cNvGrpSpPr>
                <p:nvPr/>
              </p:nvGrpSpPr>
              <p:grpSpPr bwMode="auto">
                <a:xfrm>
                  <a:off x="4088" y="3185"/>
                  <a:ext cx="251" cy="151"/>
                  <a:chOff x="4088" y="3185"/>
                  <a:chExt cx="251" cy="151"/>
                </a:xfrm>
              </p:grpSpPr>
              <p:grpSp>
                <p:nvGrpSpPr>
                  <p:cNvPr id="21" name="Group 20"/>
                  <p:cNvGrpSpPr>
                    <a:grpSpLocks/>
                  </p:cNvGrpSpPr>
                  <p:nvPr/>
                </p:nvGrpSpPr>
                <p:grpSpPr bwMode="auto">
                  <a:xfrm>
                    <a:off x="4088" y="3185"/>
                    <a:ext cx="251" cy="151"/>
                    <a:chOff x="4088" y="3185"/>
                    <a:chExt cx="251" cy="151"/>
                  </a:xfrm>
                </p:grpSpPr>
                <p:sp>
                  <p:nvSpPr>
                    <p:cNvPr id="34" name="Freeform 21"/>
                    <p:cNvSpPr>
                      <a:spLocks/>
                    </p:cNvSpPr>
                    <p:nvPr/>
                  </p:nvSpPr>
                  <p:spPr bwMode="auto">
                    <a:xfrm>
                      <a:off x="4088" y="3185"/>
                      <a:ext cx="248" cy="126"/>
                    </a:xfrm>
                    <a:custGeom>
                      <a:avLst/>
                      <a:gdLst>
                        <a:gd name="T0" fmla="*/ 247 w 248"/>
                        <a:gd name="T1" fmla="*/ 28 h 126"/>
                        <a:gd name="T2" fmla="*/ 133 w 248"/>
                        <a:gd name="T3" fmla="*/ 0 h 126"/>
                        <a:gd name="T4" fmla="*/ 0 w 248"/>
                        <a:gd name="T5" fmla="*/ 90 h 126"/>
                        <a:gd name="T6" fmla="*/ 117 w 248"/>
                        <a:gd name="T7" fmla="*/ 125 h 126"/>
                        <a:gd name="T8" fmla="*/ 179 w 248"/>
                        <a:gd name="T9" fmla="*/ 74 h 126"/>
                        <a:gd name="T10" fmla="*/ 199 w 248"/>
                        <a:gd name="T11" fmla="*/ 59 h 126"/>
                        <a:gd name="T12" fmla="*/ 247 w 248"/>
                        <a:gd name="T13" fmla="*/ 28 h 12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8" h="126">
                          <a:moveTo>
                            <a:pt x="247" y="28"/>
                          </a:moveTo>
                          <a:lnTo>
                            <a:pt x="133" y="0"/>
                          </a:lnTo>
                          <a:lnTo>
                            <a:pt x="0" y="90"/>
                          </a:lnTo>
                          <a:lnTo>
                            <a:pt x="117" y="125"/>
                          </a:lnTo>
                          <a:lnTo>
                            <a:pt x="179" y="74"/>
                          </a:lnTo>
                          <a:lnTo>
                            <a:pt x="199" y="59"/>
                          </a:lnTo>
                          <a:lnTo>
                            <a:pt x="247" y="28"/>
                          </a:lnTo>
                        </a:path>
                      </a:pathLst>
                    </a:custGeom>
                    <a:solidFill>
                      <a:srgbClr val="C0C0C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sp>
                  <p:nvSpPr>
                    <p:cNvPr id="35" name="Freeform 22"/>
                    <p:cNvSpPr>
                      <a:spLocks/>
                    </p:cNvSpPr>
                    <p:nvPr/>
                  </p:nvSpPr>
                  <p:spPr bwMode="auto">
                    <a:xfrm>
                      <a:off x="4088" y="3275"/>
                      <a:ext cx="123" cy="61"/>
                    </a:xfrm>
                    <a:custGeom>
                      <a:avLst/>
                      <a:gdLst>
                        <a:gd name="T0" fmla="*/ 116 w 123"/>
                        <a:gd name="T1" fmla="*/ 35 h 61"/>
                        <a:gd name="T2" fmla="*/ 0 w 123"/>
                        <a:gd name="T3" fmla="*/ 0 h 61"/>
                        <a:gd name="T4" fmla="*/ 0 w 123"/>
                        <a:gd name="T5" fmla="*/ 16 h 61"/>
                        <a:gd name="T6" fmla="*/ 122 w 123"/>
                        <a:gd name="T7" fmla="*/ 60 h 61"/>
                        <a:gd name="T8" fmla="*/ 116 w 123"/>
                        <a:gd name="T9" fmla="*/ 35 h 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61">
                          <a:moveTo>
                            <a:pt x="116" y="35"/>
                          </a:moveTo>
                          <a:lnTo>
                            <a:pt x="0" y="0"/>
                          </a:lnTo>
                          <a:lnTo>
                            <a:pt x="0" y="16"/>
                          </a:lnTo>
                          <a:lnTo>
                            <a:pt x="122" y="60"/>
                          </a:lnTo>
                          <a:lnTo>
                            <a:pt x="116" y="35"/>
                          </a:lnTo>
                        </a:path>
                      </a:pathLst>
                    </a:custGeom>
                    <a:solidFill>
                      <a:srgbClr val="C0C0C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sp>
                  <p:nvSpPr>
                    <p:cNvPr id="36" name="Freeform 23"/>
                    <p:cNvSpPr>
                      <a:spLocks/>
                    </p:cNvSpPr>
                    <p:nvPr/>
                  </p:nvSpPr>
                  <p:spPr bwMode="auto">
                    <a:xfrm>
                      <a:off x="4205" y="3212"/>
                      <a:ext cx="134" cy="124"/>
                    </a:xfrm>
                    <a:custGeom>
                      <a:avLst/>
                      <a:gdLst>
                        <a:gd name="T0" fmla="*/ 77 w 134"/>
                        <a:gd name="T1" fmla="*/ 35 h 124"/>
                        <a:gd name="T2" fmla="*/ 33 w 134"/>
                        <a:gd name="T3" fmla="*/ 69 h 124"/>
                        <a:gd name="T4" fmla="*/ 0 w 134"/>
                        <a:gd name="T5" fmla="*/ 97 h 124"/>
                        <a:gd name="T6" fmla="*/ 6 w 134"/>
                        <a:gd name="T7" fmla="*/ 123 h 124"/>
                        <a:gd name="T8" fmla="*/ 52 w 134"/>
                        <a:gd name="T9" fmla="*/ 87 h 124"/>
                        <a:gd name="T10" fmla="*/ 94 w 134"/>
                        <a:gd name="T11" fmla="*/ 55 h 124"/>
                        <a:gd name="T12" fmla="*/ 133 w 134"/>
                        <a:gd name="T13" fmla="*/ 26 h 124"/>
                        <a:gd name="T14" fmla="*/ 130 w 134"/>
                        <a:gd name="T15" fmla="*/ 0 h 124"/>
                        <a:gd name="T16" fmla="*/ 106 w 134"/>
                        <a:gd name="T17" fmla="*/ 16 h 124"/>
                        <a:gd name="T18" fmla="*/ 77 w 134"/>
                        <a:gd name="T19" fmla="*/ 35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4" h="124">
                          <a:moveTo>
                            <a:pt x="77" y="35"/>
                          </a:moveTo>
                          <a:lnTo>
                            <a:pt x="33" y="69"/>
                          </a:lnTo>
                          <a:lnTo>
                            <a:pt x="0" y="97"/>
                          </a:lnTo>
                          <a:lnTo>
                            <a:pt x="6" y="123"/>
                          </a:lnTo>
                          <a:lnTo>
                            <a:pt x="52" y="87"/>
                          </a:lnTo>
                          <a:lnTo>
                            <a:pt x="94" y="55"/>
                          </a:lnTo>
                          <a:lnTo>
                            <a:pt x="133" y="26"/>
                          </a:lnTo>
                          <a:lnTo>
                            <a:pt x="130" y="0"/>
                          </a:lnTo>
                          <a:lnTo>
                            <a:pt x="106" y="16"/>
                          </a:lnTo>
                          <a:lnTo>
                            <a:pt x="77" y="35"/>
                          </a:lnTo>
                        </a:path>
                      </a:pathLst>
                    </a:custGeom>
                    <a:solidFill>
                      <a:srgbClr val="C0C0C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grpSp>
              <p:grpSp>
                <p:nvGrpSpPr>
                  <p:cNvPr id="22" name="Group 24"/>
                  <p:cNvGrpSpPr>
                    <a:grpSpLocks/>
                  </p:cNvGrpSpPr>
                  <p:nvPr/>
                </p:nvGrpSpPr>
                <p:grpSpPr bwMode="auto">
                  <a:xfrm>
                    <a:off x="4133" y="3201"/>
                    <a:ext cx="171" cy="94"/>
                    <a:chOff x="4133" y="3201"/>
                    <a:chExt cx="171" cy="94"/>
                  </a:xfrm>
                </p:grpSpPr>
                <p:grpSp>
                  <p:nvGrpSpPr>
                    <p:cNvPr id="23" name="Group 25"/>
                    <p:cNvGrpSpPr>
                      <a:grpSpLocks/>
                    </p:cNvGrpSpPr>
                    <p:nvPr/>
                  </p:nvGrpSpPr>
                  <p:grpSpPr bwMode="auto">
                    <a:xfrm>
                      <a:off x="4140" y="3211"/>
                      <a:ext cx="149" cy="80"/>
                      <a:chOff x="4140" y="3211"/>
                      <a:chExt cx="149" cy="80"/>
                    </a:xfrm>
                  </p:grpSpPr>
                  <p:sp>
                    <p:nvSpPr>
                      <p:cNvPr id="31" name="Freeform 26"/>
                      <p:cNvSpPr>
                        <a:spLocks/>
                      </p:cNvSpPr>
                      <p:nvPr/>
                    </p:nvSpPr>
                    <p:spPr bwMode="auto">
                      <a:xfrm>
                        <a:off x="4140" y="3211"/>
                        <a:ext cx="89" cy="67"/>
                      </a:xfrm>
                      <a:custGeom>
                        <a:avLst/>
                        <a:gdLst>
                          <a:gd name="T0" fmla="*/ 88 w 89"/>
                          <a:gd name="T1" fmla="*/ 0 h 67"/>
                          <a:gd name="T2" fmla="*/ 54 w 89"/>
                          <a:gd name="T3" fmla="*/ 28 h 67"/>
                          <a:gd name="T4" fmla="*/ 0 w 89"/>
                          <a:gd name="T5" fmla="*/ 66 h 67"/>
                          <a:gd name="T6" fmla="*/ 0 60000 65536"/>
                          <a:gd name="T7" fmla="*/ 0 60000 65536"/>
                          <a:gd name="T8" fmla="*/ 0 60000 65536"/>
                        </a:gdLst>
                        <a:ahLst/>
                        <a:cxnLst>
                          <a:cxn ang="T6">
                            <a:pos x="T0" y="T1"/>
                          </a:cxn>
                          <a:cxn ang="T7">
                            <a:pos x="T2" y="T3"/>
                          </a:cxn>
                          <a:cxn ang="T8">
                            <a:pos x="T4" y="T5"/>
                          </a:cxn>
                        </a:cxnLst>
                        <a:rect l="0" t="0" r="r" b="b"/>
                        <a:pathLst>
                          <a:path w="89" h="67">
                            <a:moveTo>
                              <a:pt x="88" y="0"/>
                            </a:moveTo>
                            <a:lnTo>
                              <a:pt x="54" y="28"/>
                            </a:lnTo>
                            <a:lnTo>
                              <a:pt x="0" y="66"/>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sp>
                    <p:nvSpPr>
                      <p:cNvPr id="32" name="Freeform 27"/>
                      <p:cNvSpPr>
                        <a:spLocks/>
                      </p:cNvSpPr>
                      <p:nvPr/>
                    </p:nvSpPr>
                    <p:spPr bwMode="auto">
                      <a:xfrm>
                        <a:off x="4171" y="3216"/>
                        <a:ext cx="85" cy="66"/>
                      </a:xfrm>
                      <a:custGeom>
                        <a:avLst/>
                        <a:gdLst>
                          <a:gd name="T0" fmla="*/ 84 w 85"/>
                          <a:gd name="T1" fmla="*/ 0 h 66"/>
                          <a:gd name="T2" fmla="*/ 38 w 85"/>
                          <a:gd name="T3" fmla="*/ 36 h 66"/>
                          <a:gd name="T4" fmla="*/ 0 w 85"/>
                          <a:gd name="T5" fmla="*/ 65 h 66"/>
                          <a:gd name="T6" fmla="*/ 0 60000 65536"/>
                          <a:gd name="T7" fmla="*/ 0 60000 65536"/>
                          <a:gd name="T8" fmla="*/ 0 60000 65536"/>
                        </a:gdLst>
                        <a:ahLst/>
                        <a:cxnLst>
                          <a:cxn ang="T6">
                            <a:pos x="T0" y="T1"/>
                          </a:cxn>
                          <a:cxn ang="T7">
                            <a:pos x="T2" y="T3"/>
                          </a:cxn>
                          <a:cxn ang="T8">
                            <a:pos x="T4" y="T5"/>
                          </a:cxn>
                        </a:cxnLst>
                        <a:rect l="0" t="0" r="r" b="b"/>
                        <a:pathLst>
                          <a:path w="85" h="66">
                            <a:moveTo>
                              <a:pt x="84" y="0"/>
                            </a:moveTo>
                            <a:lnTo>
                              <a:pt x="38" y="36"/>
                            </a:lnTo>
                            <a:lnTo>
                              <a:pt x="0" y="65"/>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sp>
                    <p:nvSpPr>
                      <p:cNvPr id="33" name="Freeform 28"/>
                      <p:cNvSpPr>
                        <a:spLocks/>
                      </p:cNvSpPr>
                      <p:nvPr/>
                    </p:nvSpPr>
                    <p:spPr bwMode="auto">
                      <a:xfrm>
                        <a:off x="4187" y="3224"/>
                        <a:ext cx="102" cy="67"/>
                      </a:xfrm>
                      <a:custGeom>
                        <a:avLst/>
                        <a:gdLst>
                          <a:gd name="T0" fmla="*/ 101 w 102"/>
                          <a:gd name="T1" fmla="*/ 0 h 67"/>
                          <a:gd name="T2" fmla="*/ 55 w 102"/>
                          <a:gd name="T3" fmla="*/ 25 h 67"/>
                          <a:gd name="T4" fmla="*/ 26 w 102"/>
                          <a:gd name="T5" fmla="*/ 46 h 67"/>
                          <a:gd name="T6" fmla="*/ 0 w 102"/>
                          <a:gd name="T7" fmla="*/ 66 h 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2" h="67">
                            <a:moveTo>
                              <a:pt x="101" y="0"/>
                            </a:moveTo>
                            <a:lnTo>
                              <a:pt x="55" y="25"/>
                            </a:lnTo>
                            <a:lnTo>
                              <a:pt x="26" y="46"/>
                            </a:lnTo>
                            <a:lnTo>
                              <a:pt x="0" y="66"/>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grpSp>
                <p:grpSp>
                  <p:nvGrpSpPr>
                    <p:cNvPr id="24" name="Group 29"/>
                    <p:cNvGrpSpPr>
                      <a:grpSpLocks/>
                    </p:cNvGrpSpPr>
                    <p:nvPr/>
                  </p:nvGrpSpPr>
                  <p:grpSpPr bwMode="auto">
                    <a:xfrm>
                      <a:off x="4133" y="3201"/>
                      <a:ext cx="171" cy="94"/>
                      <a:chOff x="4133" y="3201"/>
                      <a:chExt cx="171" cy="94"/>
                    </a:xfrm>
                  </p:grpSpPr>
                  <p:sp>
                    <p:nvSpPr>
                      <p:cNvPr id="25" name="Line 30"/>
                      <p:cNvSpPr>
                        <a:spLocks noChangeShapeType="1"/>
                      </p:cNvSpPr>
                      <p:nvPr/>
                    </p:nvSpPr>
                    <p:spPr bwMode="auto">
                      <a:xfrm flipH="1" flipV="1">
                        <a:off x="4220" y="3201"/>
                        <a:ext cx="84" cy="2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26" name="Line 31"/>
                      <p:cNvSpPr>
                        <a:spLocks noChangeShapeType="1"/>
                      </p:cNvSpPr>
                      <p:nvPr/>
                    </p:nvSpPr>
                    <p:spPr bwMode="auto">
                      <a:xfrm flipH="1" flipV="1">
                        <a:off x="4199" y="3218"/>
                        <a:ext cx="77" cy="2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27" name="Line 32"/>
                      <p:cNvSpPr>
                        <a:spLocks noChangeShapeType="1"/>
                      </p:cNvSpPr>
                      <p:nvPr/>
                    </p:nvSpPr>
                    <p:spPr bwMode="auto">
                      <a:xfrm flipH="1" flipV="1">
                        <a:off x="4179" y="3228"/>
                        <a:ext cx="74" cy="2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28" name="Line 33"/>
                      <p:cNvSpPr>
                        <a:spLocks noChangeShapeType="1"/>
                      </p:cNvSpPr>
                      <p:nvPr/>
                    </p:nvSpPr>
                    <p:spPr bwMode="auto">
                      <a:xfrm flipH="1" flipV="1">
                        <a:off x="4165" y="3242"/>
                        <a:ext cx="70" cy="2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29" name="Line 34"/>
                      <p:cNvSpPr>
                        <a:spLocks noChangeShapeType="1"/>
                      </p:cNvSpPr>
                      <p:nvPr/>
                    </p:nvSpPr>
                    <p:spPr bwMode="auto">
                      <a:xfrm flipH="1" flipV="1">
                        <a:off x="4144" y="3250"/>
                        <a:ext cx="70" cy="3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30" name="Line 35"/>
                      <p:cNvSpPr>
                        <a:spLocks noChangeShapeType="1"/>
                      </p:cNvSpPr>
                      <p:nvPr/>
                    </p:nvSpPr>
                    <p:spPr bwMode="auto">
                      <a:xfrm flipH="1" flipV="1">
                        <a:off x="4133" y="3268"/>
                        <a:ext cx="73" cy="2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grpSp>
              </p:grpSp>
            </p:grpSp>
            <p:grpSp>
              <p:nvGrpSpPr>
                <p:cNvPr id="12" name="Group 36"/>
                <p:cNvGrpSpPr>
                  <a:grpSpLocks/>
                </p:cNvGrpSpPr>
                <p:nvPr/>
              </p:nvGrpSpPr>
              <p:grpSpPr bwMode="auto">
                <a:xfrm>
                  <a:off x="3627" y="2773"/>
                  <a:ext cx="558" cy="697"/>
                  <a:chOff x="3627" y="2773"/>
                  <a:chExt cx="558" cy="697"/>
                </a:xfrm>
              </p:grpSpPr>
              <p:sp>
                <p:nvSpPr>
                  <p:cNvPr id="13" name="Freeform 37"/>
                  <p:cNvSpPr>
                    <a:spLocks/>
                  </p:cNvSpPr>
                  <p:nvPr/>
                </p:nvSpPr>
                <p:spPr bwMode="auto">
                  <a:xfrm>
                    <a:off x="4016" y="3280"/>
                    <a:ext cx="128" cy="74"/>
                  </a:xfrm>
                  <a:custGeom>
                    <a:avLst/>
                    <a:gdLst>
                      <a:gd name="T0" fmla="*/ 127 w 128"/>
                      <a:gd name="T1" fmla="*/ 21 h 74"/>
                      <a:gd name="T2" fmla="*/ 125 w 128"/>
                      <a:gd name="T3" fmla="*/ 35 h 74"/>
                      <a:gd name="T4" fmla="*/ 121 w 128"/>
                      <a:gd name="T5" fmla="*/ 48 h 74"/>
                      <a:gd name="T6" fmla="*/ 113 w 128"/>
                      <a:gd name="T7" fmla="*/ 59 h 74"/>
                      <a:gd name="T8" fmla="*/ 102 w 128"/>
                      <a:gd name="T9" fmla="*/ 67 h 74"/>
                      <a:gd name="T10" fmla="*/ 87 w 128"/>
                      <a:gd name="T11" fmla="*/ 71 h 74"/>
                      <a:gd name="T12" fmla="*/ 73 w 128"/>
                      <a:gd name="T13" fmla="*/ 73 h 74"/>
                      <a:gd name="T14" fmla="*/ 57 w 128"/>
                      <a:gd name="T15" fmla="*/ 70 h 74"/>
                      <a:gd name="T16" fmla="*/ 43 w 128"/>
                      <a:gd name="T17" fmla="*/ 62 h 74"/>
                      <a:gd name="T18" fmla="*/ 32 w 128"/>
                      <a:gd name="T19" fmla="*/ 47 h 74"/>
                      <a:gd name="T20" fmla="*/ 29 w 128"/>
                      <a:gd name="T21" fmla="*/ 33 h 74"/>
                      <a:gd name="T22" fmla="*/ 21 w 128"/>
                      <a:gd name="T23" fmla="*/ 21 h 74"/>
                      <a:gd name="T24" fmla="*/ 12 w 128"/>
                      <a:gd name="T25" fmla="*/ 9 h 74"/>
                      <a:gd name="T26" fmla="*/ 0 w 128"/>
                      <a:gd name="T27" fmla="*/ 0 h 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8" h="74">
                        <a:moveTo>
                          <a:pt x="127" y="21"/>
                        </a:moveTo>
                        <a:lnTo>
                          <a:pt x="125" y="35"/>
                        </a:lnTo>
                        <a:lnTo>
                          <a:pt x="121" y="48"/>
                        </a:lnTo>
                        <a:lnTo>
                          <a:pt x="113" y="59"/>
                        </a:lnTo>
                        <a:lnTo>
                          <a:pt x="102" y="67"/>
                        </a:lnTo>
                        <a:lnTo>
                          <a:pt x="87" y="71"/>
                        </a:lnTo>
                        <a:lnTo>
                          <a:pt x="73" y="73"/>
                        </a:lnTo>
                        <a:lnTo>
                          <a:pt x="57" y="70"/>
                        </a:lnTo>
                        <a:lnTo>
                          <a:pt x="43" y="62"/>
                        </a:lnTo>
                        <a:lnTo>
                          <a:pt x="32" y="47"/>
                        </a:lnTo>
                        <a:lnTo>
                          <a:pt x="29" y="33"/>
                        </a:lnTo>
                        <a:lnTo>
                          <a:pt x="21" y="21"/>
                        </a:lnTo>
                        <a:lnTo>
                          <a:pt x="12" y="9"/>
                        </a:lnTo>
                        <a:lnTo>
                          <a:pt x="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grpSp>
                <p:nvGrpSpPr>
                  <p:cNvPr id="14" name="Group 38"/>
                  <p:cNvGrpSpPr>
                    <a:grpSpLocks/>
                  </p:cNvGrpSpPr>
                  <p:nvPr/>
                </p:nvGrpSpPr>
                <p:grpSpPr bwMode="auto">
                  <a:xfrm>
                    <a:off x="3627" y="2773"/>
                    <a:ext cx="558" cy="697"/>
                    <a:chOff x="3627" y="2773"/>
                    <a:chExt cx="558" cy="697"/>
                  </a:xfrm>
                </p:grpSpPr>
                <p:grpSp>
                  <p:nvGrpSpPr>
                    <p:cNvPr id="15" name="Group 39"/>
                    <p:cNvGrpSpPr>
                      <a:grpSpLocks/>
                    </p:cNvGrpSpPr>
                    <p:nvPr/>
                  </p:nvGrpSpPr>
                  <p:grpSpPr bwMode="auto">
                    <a:xfrm>
                      <a:off x="3627" y="2773"/>
                      <a:ext cx="558" cy="532"/>
                      <a:chOff x="3627" y="2773"/>
                      <a:chExt cx="558" cy="532"/>
                    </a:xfrm>
                  </p:grpSpPr>
                  <p:sp>
                    <p:nvSpPr>
                      <p:cNvPr id="19" name="Freeform 40"/>
                      <p:cNvSpPr>
                        <a:spLocks/>
                      </p:cNvSpPr>
                      <p:nvPr/>
                    </p:nvSpPr>
                    <p:spPr bwMode="auto">
                      <a:xfrm>
                        <a:off x="3627" y="2773"/>
                        <a:ext cx="558" cy="532"/>
                      </a:xfrm>
                      <a:custGeom>
                        <a:avLst/>
                        <a:gdLst>
                          <a:gd name="T0" fmla="*/ 453 w 558"/>
                          <a:gd name="T1" fmla="*/ 107 h 532"/>
                          <a:gd name="T2" fmla="*/ 440 w 558"/>
                          <a:gd name="T3" fmla="*/ 71 h 532"/>
                          <a:gd name="T4" fmla="*/ 431 w 558"/>
                          <a:gd name="T5" fmla="*/ 48 h 532"/>
                          <a:gd name="T6" fmla="*/ 428 w 558"/>
                          <a:gd name="T7" fmla="*/ 41 h 532"/>
                          <a:gd name="T8" fmla="*/ 423 w 558"/>
                          <a:gd name="T9" fmla="*/ 35 h 532"/>
                          <a:gd name="T10" fmla="*/ 420 w 558"/>
                          <a:gd name="T11" fmla="*/ 32 h 532"/>
                          <a:gd name="T12" fmla="*/ 414 w 558"/>
                          <a:gd name="T13" fmla="*/ 31 h 532"/>
                          <a:gd name="T14" fmla="*/ 344 w 558"/>
                          <a:gd name="T15" fmla="*/ 17 h 532"/>
                          <a:gd name="T16" fmla="*/ 268 w 558"/>
                          <a:gd name="T17" fmla="*/ 5 h 532"/>
                          <a:gd name="T18" fmla="*/ 199 w 558"/>
                          <a:gd name="T19" fmla="*/ 0 h 532"/>
                          <a:gd name="T20" fmla="*/ 161 w 558"/>
                          <a:gd name="T21" fmla="*/ 0 h 532"/>
                          <a:gd name="T22" fmla="*/ 80 w 558"/>
                          <a:gd name="T23" fmla="*/ 4 h 532"/>
                          <a:gd name="T24" fmla="*/ 21 w 558"/>
                          <a:gd name="T25" fmla="*/ 7 h 532"/>
                          <a:gd name="T26" fmla="*/ 12 w 558"/>
                          <a:gd name="T27" fmla="*/ 8 h 532"/>
                          <a:gd name="T28" fmla="*/ 7 w 558"/>
                          <a:gd name="T29" fmla="*/ 10 h 532"/>
                          <a:gd name="T30" fmla="*/ 3 w 558"/>
                          <a:gd name="T31" fmla="*/ 12 h 532"/>
                          <a:gd name="T32" fmla="*/ 1 w 558"/>
                          <a:gd name="T33" fmla="*/ 16 h 532"/>
                          <a:gd name="T34" fmla="*/ 0 w 558"/>
                          <a:gd name="T35" fmla="*/ 21 h 532"/>
                          <a:gd name="T36" fmla="*/ 4 w 558"/>
                          <a:gd name="T37" fmla="*/ 36 h 532"/>
                          <a:gd name="T38" fmla="*/ 15 w 558"/>
                          <a:gd name="T39" fmla="*/ 84 h 532"/>
                          <a:gd name="T40" fmla="*/ 23 w 558"/>
                          <a:gd name="T41" fmla="*/ 119 h 532"/>
                          <a:gd name="T42" fmla="*/ 43 w 558"/>
                          <a:gd name="T43" fmla="*/ 199 h 532"/>
                          <a:gd name="T44" fmla="*/ 55 w 558"/>
                          <a:gd name="T45" fmla="*/ 249 h 532"/>
                          <a:gd name="T46" fmla="*/ 88 w 558"/>
                          <a:gd name="T47" fmla="*/ 365 h 532"/>
                          <a:gd name="T48" fmla="*/ 120 w 558"/>
                          <a:gd name="T49" fmla="*/ 458 h 532"/>
                          <a:gd name="T50" fmla="*/ 126 w 558"/>
                          <a:gd name="T51" fmla="*/ 475 h 532"/>
                          <a:gd name="T52" fmla="*/ 129 w 558"/>
                          <a:gd name="T53" fmla="*/ 486 h 532"/>
                          <a:gd name="T54" fmla="*/ 132 w 558"/>
                          <a:gd name="T55" fmla="*/ 495 h 532"/>
                          <a:gd name="T56" fmla="*/ 137 w 558"/>
                          <a:gd name="T57" fmla="*/ 501 h 532"/>
                          <a:gd name="T58" fmla="*/ 142 w 558"/>
                          <a:gd name="T59" fmla="*/ 507 h 532"/>
                          <a:gd name="T60" fmla="*/ 147 w 558"/>
                          <a:gd name="T61" fmla="*/ 510 h 532"/>
                          <a:gd name="T62" fmla="*/ 158 w 558"/>
                          <a:gd name="T63" fmla="*/ 512 h 532"/>
                          <a:gd name="T64" fmla="*/ 177 w 558"/>
                          <a:gd name="T65" fmla="*/ 514 h 532"/>
                          <a:gd name="T66" fmla="*/ 209 w 558"/>
                          <a:gd name="T67" fmla="*/ 514 h 532"/>
                          <a:gd name="T68" fmla="*/ 236 w 558"/>
                          <a:gd name="T69" fmla="*/ 516 h 532"/>
                          <a:gd name="T70" fmla="*/ 270 w 558"/>
                          <a:gd name="T71" fmla="*/ 522 h 532"/>
                          <a:gd name="T72" fmla="*/ 307 w 558"/>
                          <a:gd name="T73" fmla="*/ 528 h 532"/>
                          <a:gd name="T74" fmla="*/ 332 w 558"/>
                          <a:gd name="T75" fmla="*/ 531 h 532"/>
                          <a:gd name="T76" fmla="*/ 362 w 558"/>
                          <a:gd name="T77" fmla="*/ 531 h 532"/>
                          <a:gd name="T78" fmla="*/ 369 w 558"/>
                          <a:gd name="T79" fmla="*/ 528 h 532"/>
                          <a:gd name="T80" fmla="*/ 540 w 558"/>
                          <a:gd name="T81" fmla="*/ 422 h 532"/>
                          <a:gd name="T82" fmla="*/ 549 w 558"/>
                          <a:gd name="T83" fmla="*/ 415 h 532"/>
                          <a:gd name="T84" fmla="*/ 555 w 558"/>
                          <a:gd name="T85" fmla="*/ 408 h 532"/>
                          <a:gd name="T86" fmla="*/ 557 w 558"/>
                          <a:gd name="T87" fmla="*/ 400 h 532"/>
                          <a:gd name="T88" fmla="*/ 557 w 558"/>
                          <a:gd name="T89" fmla="*/ 390 h 532"/>
                          <a:gd name="T90" fmla="*/ 555 w 558"/>
                          <a:gd name="T91" fmla="*/ 382 h 532"/>
                          <a:gd name="T92" fmla="*/ 506 w 558"/>
                          <a:gd name="T93" fmla="*/ 251 h 532"/>
                          <a:gd name="T94" fmla="*/ 475 w 558"/>
                          <a:gd name="T95" fmla="*/ 168 h 532"/>
                          <a:gd name="T96" fmla="*/ 453 w 558"/>
                          <a:gd name="T97" fmla="*/ 107 h 5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58" h="532">
                            <a:moveTo>
                              <a:pt x="453" y="107"/>
                            </a:moveTo>
                            <a:lnTo>
                              <a:pt x="440" y="71"/>
                            </a:lnTo>
                            <a:lnTo>
                              <a:pt x="431" y="48"/>
                            </a:lnTo>
                            <a:lnTo>
                              <a:pt x="428" y="41"/>
                            </a:lnTo>
                            <a:lnTo>
                              <a:pt x="423" y="35"/>
                            </a:lnTo>
                            <a:lnTo>
                              <a:pt x="420" y="32"/>
                            </a:lnTo>
                            <a:lnTo>
                              <a:pt x="414" y="31"/>
                            </a:lnTo>
                            <a:lnTo>
                              <a:pt x="344" y="17"/>
                            </a:lnTo>
                            <a:lnTo>
                              <a:pt x="268" y="5"/>
                            </a:lnTo>
                            <a:lnTo>
                              <a:pt x="199" y="0"/>
                            </a:lnTo>
                            <a:lnTo>
                              <a:pt x="161" y="0"/>
                            </a:lnTo>
                            <a:lnTo>
                              <a:pt x="80" y="4"/>
                            </a:lnTo>
                            <a:lnTo>
                              <a:pt x="21" y="7"/>
                            </a:lnTo>
                            <a:lnTo>
                              <a:pt x="12" y="8"/>
                            </a:lnTo>
                            <a:lnTo>
                              <a:pt x="7" y="10"/>
                            </a:lnTo>
                            <a:lnTo>
                              <a:pt x="3" y="12"/>
                            </a:lnTo>
                            <a:lnTo>
                              <a:pt x="1" y="16"/>
                            </a:lnTo>
                            <a:lnTo>
                              <a:pt x="0" y="21"/>
                            </a:lnTo>
                            <a:lnTo>
                              <a:pt x="4" y="36"/>
                            </a:lnTo>
                            <a:lnTo>
                              <a:pt x="15" y="84"/>
                            </a:lnTo>
                            <a:lnTo>
                              <a:pt x="23" y="119"/>
                            </a:lnTo>
                            <a:lnTo>
                              <a:pt x="43" y="199"/>
                            </a:lnTo>
                            <a:lnTo>
                              <a:pt x="55" y="249"/>
                            </a:lnTo>
                            <a:lnTo>
                              <a:pt x="88" y="365"/>
                            </a:lnTo>
                            <a:lnTo>
                              <a:pt x="120" y="458"/>
                            </a:lnTo>
                            <a:lnTo>
                              <a:pt x="126" y="475"/>
                            </a:lnTo>
                            <a:lnTo>
                              <a:pt x="129" y="486"/>
                            </a:lnTo>
                            <a:lnTo>
                              <a:pt x="132" y="495"/>
                            </a:lnTo>
                            <a:lnTo>
                              <a:pt x="137" y="501"/>
                            </a:lnTo>
                            <a:lnTo>
                              <a:pt x="142" y="507"/>
                            </a:lnTo>
                            <a:lnTo>
                              <a:pt x="147" y="510"/>
                            </a:lnTo>
                            <a:lnTo>
                              <a:pt x="158" y="512"/>
                            </a:lnTo>
                            <a:lnTo>
                              <a:pt x="177" y="514"/>
                            </a:lnTo>
                            <a:lnTo>
                              <a:pt x="209" y="514"/>
                            </a:lnTo>
                            <a:lnTo>
                              <a:pt x="236" y="516"/>
                            </a:lnTo>
                            <a:lnTo>
                              <a:pt x="270" y="522"/>
                            </a:lnTo>
                            <a:lnTo>
                              <a:pt x="307" y="528"/>
                            </a:lnTo>
                            <a:lnTo>
                              <a:pt x="332" y="531"/>
                            </a:lnTo>
                            <a:lnTo>
                              <a:pt x="362" y="531"/>
                            </a:lnTo>
                            <a:lnTo>
                              <a:pt x="369" y="528"/>
                            </a:lnTo>
                            <a:lnTo>
                              <a:pt x="540" y="422"/>
                            </a:lnTo>
                            <a:lnTo>
                              <a:pt x="549" y="415"/>
                            </a:lnTo>
                            <a:lnTo>
                              <a:pt x="555" y="408"/>
                            </a:lnTo>
                            <a:lnTo>
                              <a:pt x="557" y="400"/>
                            </a:lnTo>
                            <a:lnTo>
                              <a:pt x="557" y="390"/>
                            </a:lnTo>
                            <a:lnTo>
                              <a:pt x="555" y="382"/>
                            </a:lnTo>
                            <a:lnTo>
                              <a:pt x="506" y="251"/>
                            </a:lnTo>
                            <a:lnTo>
                              <a:pt x="475" y="168"/>
                            </a:lnTo>
                            <a:lnTo>
                              <a:pt x="453" y="107"/>
                            </a:lnTo>
                          </a:path>
                        </a:pathLst>
                      </a:custGeom>
                      <a:solidFill>
                        <a:srgbClr val="C0C0C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sp>
                    <p:nvSpPr>
                      <p:cNvPr id="20" name="Freeform 41"/>
                      <p:cNvSpPr>
                        <a:spLocks/>
                      </p:cNvSpPr>
                      <p:nvPr/>
                    </p:nvSpPr>
                    <p:spPr bwMode="auto">
                      <a:xfrm>
                        <a:off x="3825" y="2825"/>
                        <a:ext cx="331" cy="406"/>
                      </a:xfrm>
                      <a:custGeom>
                        <a:avLst/>
                        <a:gdLst>
                          <a:gd name="T0" fmla="*/ 255 w 331"/>
                          <a:gd name="T1" fmla="*/ 122 h 406"/>
                          <a:gd name="T2" fmla="*/ 231 w 331"/>
                          <a:gd name="T3" fmla="*/ 63 h 406"/>
                          <a:gd name="T4" fmla="*/ 209 w 331"/>
                          <a:gd name="T5" fmla="*/ 11 h 406"/>
                          <a:gd name="T6" fmla="*/ 206 w 331"/>
                          <a:gd name="T7" fmla="*/ 9 h 406"/>
                          <a:gd name="T8" fmla="*/ 203 w 331"/>
                          <a:gd name="T9" fmla="*/ 8 h 406"/>
                          <a:gd name="T10" fmla="*/ 196 w 331"/>
                          <a:gd name="T11" fmla="*/ 7 h 406"/>
                          <a:gd name="T12" fmla="*/ 101 w 331"/>
                          <a:gd name="T13" fmla="*/ 1 h 406"/>
                          <a:gd name="T14" fmla="*/ 9 w 331"/>
                          <a:gd name="T15" fmla="*/ 0 h 406"/>
                          <a:gd name="T16" fmla="*/ 4 w 331"/>
                          <a:gd name="T17" fmla="*/ 1 h 406"/>
                          <a:gd name="T18" fmla="*/ 2 w 331"/>
                          <a:gd name="T19" fmla="*/ 3 h 406"/>
                          <a:gd name="T20" fmla="*/ 0 w 331"/>
                          <a:gd name="T21" fmla="*/ 8 h 406"/>
                          <a:gd name="T22" fmla="*/ 7 w 331"/>
                          <a:gd name="T23" fmla="*/ 45 h 406"/>
                          <a:gd name="T24" fmla="*/ 21 w 331"/>
                          <a:gd name="T25" fmla="*/ 76 h 406"/>
                          <a:gd name="T26" fmla="*/ 46 w 331"/>
                          <a:gd name="T27" fmla="*/ 135 h 406"/>
                          <a:gd name="T28" fmla="*/ 92 w 331"/>
                          <a:gd name="T29" fmla="*/ 234 h 406"/>
                          <a:gd name="T30" fmla="*/ 134 w 331"/>
                          <a:gd name="T31" fmla="*/ 321 h 406"/>
                          <a:gd name="T32" fmla="*/ 144 w 331"/>
                          <a:gd name="T33" fmla="*/ 353 h 406"/>
                          <a:gd name="T34" fmla="*/ 151 w 331"/>
                          <a:gd name="T35" fmla="*/ 375 h 406"/>
                          <a:gd name="T36" fmla="*/ 157 w 331"/>
                          <a:gd name="T37" fmla="*/ 388 h 406"/>
                          <a:gd name="T38" fmla="*/ 163 w 331"/>
                          <a:gd name="T39" fmla="*/ 397 h 406"/>
                          <a:gd name="T40" fmla="*/ 167 w 331"/>
                          <a:gd name="T41" fmla="*/ 402 h 406"/>
                          <a:gd name="T42" fmla="*/ 171 w 331"/>
                          <a:gd name="T43" fmla="*/ 404 h 406"/>
                          <a:gd name="T44" fmla="*/ 177 w 331"/>
                          <a:gd name="T45" fmla="*/ 405 h 406"/>
                          <a:gd name="T46" fmla="*/ 182 w 331"/>
                          <a:gd name="T47" fmla="*/ 403 h 406"/>
                          <a:gd name="T48" fmla="*/ 191 w 331"/>
                          <a:gd name="T49" fmla="*/ 398 h 406"/>
                          <a:gd name="T50" fmla="*/ 202 w 331"/>
                          <a:gd name="T51" fmla="*/ 392 h 406"/>
                          <a:gd name="T52" fmla="*/ 211 w 331"/>
                          <a:gd name="T53" fmla="*/ 384 h 406"/>
                          <a:gd name="T54" fmla="*/ 222 w 331"/>
                          <a:gd name="T55" fmla="*/ 375 h 406"/>
                          <a:gd name="T56" fmla="*/ 232 w 331"/>
                          <a:gd name="T57" fmla="*/ 368 h 406"/>
                          <a:gd name="T58" fmla="*/ 325 w 331"/>
                          <a:gd name="T59" fmla="*/ 332 h 406"/>
                          <a:gd name="T60" fmla="*/ 328 w 331"/>
                          <a:gd name="T61" fmla="*/ 331 h 406"/>
                          <a:gd name="T62" fmla="*/ 330 w 331"/>
                          <a:gd name="T63" fmla="*/ 327 h 406"/>
                          <a:gd name="T64" fmla="*/ 329 w 331"/>
                          <a:gd name="T65" fmla="*/ 323 h 406"/>
                          <a:gd name="T66" fmla="*/ 327 w 331"/>
                          <a:gd name="T67" fmla="*/ 318 h 406"/>
                          <a:gd name="T68" fmla="*/ 255 w 331"/>
                          <a:gd name="T69" fmla="*/ 122 h 40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31" h="406">
                            <a:moveTo>
                              <a:pt x="255" y="122"/>
                            </a:moveTo>
                            <a:lnTo>
                              <a:pt x="231" y="63"/>
                            </a:lnTo>
                            <a:lnTo>
                              <a:pt x="209" y="11"/>
                            </a:lnTo>
                            <a:lnTo>
                              <a:pt x="206" y="9"/>
                            </a:lnTo>
                            <a:lnTo>
                              <a:pt x="203" y="8"/>
                            </a:lnTo>
                            <a:lnTo>
                              <a:pt x="196" y="7"/>
                            </a:lnTo>
                            <a:lnTo>
                              <a:pt x="101" y="1"/>
                            </a:lnTo>
                            <a:lnTo>
                              <a:pt x="9" y="0"/>
                            </a:lnTo>
                            <a:lnTo>
                              <a:pt x="4" y="1"/>
                            </a:lnTo>
                            <a:lnTo>
                              <a:pt x="2" y="3"/>
                            </a:lnTo>
                            <a:lnTo>
                              <a:pt x="0" y="8"/>
                            </a:lnTo>
                            <a:lnTo>
                              <a:pt x="7" y="45"/>
                            </a:lnTo>
                            <a:lnTo>
                              <a:pt x="21" y="76"/>
                            </a:lnTo>
                            <a:lnTo>
                              <a:pt x="46" y="135"/>
                            </a:lnTo>
                            <a:lnTo>
                              <a:pt x="92" y="234"/>
                            </a:lnTo>
                            <a:lnTo>
                              <a:pt x="134" y="321"/>
                            </a:lnTo>
                            <a:lnTo>
                              <a:pt x="144" y="353"/>
                            </a:lnTo>
                            <a:lnTo>
                              <a:pt x="151" y="375"/>
                            </a:lnTo>
                            <a:lnTo>
                              <a:pt x="157" y="388"/>
                            </a:lnTo>
                            <a:lnTo>
                              <a:pt x="163" y="397"/>
                            </a:lnTo>
                            <a:lnTo>
                              <a:pt x="167" y="402"/>
                            </a:lnTo>
                            <a:lnTo>
                              <a:pt x="171" y="404"/>
                            </a:lnTo>
                            <a:lnTo>
                              <a:pt x="177" y="405"/>
                            </a:lnTo>
                            <a:lnTo>
                              <a:pt x="182" y="403"/>
                            </a:lnTo>
                            <a:lnTo>
                              <a:pt x="191" y="398"/>
                            </a:lnTo>
                            <a:lnTo>
                              <a:pt x="202" y="392"/>
                            </a:lnTo>
                            <a:lnTo>
                              <a:pt x="211" y="384"/>
                            </a:lnTo>
                            <a:lnTo>
                              <a:pt x="222" y="375"/>
                            </a:lnTo>
                            <a:lnTo>
                              <a:pt x="232" y="368"/>
                            </a:lnTo>
                            <a:lnTo>
                              <a:pt x="325" y="332"/>
                            </a:lnTo>
                            <a:lnTo>
                              <a:pt x="328" y="331"/>
                            </a:lnTo>
                            <a:lnTo>
                              <a:pt x="330" y="327"/>
                            </a:lnTo>
                            <a:lnTo>
                              <a:pt x="329" y="323"/>
                            </a:lnTo>
                            <a:lnTo>
                              <a:pt x="327" y="318"/>
                            </a:lnTo>
                            <a:lnTo>
                              <a:pt x="255" y="122"/>
                            </a:lnTo>
                          </a:path>
                        </a:pathLst>
                      </a:custGeom>
                      <a:solidFill>
                        <a:srgbClr val="005F5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grpSp>
                <p:grpSp>
                  <p:nvGrpSpPr>
                    <p:cNvPr id="16" name="Group 42"/>
                    <p:cNvGrpSpPr>
                      <a:grpSpLocks/>
                    </p:cNvGrpSpPr>
                    <p:nvPr/>
                  </p:nvGrpSpPr>
                  <p:grpSpPr bwMode="auto">
                    <a:xfrm>
                      <a:off x="3696" y="3243"/>
                      <a:ext cx="86" cy="227"/>
                      <a:chOff x="3696" y="3243"/>
                      <a:chExt cx="86" cy="227"/>
                    </a:xfrm>
                  </p:grpSpPr>
                  <p:sp>
                    <p:nvSpPr>
                      <p:cNvPr id="17" name="Freeform 43"/>
                      <p:cNvSpPr>
                        <a:spLocks/>
                      </p:cNvSpPr>
                      <p:nvPr/>
                    </p:nvSpPr>
                    <p:spPr bwMode="auto">
                      <a:xfrm>
                        <a:off x="3696" y="3249"/>
                        <a:ext cx="82" cy="221"/>
                      </a:xfrm>
                      <a:custGeom>
                        <a:avLst/>
                        <a:gdLst>
                          <a:gd name="T0" fmla="*/ 81 w 82"/>
                          <a:gd name="T1" fmla="*/ 0 h 221"/>
                          <a:gd name="T2" fmla="*/ 78 w 82"/>
                          <a:gd name="T3" fmla="*/ 15 h 221"/>
                          <a:gd name="T4" fmla="*/ 74 w 82"/>
                          <a:gd name="T5" fmla="*/ 26 h 221"/>
                          <a:gd name="T6" fmla="*/ 68 w 82"/>
                          <a:gd name="T7" fmla="*/ 36 h 221"/>
                          <a:gd name="T8" fmla="*/ 57 w 82"/>
                          <a:gd name="T9" fmla="*/ 42 h 221"/>
                          <a:gd name="T10" fmla="*/ 44 w 82"/>
                          <a:gd name="T11" fmla="*/ 47 h 221"/>
                          <a:gd name="T12" fmla="*/ 34 w 82"/>
                          <a:gd name="T13" fmla="*/ 55 h 221"/>
                          <a:gd name="T14" fmla="*/ 25 w 82"/>
                          <a:gd name="T15" fmla="*/ 66 h 221"/>
                          <a:gd name="T16" fmla="*/ 16 w 82"/>
                          <a:gd name="T17" fmla="*/ 84 h 221"/>
                          <a:gd name="T18" fmla="*/ 13 w 82"/>
                          <a:gd name="T19" fmla="*/ 99 h 221"/>
                          <a:gd name="T20" fmla="*/ 16 w 82"/>
                          <a:gd name="T21" fmla="*/ 110 h 221"/>
                          <a:gd name="T22" fmla="*/ 25 w 82"/>
                          <a:gd name="T23" fmla="*/ 120 h 221"/>
                          <a:gd name="T24" fmla="*/ 33 w 82"/>
                          <a:gd name="T25" fmla="*/ 131 h 221"/>
                          <a:gd name="T26" fmla="*/ 38 w 82"/>
                          <a:gd name="T27" fmla="*/ 141 h 221"/>
                          <a:gd name="T28" fmla="*/ 43 w 82"/>
                          <a:gd name="T29" fmla="*/ 154 h 221"/>
                          <a:gd name="T30" fmla="*/ 45 w 82"/>
                          <a:gd name="T31" fmla="*/ 168 h 221"/>
                          <a:gd name="T32" fmla="*/ 40 w 82"/>
                          <a:gd name="T33" fmla="*/ 182 h 221"/>
                          <a:gd name="T34" fmla="*/ 34 w 82"/>
                          <a:gd name="T35" fmla="*/ 191 h 221"/>
                          <a:gd name="T36" fmla="*/ 23 w 82"/>
                          <a:gd name="T37" fmla="*/ 203 h 221"/>
                          <a:gd name="T38" fmla="*/ 13 w 82"/>
                          <a:gd name="T39" fmla="*/ 211 h 221"/>
                          <a:gd name="T40" fmla="*/ 0 w 82"/>
                          <a:gd name="T41" fmla="*/ 220 h 2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2" h="221">
                            <a:moveTo>
                              <a:pt x="81" y="0"/>
                            </a:moveTo>
                            <a:lnTo>
                              <a:pt x="78" y="15"/>
                            </a:lnTo>
                            <a:lnTo>
                              <a:pt x="74" y="26"/>
                            </a:lnTo>
                            <a:lnTo>
                              <a:pt x="68" y="36"/>
                            </a:lnTo>
                            <a:lnTo>
                              <a:pt x="57" y="42"/>
                            </a:lnTo>
                            <a:lnTo>
                              <a:pt x="44" y="47"/>
                            </a:lnTo>
                            <a:lnTo>
                              <a:pt x="34" y="55"/>
                            </a:lnTo>
                            <a:lnTo>
                              <a:pt x="25" y="66"/>
                            </a:lnTo>
                            <a:lnTo>
                              <a:pt x="16" y="84"/>
                            </a:lnTo>
                            <a:lnTo>
                              <a:pt x="13" y="99"/>
                            </a:lnTo>
                            <a:lnTo>
                              <a:pt x="16" y="110"/>
                            </a:lnTo>
                            <a:lnTo>
                              <a:pt x="25" y="120"/>
                            </a:lnTo>
                            <a:lnTo>
                              <a:pt x="33" y="131"/>
                            </a:lnTo>
                            <a:lnTo>
                              <a:pt x="38" y="141"/>
                            </a:lnTo>
                            <a:lnTo>
                              <a:pt x="43" y="154"/>
                            </a:lnTo>
                            <a:lnTo>
                              <a:pt x="45" y="168"/>
                            </a:lnTo>
                            <a:lnTo>
                              <a:pt x="40" y="182"/>
                            </a:lnTo>
                            <a:lnTo>
                              <a:pt x="34" y="191"/>
                            </a:lnTo>
                            <a:lnTo>
                              <a:pt x="23" y="203"/>
                            </a:lnTo>
                            <a:lnTo>
                              <a:pt x="13" y="211"/>
                            </a:lnTo>
                            <a:lnTo>
                              <a:pt x="0" y="22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sp>
                    <p:nvSpPr>
                      <p:cNvPr id="18" name="Oval 44"/>
                      <p:cNvSpPr>
                        <a:spLocks noChangeArrowheads="1"/>
                      </p:cNvSpPr>
                      <p:nvPr/>
                    </p:nvSpPr>
                    <p:spPr bwMode="auto">
                      <a:xfrm>
                        <a:off x="3780" y="3243"/>
                        <a:ext cx="2" cy="2"/>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grpSp>
              </p:grpSp>
            </p:grpSp>
          </p:grpSp>
        </p:grpSp>
      </p:grpSp>
    </p:spTree>
    <p:extLst>
      <p:ext uri="{BB962C8B-B14F-4D97-AF65-F5344CB8AC3E}">
        <p14:creationId xmlns:p14="http://schemas.microsoft.com/office/powerpoint/2010/main" val="3135055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382000" cy="5263480"/>
          </a:xfrm>
        </p:spPr>
        <p:txBody>
          <a:bodyPr>
            <a:normAutofit fontScale="55000" lnSpcReduction="20000"/>
          </a:bodyPr>
          <a:lstStyle/>
          <a:p>
            <a:r>
              <a:rPr lang="zh-CN" altLang="en-US" sz="4400" dirty="0">
                <a:solidFill>
                  <a:srgbClr val="C00000"/>
                </a:solidFill>
                <a:latin typeface="KaiTi" panose="02010609060101010101" pitchFamily="49" charset="-122"/>
                <a:ea typeface="KaiTi" panose="02010609060101010101" pitchFamily="49" charset="-122"/>
              </a:rPr>
              <a:t>继承的必要性</a:t>
            </a:r>
            <a:endParaRPr lang="en-US" altLang="zh-CN" sz="4400" dirty="0">
              <a:solidFill>
                <a:srgbClr val="C00000"/>
              </a:solidFill>
              <a:latin typeface="KaiTi" panose="02010609060101010101" pitchFamily="49" charset="-122"/>
              <a:ea typeface="KaiTi" panose="02010609060101010101" pitchFamily="49" charset="-122"/>
            </a:endParaRPr>
          </a:p>
          <a:p>
            <a:r>
              <a:rPr lang="zh-CN" altLang="en-US" sz="4400" dirty="0">
                <a:latin typeface="KaiTi" panose="02010609060101010101" pitchFamily="49" charset="-122"/>
                <a:ea typeface="KaiTi" panose="02010609060101010101" pitchFamily="49" charset="-122"/>
              </a:rPr>
              <a:t>理解继承</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基类与派生类的关系</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单继承、多继承</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继承的层次结构</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子类继承了什么？</a:t>
            </a:r>
            <a:endParaRPr lang="en-US" altLang="zh-CN" sz="4400" dirty="0">
              <a:latin typeface="KaiTi" panose="02010609060101010101" pitchFamily="49" charset="-122"/>
              <a:ea typeface="KaiTi" panose="02010609060101010101" pitchFamily="49" charset="-122"/>
            </a:endParaRPr>
          </a:p>
          <a:p>
            <a:r>
              <a:rPr lang="en-US" altLang="zh-CN" sz="4400" dirty="0">
                <a:latin typeface="KaiTi" panose="02010609060101010101" pitchFamily="49" charset="-122"/>
                <a:ea typeface="KaiTi" panose="02010609060101010101" pitchFamily="49" charset="-122"/>
              </a:rPr>
              <a:t>Java</a:t>
            </a:r>
            <a:r>
              <a:rPr lang="zh-CN" altLang="en-US" sz="4400" dirty="0">
                <a:latin typeface="KaiTi" panose="02010609060101010101" pitchFamily="49" charset="-122"/>
                <a:ea typeface="KaiTi" panose="02010609060101010101" pitchFamily="49" charset="-122"/>
              </a:rPr>
              <a:t>继承（</a:t>
            </a:r>
            <a:r>
              <a:rPr lang="en-US" altLang="zh-CN" sz="4400" dirty="0">
                <a:latin typeface="KaiTi" panose="02010609060101010101" pitchFamily="49" charset="-122"/>
                <a:ea typeface="KaiTi" panose="02010609060101010101" pitchFamily="49" charset="-122"/>
              </a:rPr>
              <a:t>extends</a:t>
            </a:r>
            <a:r>
              <a:rPr lang="zh-CN" altLang="en-US" sz="4400" dirty="0">
                <a:latin typeface="KaiTi" panose="02010609060101010101" pitchFamily="49" charset="-122"/>
                <a:ea typeface="KaiTi" panose="02010609060101010101" pitchFamily="49" charset="-122"/>
              </a:rPr>
              <a:t>）</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子类构造方法</a:t>
            </a:r>
            <a:endParaRPr lang="en-SG"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保护成员的使用</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向上映射</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隐藏、覆盖</a:t>
            </a:r>
            <a:endParaRPr lang="en-US" altLang="zh-CN" sz="4400" dirty="0">
              <a:latin typeface="KaiTi" panose="02010609060101010101" pitchFamily="49" charset="-122"/>
              <a:ea typeface="KaiTi" panose="02010609060101010101" pitchFamily="49" charset="-122"/>
            </a:endParaRPr>
          </a:p>
          <a:p>
            <a:r>
              <a:rPr lang="zh-CN" altLang="en-US" sz="4800" dirty="0">
                <a:latin typeface="KaiTi" panose="02010609060101010101" pitchFamily="49" charset="-122"/>
                <a:ea typeface="KaiTi" panose="02010609060101010101" pitchFamily="49" charset="-122"/>
              </a:rPr>
              <a:t>继承的优缺点、组合与继承</a:t>
            </a:r>
            <a:endParaRPr lang="en-SG" altLang="zh-CN" sz="4800" dirty="0">
              <a:latin typeface="KaiTi" panose="02010609060101010101" pitchFamily="49" charset="-122"/>
              <a:ea typeface="KaiTi" panose="02010609060101010101" pitchFamily="49" charset="-122"/>
            </a:endParaRPr>
          </a:p>
          <a:p>
            <a:r>
              <a:rPr lang="zh-CN" altLang="en-US" sz="4800" dirty="0">
                <a:latin typeface="KaiTi" panose="02010609060101010101" pitchFamily="49" charset="-122"/>
                <a:ea typeface="KaiTi" panose="02010609060101010101" pitchFamily="49" charset="-122"/>
              </a:rPr>
              <a:t>继承的案例</a:t>
            </a:r>
            <a:endParaRPr lang="en-US" altLang="zh-CN" sz="4800" dirty="0">
              <a:latin typeface="KaiTi" panose="02010609060101010101" pitchFamily="49" charset="-122"/>
              <a:ea typeface="KaiTi" panose="02010609060101010101" pitchFamily="49" charset="-122"/>
            </a:endParaRPr>
          </a:p>
        </p:txBody>
      </p:sp>
      <p:sp>
        <p:nvSpPr>
          <p:cNvPr id="3" name="Title 2"/>
          <p:cNvSpPr>
            <a:spLocks noGrp="1"/>
          </p:cNvSpPr>
          <p:nvPr>
            <p:ph type="title"/>
          </p:nvPr>
        </p:nvSpPr>
        <p:spPr/>
        <p:txBody>
          <a:bodyPr/>
          <a:lstStyle/>
          <a:p>
            <a:r>
              <a:rPr lang="zh-CN" altLang="en-US" dirty="0"/>
              <a:t>主要内容</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a:t>
            </a:fld>
            <a:endParaRPr lang="en-US" altLang="zh-CN" dirty="0"/>
          </a:p>
        </p:txBody>
      </p:sp>
    </p:spTree>
    <p:extLst>
      <p:ext uri="{BB962C8B-B14F-4D97-AF65-F5344CB8AC3E}">
        <p14:creationId xmlns:p14="http://schemas.microsoft.com/office/powerpoint/2010/main" val="1287030998"/>
      </p:ext>
    </p:extLst>
  </p:cSld>
  <p:clrMapOvr>
    <a:masterClrMapping/>
  </p:clrMapOvr>
  <p:transition spd="med">
    <p:pull dir="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latin typeface="楷体" panose="02010609060101010101" pitchFamily="49" charset="-122"/>
              </a:rPr>
              <a:t>假设现在定义了一个小鹿类，具有吃饭和睡觉两个方法。</a:t>
            </a:r>
            <a:endParaRPr lang="en-US" altLang="zh-CN" dirty="0">
              <a:latin typeface="楷体" panose="02010609060101010101" pitchFamily="49" charset="-122"/>
            </a:endParaRPr>
          </a:p>
          <a:p>
            <a:r>
              <a:rPr lang="zh-CN" altLang="en-US" dirty="0">
                <a:latin typeface="楷体" panose="02010609060101010101" pitchFamily="49" charset="-122"/>
              </a:rPr>
              <a:t>嗯，下一步：直接实例化这个</a:t>
            </a:r>
            <a:r>
              <a:rPr lang="en-US" altLang="zh-CN" dirty="0">
                <a:latin typeface="楷体" panose="02010609060101010101" pitchFamily="49" charset="-122"/>
              </a:rPr>
              <a:t>Deer</a:t>
            </a:r>
            <a:r>
              <a:rPr lang="zh-CN" altLang="en-US" dirty="0">
                <a:latin typeface="楷体" panose="02010609060101010101" pitchFamily="49" charset="-122"/>
              </a:rPr>
              <a:t>对象，就可以得到吃草的并且是躺着睡觉的小鹿。</a:t>
            </a:r>
            <a:endParaRPr lang="en-US" altLang="zh-CN" dirty="0">
              <a:latin typeface="楷体" panose="02010609060101010101" pitchFamily="49" charset="-122"/>
            </a:endParaRPr>
          </a:p>
          <a:p>
            <a:endParaRPr lang="zh-CN" altLang="en-US" dirty="0"/>
          </a:p>
        </p:txBody>
      </p:sp>
      <p:sp>
        <p:nvSpPr>
          <p:cNvPr id="3" name="Title 2"/>
          <p:cNvSpPr>
            <a:spLocks noGrp="1"/>
          </p:cNvSpPr>
          <p:nvPr>
            <p:ph type="title"/>
          </p:nvPr>
        </p:nvSpPr>
        <p:spPr/>
        <p:txBody>
          <a:bodyPr/>
          <a:lstStyle/>
          <a:p>
            <a:r>
              <a:rPr lang="zh-CN" altLang="en-US" dirty="0"/>
              <a:t>继承的必要性</a:t>
            </a:r>
          </a:p>
        </p:txBody>
      </p:sp>
      <p:sp>
        <p:nvSpPr>
          <p:cNvPr id="5" name="Date Placeholder 4"/>
          <p:cNvSpPr>
            <a:spLocks noGrp="1"/>
          </p:cNvSpPr>
          <p:nvPr>
            <p:ph type="dt" sz="half" idx="10"/>
          </p:nvPr>
        </p:nvSpPr>
        <p:spPr/>
        <p:txBody>
          <a:bodyPr/>
          <a:lstStyle/>
          <a:p>
            <a:pPr>
              <a:defRPr/>
            </a:pPr>
            <a:fld id="{EA5B4318-0648-40C8-84A4-334C5E35040C}" type="datetime1">
              <a:rPr lang="zh-CN" altLang="en-US" smtClean="0"/>
              <a:t>2024/10/17</a:t>
            </a:fld>
            <a:endParaRPr lang="en-US" altLang="zh-CN"/>
          </a:p>
        </p:txBody>
      </p:sp>
      <p:sp>
        <p:nvSpPr>
          <p:cNvPr id="6" name="Footer Placeholder 5"/>
          <p:cNvSpPr>
            <a:spLocks noGrp="1"/>
          </p:cNvSpPr>
          <p:nvPr>
            <p:ph type="ftr" sz="quarter" idx="11"/>
          </p:nvPr>
        </p:nvSpPr>
        <p:spPr/>
        <p:txBody>
          <a:bodyPr/>
          <a:lstStyle/>
          <a:p>
            <a:pPr>
              <a:defRPr/>
            </a:pPr>
            <a:r>
              <a:rPr lang="en-US" altLang="zh-CN" dirty="0"/>
              <a:t>Xiang Gao</a:t>
            </a:r>
          </a:p>
        </p:txBody>
      </p:sp>
      <p:sp>
        <p:nvSpPr>
          <p:cNvPr id="7" name="Slide Number Placeholder 6"/>
          <p:cNvSpPr>
            <a:spLocks noGrp="1"/>
          </p:cNvSpPr>
          <p:nvPr>
            <p:ph type="sldNum" sz="quarter" idx="12"/>
          </p:nvPr>
        </p:nvSpPr>
        <p:spPr/>
        <p:txBody>
          <a:bodyPr/>
          <a:lstStyle/>
          <a:p>
            <a:pPr>
              <a:defRPr/>
            </a:pPr>
            <a:fld id="{F7C8A414-E22E-4DF8-8FC5-FF8056582F45}" type="slidenum">
              <a:rPr lang="en-US" altLang="zh-CN" smtClean="0"/>
              <a:pPr>
                <a:defRPr/>
              </a:pPr>
              <a:t>3</a:t>
            </a:fld>
            <a:endParaRPr lang="en-US" altLang="zh-CN"/>
          </a:p>
        </p:txBody>
      </p:sp>
      <p:pic>
        <p:nvPicPr>
          <p:cNvPr id="10" name="Picture 9">
            <a:extLst>
              <a:ext uri="{FF2B5EF4-FFF2-40B4-BE49-F238E27FC236}">
                <a16:creationId xmlns:a16="http://schemas.microsoft.com/office/drawing/2014/main" id="{092F5CBD-7F6D-3764-102B-E9E58C982F72}"/>
              </a:ext>
            </a:extLst>
          </p:cNvPr>
          <p:cNvPicPr>
            <a:picLocks noChangeAspect="1"/>
          </p:cNvPicPr>
          <p:nvPr/>
        </p:nvPicPr>
        <p:blipFill>
          <a:blip r:embed="rId2"/>
          <a:stretch>
            <a:fillRect/>
          </a:stretch>
        </p:blipFill>
        <p:spPr>
          <a:xfrm>
            <a:off x="1600200" y="3171701"/>
            <a:ext cx="6386973" cy="3178633"/>
          </a:xfrm>
          <a:prstGeom prst="rect">
            <a:avLst/>
          </a:prstGeom>
        </p:spPr>
      </p:pic>
    </p:spTree>
    <p:extLst>
      <p:ext uri="{BB962C8B-B14F-4D97-AF65-F5344CB8AC3E}">
        <p14:creationId xmlns:p14="http://schemas.microsoft.com/office/powerpoint/2010/main" val="2882584297"/>
      </p:ext>
    </p:extLst>
  </p:cSld>
  <p:clrMapOvr>
    <a:masterClrMapping/>
  </p:clrMapOvr>
  <p:transition spd="med">
    <p:pull dir="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latin typeface="楷体" panose="02010609060101010101" pitchFamily="49" charset="-122"/>
              </a:rPr>
              <a:t>问题</a:t>
            </a:r>
            <a:r>
              <a:rPr lang="en-US" altLang="zh-CN" dirty="0">
                <a:latin typeface="楷体" panose="02010609060101010101" pitchFamily="49" charset="-122"/>
              </a:rPr>
              <a:t>1.</a:t>
            </a:r>
            <a:r>
              <a:rPr lang="zh-CN" altLang="en-US" dirty="0">
                <a:latin typeface="楷体" panose="02010609060101010101" pitchFamily="49" charset="-122"/>
              </a:rPr>
              <a:t>想</a:t>
            </a:r>
            <a:r>
              <a:rPr lang="en-US" altLang="zh-CN" dirty="0">
                <a:latin typeface="楷体" panose="02010609060101010101" pitchFamily="49" charset="-122"/>
              </a:rPr>
              <a:t>new</a:t>
            </a:r>
            <a:r>
              <a:rPr lang="zh-CN" altLang="en-US" dirty="0">
                <a:latin typeface="楷体" panose="02010609060101010101" pitchFamily="49" charset="-122"/>
              </a:rPr>
              <a:t>出一个狮子，但是狮子是吃肉且躺着睡觉的，怎么办？ </a:t>
            </a:r>
            <a:br>
              <a:rPr lang="zh-CN" altLang="en-US" dirty="0">
                <a:latin typeface="楷体" panose="02010609060101010101" pitchFamily="49" charset="-122"/>
              </a:rPr>
            </a:br>
            <a:endParaRPr lang="en-US" altLang="zh-CN" dirty="0">
              <a:latin typeface="楷体" panose="02010609060101010101" pitchFamily="49" charset="-122"/>
            </a:endParaRPr>
          </a:p>
          <a:p>
            <a:r>
              <a:rPr lang="zh-CN" altLang="en-US" dirty="0">
                <a:latin typeface="楷体" panose="02010609060101010101" pitchFamily="49" charset="-122"/>
              </a:rPr>
              <a:t>问题</a:t>
            </a:r>
            <a:r>
              <a:rPr lang="en-US" altLang="zh-CN" dirty="0">
                <a:latin typeface="楷体" panose="02010609060101010101" pitchFamily="49" charset="-122"/>
              </a:rPr>
              <a:t>2.</a:t>
            </a:r>
            <a:r>
              <a:rPr lang="zh-CN" altLang="en-US" dirty="0">
                <a:latin typeface="楷体" panose="02010609060101010101" pitchFamily="49" charset="-122"/>
              </a:rPr>
              <a:t>想</a:t>
            </a:r>
            <a:r>
              <a:rPr lang="en-US" altLang="zh-CN" dirty="0">
                <a:latin typeface="楷体" panose="02010609060101010101" pitchFamily="49" charset="-122"/>
              </a:rPr>
              <a:t>new</a:t>
            </a:r>
            <a:r>
              <a:rPr lang="zh-CN" altLang="en-US" dirty="0">
                <a:latin typeface="楷体" panose="02010609060101010101" pitchFamily="49" charset="-122"/>
              </a:rPr>
              <a:t>出一个吃肉，躺着睡觉，并且还可以飞的动物，怎么办？</a:t>
            </a:r>
          </a:p>
          <a:p>
            <a:endParaRPr lang="zh-CN" altLang="en-US" dirty="0"/>
          </a:p>
        </p:txBody>
      </p:sp>
      <p:sp>
        <p:nvSpPr>
          <p:cNvPr id="3" name="Title 2"/>
          <p:cNvSpPr>
            <a:spLocks noGrp="1"/>
          </p:cNvSpPr>
          <p:nvPr>
            <p:ph type="title"/>
          </p:nvPr>
        </p:nvSpPr>
        <p:spPr/>
        <p:txBody>
          <a:bodyPr/>
          <a:lstStyle/>
          <a:p>
            <a:r>
              <a:rPr lang="zh-CN" altLang="en-US" dirty="0"/>
              <a:t>思考：</a:t>
            </a:r>
          </a:p>
        </p:txBody>
      </p:sp>
      <p:sp>
        <p:nvSpPr>
          <p:cNvPr id="4" name="Date Placeholder 3"/>
          <p:cNvSpPr>
            <a:spLocks noGrp="1"/>
          </p:cNvSpPr>
          <p:nvPr>
            <p:ph type="dt" sz="half" idx="10"/>
          </p:nvPr>
        </p:nvSpPr>
        <p:spPr/>
        <p:txBody>
          <a:bodyPr/>
          <a:lstStyle/>
          <a:p>
            <a:pPr>
              <a:defRPr/>
            </a:pPr>
            <a:fld id="{97C788D6-C6FF-4F75-B4A5-84B1DF9C8163}"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4</a:t>
            </a:fld>
            <a:endParaRPr lang="en-US" altLang="zh-CN"/>
          </a:p>
        </p:txBody>
      </p:sp>
    </p:spTree>
    <p:extLst>
      <p:ext uri="{BB962C8B-B14F-4D97-AF65-F5344CB8AC3E}">
        <p14:creationId xmlns:p14="http://schemas.microsoft.com/office/powerpoint/2010/main" val="1656838678"/>
      </p:ext>
    </p:extLst>
  </p:cSld>
  <p:clrMapOvr>
    <a:masterClrMapping/>
  </p:clrMapOvr>
  <p:transition spd="med">
    <p:pull dir="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第一个问题：要</a:t>
            </a:r>
            <a:r>
              <a:rPr lang="en-US" altLang="zh-CN" dirty="0"/>
              <a:t>new</a:t>
            </a:r>
            <a:r>
              <a:rPr lang="zh-CN" altLang="en-US" dirty="0"/>
              <a:t>一个狮子，还是吃肉和躺着睡觉的。但是我们没有狮子类啊，怎么办？简单，新建一个</a:t>
            </a:r>
            <a:r>
              <a:rPr lang="en-US" altLang="zh-CN" dirty="0"/>
              <a:t>Lion</a:t>
            </a:r>
            <a:r>
              <a:rPr lang="zh-CN" altLang="en-US" dirty="0"/>
              <a:t>类，定义一下就好啦：</a:t>
            </a:r>
          </a:p>
          <a:p>
            <a:endParaRPr lang="zh-CN" altLang="en-US" dirty="0"/>
          </a:p>
        </p:txBody>
      </p:sp>
      <p:sp>
        <p:nvSpPr>
          <p:cNvPr id="3" name="Title 2"/>
          <p:cNvSpPr>
            <a:spLocks noGrp="1"/>
          </p:cNvSpPr>
          <p:nvPr>
            <p:ph type="title"/>
          </p:nvPr>
        </p:nvSpPr>
        <p:spPr/>
        <p:txBody>
          <a:bodyPr/>
          <a:lstStyle/>
          <a:p>
            <a:r>
              <a:rPr lang="en-US" altLang="zh-CN" dirty="0"/>
              <a:t>Answer 1</a:t>
            </a:r>
            <a:endParaRPr lang="zh-CN" altLang="en-US" dirty="0"/>
          </a:p>
        </p:txBody>
      </p:sp>
      <p:sp>
        <p:nvSpPr>
          <p:cNvPr id="5" name="Date Placeholder 4"/>
          <p:cNvSpPr>
            <a:spLocks noGrp="1"/>
          </p:cNvSpPr>
          <p:nvPr>
            <p:ph type="dt" sz="half" idx="10"/>
          </p:nvPr>
        </p:nvSpPr>
        <p:spPr/>
        <p:txBody>
          <a:bodyPr/>
          <a:lstStyle/>
          <a:p>
            <a:pPr>
              <a:defRPr/>
            </a:pPr>
            <a:fld id="{9BD67AD4-1798-4FF4-95FA-497C911F6F6A}" type="datetime1">
              <a:rPr lang="zh-CN" altLang="en-US" smtClean="0"/>
              <a:t>2024/10/17</a:t>
            </a:fld>
            <a:endParaRPr lang="en-US" altLang="zh-CN"/>
          </a:p>
        </p:txBody>
      </p:sp>
      <p:sp>
        <p:nvSpPr>
          <p:cNvPr id="6" name="Footer Placeholder 5"/>
          <p:cNvSpPr>
            <a:spLocks noGrp="1"/>
          </p:cNvSpPr>
          <p:nvPr>
            <p:ph type="ftr" sz="quarter" idx="11"/>
          </p:nvPr>
        </p:nvSpPr>
        <p:spPr/>
        <p:txBody>
          <a:bodyPr/>
          <a:lstStyle/>
          <a:p>
            <a:pPr>
              <a:defRPr/>
            </a:pPr>
            <a:r>
              <a:rPr lang="en-US" altLang="zh-CN" dirty="0"/>
              <a:t>Xiang Gao</a:t>
            </a:r>
          </a:p>
        </p:txBody>
      </p:sp>
      <p:sp>
        <p:nvSpPr>
          <p:cNvPr id="7" name="Slide Number Placeholder 6"/>
          <p:cNvSpPr>
            <a:spLocks noGrp="1"/>
          </p:cNvSpPr>
          <p:nvPr>
            <p:ph type="sldNum" sz="quarter" idx="12"/>
          </p:nvPr>
        </p:nvSpPr>
        <p:spPr/>
        <p:txBody>
          <a:bodyPr/>
          <a:lstStyle/>
          <a:p>
            <a:pPr>
              <a:defRPr/>
            </a:pPr>
            <a:fld id="{F7C8A414-E22E-4DF8-8FC5-FF8056582F45}" type="slidenum">
              <a:rPr lang="en-US" altLang="zh-CN" smtClean="0"/>
              <a:pPr>
                <a:defRPr/>
              </a:pPr>
              <a:t>5</a:t>
            </a:fld>
            <a:endParaRPr lang="en-US" altLang="zh-CN"/>
          </a:p>
        </p:txBody>
      </p:sp>
      <p:pic>
        <p:nvPicPr>
          <p:cNvPr id="8" name="Picture 7">
            <a:extLst>
              <a:ext uri="{FF2B5EF4-FFF2-40B4-BE49-F238E27FC236}">
                <a16:creationId xmlns:a16="http://schemas.microsoft.com/office/drawing/2014/main" id="{1FF1AF88-7524-7C2C-E3B3-5E64C8B6E4AB}"/>
              </a:ext>
            </a:extLst>
          </p:cNvPr>
          <p:cNvPicPr>
            <a:picLocks noChangeAspect="1"/>
          </p:cNvPicPr>
          <p:nvPr/>
        </p:nvPicPr>
        <p:blipFill>
          <a:blip r:embed="rId2"/>
          <a:stretch>
            <a:fillRect/>
          </a:stretch>
        </p:blipFill>
        <p:spPr>
          <a:xfrm>
            <a:off x="1580444" y="3124200"/>
            <a:ext cx="5983111" cy="3048000"/>
          </a:xfrm>
          <a:prstGeom prst="rect">
            <a:avLst/>
          </a:prstGeom>
        </p:spPr>
      </p:pic>
    </p:spTree>
    <p:extLst>
      <p:ext uri="{BB962C8B-B14F-4D97-AF65-F5344CB8AC3E}">
        <p14:creationId xmlns:p14="http://schemas.microsoft.com/office/powerpoint/2010/main" val="2577702827"/>
      </p:ext>
    </p:extLst>
  </p:cSld>
  <p:clrMapOvr>
    <a:masterClrMapping/>
  </p:clrMapOvr>
  <p:transition spd="med">
    <p:pull dir="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第二个问题：要</a:t>
            </a:r>
            <a:r>
              <a:rPr lang="en-US" altLang="zh-CN" dirty="0"/>
              <a:t>new</a:t>
            </a:r>
            <a:r>
              <a:rPr lang="zh-CN" altLang="en-US" dirty="0"/>
              <a:t>一个吃肉，躺着睡觉，并且还可以飞的老鹰，怎么办？也简单，我们再</a:t>
            </a:r>
            <a:r>
              <a:rPr lang="en-US" altLang="zh-CN" dirty="0"/>
              <a:t>new </a:t>
            </a:r>
            <a:r>
              <a:rPr lang="zh-CN" altLang="en-US" dirty="0"/>
              <a:t>一个</a:t>
            </a:r>
            <a:r>
              <a:rPr lang="en-US" altLang="zh-CN" dirty="0"/>
              <a:t>Eagle</a:t>
            </a:r>
            <a:r>
              <a:rPr lang="zh-CN" altLang="en-US" dirty="0"/>
              <a:t>类出来就好啦：</a:t>
            </a:r>
          </a:p>
          <a:p>
            <a:endParaRPr lang="zh-CN" altLang="en-US" dirty="0"/>
          </a:p>
        </p:txBody>
      </p:sp>
      <p:sp>
        <p:nvSpPr>
          <p:cNvPr id="3" name="Title 2"/>
          <p:cNvSpPr>
            <a:spLocks noGrp="1"/>
          </p:cNvSpPr>
          <p:nvPr>
            <p:ph type="title"/>
          </p:nvPr>
        </p:nvSpPr>
        <p:spPr/>
        <p:txBody>
          <a:bodyPr/>
          <a:lstStyle/>
          <a:p>
            <a:r>
              <a:rPr lang="en-US" altLang="zh-CN" dirty="0"/>
              <a:t>Answer 2</a:t>
            </a:r>
            <a:endParaRPr lang="zh-CN" altLang="en-US" dirty="0"/>
          </a:p>
        </p:txBody>
      </p:sp>
      <p:sp>
        <p:nvSpPr>
          <p:cNvPr id="5" name="Date Placeholder 4"/>
          <p:cNvSpPr>
            <a:spLocks noGrp="1"/>
          </p:cNvSpPr>
          <p:nvPr>
            <p:ph type="dt" sz="half" idx="10"/>
          </p:nvPr>
        </p:nvSpPr>
        <p:spPr/>
        <p:txBody>
          <a:bodyPr/>
          <a:lstStyle/>
          <a:p>
            <a:pPr>
              <a:defRPr/>
            </a:pPr>
            <a:fld id="{D642B898-4882-44FB-863D-B9E7E7C35A23}" type="datetime1">
              <a:rPr lang="zh-CN" altLang="en-US" smtClean="0"/>
              <a:t>2024/10/17</a:t>
            </a:fld>
            <a:endParaRPr lang="en-US" altLang="zh-CN"/>
          </a:p>
        </p:txBody>
      </p:sp>
      <p:sp>
        <p:nvSpPr>
          <p:cNvPr id="6" name="Footer Placeholder 5"/>
          <p:cNvSpPr>
            <a:spLocks noGrp="1"/>
          </p:cNvSpPr>
          <p:nvPr>
            <p:ph type="ftr" sz="quarter" idx="11"/>
          </p:nvPr>
        </p:nvSpPr>
        <p:spPr/>
        <p:txBody>
          <a:bodyPr/>
          <a:lstStyle/>
          <a:p>
            <a:pPr>
              <a:defRPr/>
            </a:pPr>
            <a:r>
              <a:rPr lang="en-US" altLang="zh-CN" dirty="0"/>
              <a:t>Xiang Gao</a:t>
            </a:r>
          </a:p>
        </p:txBody>
      </p:sp>
      <p:sp>
        <p:nvSpPr>
          <p:cNvPr id="7" name="Slide Number Placeholder 6"/>
          <p:cNvSpPr>
            <a:spLocks noGrp="1"/>
          </p:cNvSpPr>
          <p:nvPr>
            <p:ph type="sldNum" sz="quarter" idx="12"/>
          </p:nvPr>
        </p:nvSpPr>
        <p:spPr/>
        <p:txBody>
          <a:bodyPr/>
          <a:lstStyle/>
          <a:p>
            <a:pPr>
              <a:defRPr/>
            </a:pPr>
            <a:fld id="{F7C8A414-E22E-4DF8-8FC5-FF8056582F45}" type="slidenum">
              <a:rPr lang="en-US" altLang="zh-CN" smtClean="0"/>
              <a:pPr>
                <a:defRPr/>
              </a:pPr>
              <a:t>6</a:t>
            </a:fld>
            <a:endParaRPr lang="en-US" altLang="zh-CN"/>
          </a:p>
        </p:txBody>
      </p:sp>
      <p:pic>
        <p:nvPicPr>
          <p:cNvPr id="8" name="Picture 7">
            <a:extLst>
              <a:ext uri="{FF2B5EF4-FFF2-40B4-BE49-F238E27FC236}">
                <a16:creationId xmlns:a16="http://schemas.microsoft.com/office/drawing/2014/main" id="{C921F262-30DF-B934-EC6E-D3FFCC0B7632}"/>
              </a:ext>
            </a:extLst>
          </p:cNvPr>
          <p:cNvPicPr>
            <a:picLocks noChangeAspect="1"/>
          </p:cNvPicPr>
          <p:nvPr/>
        </p:nvPicPr>
        <p:blipFill>
          <a:blip r:embed="rId2"/>
          <a:stretch>
            <a:fillRect/>
          </a:stretch>
        </p:blipFill>
        <p:spPr>
          <a:xfrm>
            <a:off x="1739900" y="2601912"/>
            <a:ext cx="5664200" cy="3937000"/>
          </a:xfrm>
          <a:prstGeom prst="rect">
            <a:avLst/>
          </a:prstGeom>
        </p:spPr>
      </p:pic>
    </p:spTree>
    <p:extLst>
      <p:ext uri="{BB962C8B-B14F-4D97-AF65-F5344CB8AC3E}">
        <p14:creationId xmlns:p14="http://schemas.microsoft.com/office/powerpoint/2010/main" val="2966813508"/>
      </p:ext>
    </p:extLst>
  </p:cSld>
  <p:clrMapOvr>
    <a:masterClrMapping/>
  </p:clrMapOvr>
  <p:transition spd="med">
    <p:pull dir="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zh-CN" altLang="en-US" sz="2800" dirty="0"/>
              <a:t>代码重复，代码臃肿；</a:t>
            </a:r>
            <a:endParaRPr lang="en-US" altLang="zh-CN" sz="2800" dirty="0"/>
          </a:p>
          <a:p>
            <a:r>
              <a:rPr lang="zh-CN" altLang="en-US" sz="2800" dirty="0"/>
              <a:t>代码可维护性差，未来有更多的动物加入这个大家庭怎么办？</a:t>
            </a:r>
            <a:endParaRPr lang="en-US" altLang="zh-CN" sz="2800" dirty="0"/>
          </a:p>
          <a:p>
            <a:r>
              <a:rPr lang="zh-CN" altLang="en-US" sz="2800" dirty="0"/>
              <a:t>违背了我们当初设计面向对象编程语言的初衷。</a:t>
            </a:r>
            <a:endParaRPr lang="en-US" altLang="zh-CN" sz="2800" dirty="0"/>
          </a:p>
          <a:p>
            <a:pPr lvl="1"/>
            <a:r>
              <a:rPr lang="zh-CN" altLang="en-US" sz="2400" dirty="0"/>
              <a:t>可维护</a:t>
            </a:r>
            <a:endParaRPr lang="en-US" altLang="zh-CN" sz="2400" dirty="0"/>
          </a:p>
          <a:p>
            <a:pPr lvl="1"/>
            <a:r>
              <a:rPr lang="zh-CN" altLang="en-US" sz="2400" dirty="0"/>
              <a:t>可扩展</a:t>
            </a:r>
            <a:endParaRPr lang="en-US" altLang="zh-CN" sz="2400" dirty="0"/>
          </a:p>
          <a:p>
            <a:pPr lvl="1"/>
            <a:r>
              <a:rPr lang="zh-CN" altLang="en-US" sz="2400" dirty="0"/>
              <a:t>代码复用</a:t>
            </a:r>
            <a:endParaRPr lang="en-US" altLang="zh-CN" sz="2400" dirty="0"/>
          </a:p>
          <a:p>
            <a:r>
              <a:rPr lang="zh-CN" altLang="en-US" sz="2800" dirty="0"/>
              <a:t>所以，我们要对类进行下一步的优化，就是</a:t>
            </a:r>
            <a:r>
              <a:rPr lang="zh-CN" altLang="en-US" sz="2800" u="sng" dirty="0">
                <a:solidFill>
                  <a:srgbClr val="C00000"/>
                </a:solidFill>
                <a:effectLst>
                  <a:outerShdw blurRad="38100" dist="38100" dir="2700000" algn="tl">
                    <a:srgbClr val="000000">
                      <a:alpha val="43137"/>
                    </a:srgbClr>
                  </a:outerShdw>
                </a:effectLst>
              </a:rPr>
              <a:t>再抽象操作</a:t>
            </a:r>
            <a:r>
              <a:rPr lang="zh-CN" altLang="en-US" sz="2800" dirty="0"/>
              <a:t>，或者说刚才的解决方案所做的抽象不足够好。</a:t>
            </a:r>
          </a:p>
          <a:p>
            <a:endParaRPr lang="zh-CN" altLang="en-US" dirty="0"/>
          </a:p>
        </p:txBody>
      </p:sp>
      <p:sp>
        <p:nvSpPr>
          <p:cNvPr id="3" name="Title 2"/>
          <p:cNvSpPr>
            <a:spLocks noGrp="1"/>
          </p:cNvSpPr>
          <p:nvPr>
            <p:ph type="title"/>
          </p:nvPr>
        </p:nvSpPr>
        <p:spPr/>
        <p:txBody>
          <a:bodyPr/>
          <a:lstStyle/>
          <a:p>
            <a:r>
              <a:rPr lang="zh-CN" altLang="en-US" dirty="0"/>
              <a:t>解决方案的利弊</a:t>
            </a:r>
          </a:p>
        </p:txBody>
      </p:sp>
      <p:sp>
        <p:nvSpPr>
          <p:cNvPr id="4" name="Date Placeholder 3"/>
          <p:cNvSpPr>
            <a:spLocks noGrp="1"/>
          </p:cNvSpPr>
          <p:nvPr>
            <p:ph type="dt" sz="half" idx="10"/>
          </p:nvPr>
        </p:nvSpPr>
        <p:spPr/>
        <p:txBody>
          <a:bodyPr/>
          <a:lstStyle/>
          <a:p>
            <a:pPr>
              <a:defRPr/>
            </a:pPr>
            <a:fld id="{488A895C-D33F-42E5-86B9-22A5C4021802}"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7</a:t>
            </a:fld>
            <a:endParaRPr lang="en-US" altLang="zh-CN"/>
          </a:p>
        </p:txBody>
      </p:sp>
    </p:spTree>
    <p:extLst>
      <p:ext uri="{BB962C8B-B14F-4D97-AF65-F5344CB8AC3E}">
        <p14:creationId xmlns:p14="http://schemas.microsoft.com/office/powerpoint/2010/main" val="3691527966"/>
      </p:ext>
    </p:extLst>
  </p:cSld>
  <p:clrMapOvr>
    <a:masterClrMapping/>
  </p:clrMapOvr>
  <p:transition spd="med">
    <p:pull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用继承解决上述问题</a:t>
            </a:r>
          </a:p>
        </p:txBody>
      </p:sp>
      <p:sp>
        <p:nvSpPr>
          <p:cNvPr id="7" name="TextBox 6"/>
          <p:cNvSpPr txBox="1"/>
          <p:nvPr/>
        </p:nvSpPr>
        <p:spPr>
          <a:xfrm>
            <a:off x="381000" y="1104201"/>
            <a:ext cx="2971800" cy="5539978"/>
          </a:xfrm>
          <a:prstGeom prst="rect">
            <a:avLst/>
          </a:prstGeom>
          <a:noFill/>
          <a:ln>
            <a:solidFill>
              <a:schemeClr val="tx1"/>
            </a:solidFill>
          </a:ln>
        </p:spPr>
        <p:txBody>
          <a:bodyPr wrap="square" rtlCol="0">
            <a:spAutoFit/>
          </a:bodyPr>
          <a:lstStyle/>
          <a:p>
            <a:r>
              <a:rPr lang="zh-CN" altLang="en-US" sz="2800" b="1" dirty="0">
                <a:solidFill>
                  <a:srgbClr val="FF0000"/>
                </a:solidFill>
                <a:latin typeface="楷体" panose="02010609060101010101" pitchFamily="49" charset="-122"/>
                <a:ea typeface="楷体" panose="02010609060101010101" pitchFamily="49" charset="-122"/>
              </a:rPr>
              <a:t>我们能否再把类进行抽象一下，抽取一些相同的特质，组成一个动物类呢？</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答案是：可以的，</a:t>
            </a:r>
            <a:r>
              <a:rPr lang="zh-CN" altLang="en-US" sz="2800" dirty="0">
                <a:ea typeface="楷体" panose="02010609060101010101" pitchFamily="49" charset="-122"/>
              </a:rPr>
              <a:t>抽象提取出合适的父类，通过继承解决上述问题</a:t>
            </a:r>
            <a:endParaRPr lang="en-US" altLang="zh-CN" sz="2800" dirty="0">
              <a:ea typeface="楷体" panose="02010609060101010101" pitchFamily="49" charset="-122"/>
            </a:endParaRPr>
          </a:p>
          <a:p>
            <a:endParaRPr lang="en-US" altLang="zh-CN" sz="2800" dirty="0">
              <a:latin typeface="楷体" panose="02010609060101010101" pitchFamily="49" charset="-122"/>
              <a:ea typeface="楷体" panose="02010609060101010101" pitchFamily="49" charset="-122"/>
            </a:endParaRPr>
          </a:p>
          <a:p>
            <a:r>
              <a:rPr lang="zh-CN" altLang="en-US" sz="2800" b="1" dirty="0">
                <a:solidFill>
                  <a:srgbClr val="0070C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这不是最好的解决方案，有缺陷</a:t>
            </a:r>
            <a:endParaRPr lang="en-US" altLang="zh-CN" sz="2800" b="1" dirty="0">
              <a:solidFill>
                <a:srgbClr val="0070C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endParaRPr lang="zh-CN" altLang="en-US" dirty="0">
              <a:ea typeface="楷体" panose="02010609060101010101" pitchFamily="49" charset="-122"/>
            </a:endParaRPr>
          </a:p>
        </p:txBody>
      </p:sp>
      <p:sp>
        <p:nvSpPr>
          <p:cNvPr id="8" name="Date Placeholder 7"/>
          <p:cNvSpPr>
            <a:spLocks noGrp="1"/>
          </p:cNvSpPr>
          <p:nvPr>
            <p:ph type="dt" sz="half" idx="10"/>
          </p:nvPr>
        </p:nvSpPr>
        <p:spPr/>
        <p:txBody>
          <a:bodyPr/>
          <a:lstStyle/>
          <a:p>
            <a:pPr>
              <a:defRPr/>
            </a:pPr>
            <a:fld id="{51E582CF-8E8A-47B6-9338-F1775E52A2FB}" type="datetime1">
              <a:rPr lang="zh-CN" altLang="en-US" smtClean="0"/>
              <a:t>2024/10/17</a:t>
            </a:fld>
            <a:endParaRPr lang="en-US" altLang="zh-CN"/>
          </a:p>
        </p:txBody>
      </p:sp>
      <p:sp>
        <p:nvSpPr>
          <p:cNvPr id="9" name="Footer Placeholder 8"/>
          <p:cNvSpPr>
            <a:spLocks noGrp="1"/>
          </p:cNvSpPr>
          <p:nvPr>
            <p:ph type="ftr" sz="quarter" idx="11"/>
          </p:nvPr>
        </p:nvSpPr>
        <p:spPr/>
        <p:txBody>
          <a:bodyPr/>
          <a:lstStyle/>
          <a:p>
            <a:pPr>
              <a:defRPr/>
            </a:pPr>
            <a:r>
              <a:rPr lang="en-US" altLang="zh-CN" dirty="0"/>
              <a:t>Xiang Gao</a:t>
            </a:r>
          </a:p>
        </p:txBody>
      </p:sp>
      <p:sp>
        <p:nvSpPr>
          <p:cNvPr id="10" name="Slide Number Placeholder 9"/>
          <p:cNvSpPr>
            <a:spLocks noGrp="1"/>
          </p:cNvSpPr>
          <p:nvPr>
            <p:ph type="sldNum" sz="quarter" idx="12"/>
          </p:nvPr>
        </p:nvSpPr>
        <p:spPr/>
        <p:txBody>
          <a:bodyPr/>
          <a:lstStyle/>
          <a:p>
            <a:pPr>
              <a:defRPr/>
            </a:pPr>
            <a:fld id="{F7C8A414-E22E-4DF8-8FC5-FF8056582F45}" type="slidenum">
              <a:rPr lang="en-US" altLang="zh-CN" smtClean="0"/>
              <a:pPr>
                <a:defRPr/>
              </a:pPr>
              <a:t>8</a:t>
            </a:fld>
            <a:endParaRPr lang="en-US" altLang="zh-CN"/>
          </a:p>
        </p:txBody>
      </p:sp>
      <p:sp>
        <p:nvSpPr>
          <p:cNvPr id="14" name="TextBox 13">
            <a:extLst>
              <a:ext uri="{FF2B5EF4-FFF2-40B4-BE49-F238E27FC236}">
                <a16:creationId xmlns:a16="http://schemas.microsoft.com/office/drawing/2014/main" id="{8CE94B20-3EE8-52B3-1413-7C1A8E2DAF7F}"/>
              </a:ext>
            </a:extLst>
          </p:cNvPr>
          <p:cNvSpPr txBox="1"/>
          <p:nvPr/>
        </p:nvSpPr>
        <p:spPr>
          <a:xfrm>
            <a:off x="3985752" y="4149545"/>
            <a:ext cx="1295400" cy="1569660"/>
          </a:xfrm>
          <a:prstGeom prst="rect">
            <a:avLst/>
          </a:prstGeom>
          <a:noFill/>
          <a:ln>
            <a:solidFill>
              <a:schemeClr val="accent1">
                <a:shade val="50000"/>
              </a:schemeClr>
            </a:solidFill>
            <a:prstDash val="dash"/>
          </a:ln>
        </p:spPr>
        <p:txBody>
          <a:bodyPr wrap="square" rtlCol="0">
            <a:spAutoFit/>
          </a:bodyPr>
          <a:lstStyle/>
          <a:p>
            <a:pPr algn="ctr"/>
            <a:endParaRPr lang="en-US" sz="2400" dirty="0"/>
          </a:p>
          <a:p>
            <a:pPr algn="ctr"/>
            <a:r>
              <a:rPr lang="en-US" sz="2400" dirty="0">
                <a:solidFill>
                  <a:srgbClr val="FF0000"/>
                </a:solidFill>
              </a:rPr>
              <a:t>eat()</a:t>
            </a:r>
          </a:p>
          <a:p>
            <a:pPr algn="ctr"/>
            <a:endParaRPr lang="en-US" sz="2400" dirty="0"/>
          </a:p>
          <a:p>
            <a:pPr algn="ctr"/>
            <a:r>
              <a:rPr lang="en-US" sz="2400" dirty="0">
                <a:solidFill>
                  <a:srgbClr val="0070C0"/>
                </a:solidFill>
              </a:rPr>
              <a:t>sleep()</a:t>
            </a:r>
          </a:p>
        </p:txBody>
      </p:sp>
      <p:sp>
        <p:nvSpPr>
          <p:cNvPr id="2" name="Rounded Rectangle 1">
            <a:extLst>
              <a:ext uri="{FF2B5EF4-FFF2-40B4-BE49-F238E27FC236}">
                <a16:creationId xmlns:a16="http://schemas.microsoft.com/office/drawing/2014/main" id="{113277B8-D364-A6C0-136F-6AC54FFE6BA5}"/>
              </a:ext>
            </a:extLst>
          </p:cNvPr>
          <p:cNvSpPr/>
          <p:nvPr/>
        </p:nvSpPr>
        <p:spPr>
          <a:xfrm>
            <a:off x="4000500" y="3733800"/>
            <a:ext cx="1295400" cy="6096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Deer</a:t>
            </a:r>
          </a:p>
        </p:txBody>
      </p:sp>
      <p:sp>
        <p:nvSpPr>
          <p:cNvPr id="15" name="TextBox 14">
            <a:extLst>
              <a:ext uri="{FF2B5EF4-FFF2-40B4-BE49-F238E27FC236}">
                <a16:creationId xmlns:a16="http://schemas.microsoft.com/office/drawing/2014/main" id="{48605FB0-25A2-4CC1-DAC4-6759207F0DD5}"/>
              </a:ext>
            </a:extLst>
          </p:cNvPr>
          <p:cNvSpPr txBox="1"/>
          <p:nvPr/>
        </p:nvSpPr>
        <p:spPr>
          <a:xfrm>
            <a:off x="5624052" y="4149545"/>
            <a:ext cx="1295400" cy="1569660"/>
          </a:xfrm>
          <a:prstGeom prst="rect">
            <a:avLst/>
          </a:prstGeom>
          <a:noFill/>
          <a:ln>
            <a:solidFill>
              <a:schemeClr val="accent1">
                <a:shade val="50000"/>
              </a:schemeClr>
            </a:solidFill>
            <a:prstDash val="dash"/>
          </a:ln>
        </p:spPr>
        <p:txBody>
          <a:bodyPr wrap="square" rtlCol="0">
            <a:spAutoFit/>
          </a:bodyPr>
          <a:lstStyle/>
          <a:p>
            <a:pPr algn="ctr"/>
            <a:endParaRPr lang="en-US" sz="2400" dirty="0"/>
          </a:p>
          <a:p>
            <a:pPr algn="ctr"/>
            <a:r>
              <a:rPr lang="en-US" sz="2400" dirty="0">
                <a:solidFill>
                  <a:srgbClr val="00B050"/>
                </a:solidFill>
              </a:rPr>
              <a:t>eat()</a:t>
            </a:r>
          </a:p>
          <a:p>
            <a:pPr algn="ctr"/>
            <a:endParaRPr lang="en-US" sz="2400" dirty="0"/>
          </a:p>
          <a:p>
            <a:pPr algn="ctr"/>
            <a:r>
              <a:rPr lang="en-US" sz="2400" dirty="0">
                <a:solidFill>
                  <a:srgbClr val="0070C0"/>
                </a:solidFill>
              </a:rPr>
              <a:t>sleep()</a:t>
            </a:r>
          </a:p>
        </p:txBody>
      </p:sp>
      <p:sp>
        <p:nvSpPr>
          <p:cNvPr id="16" name="Rounded Rectangle 15">
            <a:extLst>
              <a:ext uri="{FF2B5EF4-FFF2-40B4-BE49-F238E27FC236}">
                <a16:creationId xmlns:a16="http://schemas.microsoft.com/office/drawing/2014/main" id="{BC831107-9FD6-D7A5-F9D8-9CF265478C5A}"/>
              </a:ext>
            </a:extLst>
          </p:cNvPr>
          <p:cNvSpPr/>
          <p:nvPr/>
        </p:nvSpPr>
        <p:spPr>
          <a:xfrm>
            <a:off x="5638800" y="3733800"/>
            <a:ext cx="1295400" cy="609600"/>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Lion</a:t>
            </a:r>
          </a:p>
        </p:txBody>
      </p:sp>
      <p:sp>
        <p:nvSpPr>
          <p:cNvPr id="17" name="TextBox 16">
            <a:extLst>
              <a:ext uri="{FF2B5EF4-FFF2-40B4-BE49-F238E27FC236}">
                <a16:creationId xmlns:a16="http://schemas.microsoft.com/office/drawing/2014/main" id="{F2CE7482-BB22-2AE0-63C4-70FF38B7CAD4}"/>
              </a:ext>
            </a:extLst>
          </p:cNvPr>
          <p:cNvSpPr txBox="1"/>
          <p:nvPr/>
        </p:nvSpPr>
        <p:spPr>
          <a:xfrm>
            <a:off x="7277100" y="4150672"/>
            <a:ext cx="1295400" cy="1569660"/>
          </a:xfrm>
          <a:prstGeom prst="rect">
            <a:avLst/>
          </a:prstGeom>
          <a:noFill/>
          <a:ln>
            <a:solidFill>
              <a:schemeClr val="accent1">
                <a:shade val="50000"/>
              </a:schemeClr>
            </a:solidFill>
            <a:prstDash val="dash"/>
          </a:ln>
        </p:spPr>
        <p:txBody>
          <a:bodyPr wrap="square" rtlCol="0">
            <a:spAutoFit/>
          </a:bodyPr>
          <a:lstStyle/>
          <a:p>
            <a:pPr algn="ctr"/>
            <a:endParaRPr lang="en-US" sz="2400" dirty="0"/>
          </a:p>
          <a:p>
            <a:pPr algn="ctr"/>
            <a:r>
              <a:rPr lang="en-US" sz="2400" dirty="0">
                <a:solidFill>
                  <a:srgbClr val="00B050"/>
                </a:solidFill>
              </a:rPr>
              <a:t>eat()</a:t>
            </a:r>
          </a:p>
          <a:p>
            <a:pPr algn="ctr"/>
            <a:r>
              <a:rPr lang="en-US" sz="2400" dirty="0">
                <a:solidFill>
                  <a:srgbClr val="0070C0"/>
                </a:solidFill>
              </a:rPr>
              <a:t>sleep()</a:t>
            </a:r>
          </a:p>
          <a:p>
            <a:pPr algn="ctr"/>
            <a:r>
              <a:rPr lang="en-US" sz="2400" dirty="0"/>
              <a:t>fly()</a:t>
            </a:r>
          </a:p>
        </p:txBody>
      </p:sp>
      <p:sp>
        <p:nvSpPr>
          <p:cNvPr id="18" name="Rounded Rectangle 17">
            <a:extLst>
              <a:ext uri="{FF2B5EF4-FFF2-40B4-BE49-F238E27FC236}">
                <a16:creationId xmlns:a16="http://schemas.microsoft.com/office/drawing/2014/main" id="{D710F8E8-B5CC-8F00-ED81-9149A32FDC28}"/>
              </a:ext>
            </a:extLst>
          </p:cNvPr>
          <p:cNvSpPr/>
          <p:nvPr/>
        </p:nvSpPr>
        <p:spPr>
          <a:xfrm>
            <a:off x="7291848" y="3734927"/>
            <a:ext cx="1295400" cy="609600"/>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Eagle</a:t>
            </a:r>
          </a:p>
        </p:txBody>
      </p:sp>
      <p:sp>
        <p:nvSpPr>
          <p:cNvPr id="19" name="TextBox 18">
            <a:extLst>
              <a:ext uri="{FF2B5EF4-FFF2-40B4-BE49-F238E27FC236}">
                <a16:creationId xmlns:a16="http://schemas.microsoft.com/office/drawing/2014/main" id="{CC2FD270-D4D4-CADA-668E-8F2CC576D84A}"/>
              </a:ext>
            </a:extLst>
          </p:cNvPr>
          <p:cNvSpPr txBox="1"/>
          <p:nvPr/>
        </p:nvSpPr>
        <p:spPr>
          <a:xfrm>
            <a:off x="5638800" y="1066800"/>
            <a:ext cx="1295400" cy="1569660"/>
          </a:xfrm>
          <a:prstGeom prst="rect">
            <a:avLst/>
          </a:prstGeom>
          <a:noFill/>
          <a:ln>
            <a:solidFill>
              <a:schemeClr val="accent1">
                <a:shade val="50000"/>
              </a:schemeClr>
            </a:solidFill>
            <a:prstDash val="dash"/>
          </a:ln>
        </p:spPr>
        <p:txBody>
          <a:bodyPr wrap="square" rtlCol="0">
            <a:spAutoFit/>
          </a:bodyPr>
          <a:lstStyle/>
          <a:p>
            <a:pPr algn="ctr"/>
            <a:endParaRPr lang="en-US" sz="2400" dirty="0"/>
          </a:p>
          <a:p>
            <a:pPr algn="ctr"/>
            <a:r>
              <a:rPr lang="en-US" sz="2400" dirty="0">
                <a:solidFill>
                  <a:srgbClr val="00B050"/>
                </a:solidFill>
              </a:rPr>
              <a:t>eat()</a:t>
            </a:r>
          </a:p>
          <a:p>
            <a:pPr algn="ctr"/>
            <a:r>
              <a:rPr lang="en-US" sz="2400" dirty="0">
                <a:solidFill>
                  <a:srgbClr val="0070C0"/>
                </a:solidFill>
              </a:rPr>
              <a:t>sleep()</a:t>
            </a:r>
          </a:p>
          <a:p>
            <a:pPr algn="ctr"/>
            <a:r>
              <a:rPr lang="en-US" sz="2400" dirty="0"/>
              <a:t>move()</a:t>
            </a:r>
          </a:p>
        </p:txBody>
      </p:sp>
      <p:sp>
        <p:nvSpPr>
          <p:cNvPr id="20" name="Rounded Rectangle 19">
            <a:extLst>
              <a:ext uri="{FF2B5EF4-FFF2-40B4-BE49-F238E27FC236}">
                <a16:creationId xmlns:a16="http://schemas.microsoft.com/office/drawing/2014/main" id="{168A0FB9-4A02-6B21-C0B1-5FCACA66D092}"/>
              </a:ext>
            </a:extLst>
          </p:cNvPr>
          <p:cNvSpPr/>
          <p:nvPr/>
        </p:nvSpPr>
        <p:spPr>
          <a:xfrm>
            <a:off x="5619136" y="833995"/>
            <a:ext cx="1295400" cy="6096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Animal</a:t>
            </a:r>
          </a:p>
        </p:txBody>
      </p:sp>
      <p:cxnSp>
        <p:nvCxnSpPr>
          <p:cNvPr id="22" name="Straight Arrow Connector 21">
            <a:extLst>
              <a:ext uri="{FF2B5EF4-FFF2-40B4-BE49-F238E27FC236}">
                <a16:creationId xmlns:a16="http://schemas.microsoft.com/office/drawing/2014/main" id="{169FC1D1-27B3-C9BA-F42A-026629C28B4B}"/>
              </a:ext>
            </a:extLst>
          </p:cNvPr>
          <p:cNvCxnSpPr>
            <a:stCxn id="2" idx="0"/>
            <a:endCxn id="19" idx="2"/>
          </p:cNvCxnSpPr>
          <p:nvPr/>
        </p:nvCxnSpPr>
        <p:spPr>
          <a:xfrm flipV="1">
            <a:off x="4648200" y="2636460"/>
            <a:ext cx="1638300" cy="109734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99CDA32-77B2-42CF-2B38-2C41F6EFC6DF}"/>
              </a:ext>
            </a:extLst>
          </p:cNvPr>
          <p:cNvCxnSpPr>
            <a:cxnSpLocks/>
            <a:stCxn id="18" idx="0"/>
            <a:endCxn id="19" idx="2"/>
          </p:cNvCxnSpPr>
          <p:nvPr/>
        </p:nvCxnSpPr>
        <p:spPr>
          <a:xfrm flipH="1" flipV="1">
            <a:off x="6286500" y="2636460"/>
            <a:ext cx="1653048" cy="109846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FD788BB-A87C-CDB6-E038-989F4C83E2A5}"/>
              </a:ext>
            </a:extLst>
          </p:cNvPr>
          <p:cNvCxnSpPr>
            <a:cxnSpLocks/>
            <a:stCxn id="16" idx="0"/>
            <a:endCxn id="19" idx="2"/>
          </p:cNvCxnSpPr>
          <p:nvPr/>
        </p:nvCxnSpPr>
        <p:spPr>
          <a:xfrm flipV="1">
            <a:off x="6286500" y="2636460"/>
            <a:ext cx="0" cy="109734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0135395"/>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ppt_y</p:attrName>
                                        </p:attrNameLst>
                                      </p:cBhvr>
                                      <p:tavLst>
                                        <p:tav tm="0">
                                          <p:val>
                                            <p:strVal val="#ppt_y+#ppt_h*1.125000"/>
                                          </p:val>
                                        </p:tav>
                                        <p:tav tm="100000">
                                          <p:val>
                                            <p:strVal val="#ppt_y"/>
                                          </p:val>
                                        </p:tav>
                                      </p:tavLst>
                                    </p:anim>
                                    <p:animEffect transition="in" filter="wipe(up)">
                                      <p:cBhvr>
                                        <p:cTn id="8" dur="500"/>
                                        <p:tgtEl>
                                          <p:spTgt spid="26"/>
                                        </p:tgtEl>
                                      </p:cBhvr>
                                    </p:animEffect>
                                  </p:childTnLst>
                                </p:cTn>
                              </p:par>
                              <p:par>
                                <p:cTn id="9" presetID="12" presetClass="entr" presetSubtype="4"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p:tgtEl>
                                          <p:spTgt spid="22"/>
                                        </p:tgtEl>
                                        <p:attrNameLst>
                                          <p:attrName>ppt_y</p:attrName>
                                        </p:attrNameLst>
                                      </p:cBhvr>
                                      <p:tavLst>
                                        <p:tav tm="0">
                                          <p:val>
                                            <p:strVal val="#ppt_y+#ppt_h*1.125000"/>
                                          </p:val>
                                        </p:tav>
                                        <p:tav tm="100000">
                                          <p:val>
                                            <p:strVal val="#ppt_y"/>
                                          </p:val>
                                        </p:tav>
                                      </p:tavLst>
                                    </p:anim>
                                    <p:animEffect transition="in" filter="wipe(up)">
                                      <p:cBhvr>
                                        <p:cTn id="12" dur="500"/>
                                        <p:tgtEl>
                                          <p:spTgt spid="22"/>
                                        </p:tgtEl>
                                      </p:cBhvr>
                                    </p:animEffect>
                                  </p:childTnLst>
                                </p:cTn>
                              </p:par>
                              <p:par>
                                <p:cTn id="13" presetID="12" presetClass="entr" presetSubtype="4"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ppt_y</p:attrName>
                                        </p:attrNameLst>
                                      </p:cBhvr>
                                      <p:tavLst>
                                        <p:tav tm="0">
                                          <p:val>
                                            <p:strVal val="#ppt_y+#ppt_h*1.125000"/>
                                          </p:val>
                                        </p:tav>
                                        <p:tav tm="100000">
                                          <p:val>
                                            <p:strVal val="#ppt_y"/>
                                          </p:val>
                                        </p:tav>
                                      </p:tavLst>
                                    </p:anim>
                                    <p:animEffect transition="in" filter="wipe(up)">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p:tgtEl>
                                          <p:spTgt spid="19"/>
                                        </p:tgtEl>
                                        <p:attrNameLst>
                                          <p:attrName>ppt_y</p:attrName>
                                        </p:attrNameLst>
                                      </p:cBhvr>
                                      <p:tavLst>
                                        <p:tav tm="0">
                                          <p:val>
                                            <p:strVal val="#ppt_y+#ppt_h*1.125000"/>
                                          </p:val>
                                        </p:tav>
                                        <p:tav tm="100000">
                                          <p:val>
                                            <p:strVal val="#ppt_y"/>
                                          </p:val>
                                        </p:tav>
                                      </p:tavLst>
                                    </p:anim>
                                    <p:animEffect transition="in" filter="wipe(up)">
                                      <p:cBhvr>
                                        <p:cTn id="22" dur="500"/>
                                        <p:tgtEl>
                                          <p:spTgt spid="19"/>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p:tgtEl>
                                          <p:spTgt spid="20"/>
                                        </p:tgtEl>
                                        <p:attrNameLst>
                                          <p:attrName>ppt_y</p:attrName>
                                        </p:attrNameLst>
                                      </p:cBhvr>
                                      <p:tavLst>
                                        <p:tav tm="0">
                                          <p:val>
                                            <p:strVal val="#ppt_y+#ppt_h*1.125000"/>
                                          </p:val>
                                        </p:tav>
                                        <p:tav tm="100000">
                                          <p:val>
                                            <p:strVal val="#ppt_y"/>
                                          </p:val>
                                        </p:tav>
                                      </p:tavLst>
                                    </p:anim>
                                    <p:animEffect transition="in" filter="wipe(up)">
                                      <p:cBhvr>
                                        <p:cTn id="2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用继承解决上述问题</a:t>
            </a:r>
          </a:p>
        </p:txBody>
      </p:sp>
      <p:sp>
        <p:nvSpPr>
          <p:cNvPr id="7" name="Date Placeholder 6"/>
          <p:cNvSpPr>
            <a:spLocks noGrp="1"/>
          </p:cNvSpPr>
          <p:nvPr>
            <p:ph type="dt" sz="half" idx="10"/>
          </p:nvPr>
        </p:nvSpPr>
        <p:spPr/>
        <p:txBody>
          <a:bodyPr/>
          <a:lstStyle/>
          <a:p>
            <a:pPr>
              <a:defRPr/>
            </a:pPr>
            <a:fld id="{86A2AEB2-A2EA-4C24-AFB1-E84E3046A683}" type="datetime1">
              <a:rPr lang="zh-CN" altLang="en-US" smtClean="0"/>
              <a:t>2024/10/17</a:t>
            </a:fld>
            <a:endParaRPr lang="en-US" altLang="zh-CN"/>
          </a:p>
        </p:txBody>
      </p:sp>
      <p:sp>
        <p:nvSpPr>
          <p:cNvPr id="8" name="Footer Placeholder 7"/>
          <p:cNvSpPr>
            <a:spLocks noGrp="1"/>
          </p:cNvSpPr>
          <p:nvPr>
            <p:ph type="ftr" sz="quarter" idx="11"/>
          </p:nvPr>
        </p:nvSpPr>
        <p:spPr/>
        <p:txBody>
          <a:bodyPr/>
          <a:lstStyle/>
          <a:p>
            <a:pPr>
              <a:defRPr/>
            </a:pPr>
            <a:r>
              <a:rPr lang="en-US" altLang="zh-CN" dirty="0"/>
              <a:t>Xiang Gao</a:t>
            </a:r>
          </a:p>
        </p:txBody>
      </p:sp>
      <p:sp>
        <p:nvSpPr>
          <p:cNvPr id="9" name="Slide Number Placeholder 8"/>
          <p:cNvSpPr>
            <a:spLocks noGrp="1"/>
          </p:cNvSpPr>
          <p:nvPr>
            <p:ph type="sldNum" sz="quarter" idx="12"/>
          </p:nvPr>
        </p:nvSpPr>
        <p:spPr/>
        <p:txBody>
          <a:bodyPr/>
          <a:lstStyle/>
          <a:p>
            <a:pPr>
              <a:defRPr/>
            </a:pPr>
            <a:fld id="{F7C8A414-E22E-4DF8-8FC5-FF8056582F45}" type="slidenum">
              <a:rPr lang="en-US" altLang="zh-CN" smtClean="0"/>
              <a:pPr>
                <a:defRPr/>
              </a:pPr>
              <a:t>9</a:t>
            </a:fld>
            <a:endParaRPr lang="en-US" altLang="zh-CN"/>
          </a:p>
        </p:txBody>
      </p:sp>
      <p:pic>
        <p:nvPicPr>
          <p:cNvPr id="12" name="Picture 11">
            <a:extLst>
              <a:ext uri="{FF2B5EF4-FFF2-40B4-BE49-F238E27FC236}">
                <a16:creationId xmlns:a16="http://schemas.microsoft.com/office/drawing/2014/main" id="{EFDC591F-7BE6-EAA2-67B8-993151410734}"/>
              </a:ext>
            </a:extLst>
          </p:cNvPr>
          <p:cNvPicPr>
            <a:picLocks noChangeAspect="1"/>
          </p:cNvPicPr>
          <p:nvPr/>
        </p:nvPicPr>
        <p:blipFill>
          <a:blip r:embed="rId3"/>
          <a:stretch>
            <a:fillRect/>
          </a:stretch>
        </p:blipFill>
        <p:spPr>
          <a:xfrm>
            <a:off x="304800" y="990600"/>
            <a:ext cx="5372100" cy="4876800"/>
          </a:xfrm>
          <a:prstGeom prst="rect">
            <a:avLst/>
          </a:prstGeom>
        </p:spPr>
      </p:pic>
      <p:pic>
        <p:nvPicPr>
          <p:cNvPr id="13" name="Picture 12">
            <a:extLst>
              <a:ext uri="{FF2B5EF4-FFF2-40B4-BE49-F238E27FC236}">
                <a16:creationId xmlns:a16="http://schemas.microsoft.com/office/drawing/2014/main" id="{EB4E051D-039F-B5F7-58A7-76283940B6BD}"/>
              </a:ext>
            </a:extLst>
          </p:cNvPr>
          <p:cNvPicPr>
            <a:picLocks noChangeAspect="1"/>
          </p:cNvPicPr>
          <p:nvPr/>
        </p:nvPicPr>
        <p:blipFill>
          <a:blip r:embed="rId4"/>
          <a:stretch>
            <a:fillRect/>
          </a:stretch>
        </p:blipFill>
        <p:spPr>
          <a:xfrm>
            <a:off x="2990850" y="3625850"/>
            <a:ext cx="5715000" cy="2730500"/>
          </a:xfrm>
          <a:prstGeom prst="rect">
            <a:avLst/>
          </a:prstGeom>
          <a:ln>
            <a:solidFill>
              <a:schemeClr val="accent1">
                <a:shade val="50000"/>
              </a:schemeClr>
            </a:solidFill>
          </a:ln>
        </p:spPr>
      </p:pic>
      <p:sp>
        <p:nvSpPr>
          <p:cNvPr id="14" name="TextBox 13">
            <a:extLst>
              <a:ext uri="{FF2B5EF4-FFF2-40B4-BE49-F238E27FC236}">
                <a16:creationId xmlns:a16="http://schemas.microsoft.com/office/drawing/2014/main" id="{9BDF3D1C-E59F-8CE6-F6DE-1F60B7072034}"/>
              </a:ext>
            </a:extLst>
          </p:cNvPr>
          <p:cNvSpPr txBox="1"/>
          <p:nvPr/>
        </p:nvSpPr>
        <p:spPr>
          <a:xfrm>
            <a:off x="5676900" y="1306493"/>
            <a:ext cx="3345788" cy="954107"/>
          </a:xfrm>
          <a:prstGeom prst="rect">
            <a:avLst/>
          </a:prstGeom>
          <a:noFill/>
        </p:spPr>
        <p:txBody>
          <a:bodyPr wrap="none" rtlCol="0">
            <a:spAutoFit/>
          </a:bodyPr>
          <a:lstStyle/>
          <a:p>
            <a:pPr marL="285750" indent="-285750">
              <a:buFont typeface="Arial" panose="020B0604020202020204" pitchFamily="34" charset="0"/>
              <a:buChar char="•"/>
            </a:pPr>
            <a:r>
              <a:rPr lang="zh-CN" altLang="en-US" sz="2800" dirty="0">
                <a:ea typeface="楷体" panose="02010609060101010101" pitchFamily="49" charset="-122"/>
              </a:rPr>
              <a:t>减少代码重复</a:t>
            </a:r>
            <a:endParaRPr lang="en-SG" altLang="zh-CN" sz="2800" dirty="0">
              <a:ea typeface="楷体" panose="02010609060101010101" pitchFamily="49" charset="-122"/>
            </a:endParaRPr>
          </a:p>
          <a:p>
            <a:pPr marL="285750" indent="-285750">
              <a:buFont typeface="Arial" panose="020B0604020202020204" pitchFamily="34" charset="0"/>
              <a:buChar char="•"/>
            </a:pPr>
            <a:r>
              <a:rPr lang="zh-CN" altLang="en-US" sz="2800" dirty="0">
                <a:ea typeface="楷体" panose="02010609060101010101" pitchFamily="49" charset="-122"/>
              </a:rPr>
              <a:t>增强代码可维护性</a:t>
            </a:r>
            <a:endParaRPr lang="en-US" sz="2800" dirty="0"/>
          </a:p>
        </p:txBody>
      </p:sp>
    </p:spTree>
    <p:extLst>
      <p:ext uri="{BB962C8B-B14F-4D97-AF65-F5344CB8AC3E}">
        <p14:creationId xmlns:p14="http://schemas.microsoft.com/office/powerpoint/2010/main" val="1622267136"/>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p:tgtEl>
                                          <p:spTgt spid="13"/>
                                        </p:tgtEl>
                                        <p:attrNameLst>
                                          <p:attrName>ppt_y</p:attrName>
                                        </p:attrNameLst>
                                      </p:cBhvr>
                                      <p:tavLst>
                                        <p:tav tm="0">
                                          <p:val>
                                            <p:strVal val="#ppt_y+#ppt_h*1.125000"/>
                                          </p:val>
                                        </p:tav>
                                        <p:tav tm="100000">
                                          <p:val>
                                            <p:strVal val="#ppt_y"/>
                                          </p:val>
                                        </p:tav>
                                      </p:tavLst>
                                    </p:anim>
                                    <p:animEffect transition="in" filter="wipe(up)">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p:tgtEl>
                                          <p:spTgt spid="14"/>
                                        </p:tgtEl>
                                        <p:attrNameLst>
                                          <p:attrName>ppt_y</p:attrName>
                                        </p:attrNameLst>
                                      </p:cBhvr>
                                      <p:tavLst>
                                        <p:tav tm="0">
                                          <p:val>
                                            <p:strVal val="#ppt_y+#ppt_h*1.125000"/>
                                          </p:val>
                                        </p:tav>
                                        <p:tav tm="100000">
                                          <p:val>
                                            <p:strVal val="#ppt_y"/>
                                          </p:val>
                                        </p:tav>
                                      </p:tavLst>
                                    </p:anim>
                                    <p:animEffect transition="in" filter="wipe(up)">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为什么使用继承？</a:t>
            </a:r>
          </a:p>
        </p:txBody>
      </p:sp>
      <p:sp>
        <p:nvSpPr>
          <p:cNvPr id="4" name="Date Placeholder 3"/>
          <p:cNvSpPr>
            <a:spLocks noGrp="1"/>
          </p:cNvSpPr>
          <p:nvPr>
            <p:ph type="dt" sz="half" idx="10"/>
          </p:nvPr>
        </p:nvSpPr>
        <p:spPr>
          <a:xfrm>
            <a:off x="-1219200" y="6172200"/>
            <a:ext cx="2133600" cy="365125"/>
          </a:xfrm>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10</a:t>
            </a:fld>
            <a:endParaRPr lang="en-US" altLang="zh-CN"/>
          </a:p>
        </p:txBody>
      </p:sp>
      <p:sp>
        <p:nvSpPr>
          <p:cNvPr id="7" name="Line 2"/>
          <p:cNvSpPr>
            <a:spLocks noChangeShapeType="1"/>
          </p:cNvSpPr>
          <p:nvPr/>
        </p:nvSpPr>
        <p:spPr bwMode="auto">
          <a:xfrm>
            <a:off x="4320381" y="1870075"/>
            <a:ext cx="0" cy="7207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8" name="Line 3"/>
          <p:cNvSpPr>
            <a:spLocks noChangeShapeType="1"/>
          </p:cNvSpPr>
          <p:nvPr/>
        </p:nvSpPr>
        <p:spPr bwMode="auto">
          <a:xfrm>
            <a:off x="1296194" y="2590800"/>
            <a:ext cx="64087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9" name="Line 4"/>
          <p:cNvSpPr>
            <a:spLocks noChangeShapeType="1"/>
          </p:cNvSpPr>
          <p:nvPr/>
        </p:nvSpPr>
        <p:spPr bwMode="auto">
          <a:xfrm>
            <a:off x="1296194" y="2590800"/>
            <a:ext cx="0" cy="93662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10" name="Line 5"/>
          <p:cNvSpPr>
            <a:spLocks noChangeShapeType="1"/>
          </p:cNvSpPr>
          <p:nvPr/>
        </p:nvSpPr>
        <p:spPr bwMode="auto">
          <a:xfrm>
            <a:off x="7704931" y="2590800"/>
            <a:ext cx="0" cy="79216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11" name="Line 6"/>
          <p:cNvSpPr>
            <a:spLocks noChangeShapeType="1"/>
          </p:cNvSpPr>
          <p:nvPr/>
        </p:nvSpPr>
        <p:spPr bwMode="auto">
          <a:xfrm>
            <a:off x="3528219" y="2590800"/>
            <a:ext cx="0" cy="21605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12" name="Line 7"/>
          <p:cNvSpPr>
            <a:spLocks noChangeShapeType="1"/>
          </p:cNvSpPr>
          <p:nvPr/>
        </p:nvSpPr>
        <p:spPr bwMode="auto">
          <a:xfrm>
            <a:off x="5277644" y="2590800"/>
            <a:ext cx="0" cy="21605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grpSp>
        <p:nvGrpSpPr>
          <p:cNvPr id="13" name="Group 12"/>
          <p:cNvGrpSpPr>
            <a:grpSpLocks/>
          </p:cNvGrpSpPr>
          <p:nvPr/>
        </p:nvGrpSpPr>
        <p:grpSpPr bwMode="auto">
          <a:xfrm>
            <a:off x="2951956" y="1222375"/>
            <a:ext cx="2909888" cy="649288"/>
            <a:chOff x="4150" y="1117"/>
            <a:chExt cx="1270" cy="409"/>
          </a:xfrm>
        </p:grpSpPr>
        <p:sp>
          <p:nvSpPr>
            <p:cNvPr id="26" name="Rectangle 25"/>
            <p:cNvSpPr>
              <a:spLocks noChangeArrowheads="1"/>
            </p:cNvSpPr>
            <p:nvPr/>
          </p:nvSpPr>
          <p:spPr bwMode="auto">
            <a:xfrm>
              <a:off x="4150" y="1117"/>
              <a:ext cx="1270" cy="409"/>
            </a:xfrm>
            <a:prstGeom prst="rect">
              <a:avLst/>
            </a:prstGeom>
            <a:gradFill rotWithShape="1">
              <a:gsLst>
                <a:gs pos="0">
                  <a:srgbClr val="6699FF"/>
                </a:gs>
                <a:gs pos="100000">
                  <a:schemeClr val="accent2"/>
                </a:gs>
              </a:gsLst>
              <a:path path="rect">
                <a:fillToRect l="100000" b="100000"/>
              </a:path>
            </a:gradFill>
            <a:ln w="9525" algn="ctr">
              <a:solidFill>
                <a:schemeClr val="tx1"/>
              </a:solidFill>
              <a:miter lim="800000"/>
              <a:headEnd/>
              <a:tailEnd/>
            </a:ln>
            <a:effectLst>
              <a:prstShdw prst="shdw13" dist="109250" dir="19467739">
                <a:schemeClr val="bg2">
                  <a:alpha val="50000"/>
                </a:schemeClr>
              </a:prstShdw>
            </a:effectLst>
          </p:spPr>
          <p:txBody>
            <a:bodyPr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27" name="Text Box 10"/>
            <p:cNvSpPr txBox="1">
              <a:spLocks noChangeArrowheads="1"/>
            </p:cNvSpPr>
            <p:nvPr/>
          </p:nvSpPr>
          <p:spPr bwMode="auto">
            <a:xfrm>
              <a:off x="4377" y="1169"/>
              <a:ext cx="862" cy="300"/>
            </a:xfrm>
            <a:prstGeom prst="rect">
              <a:avLst/>
            </a:prstGeom>
            <a:noFill/>
            <a:ln>
              <a:noFill/>
            </a:ln>
            <a:effectLst>
              <a:outerShdw dist="40161" dir="1106097"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lnSpc>
                  <a:spcPct val="90000"/>
                </a:lnSpc>
                <a:spcBef>
                  <a:spcPct val="50000"/>
                </a:spcBef>
                <a:buClr>
                  <a:srgbClr val="339966"/>
                </a:buClr>
                <a:buFont typeface="Wingdings" pitchFamily="2" charset="2"/>
                <a:buNone/>
              </a:pPr>
              <a:r>
                <a:rPr lang="zh-CN" altLang="en-US" sz="2800" dirty="0">
                  <a:solidFill>
                    <a:schemeClr val="bg1"/>
                  </a:solidFill>
                  <a:ea typeface="楷体" panose="02010609060101010101" pitchFamily="49" charset="-122"/>
                </a:rPr>
                <a:t>继承的优点</a:t>
              </a:r>
            </a:p>
          </p:txBody>
        </p:sp>
      </p:grpSp>
      <p:grpSp>
        <p:nvGrpSpPr>
          <p:cNvPr id="14" name="Group 13"/>
          <p:cNvGrpSpPr>
            <a:grpSpLocks/>
          </p:cNvGrpSpPr>
          <p:nvPr/>
        </p:nvGrpSpPr>
        <p:grpSpPr bwMode="auto">
          <a:xfrm>
            <a:off x="575469" y="3527425"/>
            <a:ext cx="2736850" cy="719138"/>
            <a:chOff x="930" y="1888"/>
            <a:chExt cx="1860" cy="512"/>
          </a:xfrm>
        </p:grpSpPr>
        <p:sp>
          <p:nvSpPr>
            <p:cNvPr id="24" name="Rectangle 23"/>
            <p:cNvSpPr>
              <a:spLocks noChangeArrowheads="1"/>
            </p:cNvSpPr>
            <p:nvPr/>
          </p:nvSpPr>
          <p:spPr bwMode="auto">
            <a:xfrm>
              <a:off x="930" y="1888"/>
              <a:ext cx="1860" cy="512"/>
            </a:xfrm>
            <a:prstGeom prst="rect">
              <a:avLst/>
            </a:prstGeom>
            <a:gradFill rotWithShape="1">
              <a:gsLst>
                <a:gs pos="0">
                  <a:srgbClr val="99CCFF"/>
                </a:gs>
                <a:gs pos="100000">
                  <a:srgbClr val="FFFFFF"/>
                </a:gs>
              </a:gsLst>
              <a:lin ang="5400000" scaled="1"/>
            </a:gradFill>
            <a:ln w="12700">
              <a:solidFill>
                <a:schemeClr val="tx1"/>
              </a:solidFill>
              <a:miter lim="800000"/>
              <a:headEnd/>
              <a:tailEnd/>
            </a:ln>
            <a:effectLst>
              <a:outerShdw dist="81320" dir="3080412" algn="ctr" rotWithShape="0">
                <a:srgbClr val="808080">
                  <a:alpha val="50000"/>
                </a:srgbClr>
              </a:outerShdw>
            </a:effectLst>
          </p:spPr>
          <p:txBody>
            <a:bodyPr wrap="none"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25" name="Text Box 13"/>
            <p:cNvSpPr txBox="1">
              <a:spLocks noChangeArrowheads="1"/>
            </p:cNvSpPr>
            <p:nvPr/>
          </p:nvSpPr>
          <p:spPr bwMode="auto">
            <a:xfrm>
              <a:off x="1047" y="1926"/>
              <a:ext cx="1626"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spcBef>
                  <a:spcPct val="50000"/>
                </a:spcBef>
              </a:pPr>
              <a:r>
                <a:rPr lang="zh-CN" altLang="en-US" sz="2400" dirty="0">
                  <a:ea typeface="楷体" panose="02010609060101010101" pitchFamily="49" charset="-122"/>
                </a:rPr>
                <a:t>代码的可重用性</a:t>
              </a:r>
            </a:p>
          </p:txBody>
        </p:sp>
      </p:grpSp>
      <p:grpSp>
        <p:nvGrpSpPr>
          <p:cNvPr id="15" name="Group 14"/>
          <p:cNvGrpSpPr>
            <a:grpSpLocks/>
          </p:cNvGrpSpPr>
          <p:nvPr/>
        </p:nvGrpSpPr>
        <p:grpSpPr bwMode="auto">
          <a:xfrm>
            <a:off x="1727994" y="4751388"/>
            <a:ext cx="2736850" cy="884237"/>
            <a:chOff x="476" y="3236"/>
            <a:chExt cx="1724" cy="557"/>
          </a:xfrm>
        </p:grpSpPr>
        <p:sp>
          <p:nvSpPr>
            <p:cNvPr id="22" name="Rectangle 21"/>
            <p:cNvSpPr>
              <a:spLocks noChangeArrowheads="1"/>
            </p:cNvSpPr>
            <p:nvPr/>
          </p:nvSpPr>
          <p:spPr bwMode="auto">
            <a:xfrm>
              <a:off x="476" y="3236"/>
              <a:ext cx="1724" cy="557"/>
            </a:xfrm>
            <a:prstGeom prst="rect">
              <a:avLst/>
            </a:prstGeom>
            <a:gradFill rotWithShape="1">
              <a:gsLst>
                <a:gs pos="0">
                  <a:srgbClr val="99CCFF"/>
                </a:gs>
                <a:gs pos="100000">
                  <a:srgbClr val="FFFFFF"/>
                </a:gs>
              </a:gsLst>
              <a:lin ang="5400000" scaled="1"/>
            </a:gradFill>
            <a:ln w="12700">
              <a:solidFill>
                <a:schemeClr val="tx1"/>
              </a:solidFill>
              <a:miter lim="800000"/>
              <a:headEnd/>
              <a:tailEnd/>
            </a:ln>
            <a:effectLst>
              <a:outerShdw dist="81320" dir="3080412" algn="ctr" rotWithShape="0">
                <a:srgbClr val="808080">
                  <a:alpha val="50000"/>
                </a:srgbClr>
              </a:outerShdw>
            </a:effectLst>
          </p:spPr>
          <p:txBody>
            <a:bodyPr wrap="none"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23" name="Text Box 16"/>
            <p:cNvSpPr txBox="1">
              <a:spLocks noChangeArrowheads="1"/>
            </p:cNvSpPr>
            <p:nvPr/>
          </p:nvSpPr>
          <p:spPr bwMode="auto">
            <a:xfrm>
              <a:off x="584" y="3249"/>
              <a:ext cx="1508"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spcBef>
                  <a:spcPct val="15000"/>
                </a:spcBef>
              </a:pPr>
              <a:r>
                <a:rPr lang="zh-CN" altLang="en-US" sz="2400" dirty="0">
                  <a:ea typeface="楷体" panose="02010609060101010101" pitchFamily="49" charset="-122"/>
                </a:rPr>
                <a:t>父类的属性和方法可用于子类</a:t>
              </a:r>
            </a:p>
          </p:txBody>
        </p:sp>
      </p:grpSp>
      <p:grpSp>
        <p:nvGrpSpPr>
          <p:cNvPr id="16" name="Group 15"/>
          <p:cNvGrpSpPr>
            <a:grpSpLocks/>
          </p:cNvGrpSpPr>
          <p:nvPr/>
        </p:nvGrpSpPr>
        <p:grpSpPr bwMode="auto">
          <a:xfrm>
            <a:off x="5041106" y="4751388"/>
            <a:ext cx="2952750" cy="884237"/>
            <a:chOff x="476" y="3236"/>
            <a:chExt cx="1724" cy="557"/>
          </a:xfrm>
        </p:grpSpPr>
        <p:sp>
          <p:nvSpPr>
            <p:cNvPr id="20" name="Rectangle 19"/>
            <p:cNvSpPr>
              <a:spLocks noChangeArrowheads="1"/>
            </p:cNvSpPr>
            <p:nvPr/>
          </p:nvSpPr>
          <p:spPr bwMode="auto">
            <a:xfrm>
              <a:off x="476" y="3236"/>
              <a:ext cx="1724" cy="557"/>
            </a:xfrm>
            <a:prstGeom prst="rect">
              <a:avLst/>
            </a:prstGeom>
            <a:gradFill rotWithShape="1">
              <a:gsLst>
                <a:gs pos="0">
                  <a:srgbClr val="99CCFF"/>
                </a:gs>
                <a:gs pos="100000">
                  <a:srgbClr val="FFFFFF"/>
                </a:gs>
              </a:gsLst>
              <a:lin ang="5400000" scaled="1"/>
            </a:gradFill>
            <a:ln w="12700">
              <a:solidFill>
                <a:schemeClr val="tx1"/>
              </a:solidFill>
              <a:miter lim="800000"/>
              <a:headEnd/>
              <a:tailEnd/>
            </a:ln>
            <a:effectLst>
              <a:outerShdw dist="81320" dir="3080412" algn="ctr" rotWithShape="0">
                <a:srgbClr val="808080">
                  <a:alpha val="50000"/>
                </a:srgbClr>
              </a:outerShdw>
            </a:effectLst>
          </p:spPr>
          <p:txBody>
            <a:bodyPr wrap="none"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21" name="Text Box 19"/>
            <p:cNvSpPr txBox="1">
              <a:spLocks noChangeArrowheads="1"/>
            </p:cNvSpPr>
            <p:nvPr/>
          </p:nvSpPr>
          <p:spPr bwMode="auto">
            <a:xfrm>
              <a:off x="584" y="3249"/>
              <a:ext cx="1508"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spcBef>
                  <a:spcPct val="15000"/>
                </a:spcBef>
              </a:pPr>
              <a:r>
                <a:rPr lang="zh-CN" altLang="en-US" sz="2400" dirty="0">
                  <a:ea typeface="楷体" panose="02010609060101010101" pitchFamily="49" charset="-122"/>
                </a:rPr>
                <a:t>设计应用程序变得更加简单</a:t>
              </a:r>
            </a:p>
          </p:txBody>
        </p:sp>
      </p:grpSp>
      <p:grpSp>
        <p:nvGrpSpPr>
          <p:cNvPr id="17" name="Group 16"/>
          <p:cNvGrpSpPr>
            <a:grpSpLocks/>
          </p:cNvGrpSpPr>
          <p:nvPr/>
        </p:nvGrpSpPr>
        <p:grpSpPr bwMode="auto">
          <a:xfrm>
            <a:off x="5544344" y="3382963"/>
            <a:ext cx="3024187" cy="863600"/>
            <a:chOff x="476" y="3236"/>
            <a:chExt cx="1724" cy="557"/>
          </a:xfrm>
        </p:grpSpPr>
        <p:sp>
          <p:nvSpPr>
            <p:cNvPr id="18" name="Rectangle 17"/>
            <p:cNvSpPr>
              <a:spLocks noChangeArrowheads="1"/>
            </p:cNvSpPr>
            <p:nvPr/>
          </p:nvSpPr>
          <p:spPr bwMode="auto">
            <a:xfrm>
              <a:off x="476" y="3236"/>
              <a:ext cx="1724" cy="557"/>
            </a:xfrm>
            <a:prstGeom prst="rect">
              <a:avLst/>
            </a:prstGeom>
            <a:gradFill rotWithShape="1">
              <a:gsLst>
                <a:gs pos="0">
                  <a:srgbClr val="99CCFF"/>
                </a:gs>
                <a:gs pos="100000">
                  <a:srgbClr val="FFFFFF"/>
                </a:gs>
              </a:gsLst>
              <a:lin ang="5400000" scaled="1"/>
            </a:gradFill>
            <a:ln w="12700">
              <a:solidFill>
                <a:schemeClr val="tx1"/>
              </a:solidFill>
              <a:miter lim="800000"/>
              <a:headEnd/>
              <a:tailEnd/>
            </a:ln>
            <a:effectLst>
              <a:outerShdw dist="81320" dir="3080412" algn="ctr" rotWithShape="0">
                <a:srgbClr val="808080">
                  <a:alpha val="50000"/>
                </a:srgbClr>
              </a:outerShdw>
            </a:effectLst>
          </p:spPr>
          <p:txBody>
            <a:bodyPr wrap="none"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endParaRPr lang="zh-CN" altLang="en-US" dirty="0">
                <a:ea typeface="楷体" panose="02010609060101010101" pitchFamily="49" charset="-122"/>
              </a:endParaRPr>
            </a:p>
          </p:txBody>
        </p:sp>
        <p:sp>
          <p:nvSpPr>
            <p:cNvPr id="19" name="Text Box 22"/>
            <p:cNvSpPr txBox="1">
              <a:spLocks noChangeArrowheads="1"/>
            </p:cNvSpPr>
            <p:nvPr/>
          </p:nvSpPr>
          <p:spPr bwMode="auto">
            <a:xfrm>
              <a:off x="584" y="3249"/>
              <a:ext cx="1508" cy="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spcBef>
                  <a:spcPct val="50000"/>
                </a:spcBef>
              </a:pPr>
              <a:r>
                <a:rPr lang="zh-CN" altLang="en-US" sz="2400" dirty="0">
                  <a:ea typeface="楷体" panose="02010609060101010101" pitchFamily="49" charset="-122"/>
                </a:rPr>
                <a:t>可以轻松地自定义子类</a:t>
              </a:r>
            </a:p>
          </p:txBody>
        </p:sp>
      </p:grpSp>
    </p:spTree>
    <p:extLst>
      <p:ext uri="{BB962C8B-B14F-4D97-AF65-F5344CB8AC3E}">
        <p14:creationId xmlns:p14="http://schemas.microsoft.com/office/powerpoint/2010/main" val="1285055405"/>
      </p:ext>
    </p:extLst>
  </p:cSld>
  <p:clrMapOvr>
    <a:masterClrMapping/>
  </p:clrMapOvr>
  <p:transition spd="med">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382000" cy="5263480"/>
          </a:xfrm>
        </p:spPr>
        <p:txBody>
          <a:bodyPr>
            <a:normAutofit fontScale="55000" lnSpcReduction="20000"/>
          </a:bodyPr>
          <a:lstStyle/>
          <a:p>
            <a:r>
              <a:rPr lang="zh-CN" altLang="en-US" sz="4400" dirty="0">
                <a:latin typeface="KaiTi" panose="02010609060101010101" pitchFamily="49" charset="-122"/>
                <a:ea typeface="KaiTi" panose="02010609060101010101" pitchFamily="49" charset="-122"/>
              </a:rPr>
              <a:t>继承的必要性</a:t>
            </a:r>
            <a:endParaRPr lang="en-US" altLang="zh-CN" sz="4400" dirty="0">
              <a:latin typeface="KaiTi" panose="02010609060101010101" pitchFamily="49" charset="-122"/>
              <a:ea typeface="KaiTi" panose="02010609060101010101" pitchFamily="49" charset="-122"/>
            </a:endParaRPr>
          </a:p>
          <a:p>
            <a:r>
              <a:rPr lang="zh-CN" altLang="en-US" sz="4400" dirty="0">
                <a:solidFill>
                  <a:srgbClr val="FF0000"/>
                </a:solidFill>
                <a:latin typeface="KaiTi" panose="02010609060101010101" pitchFamily="49" charset="-122"/>
                <a:ea typeface="KaiTi" panose="02010609060101010101" pitchFamily="49" charset="-122"/>
              </a:rPr>
              <a:t>深入理解继承</a:t>
            </a:r>
            <a:endParaRPr lang="en-US" altLang="zh-CN" sz="4400" dirty="0">
              <a:solidFill>
                <a:srgbClr val="FF0000"/>
              </a:solidFill>
              <a:latin typeface="KaiTi" panose="02010609060101010101" pitchFamily="49" charset="-122"/>
              <a:ea typeface="KaiTi" panose="02010609060101010101" pitchFamily="49" charset="-122"/>
            </a:endParaRPr>
          </a:p>
          <a:p>
            <a:pPr lvl="1"/>
            <a:r>
              <a:rPr lang="zh-CN" altLang="en-US" sz="4400" dirty="0">
                <a:solidFill>
                  <a:srgbClr val="FF0000"/>
                </a:solidFill>
                <a:latin typeface="KaiTi" panose="02010609060101010101" pitchFamily="49" charset="-122"/>
                <a:ea typeface="KaiTi" panose="02010609060101010101" pitchFamily="49" charset="-122"/>
              </a:rPr>
              <a:t>基类与派生类的关系</a:t>
            </a:r>
            <a:endParaRPr lang="en-US" altLang="zh-CN" sz="4400" dirty="0">
              <a:solidFill>
                <a:srgbClr val="FF0000"/>
              </a:solidFill>
              <a:latin typeface="KaiTi" panose="02010609060101010101" pitchFamily="49" charset="-122"/>
              <a:ea typeface="KaiTi" panose="02010609060101010101" pitchFamily="49" charset="-122"/>
            </a:endParaRPr>
          </a:p>
          <a:p>
            <a:pPr lvl="1"/>
            <a:r>
              <a:rPr lang="zh-CN" altLang="en-US" sz="4400" dirty="0">
                <a:solidFill>
                  <a:srgbClr val="FF0000"/>
                </a:solidFill>
                <a:latin typeface="KaiTi" panose="02010609060101010101" pitchFamily="49" charset="-122"/>
                <a:ea typeface="KaiTi" panose="02010609060101010101" pitchFamily="49" charset="-122"/>
              </a:rPr>
              <a:t>单继承、多继承</a:t>
            </a:r>
            <a:endParaRPr lang="en-US" altLang="zh-CN" sz="4400" dirty="0">
              <a:solidFill>
                <a:srgbClr val="FF0000"/>
              </a:solidFill>
              <a:latin typeface="KaiTi" panose="02010609060101010101" pitchFamily="49" charset="-122"/>
              <a:ea typeface="KaiTi" panose="02010609060101010101" pitchFamily="49" charset="-122"/>
            </a:endParaRPr>
          </a:p>
          <a:p>
            <a:pPr lvl="1"/>
            <a:r>
              <a:rPr lang="zh-CN" altLang="en-US" sz="4400" dirty="0">
                <a:solidFill>
                  <a:srgbClr val="FF0000"/>
                </a:solidFill>
                <a:latin typeface="KaiTi" panose="02010609060101010101" pitchFamily="49" charset="-122"/>
                <a:ea typeface="KaiTi" panose="02010609060101010101" pitchFamily="49" charset="-122"/>
              </a:rPr>
              <a:t>继承的层次结构</a:t>
            </a:r>
            <a:endParaRPr lang="en-US" altLang="zh-CN" sz="4400" dirty="0">
              <a:solidFill>
                <a:srgbClr val="FF0000"/>
              </a:solidFill>
              <a:latin typeface="KaiTi" panose="02010609060101010101" pitchFamily="49" charset="-122"/>
              <a:ea typeface="KaiTi" panose="02010609060101010101" pitchFamily="49" charset="-122"/>
            </a:endParaRPr>
          </a:p>
          <a:p>
            <a:pPr lvl="1"/>
            <a:r>
              <a:rPr lang="zh-CN" altLang="en-US" sz="4400" dirty="0">
                <a:solidFill>
                  <a:srgbClr val="FF0000"/>
                </a:solidFill>
                <a:latin typeface="KaiTi" panose="02010609060101010101" pitchFamily="49" charset="-122"/>
                <a:ea typeface="KaiTi" panose="02010609060101010101" pitchFamily="49" charset="-122"/>
              </a:rPr>
              <a:t>子类继承了什么？</a:t>
            </a:r>
            <a:endParaRPr lang="en-US" altLang="zh-CN" sz="4400" dirty="0">
              <a:solidFill>
                <a:srgbClr val="FF0000"/>
              </a:solidFill>
              <a:latin typeface="KaiTi" panose="02010609060101010101" pitchFamily="49" charset="-122"/>
              <a:ea typeface="KaiTi" panose="02010609060101010101" pitchFamily="49" charset="-122"/>
            </a:endParaRPr>
          </a:p>
          <a:p>
            <a:r>
              <a:rPr lang="en-US" altLang="zh-CN" sz="4400" dirty="0">
                <a:latin typeface="KaiTi" panose="02010609060101010101" pitchFamily="49" charset="-122"/>
                <a:ea typeface="KaiTi" panose="02010609060101010101" pitchFamily="49" charset="-122"/>
              </a:rPr>
              <a:t>Java</a:t>
            </a:r>
            <a:r>
              <a:rPr lang="zh-CN" altLang="en-US" sz="4400" dirty="0">
                <a:latin typeface="KaiTi" panose="02010609060101010101" pitchFamily="49" charset="-122"/>
                <a:ea typeface="KaiTi" panose="02010609060101010101" pitchFamily="49" charset="-122"/>
              </a:rPr>
              <a:t>继承（</a:t>
            </a:r>
            <a:r>
              <a:rPr lang="en-US" altLang="zh-CN" sz="4400" dirty="0">
                <a:latin typeface="KaiTi" panose="02010609060101010101" pitchFamily="49" charset="-122"/>
                <a:ea typeface="KaiTi" panose="02010609060101010101" pitchFamily="49" charset="-122"/>
              </a:rPr>
              <a:t>extends</a:t>
            </a:r>
            <a:r>
              <a:rPr lang="zh-CN" altLang="en-US" sz="4400" dirty="0">
                <a:latin typeface="KaiTi" panose="02010609060101010101" pitchFamily="49" charset="-122"/>
                <a:ea typeface="KaiTi" panose="02010609060101010101" pitchFamily="49" charset="-122"/>
              </a:rPr>
              <a:t>）</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子类构造方法</a:t>
            </a:r>
            <a:endParaRPr lang="en-SG"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保护成员的使用</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向上映射</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隐藏、覆盖</a:t>
            </a:r>
            <a:endParaRPr lang="en-US" altLang="zh-CN" sz="4400" dirty="0">
              <a:latin typeface="KaiTi" panose="02010609060101010101" pitchFamily="49" charset="-122"/>
              <a:ea typeface="KaiTi" panose="02010609060101010101" pitchFamily="49" charset="-122"/>
            </a:endParaRPr>
          </a:p>
          <a:p>
            <a:r>
              <a:rPr lang="zh-CN" altLang="en-US" sz="4800" dirty="0">
                <a:latin typeface="KaiTi" panose="02010609060101010101" pitchFamily="49" charset="-122"/>
                <a:ea typeface="KaiTi" panose="02010609060101010101" pitchFamily="49" charset="-122"/>
              </a:rPr>
              <a:t>继承的优缺点、组合与继承</a:t>
            </a:r>
            <a:endParaRPr lang="en-SG" altLang="zh-CN" sz="4800" dirty="0">
              <a:latin typeface="KaiTi" panose="02010609060101010101" pitchFamily="49" charset="-122"/>
              <a:ea typeface="KaiTi" panose="02010609060101010101" pitchFamily="49" charset="-122"/>
            </a:endParaRPr>
          </a:p>
          <a:p>
            <a:r>
              <a:rPr lang="zh-CN" altLang="en-US" sz="4800" dirty="0">
                <a:latin typeface="KaiTi" panose="02010609060101010101" pitchFamily="49" charset="-122"/>
                <a:ea typeface="KaiTi" panose="02010609060101010101" pitchFamily="49" charset="-122"/>
              </a:rPr>
              <a:t>继承的案例</a:t>
            </a:r>
            <a:endParaRPr lang="en-US" altLang="zh-CN" sz="4800" dirty="0">
              <a:latin typeface="KaiTi" panose="02010609060101010101" pitchFamily="49" charset="-122"/>
              <a:ea typeface="KaiTi" panose="02010609060101010101" pitchFamily="49" charset="-122"/>
            </a:endParaRPr>
          </a:p>
        </p:txBody>
      </p:sp>
      <p:sp>
        <p:nvSpPr>
          <p:cNvPr id="3" name="Title 2"/>
          <p:cNvSpPr>
            <a:spLocks noGrp="1"/>
          </p:cNvSpPr>
          <p:nvPr>
            <p:ph type="title"/>
          </p:nvPr>
        </p:nvSpPr>
        <p:spPr/>
        <p:txBody>
          <a:bodyPr/>
          <a:lstStyle/>
          <a:p>
            <a:r>
              <a:rPr lang="zh-CN" altLang="en-US" dirty="0"/>
              <a:t>主要内容</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11</a:t>
            </a:fld>
            <a:endParaRPr lang="en-US" altLang="zh-CN" dirty="0"/>
          </a:p>
        </p:txBody>
      </p:sp>
    </p:spTree>
    <p:extLst>
      <p:ext uri="{BB962C8B-B14F-4D97-AF65-F5344CB8AC3E}">
        <p14:creationId xmlns:p14="http://schemas.microsoft.com/office/powerpoint/2010/main" val="897371302"/>
      </p:ext>
    </p:extLst>
  </p:cSld>
  <p:clrMapOvr>
    <a:masterClrMapping/>
  </p:clrMapOvr>
  <p:transition spd="med">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p:txBody>
          <a:bodyPr/>
          <a:lstStyle/>
          <a:p>
            <a:r>
              <a:rPr lang="zh-CN" altLang="en-US" dirty="0"/>
              <a:t>继承是一种“</a:t>
            </a:r>
            <a:r>
              <a:rPr lang="en-US" altLang="zh-CN" dirty="0"/>
              <a:t>is-a</a:t>
            </a:r>
            <a:r>
              <a:rPr lang="zh-CN" altLang="en-US" dirty="0"/>
              <a:t>”</a:t>
            </a:r>
            <a:r>
              <a:rPr lang="en-US" altLang="zh-CN" dirty="0"/>
              <a:t> </a:t>
            </a:r>
            <a:r>
              <a:rPr lang="zh-CN" altLang="en-US" dirty="0"/>
              <a:t>的关系</a:t>
            </a:r>
            <a:endParaRPr lang="en-US" altLang="zh-CN" dirty="0"/>
          </a:p>
        </p:txBody>
      </p:sp>
      <p:sp>
        <p:nvSpPr>
          <p:cNvPr id="497667" name="Text Box 3"/>
          <p:cNvSpPr txBox="1">
            <a:spLocks noChangeArrowheads="1"/>
          </p:cNvSpPr>
          <p:nvPr/>
        </p:nvSpPr>
        <p:spPr bwMode="auto">
          <a:xfrm>
            <a:off x="395288" y="1196975"/>
            <a:ext cx="8351837" cy="1077218"/>
          </a:xfrm>
          <a:prstGeom prst="rect">
            <a:avLst/>
          </a:prstGeom>
          <a:noFill/>
          <a:ln w="9525" algn="ctr">
            <a:noFill/>
            <a:miter lim="800000"/>
            <a:headEnd/>
            <a:tailEnd/>
          </a:ln>
          <a:effectLst/>
        </p:spPr>
        <p:txBody>
          <a:bodyPr>
            <a:spAutoFit/>
          </a:bodyPr>
          <a:lstStyle/>
          <a:p>
            <a:pPr algn="ctr" eaLnBrk="1" hangingPunct="1">
              <a:spcBef>
                <a:spcPct val="50000"/>
              </a:spcBef>
              <a:buClr>
                <a:srgbClr val="A50021"/>
              </a:buClr>
              <a:buFont typeface="Arial" charset="0"/>
              <a:buNone/>
              <a:defRPr/>
            </a:pPr>
            <a:r>
              <a:rPr lang="zh-CN" altLang="en-US" sz="3200" dirty="0">
                <a:latin typeface="Times New Roman" pitchFamily="18" charset="0"/>
                <a:ea typeface="楷体" panose="02010609060101010101" pitchFamily="49" charset="-122"/>
              </a:rPr>
              <a:t>为什么本科生和研究生都有姓名、学号、地址，而且都可以进行选课呢？</a:t>
            </a:r>
          </a:p>
        </p:txBody>
      </p:sp>
      <p:sp>
        <p:nvSpPr>
          <p:cNvPr id="497668" name="Text Box 4"/>
          <p:cNvSpPr txBox="1">
            <a:spLocks noChangeArrowheads="1"/>
          </p:cNvSpPr>
          <p:nvPr/>
        </p:nvSpPr>
        <p:spPr bwMode="auto">
          <a:xfrm>
            <a:off x="250825" y="2339975"/>
            <a:ext cx="8351838" cy="482600"/>
          </a:xfrm>
          <a:prstGeom prst="rect">
            <a:avLst/>
          </a:prstGeom>
          <a:noFill/>
          <a:ln w="9525" algn="ctr">
            <a:noFill/>
            <a:miter lim="800000"/>
            <a:headEnd/>
            <a:tailEnd/>
          </a:ln>
          <a:effectLst/>
        </p:spPr>
        <p:txBody>
          <a:bodyPr>
            <a:spAutoFit/>
          </a:bodyPr>
          <a:lstStyle/>
          <a:p>
            <a:pPr algn="ctr" eaLnBrk="1" hangingPunct="1">
              <a:lnSpc>
                <a:spcPct val="80000"/>
              </a:lnSpc>
              <a:spcBef>
                <a:spcPct val="50000"/>
              </a:spcBef>
              <a:buClr>
                <a:srgbClr val="A50021"/>
              </a:buClr>
              <a:buFont typeface="Arial" charset="0"/>
              <a:buNone/>
              <a:defRPr/>
            </a:pPr>
            <a:r>
              <a:rPr lang="zh-CN" altLang="en-US" sz="3200" b="1" dirty="0">
                <a:solidFill>
                  <a:srgbClr val="333399"/>
                </a:solidFill>
                <a:effectLst>
                  <a:outerShdw blurRad="38100" dist="38100" dir="2700000" algn="tl">
                    <a:srgbClr val="C0C0C0"/>
                  </a:outerShdw>
                </a:effectLst>
                <a:latin typeface="Times New Roman" pitchFamily="18" charset="0"/>
                <a:ea typeface="楷体" panose="02010609060101010101" pitchFamily="49" charset="-122"/>
              </a:rPr>
              <a:t>因为他们都</a:t>
            </a:r>
            <a:r>
              <a:rPr lang="zh-CN" altLang="en-US" sz="3200" b="1" dirty="0">
                <a:solidFill>
                  <a:srgbClr val="FF0000"/>
                </a:solidFill>
                <a:effectLst>
                  <a:outerShdw blurRad="38100" dist="38100" dir="2700000" algn="tl">
                    <a:srgbClr val="C0C0C0"/>
                  </a:outerShdw>
                </a:effectLst>
                <a:latin typeface="Times New Roman" pitchFamily="18" charset="0"/>
                <a:ea typeface="楷体" panose="02010609060101010101" pitchFamily="49" charset="-122"/>
              </a:rPr>
              <a:t>是</a:t>
            </a:r>
            <a:r>
              <a:rPr lang="zh-CN" altLang="en-US" sz="3200" b="1" dirty="0">
                <a:solidFill>
                  <a:srgbClr val="A50021"/>
                </a:solidFill>
                <a:effectLst>
                  <a:outerShdw blurRad="38100" dist="38100" dir="2700000" algn="tl">
                    <a:srgbClr val="C0C0C0"/>
                  </a:outerShdw>
                </a:effectLst>
                <a:latin typeface="Times New Roman" pitchFamily="18" charset="0"/>
                <a:ea typeface="楷体" panose="02010609060101010101" pitchFamily="49" charset="-122"/>
              </a:rPr>
              <a:t>学生</a:t>
            </a:r>
          </a:p>
        </p:txBody>
      </p:sp>
      <p:sp>
        <p:nvSpPr>
          <p:cNvPr id="497669" name="Text Box 5"/>
          <p:cNvSpPr txBox="1">
            <a:spLocks noChangeArrowheads="1"/>
          </p:cNvSpPr>
          <p:nvPr/>
        </p:nvSpPr>
        <p:spPr bwMode="auto">
          <a:xfrm>
            <a:off x="3563938" y="3068638"/>
            <a:ext cx="1800225" cy="519112"/>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8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Student</a:t>
            </a:r>
          </a:p>
        </p:txBody>
      </p:sp>
      <p:sp>
        <p:nvSpPr>
          <p:cNvPr id="497670" name="Text Box 6"/>
          <p:cNvSpPr txBox="1">
            <a:spLocks noChangeArrowheads="1"/>
          </p:cNvSpPr>
          <p:nvPr/>
        </p:nvSpPr>
        <p:spPr bwMode="auto">
          <a:xfrm>
            <a:off x="1619250" y="4191000"/>
            <a:ext cx="2738438" cy="519113"/>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800" b="1" dirty="0" err="1">
                <a:solidFill>
                  <a:srgbClr val="CC3300"/>
                </a:solidFill>
                <a:effectLst>
                  <a:outerShdw blurRad="38100" dist="38100" dir="2700000" algn="tl">
                    <a:srgbClr val="C0C0C0"/>
                  </a:outerShdw>
                </a:effectLst>
                <a:latin typeface="Times New Roman" pitchFamily="18" charset="0"/>
                <a:ea typeface="楷体" panose="02010609060101010101" pitchFamily="49" charset="-122"/>
              </a:rPr>
              <a:t>UnderGraduate</a:t>
            </a:r>
            <a:endParaRPr kumimoji="1" lang="en-US" altLang="zh-CN" sz="28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endParaRPr>
          </a:p>
        </p:txBody>
      </p:sp>
      <p:sp>
        <p:nvSpPr>
          <p:cNvPr id="497671" name="Text Box 7"/>
          <p:cNvSpPr txBox="1">
            <a:spLocks noChangeArrowheads="1"/>
          </p:cNvSpPr>
          <p:nvPr/>
        </p:nvSpPr>
        <p:spPr bwMode="auto">
          <a:xfrm>
            <a:off x="5214938" y="4205288"/>
            <a:ext cx="1714500" cy="519112"/>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8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Graduate</a:t>
            </a:r>
          </a:p>
        </p:txBody>
      </p:sp>
      <p:cxnSp>
        <p:nvCxnSpPr>
          <p:cNvPr id="497672" name="AutoShape 8"/>
          <p:cNvCxnSpPr>
            <a:cxnSpLocks noChangeShapeType="1"/>
            <a:stCxn id="497670" idx="0"/>
            <a:endCxn id="497669" idx="2"/>
          </p:cNvCxnSpPr>
          <p:nvPr/>
        </p:nvCxnSpPr>
        <p:spPr bwMode="auto">
          <a:xfrm rot="5400000" flipH="1" flipV="1">
            <a:off x="3425032" y="3151981"/>
            <a:ext cx="603250" cy="1474787"/>
          </a:xfrm>
          <a:prstGeom prst="straightConnector1">
            <a:avLst/>
          </a:prstGeom>
          <a:noFill/>
          <a:ln w="25400">
            <a:solidFill>
              <a:srgbClr val="40458C"/>
            </a:solidFill>
            <a:round/>
            <a:headEnd type="none" w="sm" len="sm"/>
            <a:tailEnd type="triangle" w="lg" len="lg"/>
          </a:ln>
        </p:spPr>
      </p:cxnSp>
      <p:cxnSp>
        <p:nvCxnSpPr>
          <p:cNvPr id="497673" name="AutoShape 9"/>
          <p:cNvCxnSpPr>
            <a:cxnSpLocks noChangeShapeType="1"/>
            <a:stCxn id="497671" idx="0"/>
            <a:endCxn id="497669" idx="2"/>
          </p:cNvCxnSpPr>
          <p:nvPr/>
        </p:nvCxnSpPr>
        <p:spPr bwMode="auto">
          <a:xfrm rot="16200000" flipV="1">
            <a:off x="4959350" y="3092450"/>
            <a:ext cx="617538" cy="1608138"/>
          </a:xfrm>
          <a:prstGeom prst="straightConnector1">
            <a:avLst/>
          </a:prstGeom>
          <a:noFill/>
          <a:ln w="25400">
            <a:solidFill>
              <a:srgbClr val="40458C"/>
            </a:solidFill>
            <a:round/>
            <a:headEnd type="none" w="sm" len="sm"/>
            <a:tailEnd type="triangle" w="lg" len="lg"/>
          </a:ln>
        </p:spPr>
      </p:cxnSp>
      <p:sp>
        <p:nvSpPr>
          <p:cNvPr id="497674" name="Text Box 10"/>
          <p:cNvSpPr txBox="1">
            <a:spLocks noChangeArrowheads="1"/>
          </p:cNvSpPr>
          <p:nvPr/>
        </p:nvSpPr>
        <p:spPr bwMode="auto">
          <a:xfrm>
            <a:off x="468313" y="5229225"/>
            <a:ext cx="8351837" cy="482600"/>
          </a:xfrm>
          <a:prstGeom prst="rect">
            <a:avLst/>
          </a:prstGeom>
          <a:noFill/>
          <a:ln w="9525" algn="ctr">
            <a:noFill/>
            <a:miter lim="800000"/>
            <a:headEnd/>
            <a:tailEnd/>
          </a:ln>
          <a:effectLst/>
        </p:spPr>
        <p:txBody>
          <a:bodyPr>
            <a:spAutoFit/>
          </a:bodyPr>
          <a:lstStyle/>
          <a:p>
            <a:pPr algn="ctr" eaLnBrk="1" hangingPunct="1">
              <a:lnSpc>
                <a:spcPct val="80000"/>
              </a:lnSpc>
              <a:spcBef>
                <a:spcPct val="50000"/>
              </a:spcBef>
              <a:buClr>
                <a:srgbClr val="A50021"/>
              </a:buClr>
              <a:buFont typeface="Arial" charset="0"/>
              <a:buNone/>
              <a:defRPr/>
            </a:pPr>
            <a:r>
              <a:rPr lang="zh-CN" altLang="en-US" sz="3200" b="1" dirty="0">
                <a:solidFill>
                  <a:srgbClr val="FF0000"/>
                </a:solidFill>
                <a:effectLst>
                  <a:outerShdw blurRad="38100" dist="38100" dir="2700000" algn="tl">
                    <a:srgbClr val="C0C0C0"/>
                  </a:outerShdw>
                </a:effectLst>
                <a:latin typeface="Times New Roman" pitchFamily="18" charset="0"/>
                <a:ea typeface="楷体" panose="02010609060101010101" pitchFamily="49" charset="-122"/>
              </a:rPr>
              <a:t>这种</a:t>
            </a:r>
            <a:r>
              <a:rPr lang="zh-CN" altLang="en-US" sz="3200" b="1" u="sng" dirty="0">
                <a:solidFill>
                  <a:srgbClr val="FF0000"/>
                </a:solidFill>
                <a:effectLst>
                  <a:outerShdw blurRad="38100" dist="38100" dir="2700000" algn="tl">
                    <a:srgbClr val="C0C0C0"/>
                  </a:outerShdw>
                </a:effectLst>
                <a:latin typeface="Times New Roman" pitchFamily="18" charset="0"/>
                <a:ea typeface="楷体" panose="02010609060101010101" pitchFamily="49" charset="-122"/>
              </a:rPr>
              <a:t>“是</a:t>
            </a:r>
            <a:r>
              <a:rPr lang="en-US" altLang="zh-CN" sz="3200" b="1" u="sng" dirty="0">
                <a:solidFill>
                  <a:srgbClr val="FF0000"/>
                </a:solidFill>
                <a:effectLst>
                  <a:outerShdw blurRad="38100" dist="38100" dir="2700000" algn="tl">
                    <a:srgbClr val="C0C0C0"/>
                  </a:outerShdw>
                </a:effectLst>
                <a:latin typeface="Times New Roman" pitchFamily="18" charset="0"/>
                <a:ea typeface="楷体" panose="02010609060101010101" pitchFamily="49" charset="-122"/>
              </a:rPr>
              <a:t>(is-a)”</a:t>
            </a:r>
            <a:r>
              <a:rPr lang="zh-CN" altLang="en-US" sz="3200" b="1" dirty="0">
                <a:solidFill>
                  <a:srgbClr val="FF0000"/>
                </a:solidFill>
                <a:effectLst>
                  <a:outerShdw blurRad="38100" dist="38100" dir="2700000" algn="tl">
                    <a:srgbClr val="C0C0C0"/>
                  </a:outerShdw>
                </a:effectLst>
                <a:latin typeface="Times New Roman" pitchFamily="18" charset="0"/>
                <a:ea typeface="楷体" panose="02010609060101010101" pitchFamily="49" charset="-122"/>
              </a:rPr>
              <a:t>的关系就是</a:t>
            </a:r>
            <a:r>
              <a:rPr lang="zh-CN" altLang="en-US" sz="3200" b="1" u="sng" dirty="0">
                <a:solidFill>
                  <a:srgbClr val="FF0000"/>
                </a:solidFill>
                <a:effectLst>
                  <a:outerShdw blurRad="38100" dist="38100" dir="2700000" algn="tl">
                    <a:srgbClr val="C0C0C0"/>
                  </a:outerShdw>
                </a:effectLst>
                <a:latin typeface="Times New Roman" pitchFamily="18" charset="0"/>
                <a:ea typeface="楷体" panose="02010609060101010101" pitchFamily="49" charset="-122"/>
              </a:rPr>
              <a:t>继承</a:t>
            </a:r>
          </a:p>
        </p:txBody>
      </p:sp>
      <p:sp>
        <p:nvSpPr>
          <p:cNvPr id="14" name="灯片编号占位符 13"/>
          <p:cNvSpPr>
            <a:spLocks noGrp="1"/>
          </p:cNvSpPr>
          <p:nvPr>
            <p:ph type="sldNum" sz="quarter" idx="4294967295"/>
          </p:nvPr>
        </p:nvSpPr>
        <p:spPr>
          <a:xfrm>
            <a:off x="3590925" y="6643710"/>
            <a:ext cx="2133600" cy="233362"/>
          </a:xfrm>
          <a:prstGeom prst="rect">
            <a:avLst/>
          </a:prstGeom>
        </p:spPr>
        <p:txBody>
          <a:bodyPr/>
          <a:lstStyle/>
          <a:p>
            <a:pPr>
              <a:defRPr/>
            </a:pPr>
            <a:r>
              <a:rPr lang="en-US" altLang="zh-CN" dirty="0">
                <a:ea typeface="楷体" panose="02010609060101010101" pitchFamily="49" charset="-122"/>
              </a:rPr>
              <a:t>-</a:t>
            </a:r>
            <a:fld id="{B7D6B467-256D-4932-BD1F-3D08ED3A8AF0}" type="slidenum">
              <a:rPr lang="en-US" altLang="ko-KR" smtClean="0"/>
              <a:pPr>
                <a:defRPr/>
              </a:pPr>
              <a:t>12</a:t>
            </a:fld>
            <a:r>
              <a:rPr lang="en-US" altLang="zh-CN" dirty="0">
                <a:ea typeface="楷体" panose="02010609060101010101" pitchFamily="49" charset="-122"/>
              </a:rPr>
              <a:t>-</a:t>
            </a:r>
            <a:endParaRPr lang="en-US" altLang="ko-KR" dirty="0"/>
          </a:p>
        </p:txBody>
      </p:sp>
    </p:spTree>
    <p:extLst>
      <p:ext uri="{BB962C8B-B14F-4D97-AF65-F5344CB8AC3E}">
        <p14:creationId xmlns:p14="http://schemas.microsoft.com/office/powerpoint/2010/main" val="2472107872"/>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7667"/>
                                        </p:tgtEl>
                                        <p:attrNameLst>
                                          <p:attrName>style.visibility</p:attrName>
                                        </p:attrNameLst>
                                      </p:cBhvr>
                                      <p:to>
                                        <p:strVal val="visible"/>
                                      </p:to>
                                    </p:set>
                                    <p:animEffect transition="in" filter="dissolve">
                                      <p:cBhvr>
                                        <p:cTn id="7" dur="500"/>
                                        <p:tgtEl>
                                          <p:spTgt spid="4976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7668"/>
                                        </p:tgtEl>
                                        <p:attrNameLst>
                                          <p:attrName>style.visibility</p:attrName>
                                        </p:attrNameLst>
                                      </p:cBhvr>
                                      <p:to>
                                        <p:strVal val="visible"/>
                                      </p:to>
                                    </p:set>
                                    <p:animEffect transition="in" filter="dissolve">
                                      <p:cBhvr>
                                        <p:cTn id="12" dur="500"/>
                                        <p:tgtEl>
                                          <p:spTgt spid="49766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97669"/>
                                        </p:tgtEl>
                                        <p:attrNameLst>
                                          <p:attrName>style.visibility</p:attrName>
                                        </p:attrNameLst>
                                      </p:cBhvr>
                                      <p:to>
                                        <p:strVal val="visible"/>
                                      </p:to>
                                    </p:set>
                                    <p:animEffect transition="in" filter="dissolve">
                                      <p:cBhvr>
                                        <p:cTn id="17" dur="500"/>
                                        <p:tgtEl>
                                          <p:spTgt spid="497669"/>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97670"/>
                                        </p:tgtEl>
                                        <p:attrNameLst>
                                          <p:attrName>style.visibility</p:attrName>
                                        </p:attrNameLst>
                                      </p:cBhvr>
                                      <p:to>
                                        <p:strVal val="visible"/>
                                      </p:to>
                                    </p:set>
                                    <p:animEffect transition="in" filter="dissolve">
                                      <p:cBhvr>
                                        <p:cTn id="20" dur="500"/>
                                        <p:tgtEl>
                                          <p:spTgt spid="497670"/>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97671"/>
                                        </p:tgtEl>
                                        <p:attrNameLst>
                                          <p:attrName>style.visibility</p:attrName>
                                        </p:attrNameLst>
                                      </p:cBhvr>
                                      <p:to>
                                        <p:strVal val="visible"/>
                                      </p:to>
                                    </p:set>
                                    <p:animEffect transition="in" filter="dissolve">
                                      <p:cBhvr>
                                        <p:cTn id="23" dur="500"/>
                                        <p:tgtEl>
                                          <p:spTgt spid="497671"/>
                                        </p:tgtEl>
                                      </p:cBhvr>
                                    </p:animEffect>
                                  </p:childTnLst>
                                </p:cTn>
                              </p:par>
                              <p:par>
                                <p:cTn id="24" presetID="9" presetClass="entr" presetSubtype="0" fill="hold" nodeType="withEffect">
                                  <p:stCondLst>
                                    <p:cond delay="0"/>
                                  </p:stCondLst>
                                  <p:childTnLst>
                                    <p:set>
                                      <p:cBhvr>
                                        <p:cTn id="25" dur="1" fill="hold">
                                          <p:stCondLst>
                                            <p:cond delay="0"/>
                                          </p:stCondLst>
                                        </p:cTn>
                                        <p:tgtEl>
                                          <p:spTgt spid="497672"/>
                                        </p:tgtEl>
                                        <p:attrNameLst>
                                          <p:attrName>style.visibility</p:attrName>
                                        </p:attrNameLst>
                                      </p:cBhvr>
                                      <p:to>
                                        <p:strVal val="visible"/>
                                      </p:to>
                                    </p:set>
                                    <p:animEffect transition="in" filter="dissolve">
                                      <p:cBhvr>
                                        <p:cTn id="26" dur="500"/>
                                        <p:tgtEl>
                                          <p:spTgt spid="497672"/>
                                        </p:tgtEl>
                                      </p:cBhvr>
                                    </p:animEffect>
                                  </p:childTnLst>
                                </p:cTn>
                              </p:par>
                              <p:par>
                                <p:cTn id="27" presetID="9" presetClass="entr" presetSubtype="0" fill="hold" nodeType="withEffect">
                                  <p:stCondLst>
                                    <p:cond delay="0"/>
                                  </p:stCondLst>
                                  <p:childTnLst>
                                    <p:set>
                                      <p:cBhvr>
                                        <p:cTn id="28" dur="1" fill="hold">
                                          <p:stCondLst>
                                            <p:cond delay="0"/>
                                          </p:stCondLst>
                                        </p:cTn>
                                        <p:tgtEl>
                                          <p:spTgt spid="497673"/>
                                        </p:tgtEl>
                                        <p:attrNameLst>
                                          <p:attrName>style.visibility</p:attrName>
                                        </p:attrNameLst>
                                      </p:cBhvr>
                                      <p:to>
                                        <p:strVal val="visible"/>
                                      </p:to>
                                    </p:set>
                                    <p:animEffect transition="in" filter="dissolve">
                                      <p:cBhvr>
                                        <p:cTn id="29" dur="500"/>
                                        <p:tgtEl>
                                          <p:spTgt spid="49767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97674"/>
                                        </p:tgtEl>
                                        <p:attrNameLst>
                                          <p:attrName>style.visibility</p:attrName>
                                        </p:attrNameLst>
                                      </p:cBhvr>
                                      <p:to>
                                        <p:strVal val="visible"/>
                                      </p:to>
                                    </p:set>
                                    <p:animEffect transition="in" filter="dissolve">
                                      <p:cBhvr>
                                        <p:cTn id="34" dur="500"/>
                                        <p:tgtEl>
                                          <p:spTgt spid="497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67" grpId="0"/>
      <p:bldP spid="497668" grpId="0"/>
      <p:bldP spid="497669" grpId="0"/>
      <p:bldP spid="497670" grpId="0"/>
      <p:bldP spid="497671" grpId="0"/>
      <p:bldP spid="49767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latin typeface="楷体" panose="02010609060101010101" pitchFamily="49" charset="-122"/>
              </a:rPr>
              <a:t>这种</a:t>
            </a:r>
            <a:r>
              <a:rPr lang="en-US" altLang="zh-CN" dirty="0">
                <a:latin typeface="楷体" panose="02010609060101010101" pitchFamily="49" charset="-122"/>
              </a:rPr>
              <a:t>is-a</a:t>
            </a:r>
            <a:r>
              <a:rPr lang="zh-CN" altLang="en-US" dirty="0">
                <a:latin typeface="楷体" panose="02010609060101010101" pitchFamily="49" charset="-122"/>
              </a:rPr>
              <a:t>关系，利用继承来实现</a:t>
            </a:r>
          </a:p>
          <a:p>
            <a:pPr lvl="1"/>
            <a:r>
              <a:rPr lang="en-US" altLang="zh-CN" dirty="0">
                <a:latin typeface="楷体" panose="02010609060101010101" pitchFamily="49" charset="-122"/>
              </a:rPr>
              <a:t>A is a B (</a:t>
            </a:r>
            <a:r>
              <a:rPr lang="zh-CN" altLang="en-US" dirty="0">
                <a:latin typeface="楷体" panose="02010609060101010101" pitchFamily="49" charset="-122"/>
              </a:rPr>
              <a:t>或者</a:t>
            </a:r>
            <a:r>
              <a:rPr lang="en-US" altLang="zh-CN" dirty="0">
                <a:latin typeface="楷体" panose="02010609060101010101" pitchFamily="49" charset="-122"/>
              </a:rPr>
              <a:t>A is kind of B)</a:t>
            </a:r>
          </a:p>
          <a:p>
            <a:pPr lvl="1"/>
            <a:r>
              <a:rPr lang="en-US" altLang="zh-CN" dirty="0">
                <a:latin typeface="楷体" panose="02010609060101010101" pitchFamily="49" charset="-122"/>
              </a:rPr>
              <a:t>A</a:t>
            </a:r>
            <a:r>
              <a:rPr lang="zh-CN" altLang="en-US" dirty="0">
                <a:latin typeface="楷体" panose="02010609060101010101" pitchFamily="49" charset="-122"/>
              </a:rPr>
              <a:t>继承</a:t>
            </a:r>
            <a:r>
              <a:rPr lang="en-US" altLang="zh-CN" dirty="0">
                <a:latin typeface="楷体" panose="02010609060101010101" pitchFamily="49" charset="-122"/>
              </a:rPr>
              <a:t>B</a:t>
            </a:r>
          </a:p>
          <a:p>
            <a:r>
              <a:rPr lang="zh-CN" altLang="en-US" dirty="0">
                <a:latin typeface="楷体" panose="02010609060101010101" pitchFamily="49" charset="-122"/>
              </a:rPr>
              <a:t>例如：</a:t>
            </a:r>
            <a:endParaRPr lang="en-US" altLang="zh-CN" dirty="0">
              <a:latin typeface="楷体" panose="02010609060101010101" pitchFamily="49" charset="-122"/>
            </a:endParaRPr>
          </a:p>
          <a:p>
            <a:pPr lvl="1"/>
            <a:r>
              <a:rPr lang="en-US" altLang="zh-CN" dirty="0" err="1">
                <a:latin typeface="楷体" panose="02010609060101010101" pitchFamily="49" charset="-122"/>
              </a:rPr>
              <a:t>DateTime</a:t>
            </a:r>
            <a:r>
              <a:rPr lang="en-US" altLang="zh-CN" dirty="0">
                <a:latin typeface="楷体" panose="02010609060101010101" pitchFamily="49" charset="-122"/>
              </a:rPr>
              <a:t>(</a:t>
            </a:r>
            <a:r>
              <a:rPr lang="zh-CN" altLang="en-US" dirty="0">
                <a:latin typeface="楷体" panose="02010609060101010101" pitchFamily="49" charset="-122"/>
              </a:rPr>
              <a:t>日期时间类</a:t>
            </a:r>
            <a:r>
              <a:rPr lang="en-US" altLang="zh-CN" dirty="0">
                <a:latin typeface="楷体" panose="02010609060101010101" pitchFamily="49" charset="-122"/>
              </a:rPr>
              <a:t>)</a:t>
            </a:r>
            <a:r>
              <a:rPr lang="zh-CN" altLang="en-US" dirty="0">
                <a:latin typeface="楷体" panose="02010609060101010101" pitchFamily="49" charset="-122"/>
              </a:rPr>
              <a:t>既是</a:t>
            </a:r>
            <a:r>
              <a:rPr lang="en-US" altLang="zh-CN" dirty="0">
                <a:latin typeface="楷体" panose="02010609060101010101" pitchFamily="49" charset="-122"/>
              </a:rPr>
              <a:t>Time(</a:t>
            </a:r>
            <a:r>
              <a:rPr lang="zh-CN" altLang="en-US" dirty="0">
                <a:latin typeface="楷体" panose="02010609060101010101" pitchFamily="49" charset="-122"/>
              </a:rPr>
              <a:t>时间类</a:t>
            </a:r>
            <a:r>
              <a:rPr lang="en-US" altLang="zh-CN" dirty="0">
                <a:latin typeface="楷体" panose="02010609060101010101" pitchFamily="49" charset="-122"/>
              </a:rPr>
              <a:t>)</a:t>
            </a:r>
            <a:r>
              <a:rPr lang="zh-CN" altLang="en-US" dirty="0">
                <a:latin typeface="楷体" panose="02010609060101010101" pitchFamily="49" charset="-122"/>
              </a:rPr>
              <a:t>，也是</a:t>
            </a:r>
            <a:r>
              <a:rPr lang="en-US" altLang="zh-CN" dirty="0">
                <a:latin typeface="楷体" panose="02010609060101010101" pitchFamily="49" charset="-122"/>
              </a:rPr>
              <a:t>Date(</a:t>
            </a:r>
            <a:r>
              <a:rPr lang="zh-CN" altLang="en-US" dirty="0">
                <a:latin typeface="楷体" panose="02010609060101010101" pitchFamily="49" charset="-122"/>
              </a:rPr>
              <a:t>日期类</a:t>
            </a:r>
            <a:r>
              <a:rPr lang="en-US" altLang="zh-CN" dirty="0">
                <a:latin typeface="楷体" panose="02010609060101010101" pitchFamily="49" charset="-122"/>
              </a:rPr>
              <a:t>)</a:t>
            </a:r>
          </a:p>
          <a:p>
            <a:pPr lvl="1"/>
            <a:r>
              <a:rPr lang="zh-CN" altLang="en-US" dirty="0">
                <a:latin typeface="楷体" panose="02010609060101010101" pitchFamily="49" charset="-122"/>
              </a:rPr>
              <a:t>食肉动物（</a:t>
            </a:r>
            <a:r>
              <a:rPr lang="en-US" altLang="zh-CN" dirty="0">
                <a:latin typeface="楷体" panose="02010609060101010101" pitchFamily="49" charset="-122"/>
              </a:rPr>
              <a:t>Carnivore</a:t>
            </a:r>
            <a:r>
              <a:rPr lang="zh-CN" altLang="en-US" dirty="0">
                <a:latin typeface="楷体" panose="02010609060101010101" pitchFamily="49" charset="-122"/>
              </a:rPr>
              <a:t>类）是动物（</a:t>
            </a:r>
            <a:r>
              <a:rPr lang="en-US" altLang="zh-CN" dirty="0">
                <a:latin typeface="楷体" panose="02010609060101010101" pitchFamily="49" charset="-122"/>
              </a:rPr>
              <a:t>Animal</a:t>
            </a:r>
            <a:r>
              <a:rPr lang="zh-CN" altLang="en-US" dirty="0">
                <a:latin typeface="楷体" panose="02010609060101010101" pitchFamily="49" charset="-122"/>
              </a:rPr>
              <a:t>类），食草动物（</a:t>
            </a:r>
            <a:r>
              <a:rPr lang="en-US" altLang="zh-CN" dirty="0">
                <a:latin typeface="楷体" panose="02010609060101010101" pitchFamily="49" charset="-122"/>
              </a:rPr>
              <a:t>Herbivore</a:t>
            </a:r>
            <a:r>
              <a:rPr lang="zh-CN" altLang="en-US" dirty="0">
                <a:latin typeface="楷体" panose="02010609060101010101" pitchFamily="49" charset="-122"/>
              </a:rPr>
              <a:t>类）也是动物（</a:t>
            </a:r>
            <a:r>
              <a:rPr lang="en-US" altLang="zh-CN" dirty="0">
                <a:latin typeface="楷体" panose="02010609060101010101" pitchFamily="49" charset="-122"/>
              </a:rPr>
              <a:t>Animal</a:t>
            </a:r>
            <a:r>
              <a:rPr lang="zh-CN" altLang="en-US" dirty="0">
                <a:latin typeface="楷体" panose="02010609060101010101" pitchFamily="49" charset="-122"/>
              </a:rPr>
              <a:t>类）</a:t>
            </a:r>
            <a:endParaRPr lang="en-US" altLang="zh-CN" dirty="0">
              <a:latin typeface="楷体" panose="02010609060101010101" pitchFamily="49" charset="-122"/>
            </a:endParaRPr>
          </a:p>
          <a:p>
            <a:pPr>
              <a:lnSpc>
                <a:spcPct val="90000"/>
              </a:lnSpc>
            </a:pPr>
            <a:endParaRPr lang="en-US" altLang="zh-CN" dirty="0"/>
          </a:p>
          <a:p>
            <a:endParaRPr lang="zh-CN" altLang="en-US" dirty="0"/>
          </a:p>
        </p:txBody>
      </p:sp>
      <p:sp>
        <p:nvSpPr>
          <p:cNvPr id="3" name="Title 2"/>
          <p:cNvSpPr>
            <a:spLocks noGrp="1"/>
          </p:cNvSpPr>
          <p:nvPr>
            <p:ph type="title"/>
          </p:nvPr>
        </p:nvSpPr>
        <p:spPr/>
        <p:txBody>
          <a:bodyPr/>
          <a:lstStyle/>
          <a:p>
            <a:r>
              <a:rPr lang="zh-CN" altLang="en-US" dirty="0"/>
              <a:t>继承是一种“</a:t>
            </a:r>
            <a:r>
              <a:rPr lang="en-US" altLang="zh-CN" dirty="0"/>
              <a:t>is-a</a:t>
            </a:r>
            <a:r>
              <a:rPr lang="zh-CN" altLang="en-US" dirty="0"/>
              <a:t>”</a:t>
            </a:r>
            <a:r>
              <a:rPr lang="en-US" altLang="zh-CN" dirty="0"/>
              <a:t> </a:t>
            </a:r>
            <a:r>
              <a:rPr lang="zh-CN" altLang="en-US" dirty="0"/>
              <a:t>的关系</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13</a:t>
            </a:fld>
            <a:endParaRPr lang="en-US" altLang="zh-CN" dirty="0"/>
          </a:p>
        </p:txBody>
      </p:sp>
    </p:spTree>
    <p:extLst>
      <p:ext uri="{BB962C8B-B14F-4D97-AF65-F5344CB8AC3E}">
        <p14:creationId xmlns:p14="http://schemas.microsoft.com/office/powerpoint/2010/main" val="3986309486"/>
      </p:ext>
    </p:extLst>
  </p:cSld>
  <p:clrMapOvr>
    <a:masterClrMapping/>
  </p:clrMapOvr>
  <p:transition spd="med">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algn="just">
              <a:lnSpc>
                <a:spcPct val="110000"/>
              </a:lnSpc>
              <a:defRPr/>
            </a:pPr>
            <a:r>
              <a:rPr lang="zh-CN" altLang="en-US" dirty="0"/>
              <a:t>继承是使用已存在的类的定义作为基础，建立新类的技术；</a:t>
            </a:r>
            <a:endParaRPr lang="en-SG" altLang="zh-CN" dirty="0"/>
          </a:p>
          <a:p>
            <a:pPr algn="just">
              <a:lnSpc>
                <a:spcPct val="110000"/>
              </a:lnSpc>
              <a:defRPr/>
            </a:pPr>
            <a:r>
              <a:rPr lang="zh-CN" altLang="en-US" dirty="0"/>
              <a:t>通过继承和派生形成的</a:t>
            </a:r>
            <a:r>
              <a:rPr lang="zh-CN" altLang="en-US" dirty="0">
                <a:solidFill>
                  <a:srgbClr val="FF0000"/>
                </a:solidFill>
              </a:rPr>
              <a:t>类族</a:t>
            </a:r>
            <a:r>
              <a:rPr lang="zh-CN" altLang="en-US" dirty="0"/>
              <a:t>，反映了面向对象问题域、主题等概念；</a:t>
            </a:r>
            <a:endParaRPr lang="en-US" altLang="zh-CN" dirty="0">
              <a:solidFill>
                <a:srgbClr val="CC3300"/>
              </a:solidFill>
              <a:effectLst>
                <a:outerShdw blurRad="38100" dist="38100" dir="2700000" algn="tl">
                  <a:srgbClr val="C0C0C0"/>
                </a:outerShdw>
              </a:effectLst>
            </a:endParaRPr>
          </a:p>
          <a:p>
            <a:pPr algn="just">
              <a:lnSpc>
                <a:spcPct val="110000"/>
              </a:lnSpc>
              <a:defRPr/>
            </a:pPr>
            <a:r>
              <a:rPr lang="zh-CN" altLang="en-US" b="1" dirty="0">
                <a:solidFill>
                  <a:srgbClr val="FF0000"/>
                </a:solidFill>
              </a:rPr>
              <a:t>继承</a:t>
            </a:r>
            <a:r>
              <a:rPr lang="zh-CN" altLang="en-US" dirty="0"/>
              <a:t>是在保留原有类的数据成员和成员函数的基础上，派生出新类，</a:t>
            </a:r>
            <a:r>
              <a:rPr lang="zh-CN" altLang="en-US" b="1" dirty="0">
                <a:solidFill>
                  <a:srgbClr val="FF0000"/>
                </a:solidFill>
              </a:rPr>
              <a:t>新的类可以有某种程度的变异</a:t>
            </a:r>
            <a:r>
              <a:rPr lang="zh-CN" altLang="en-US" dirty="0"/>
              <a:t>；</a:t>
            </a:r>
          </a:p>
          <a:p>
            <a:pPr algn="just">
              <a:lnSpc>
                <a:spcPct val="110000"/>
              </a:lnSpc>
              <a:defRPr/>
            </a:pPr>
            <a:r>
              <a:rPr lang="zh-CN" altLang="en-US" dirty="0"/>
              <a:t>通过继承，新类</a:t>
            </a:r>
            <a:r>
              <a:rPr lang="zh-CN" altLang="en-US" b="1" dirty="0">
                <a:solidFill>
                  <a:srgbClr val="FF0000"/>
                </a:solidFill>
              </a:rPr>
              <a:t>自动具有了原有类的数据成员和成员函数</a:t>
            </a:r>
            <a:r>
              <a:rPr lang="zh-CN" altLang="en-US" dirty="0"/>
              <a:t>，因而只需定义原有类型没有的新的数据成员和成员函数。实现了</a:t>
            </a:r>
            <a:r>
              <a:rPr lang="zh-CN" altLang="en-US" b="1" dirty="0">
                <a:solidFill>
                  <a:srgbClr val="FF0000"/>
                </a:solidFill>
              </a:rPr>
              <a:t>软件复用</a:t>
            </a:r>
            <a:r>
              <a:rPr lang="zh-CN" altLang="en-US" dirty="0"/>
              <a:t>，使得类之间具备了</a:t>
            </a:r>
            <a:r>
              <a:rPr lang="zh-CN" altLang="en-US" b="1" dirty="0">
                <a:solidFill>
                  <a:srgbClr val="FF0000"/>
                </a:solidFill>
              </a:rPr>
              <a:t>层次性。</a:t>
            </a:r>
          </a:p>
          <a:p>
            <a:endParaRPr lang="zh-CN" altLang="en-US" dirty="0"/>
          </a:p>
        </p:txBody>
      </p:sp>
      <p:sp>
        <p:nvSpPr>
          <p:cNvPr id="3" name="Title 2"/>
          <p:cNvSpPr>
            <a:spLocks noGrp="1"/>
          </p:cNvSpPr>
          <p:nvPr>
            <p:ph type="title"/>
          </p:nvPr>
        </p:nvSpPr>
        <p:spPr/>
        <p:txBody>
          <a:bodyPr/>
          <a:lstStyle/>
          <a:p>
            <a:r>
              <a:rPr lang="zh-CN" altLang="en-US" dirty="0"/>
              <a:t>细说继承</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14</a:t>
            </a:fld>
            <a:endParaRPr lang="en-US" altLang="zh-CN" dirty="0"/>
          </a:p>
        </p:txBody>
      </p:sp>
    </p:spTree>
    <p:extLst>
      <p:ext uri="{BB962C8B-B14F-4D97-AF65-F5344CB8AC3E}">
        <p14:creationId xmlns:p14="http://schemas.microsoft.com/office/powerpoint/2010/main" val="2056463699"/>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p:tgtEl>
                                          <p:spTgt spid="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p:tgtEl>
                                          <p:spTgt spid="2">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D62FC0-F901-55EC-E8C2-4AAB7788F105}"/>
              </a:ext>
            </a:extLst>
          </p:cNvPr>
          <p:cNvSpPr>
            <a:spLocks noGrp="1"/>
          </p:cNvSpPr>
          <p:nvPr>
            <p:ph type="title"/>
          </p:nvPr>
        </p:nvSpPr>
        <p:spPr/>
        <p:txBody>
          <a:bodyPr/>
          <a:lstStyle/>
          <a:p>
            <a:r>
              <a:rPr lang="zh-CN" altLang="en-US" dirty="0">
                <a:solidFill>
                  <a:srgbClr val="FF0000"/>
                </a:solidFill>
                <a:effectLst>
                  <a:outerShdw blurRad="38100" dist="38100" dir="2700000" algn="tl">
                    <a:srgbClr val="C0C0C0"/>
                  </a:outerShdw>
                </a:effectLst>
              </a:rPr>
              <a:t>继承原有类的数据成员和成员函数</a:t>
            </a:r>
            <a:endParaRPr lang="en-US" dirty="0"/>
          </a:p>
        </p:txBody>
      </p:sp>
      <p:sp>
        <p:nvSpPr>
          <p:cNvPr id="4" name="Date Placeholder 3">
            <a:extLst>
              <a:ext uri="{FF2B5EF4-FFF2-40B4-BE49-F238E27FC236}">
                <a16:creationId xmlns:a16="http://schemas.microsoft.com/office/drawing/2014/main" id="{A22F9F6B-E645-CD7B-771F-B012B961E0E9}"/>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537B74F9-FB47-F3A8-44D1-EBF958F43197}"/>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A7D6BD6D-F1C9-AF2B-9D1E-0141B7EC04B6}"/>
              </a:ext>
            </a:extLst>
          </p:cNvPr>
          <p:cNvSpPr>
            <a:spLocks noGrp="1"/>
          </p:cNvSpPr>
          <p:nvPr>
            <p:ph type="sldNum" sz="quarter" idx="12"/>
          </p:nvPr>
        </p:nvSpPr>
        <p:spPr/>
        <p:txBody>
          <a:bodyPr/>
          <a:lstStyle/>
          <a:p>
            <a:pPr>
              <a:defRPr/>
            </a:pPr>
            <a:fld id="{F7C8A414-E22E-4DF8-8FC5-FF8056582F45}" type="slidenum">
              <a:rPr lang="en-US" altLang="zh-CN" smtClean="0"/>
              <a:pPr>
                <a:defRPr/>
              </a:pPr>
              <a:t>15</a:t>
            </a:fld>
            <a:endParaRPr lang="en-US" altLang="zh-CN"/>
          </a:p>
        </p:txBody>
      </p:sp>
      <p:pic>
        <p:nvPicPr>
          <p:cNvPr id="7" name="Picture 6">
            <a:extLst>
              <a:ext uri="{FF2B5EF4-FFF2-40B4-BE49-F238E27FC236}">
                <a16:creationId xmlns:a16="http://schemas.microsoft.com/office/drawing/2014/main" id="{B612ADE5-3D53-ED1F-7EB7-9E86DB86F3CE}"/>
              </a:ext>
            </a:extLst>
          </p:cNvPr>
          <p:cNvPicPr>
            <a:picLocks noChangeAspect="1"/>
          </p:cNvPicPr>
          <p:nvPr/>
        </p:nvPicPr>
        <p:blipFill>
          <a:blip r:embed="rId2"/>
          <a:stretch>
            <a:fillRect/>
          </a:stretch>
        </p:blipFill>
        <p:spPr>
          <a:xfrm>
            <a:off x="1720850" y="651492"/>
            <a:ext cx="5702300" cy="6057900"/>
          </a:xfrm>
          <a:prstGeom prst="rect">
            <a:avLst/>
          </a:prstGeom>
        </p:spPr>
      </p:pic>
      <p:cxnSp>
        <p:nvCxnSpPr>
          <p:cNvPr id="9" name="Curved Connector 8">
            <a:extLst>
              <a:ext uri="{FF2B5EF4-FFF2-40B4-BE49-F238E27FC236}">
                <a16:creationId xmlns:a16="http://schemas.microsoft.com/office/drawing/2014/main" id="{B577B558-876B-CBFB-F58C-1C5B6FD74C09}"/>
              </a:ext>
            </a:extLst>
          </p:cNvPr>
          <p:cNvCxnSpPr>
            <a:cxnSpLocks/>
          </p:cNvCxnSpPr>
          <p:nvPr/>
        </p:nvCxnSpPr>
        <p:spPr>
          <a:xfrm>
            <a:off x="3810000" y="1083373"/>
            <a:ext cx="2454275" cy="4824023"/>
          </a:xfrm>
          <a:prstGeom prst="curvedConnector3">
            <a:avLst>
              <a:gd name="adj1" fmla="val 14657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7815958"/>
      </p:ext>
    </p:extLst>
  </p:cSld>
  <p:clrMapOvr>
    <a:masterClrMapping/>
  </p:clrMapOvr>
  <p:transition spd="med">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711200" indent="-711200">
              <a:lnSpc>
                <a:spcPct val="90000"/>
              </a:lnSpc>
              <a:buFont typeface="Arial" pitchFamily="34" charset="0"/>
              <a:buAutoNum type="ea1JpnChsDbPeriod"/>
            </a:pPr>
            <a:r>
              <a:rPr lang="zh-CN" altLang="en-US" sz="2800" dirty="0">
                <a:latin typeface="微软雅黑" pitchFamily="34" charset="-122"/>
              </a:rPr>
              <a:t>被继承的类称为父类（</a:t>
            </a:r>
            <a:r>
              <a:rPr lang="en-US" altLang="zh-CN" sz="2800" dirty="0">
                <a:latin typeface="微软雅黑" pitchFamily="34" charset="-122"/>
              </a:rPr>
              <a:t>superclass</a:t>
            </a:r>
            <a:r>
              <a:rPr lang="zh-CN" altLang="en-US" sz="2800" dirty="0">
                <a:latin typeface="微软雅黑" pitchFamily="34" charset="-122"/>
              </a:rPr>
              <a:t>）</a:t>
            </a:r>
            <a:r>
              <a:rPr lang="en-US" altLang="zh-CN" sz="2800" dirty="0">
                <a:latin typeface="微软雅黑" pitchFamily="34" charset="-122"/>
              </a:rPr>
              <a:t>,</a:t>
            </a:r>
            <a:r>
              <a:rPr lang="zh-CN" altLang="en-US" sz="2800" dirty="0">
                <a:latin typeface="微软雅黑" pitchFamily="34" charset="-122"/>
              </a:rPr>
              <a:t>继承后产生的类称为子类（</a:t>
            </a:r>
            <a:r>
              <a:rPr lang="en-US" altLang="zh-CN" sz="2800" dirty="0">
                <a:latin typeface="微软雅黑" pitchFamily="34" charset="-122"/>
              </a:rPr>
              <a:t>subclass</a:t>
            </a:r>
            <a:r>
              <a:rPr lang="zh-CN" altLang="en-US" sz="2800" dirty="0">
                <a:latin typeface="微软雅黑" pitchFamily="34" charset="-122"/>
              </a:rPr>
              <a:t>）。</a:t>
            </a:r>
          </a:p>
          <a:p>
            <a:pPr marL="711200" indent="-711200">
              <a:lnSpc>
                <a:spcPct val="90000"/>
              </a:lnSpc>
              <a:buFont typeface="Arial" pitchFamily="34" charset="0"/>
              <a:buAutoNum type="ea1JpnChsDbPeriod"/>
            </a:pPr>
            <a:r>
              <a:rPr lang="zh-CN" altLang="en-US" sz="2800" dirty="0">
                <a:latin typeface="微软雅黑" pitchFamily="34" charset="-122"/>
              </a:rPr>
              <a:t>单继承：如果子类只能有一个直接父类，称为单继承。</a:t>
            </a:r>
          </a:p>
          <a:p>
            <a:pPr marL="1422400" lvl="2" indent="-508000">
              <a:lnSpc>
                <a:spcPct val="90000"/>
              </a:lnSpc>
              <a:buFont typeface="Wingdings" pitchFamily="2" charset="2"/>
              <a:buChar char="u"/>
            </a:pPr>
            <a:r>
              <a:rPr lang="zh-CN" altLang="en-US" sz="2800" dirty="0">
                <a:latin typeface="微软雅黑" pitchFamily="34" charset="-122"/>
              </a:rPr>
              <a:t>例如，轮船</a:t>
            </a:r>
            <a:r>
              <a:rPr lang="en-US" altLang="zh-CN" sz="2800" dirty="0">
                <a:latin typeface="微软雅黑" pitchFamily="34" charset="-122"/>
              </a:rPr>
              <a:t> --&gt; </a:t>
            </a:r>
            <a:r>
              <a:rPr lang="zh-CN" altLang="en-US" sz="2800" dirty="0">
                <a:latin typeface="微软雅黑" pitchFamily="34" charset="-122"/>
              </a:rPr>
              <a:t>客轮；人</a:t>
            </a:r>
            <a:r>
              <a:rPr lang="en-US" altLang="zh-CN" sz="2800" dirty="0">
                <a:latin typeface="微软雅黑" pitchFamily="34" charset="-122"/>
              </a:rPr>
              <a:t> --&gt; </a:t>
            </a:r>
            <a:r>
              <a:rPr lang="zh-CN" altLang="en-US" sz="2800" dirty="0">
                <a:latin typeface="微软雅黑" pitchFamily="34" charset="-122"/>
              </a:rPr>
              <a:t>学生 。</a:t>
            </a:r>
          </a:p>
          <a:p>
            <a:pPr marL="711200" indent="-711200">
              <a:lnSpc>
                <a:spcPct val="90000"/>
              </a:lnSpc>
              <a:buFont typeface="Arial" pitchFamily="34" charset="0"/>
              <a:buAutoNum type="ea1JpnChsDbPeriod"/>
            </a:pPr>
            <a:r>
              <a:rPr lang="zh-CN" altLang="en-US" sz="2800" dirty="0">
                <a:latin typeface="微软雅黑" pitchFamily="34" charset="-122"/>
              </a:rPr>
              <a:t>多继承：如果子类可以有多个直接父类，称为多继承。</a:t>
            </a:r>
            <a:endParaRPr lang="en-US" altLang="zh-CN" sz="2800" dirty="0">
              <a:latin typeface="微软雅黑" pitchFamily="34" charset="-122"/>
            </a:endParaRPr>
          </a:p>
          <a:p>
            <a:pPr lvl="1"/>
            <a:r>
              <a:rPr lang="en-US" altLang="zh-CN" sz="3200" dirty="0" err="1">
                <a:latin typeface="楷体" panose="02010609060101010101" pitchFamily="49" charset="-122"/>
              </a:rPr>
              <a:t>DateTime</a:t>
            </a:r>
            <a:r>
              <a:rPr lang="en-US" altLang="zh-CN" sz="3200" dirty="0">
                <a:latin typeface="楷体" panose="02010609060101010101" pitchFamily="49" charset="-122"/>
              </a:rPr>
              <a:t>(</a:t>
            </a:r>
            <a:r>
              <a:rPr lang="zh-CN" altLang="en-US" sz="3200" dirty="0">
                <a:latin typeface="楷体" panose="02010609060101010101" pitchFamily="49" charset="-122"/>
              </a:rPr>
              <a:t>日期时间类</a:t>
            </a:r>
            <a:r>
              <a:rPr lang="en-US" altLang="zh-CN" sz="3200" dirty="0">
                <a:latin typeface="楷体" panose="02010609060101010101" pitchFamily="49" charset="-122"/>
              </a:rPr>
              <a:t>)</a:t>
            </a:r>
            <a:r>
              <a:rPr lang="zh-CN" altLang="en-US" sz="3200" dirty="0">
                <a:latin typeface="楷体" panose="02010609060101010101" pitchFamily="49" charset="-122"/>
              </a:rPr>
              <a:t>既是</a:t>
            </a:r>
            <a:r>
              <a:rPr lang="en-US" altLang="zh-CN" sz="3200" dirty="0">
                <a:latin typeface="楷体" panose="02010609060101010101" pitchFamily="49" charset="-122"/>
              </a:rPr>
              <a:t>Time(</a:t>
            </a:r>
            <a:r>
              <a:rPr lang="zh-CN" altLang="en-US" sz="3200" dirty="0">
                <a:latin typeface="楷体" panose="02010609060101010101" pitchFamily="49" charset="-122"/>
              </a:rPr>
              <a:t>时间类</a:t>
            </a:r>
            <a:r>
              <a:rPr lang="en-US" altLang="zh-CN" sz="3200" dirty="0">
                <a:latin typeface="楷体" panose="02010609060101010101" pitchFamily="49" charset="-122"/>
              </a:rPr>
              <a:t>)</a:t>
            </a:r>
            <a:r>
              <a:rPr lang="zh-CN" altLang="en-US" sz="3200" dirty="0">
                <a:latin typeface="楷体" panose="02010609060101010101" pitchFamily="49" charset="-122"/>
              </a:rPr>
              <a:t>，也是</a:t>
            </a:r>
            <a:r>
              <a:rPr lang="en-US" altLang="zh-CN" sz="3200" dirty="0">
                <a:latin typeface="楷体" panose="02010609060101010101" pitchFamily="49" charset="-122"/>
              </a:rPr>
              <a:t>Date(</a:t>
            </a:r>
            <a:r>
              <a:rPr lang="zh-CN" altLang="en-US" sz="3200" dirty="0">
                <a:latin typeface="楷体" panose="02010609060101010101" pitchFamily="49" charset="-122"/>
              </a:rPr>
              <a:t>日期类</a:t>
            </a:r>
            <a:r>
              <a:rPr lang="en-US" altLang="zh-CN" sz="3200" dirty="0">
                <a:latin typeface="楷体" panose="02010609060101010101" pitchFamily="49" charset="-122"/>
              </a:rPr>
              <a:t>)</a:t>
            </a:r>
          </a:p>
          <a:p>
            <a:pPr lvl="1"/>
            <a:r>
              <a:rPr lang="zh-CN" altLang="en-US" sz="3200" dirty="0">
                <a:latin typeface="微软雅黑" pitchFamily="34" charset="-122"/>
              </a:rPr>
              <a:t>沙发床是沙发和床的子类</a:t>
            </a:r>
            <a:endParaRPr lang="en-US" altLang="zh-CN" sz="3200" dirty="0">
              <a:latin typeface="微软雅黑" pitchFamily="34" charset="-122"/>
            </a:endParaRPr>
          </a:p>
          <a:p>
            <a:endParaRPr lang="zh-CN" altLang="en-US" dirty="0"/>
          </a:p>
        </p:txBody>
      </p:sp>
      <p:sp>
        <p:nvSpPr>
          <p:cNvPr id="3" name="Title 2"/>
          <p:cNvSpPr>
            <a:spLocks noGrp="1"/>
          </p:cNvSpPr>
          <p:nvPr>
            <p:ph type="title"/>
          </p:nvPr>
        </p:nvSpPr>
        <p:spPr/>
        <p:txBody>
          <a:bodyPr/>
          <a:lstStyle/>
          <a:p>
            <a:r>
              <a:rPr lang="zh-CN" altLang="en-US" dirty="0">
                <a:latin typeface="微软雅黑" pitchFamily="34" charset="-122"/>
              </a:rPr>
              <a:t>类的继承</a:t>
            </a:r>
            <a:endParaRPr lang="zh-CN" altLang="en-US" dirty="0"/>
          </a:p>
        </p:txBody>
      </p:sp>
      <p:sp>
        <p:nvSpPr>
          <p:cNvPr id="4" name="Date Placeholder 3"/>
          <p:cNvSpPr>
            <a:spLocks noGrp="1"/>
          </p:cNvSpPr>
          <p:nvPr>
            <p:ph type="dt" sz="half" idx="10"/>
          </p:nvPr>
        </p:nvSpPr>
        <p:spPr/>
        <p:txBody>
          <a:bodyPr/>
          <a:lstStyle/>
          <a:p>
            <a:pPr>
              <a:defRPr/>
            </a:pPr>
            <a:fld id="{6B1BA8B5-9D19-4E35-AA72-CB7000249C05}"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16</a:t>
            </a:fld>
            <a:endParaRPr lang="en-US" altLang="zh-CN"/>
          </a:p>
        </p:txBody>
      </p:sp>
    </p:spTree>
    <p:extLst>
      <p:ext uri="{BB962C8B-B14F-4D97-AF65-F5344CB8AC3E}">
        <p14:creationId xmlns:p14="http://schemas.microsoft.com/office/powerpoint/2010/main" val="3573836755"/>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p:tgtEl>
                                          <p:spTgt spid="2">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1" end="1"/>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 calcmode="lin" valueType="num">
                                      <p:cBhvr additive="base">
                                        <p:cTn id="17"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2">
                                            <p:txEl>
                                              <p:pRg st="3" end="3"/>
                                            </p:txEl>
                                          </p:spTgt>
                                        </p:tgtEl>
                                      </p:cBhvr>
                                    </p:animEffect>
                                  </p:childTnLst>
                                </p:cTn>
                              </p:par>
                              <p:par>
                                <p:cTn id="19" presetID="12" presetClass="entr" presetSubtype="4"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 calcmode="lin" valueType="num">
                                      <p:cBhvr additive="base">
                                        <p:cTn id="21" dur="5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22" dur="500"/>
                                        <p:tgtEl>
                                          <p:spTgt spid="2">
                                            <p:txEl>
                                              <p:pRg st="4" end="4"/>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p:tgtEl>
                                          <p:spTgt spid="2">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229600" cy="5447630"/>
          </a:xfrm>
        </p:spPr>
        <p:txBody>
          <a:bodyPr>
            <a:noAutofit/>
          </a:bodyPr>
          <a:lstStyle/>
          <a:p>
            <a:pPr>
              <a:lnSpc>
                <a:spcPct val="110000"/>
              </a:lnSpc>
            </a:pPr>
            <a:r>
              <a:rPr lang="zh-CN" altLang="en-US" sz="2400" dirty="0"/>
              <a:t>基类是对若干个派生类的抽象</a:t>
            </a:r>
          </a:p>
          <a:p>
            <a:pPr lvl="1">
              <a:lnSpc>
                <a:spcPct val="110000"/>
              </a:lnSpc>
            </a:pPr>
            <a:r>
              <a:rPr lang="zh-CN" altLang="en-US" sz="2400" dirty="0"/>
              <a:t>基类抽取了派生类的公共特征，在设计类时，</a:t>
            </a:r>
            <a:r>
              <a:rPr lang="zh-CN" altLang="en-US" sz="2400" b="1" dirty="0">
                <a:solidFill>
                  <a:srgbClr val="FF0000"/>
                </a:solidFill>
              </a:rPr>
              <a:t>应该将通用的方法放到超类中</a:t>
            </a:r>
            <a:endParaRPr lang="en-US" altLang="zh-CN" sz="2400" b="1" dirty="0">
              <a:solidFill>
                <a:srgbClr val="FF0000"/>
              </a:solidFill>
            </a:endParaRPr>
          </a:p>
          <a:p>
            <a:pPr lvl="1">
              <a:lnSpc>
                <a:spcPct val="110000"/>
              </a:lnSpc>
            </a:pPr>
            <a:r>
              <a:rPr lang="en-US" altLang="zh-CN" sz="2400" dirty="0"/>
              <a:t>Java</a:t>
            </a:r>
            <a:r>
              <a:rPr lang="zh-CN" altLang="en-US" sz="2400" dirty="0"/>
              <a:t>中所有类共同的基类是</a:t>
            </a:r>
            <a:r>
              <a:rPr lang="en-US" altLang="zh-CN" sz="2400" dirty="0">
                <a:solidFill>
                  <a:srgbClr val="FF0000"/>
                </a:solidFill>
              </a:rPr>
              <a:t>Object</a:t>
            </a:r>
            <a:r>
              <a:rPr lang="zh-CN" altLang="en-US" sz="2400" dirty="0"/>
              <a:t>类</a:t>
            </a:r>
          </a:p>
          <a:p>
            <a:pPr>
              <a:lnSpc>
                <a:spcPct val="110000"/>
              </a:lnSpc>
            </a:pPr>
            <a:r>
              <a:rPr lang="zh-CN" altLang="en-US" sz="2400" dirty="0"/>
              <a:t>派生类是基类的具体化</a:t>
            </a:r>
          </a:p>
          <a:p>
            <a:pPr lvl="1">
              <a:lnSpc>
                <a:spcPct val="110000"/>
              </a:lnSpc>
            </a:pPr>
            <a:r>
              <a:rPr lang="zh-CN" altLang="en-US" sz="2400" dirty="0"/>
              <a:t>通过扩展超类定义子类的时候，仅需指出子类与超类的不同之处，</a:t>
            </a:r>
            <a:r>
              <a:rPr lang="zh-CN" altLang="en-US" sz="2400" b="1" dirty="0">
                <a:solidFill>
                  <a:srgbClr val="C00000"/>
                </a:solidFill>
              </a:rPr>
              <a:t>通过增加数据成员或成员函数将基类变为某种更有用的类型</a:t>
            </a:r>
          </a:p>
          <a:p>
            <a:pPr>
              <a:lnSpc>
                <a:spcPct val="110000"/>
              </a:lnSpc>
            </a:pPr>
            <a:r>
              <a:rPr lang="zh-CN" altLang="en-US" sz="2400" b="1" dirty="0">
                <a:solidFill>
                  <a:srgbClr val="FF0000"/>
                </a:solidFill>
              </a:rPr>
              <a:t>派生类可以看作基类定义的延续</a:t>
            </a:r>
            <a:endParaRPr lang="zh-CN" altLang="en-US" sz="2400" dirty="0"/>
          </a:p>
        </p:txBody>
      </p:sp>
      <p:sp>
        <p:nvSpPr>
          <p:cNvPr id="3" name="Title 2"/>
          <p:cNvSpPr>
            <a:spLocks noGrp="1"/>
          </p:cNvSpPr>
          <p:nvPr>
            <p:ph type="title"/>
          </p:nvPr>
        </p:nvSpPr>
        <p:spPr/>
        <p:txBody>
          <a:bodyPr/>
          <a:lstStyle/>
          <a:p>
            <a:r>
              <a:rPr lang="zh-CN" altLang="en-US" dirty="0"/>
              <a:t>基类和派生类的关系</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dirty="0"/>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17</a:t>
            </a:fld>
            <a:endParaRPr lang="en-US" altLang="zh-CN" dirty="0"/>
          </a:p>
        </p:txBody>
      </p:sp>
    </p:spTree>
    <p:extLst>
      <p:ext uri="{BB962C8B-B14F-4D97-AF65-F5344CB8AC3E}">
        <p14:creationId xmlns:p14="http://schemas.microsoft.com/office/powerpoint/2010/main" val="2651411477"/>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3" end="3"/>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anim calcmode="lin" valueType="num">
                                      <p:cBhvr additive="base">
                                        <p:cTn id="11" dur="5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12" dur="500"/>
                                        <p:tgtEl>
                                          <p:spTgt spid="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 calcmode="lin" valueType="num">
                                      <p:cBhvr additive="base">
                                        <p:cTn id="17" dur="500"/>
                                        <p:tgtEl>
                                          <p:spTgt spid="2">
                                            <p:txEl>
                                              <p:pRg st="5" end="5"/>
                                            </p:txEl>
                                          </p:spTgt>
                                        </p:tgtEl>
                                        <p:attrNameLst>
                                          <p:attrName>ppt_y</p:attrName>
                                        </p:attrNameLst>
                                      </p:cBhvr>
                                      <p:tavLst>
                                        <p:tav tm="0">
                                          <p:val>
                                            <p:strVal val="#ppt_y+#ppt_h*1.125000"/>
                                          </p:val>
                                        </p:tav>
                                        <p:tav tm="100000">
                                          <p:val>
                                            <p:strVal val="#ppt_y"/>
                                          </p:val>
                                        </p:tav>
                                      </p:tavLst>
                                    </p:anim>
                                    <p:animEffect transition="in" filter="wipe(up)">
                                      <p:cBhvr>
                                        <p:cTn id="18"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继承层次结构</a:t>
            </a:r>
            <a:r>
              <a:rPr lang="en-US" altLang="zh-CN" dirty="0"/>
              <a:t>-</a:t>
            </a:r>
            <a:r>
              <a:rPr lang="zh-CN" altLang="en-US" dirty="0"/>
              <a:t>示例</a:t>
            </a:r>
            <a:r>
              <a:rPr lang="en-US" altLang="zh-CN" dirty="0"/>
              <a:t>1</a:t>
            </a:r>
            <a:endParaRPr lang="zh-CN" altLang="en-US" dirty="0"/>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18</a:t>
            </a:fld>
            <a:endParaRPr lang="en-US" altLang="zh-CN" dirty="0"/>
          </a:p>
        </p:txBody>
      </p:sp>
      <p:grpSp>
        <p:nvGrpSpPr>
          <p:cNvPr id="8" name="Group 7"/>
          <p:cNvGrpSpPr/>
          <p:nvPr/>
        </p:nvGrpSpPr>
        <p:grpSpPr>
          <a:xfrm>
            <a:off x="327025" y="1109663"/>
            <a:ext cx="8637588" cy="4408487"/>
            <a:chOff x="327025" y="1109663"/>
            <a:chExt cx="8637588" cy="4408487"/>
          </a:xfrm>
        </p:grpSpPr>
        <p:sp>
          <p:nvSpPr>
            <p:cNvPr id="9" name="Text Box 3"/>
            <p:cNvSpPr txBox="1">
              <a:spLocks noChangeArrowheads="1"/>
            </p:cNvSpPr>
            <p:nvPr/>
          </p:nvSpPr>
          <p:spPr bwMode="auto">
            <a:xfrm>
              <a:off x="3151188" y="1687810"/>
              <a:ext cx="3784600" cy="461665"/>
            </a:xfrm>
            <a:prstGeom prst="rect">
              <a:avLst/>
            </a:prstGeom>
            <a:noFill/>
            <a:ln w="12700">
              <a:noFill/>
              <a:miter lim="800000"/>
              <a:headEnd type="none" w="sm" len="sm"/>
              <a:tailEnd type="none" w="sm" len="sm"/>
            </a:ln>
            <a:effectLst/>
          </p:spPr>
          <p:txBody>
            <a:bodyPr wrap="square">
              <a:spAutoFit/>
            </a:bodyPr>
            <a:lstStyle/>
            <a:p>
              <a:pPr>
                <a:spcBef>
                  <a:spcPct val="50000"/>
                </a:spcBef>
                <a:defRPr/>
              </a:pPr>
              <a:r>
                <a:rPr kumimoji="1" lang="en-US" altLang="zh-CN" sz="2400" b="1" dirty="0" err="1">
                  <a:solidFill>
                    <a:srgbClr val="CC3300"/>
                  </a:solidFill>
                  <a:effectLst>
                    <a:outerShdw blurRad="38100" dist="38100" dir="2700000" algn="tl">
                      <a:srgbClr val="C0C0C0"/>
                    </a:outerShdw>
                  </a:effectLst>
                  <a:latin typeface="Times New Roman" pitchFamily="18" charset="0"/>
                  <a:ea typeface="楷体" panose="02010609060101010101" pitchFamily="49" charset="-122"/>
                </a:rPr>
                <a:t>SchoolCommunityMember</a:t>
              </a:r>
              <a:endPar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endParaRPr>
            </a:p>
          </p:txBody>
        </p:sp>
        <p:sp>
          <p:nvSpPr>
            <p:cNvPr id="10" name="Text Box 4"/>
            <p:cNvSpPr txBox="1">
              <a:spLocks noChangeArrowheads="1"/>
            </p:cNvSpPr>
            <p:nvPr/>
          </p:nvSpPr>
          <p:spPr bwMode="auto">
            <a:xfrm>
              <a:off x="2090738" y="2565400"/>
              <a:ext cx="1512887"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Employee</a:t>
              </a:r>
            </a:p>
          </p:txBody>
        </p:sp>
        <p:cxnSp>
          <p:nvCxnSpPr>
            <p:cNvPr id="11" name="AutoShape 5"/>
            <p:cNvCxnSpPr>
              <a:cxnSpLocks noChangeShapeType="1"/>
              <a:stCxn id="10" idx="0"/>
              <a:endCxn id="9" idx="2"/>
            </p:cNvCxnSpPr>
            <p:nvPr/>
          </p:nvCxnSpPr>
          <p:spPr bwMode="auto">
            <a:xfrm flipV="1">
              <a:off x="2847182" y="2149475"/>
              <a:ext cx="2196306" cy="415925"/>
            </a:xfrm>
            <a:prstGeom prst="straightConnector1">
              <a:avLst/>
            </a:prstGeom>
            <a:noFill/>
            <a:ln w="25400">
              <a:solidFill>
                <a:srgbClr val="336699"/>
              </a:solidFill>
              <a:round/>
              <a:headEnd type="none" w="sm" len="sm"/>
              <a:tailEnd type="triangle" w="lg" len="lg"/>
            </a:ln>
          </p:spPr>
        </p:cxnSp>
        <p:sp>
          <p:nvSpPr>
            <p:cNvPr id="12" name="Text Box 6"/>
            <p:cNvSpPr txBox="1">
              <a:spLocks noChangeArrowheads="1"/>
            </p:cNvSpPr>
            <p:nvPr/>
          </p:nvSpPr>
          <p:spPr bwMode="auto">
            <a:xfrm>
              <a:off x="4395788" y="2565400"/>
              <a:ext cx="1295400"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Student</a:t>
              </a:r>
            </a:p>
          </p:txBody>
        </p:sp>
        <p:sp>
          <p:nvSpPr>
            <p:cNvPr id="13" name="Text Box 7"/>
            <p:cNvSpPr txBox="1">
              <a:spLocks noChangeArrowheads="1"/>
            </p:cNvSpPr>
            <p:nvPr/>
          </p:nvSpPr>
          <p:spPr bwMode="auto">
            <a:xfrm>
              <a:off x="6627813" y="2565400"/>
              <a:ext cx="1512887"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Alumnus</a:t>
              </a:r>
            </a:p>
          </p:txBody>
        </p:sp>
        <p:sp>
          <p:nvSpPr>
            <p:cNvPr id="14" name="Text Box 8"/>
            <p:cNvSpPr txBox="1">
              <a:spLocks noChangeArrowheads="1"/>
            </p:cNvSpPr>
            <p:nvPr/>
          </p:nvSpPr>
          <p:spPr bwMode="auto">
            <a:xfrm>
              <a:off x="1443038" y="3260725"/>
              <a:ext cx="1295400"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Faculty</a:t>
              </a:r>
            </a:p>
          </p:txBody>
        </p:sp>
        <p:sp>
          <p:nvSpPr>
            <p:cNvPr id="15" name="Text Box 9"/>
            <p:cNvSpPr txBox="1">
              <a:spLocks noChangeArrowheads="1"/>
            </p:cNvSpPr>
            <p:nvPr/>
          </p:nvSpPr>
          <p:spPr bwMode="auto">
            <a:xfrm>
              <a:off x="3170238" y="3260725"/>
              <a:ext cx="935037"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Staff</a:t>
              </a:r>
            </a:p>
          </p:txBody>
        </p:sp>
        <p:cxnSp>
          <p:nvCxnSpPr>
            <p:cNvPr id="16" name="AutoShape 10"/>
            <p:cNvCxnSpPr>
              <a:cxnSpLocks noChangeShapeType="1"/>
              <a:stCxn id="14" idx="0"/>
              <a:endCxn id="10" idx="2"/>
            </p:cNvCxnSpPr>
            <p:nvPr/>
          </p:nvCxnSpPr>
          <p:spPr bwMode="auto">
            <a:xfrm flipV="1">
              <a:off x="2090738" y="3022600"/>
              <a:ext cx="757237" cy="238125"/>
            </a:xfrm>
            <a:prstGeom prst="straightConnector1">
              <a:avLst/>
            </a:prstGeom>
            <a:noFill/>
            <a:ln w="25400">
              <a:solidFill>
                <a:srgbClr val="336699"/>
              </a:solidFill>
              <a:round/>
              <a:headEnd type="none" w="sm" len="sm"/>
              <a:tailEnd type="triangle" w="lg" len="lg"/>
            </a:ln>
          </p:spPr>
        </p:cxnSp>
        <p:cxnSp>
          <p:nvCxnSpPr>
            <p:cNvPr id="17" name="AutoShape 11"/>
            <p:cNvCxnSpPr>
              <a:cxnSpLocks noChangeShapeType="1"/>
              <a:stCxn id="15" idx="0"/>
              <a:endCxn id="10" idx="2"/>
            </p:cNvCxnSpPr>
            <p:nvPr/>
          </p:nvCxnSpPr>
          <p:spPr bwMode="auto">
            <a:xfrm flipH="1" flipV="1">
              <a:off x="2847975" y="3022600"/>
              <a:ext cx="790575" cy="238125"/>
            </a:xfrm>
            <a:prstGeom prst="straightConnector1">
              <a:avLst/>
            </a:prstGeom>
            <a:noFill/>
            <a:ln w="25400">
              <a:solidFill>
                <a:srgbClr val="336699"/>
              </a:solidFill>
              <a:round/>
              <a:headEnd type="none" w="sm" len="sm"/>
              <a:tailEnd type="triangle" w="lg" len="lg"/>
            </a:ln>
          </p:spPr>
        </p:cxnSp>
        <p:sp>
          <p:nvSpPr>
            <p:cNvPr id="18" name="Text Box 12"/>
            <p:cNvSpPr txBox="1">
              <a:spLocks noChangeArrowheads="1"/>
            </p:cNvSpPr>
            <p:nvPr/>
          </p:nvSpPr>
          <p:spPr bwMode="auto">
            <a:xfrm>
              <a:off x="327025" y="4124325"/>
              <a:ext cx="2195513"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Administrator</a:t>
              </a:r>
            </a:p>
          </p:txBody>
        </p:sp>
        <p:sp>
          <p:nvSpPr>
            <p:cNvPr id="19" name="Text Box 13"/>
            <p:cNvSpPr txBox="1">
              <a:spLocks noChangeArrowheads="1"/>
            </p:cNvSpPr>
            <p:nvPr/>
          </p:nvSpPr>
          <p:spPr bwMode="auto">
            <a:xfrm>
              <a:off x="2306638" y="4124325"/>
              <a:ext cx="1439862"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Teacher</a:t>
              </a:r>
            </a:p>
          </p:txBody>
        </p:sp>
        <p:sp>
          <p:nvSpPr>
            <p:cNvPr id="20" name="Text Box 14"/>
            <p:cNvSpPr txBox="1">
              <a:spLocks noChangeArrowheads="1"/>
            </p:cNvSpPr>
            <p:nvPr/>
          </p:nvSpPr>
          <p:spPr bwMode="auto">
            <a:xfrm>
              <a:off x="577850" y="5060950"/>
              <a:ext cx="3167063"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en-US" altLang="zh-CN" sz="2400" b="1" dirty="0" err="1">
                  <a:solidFill>
                    <a:srgbClr val="CC3300"/>
                  </a:solidFill>
                  <a:effectLst>
                    <a:outerShdw blurRad="38100" dist="38100" dir="2700000" algn="tl">
                      <a:srgbClr val="C0C0C0"/>
                    </a:outerShdw>
                  </a:effectLst>
                  <a:latin typeface="Times New Roman" pitchFamily="18" charset="0"/>
                  <a:ea typeface="楷体" panose="02010609060101010101" pitchFamily="49" charset="-122"/>
                </a:rPr>
                <a:t>AdministratorTeacher</a:t>
              </a:r>
              <a:endPar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endParaRPr>
            </a:p>
          </p:txBody>
        </p:sp>
        <p:cxnSp>
          <p:nvCxnSpPr>
            <p:cNvPr id="21" name="AutoShape 15"/>
            <p:cNvCxnSpPr>
              <a:cxnSpLocks noChangeShapeType="1"/>
              <a:stCxn id="18" idx="0"/>
              <a:endCxn id="14" idx="2"/>
            </p:cNvCxnSpPr>
            <p:nvPr/>
          </p:nvCxnSpPr>
          <p:spPr bwMode="auto">
            <a:xfrm flipV="1">
              <a:off x="1425575" y="3717925"/>
              <a:ext cx="665163" cy="406400"/>
            </a:xfrm>
            <a:prstGeom prst="straightConnector1">
              <a:avLst/>
            </a:prstGeom>
            <a:noFill/>
            <a:ln w="25400">
              <a:solidFill>
                <a:srgbClr val="336699"/>
              </a:solidFill>
              <a:round/>
              <a:headEnd type="none" w="sm" len="sm"/>
              <a:tailEnd type="triangle" w="lg" len="lg"/>
            </a:ln>
          </p:spPr>
        </p:cxnSp>
        <p:cxnSp>
          <p:nvCxnSpPr>
            <p:cNvPr id="22" name="AutoShape 16"/>
            <p:cNvCxnSpPr>
              <a:cxnSpLocks noChangeShapeType="1"/>
              <a:stCxn id="19" idx="0"/>
              <a:endCxn id="14" idx="2"/>
            </p:cNvCxnSpPr>
            <p:nvPr/>
          </p:nvCxnSpPr>
          <p:spPr bwMode="auto">
            <a:xfrm flipH="1" flipV="1">
              <a:off x="2090738" y="3717925"/>
              <a:ext cx="936625" cy="406400"/>
            </a:xfrm>
            <a:prstGeom prst="straightConnector1">
              <a:avLst/>
            </a:prstGeom>
            <a:noFill/>
            <a:ln w="25400">
              <a:solidFill>
                <a:srgbClr val="336699"/>
              </a:solidFill>
              <a:round/>
              <a:headEnd type="none" w="sm" len="sm"/>
              <a:tailEnd type="triangle" w="lg" len="lg"/>
            </a:ln>
          </p:spPr>
        </p:cxnSp>
        <p:cxnSp>
          <p:nvCxnSpPr>
            <p:cNvPr id="23" name="AutoShape 17"/>
            <p:cNvCxnSpPr>
              <a:cxnSpLocks noChangeShapeType="1"/>
              <a:stCxn id="20" idx="0"/>
              <a:endCxn id="18" idx="2"/>
            </p:cNvCxnSpPr>
            <p:nvPr/>
          </p:nvCxnSpPr>
          <p:spPr bwMode="auto">
            <a:xfrm flipH="1" flipV="1">
              <a:off x="1425575" y="4581525"/>
              <a:ext cx="736600" cy="479425"/>
            </a:xfrm>
            <a:prstGeom prst="straightConnector1">
              <a:avLst/>
            </a:prstGeom>
            <a:noFill/>
            <a:ln w="25400">
              <a:solidFill>
                <a:srgbClr val="336699"/>
              </a:solidFill>
              <a:round/>
              <a:headEnd type="none" w="sm" len="sm"/>
              <a:tailEnd type="triangle" w="lg" len="lg"/>
            </a:ln>
          </p:spPr>
        </p:cxnSp>
        <p:cxnSp>
          <p:nvCxnSpPr>
            <p:cNvPr id="24" name="AutoShape 18"/>
            <p:cNvCxnSpPr>
              <a:cxnSpLocks noChangeShapeType="1"/>
              <a:stCxn id="20" idx="0"/>
              <a:endCxn id="19" idx="2"/>
            </p:cNvCxnSpPr>
            <p:nvPr/>
          </p:nvCxnSpPr>
          <p:spPr bwMode="auto">
            <a:xfrm flipV="1">
              <a:off x="2162175" y="4581525"/>
              <a:ext cx="865188" cy="479425"/>
            </a:xfrm>
            <a:prstGeom prst="straightConnector1">
              <a:avLst/>
            </a:prstGeom>
            <a:noFill/>
            <a:ln w="25400">
              <a:solidFill>
                <a:srgbClr val="336699"/>
              </a:solidFill>
              <a:round/>
              <a:headEnd type="none" w="sm" len="sm"/>
              <a:tailEnd type="triangle" w="lg" len="lg"/>
            </a:ln>
          </p:spPr>
        </p:cxnSp>
        <p:cxnSp>
          <p:nvCxnSpPr>
            <p:cNvPr id="25" name="AutoShape 19"/>
            <p:cNvCxnSpPr>
              <a:cxnSpLocks noChangeShapeType="1"/>
              <a:stCxn id="12" idx="0"/>
              <a:endCxn id="9" idx="2"/>
            </p:cNvCxnSpPr>
            <p:nvPr/>
          </p:nvCxnSpPr>
          <p:spPr bwMode="auto">
            <a:xfrm flipV="1">
              <a:off x="5043488" y="2149475"/>
              <a:ext cx="0" cy="415925"/>
            </a:xfrm>
            <a:prstGeom prst="straightConnector1">
              <a:avLst/>
            </a:prstGeom>
            <a:noFill/>
            <a:ln w="25400">
              <a:solidFill>
                <a:srgbClr val="336699"/>
              </a:solidFill>
              <a:round/>
              <a:headEnd type="none" w="sm" len="sm"/>
              <a:tailEnd type="triangle" w="lg" len="lg"/>
            </a:ln>
          </p:spPr>
        </p:cxnSp>
        <p:cxnSp>
          <p:nvCxnSpPr>
            <p:cNvPr id="26" name="AutoShape 20"/>
            <p:cNvCxnSpPr>
              <a:cxnSpLocks noChangeShapeType="1"/>
              <a:stCxn id="13" idx="0"/>
              <a:endCxn id="9" idx="2"/>
            </p:cNvCxnSpPr>
            <p:nvPr/>
          </p:nvCxnSpPr>
          <p:spPr bwMode="auto">
            <a:xfrm flipH="1" flipV="1">
              <a:off x="5043488" y="2149475"/>
              <a:ext cx="2340769" cy="415925"/>
            </a:xfrm>
            <a:prstGeom prst="straightConnector1">
              <a:avLst/>
            </a:prstGeom>
            <a:noFill/>
            <a:ln w="25400">
              <a:solidFill>
                <a:srgbClr val="336699"/>
              </a:solidFill>
              <a:round/>
              <a:headEnd type="none" w="sm" len="sm"/>
              <a:tailEnd type="triangle" w="lg" len="lg"/>
            </a:ln>
          </p:spPr>
        </p:cxnSp>
        <p:grpSp>
          <p:nvGrpSpPr>
            <p:cNvPr id="27" name="Group 21"/>
            <p:cNvGrpSpPr>
              <a:grpSpLocks/>
            </p:cNvGrpSpPr>
            <p:nvPr/>
          </p:nvGrpSpPr>
          <p:grpSpPr bwMode="auto">
            <a:xfrm>
              <a:off x="3603625" y="5086350"/>
              <a:ext cx="5040313" cy="396875"/>
              <a:chOff x="2064" y="3113"/>
              <a:chExt cx="3175" cy="250"/>
            </a:xfrm>
          </p:grpSpPr>
          <p:sp>
            <p:nvSpPr>
              <p:cNvPr id="34" name="Text Box 22"/>
              <p:cNvSpPr txBox="1">
                <a:spLocks noChangeArrowheads="1"/>
              </p:cNvSpPr>
              <p:nvPr/>
            </p:nvSpPr>
            <p:spPr bwMode="auto">
              <a:xfrm>
                <a:off x="2472" y="3113"/>
                <a:ext cx="2767" cy="25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zh-CN" altLang="en-US" sz="20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多重继承：从多个基类派生而成的类</a:t>
                </a:r>
              </a:p>
            </p:txBody>
          </p:sp>
          <p:sp>
            <p:nvSpPr>
              <p:cNvPr id="35" name="AutoShape 23"/>
              <p:cNvSpPr>
                <a:spLocks noChangeArrowheads="1"/>
              </p:cNvSpPr>
              <p:nvPr/>
            </p:nvSpPr>
            <p:spPr bwMode="auto">
              <a:xfrm>
                <a:off x="2064" y="3158"/>
                <a:ext cx="408" cy="136"/>
              </a:xfrm>
              <a:prstGeom prst="leftArrow">
                <a:avLst>
                  <a:gd name="adj1" fmla="val 50000"/>
                  <a:gd name="adj2" fmla="val 75000"/>
                </a:avLst>
              </a:prstGeom>
              <a:solidFill>
                <a:schemeClr val="folHlink"/>
              </a:solidFill>
              <a:ln w="28575">
                <a:solidFill>
                  <a:srgbClr val="993300"/>
                </a:solidFill>
                <a:miter lim="800000"/>
                <a:headEnd type="none" w="sm" len="sm"/>
                <a:tailEnd type="none" w="sm" len="sm"/>
              </a:ln>
            </p:spPr>
            <p:txBody>
              <a:bodyPr wrap="none" anchor="ctr"/>
              <a:lstStyle/>
              <a:p>
                <a:endParaRPr lang="zh-CN" altLang="en-US" dirty="0">
                  <a:latin typeface="Times New Roman" pitchFamily="18" charset="0"/>
                  <a:ea typeface="楷体" panose="02010609060101010101" pitchFamily="49" charset="-122"/>
                </a:endParaRPr>
              </a:p>
            </p:txBody>
          </p:sp>
        </p:grpSp>
        <p:grpSp>
          <p:nvGrpSpPr>
            <p:cNvPr id="28" name="Group 24"/>
            <p:cNvGrpSpPr>
              <a:grpSpLocks/>
            </p:cNvGrpSpPr>
            <p:nvPr/>
          </p:nvGrpSpPr>
          <p:grpSpPr bwMode="auto">
            <a:xfrm>
              <a:off x="4251326" y="2997199"/>
              <a:ext cx="4392613" cy="1117600"/>
              <a:chOff x="2472" y="1797"/>
              <a:chExt cx="2767" cy="704"/>
            </a:xfrm>
          </p:grpSpPr>
          <p:sp>
            <p:nvSpPr>
              <p:cNvPr id="30" name="Text Box 25"/>
              <p:cNvSpPr txBox="1">
                <a:spLocks noChangeArrowheads="1"/>
              </p:cNvSpPr>
              <p:nvPr/>
            </p:nvSpPr>
            <p:spPr bwMode="auto">
              <a:xfrm>
                <a:off x="2472" y="2251"/>
                <a:ext cx="2767" cy="250"/>
              </a:xfrm>
              <a:prstGeom prst="rect">
                <a:avLst/>
              </a:prstGeom>
              <a:noFill/>
              <a:ln w="12700">
                <a:noFill/>
                <a:miter lim="800000"/>
                <a:headEnd type="none" w="sm" len="sm"/>
                <a:tailEnd type="none" w="sm" len="sm"/>
              </a:ln>
              <a:effectLst/>
            </p:spPr>
            <p:txBody>
              <a:bodyPr>
                <a:spAutoFit/>
              </a:bodyPr>
              <a:lstStyle/>
              <a:p>
                <a:pPr>
                  <a:spcBef>
                    <a:spcPct val="50000"/>
                  </a:spcBef>
                  <a:defRPr/>
                </a:pPr>
                <a:r>
                  <a:rPr kumimoji="1" lang="zh-CN" altLang="en-US" sz="20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单一继承：从一个基类派生而成的类</a:t>
                </a:r>
              </a:p>
            </p:txBody>
          </p:sp>
          <p:sp>
            <p:nvSpPr>
              <p:cNvPr id="31" name="AutoShape 26"/>
              <p:cNvSpPr>
                <a:spLocks noChangeArrowheads="1"/>
              </p:cNvSpPr>
              <p:nvPr/>
            </p:nvSpPr>
            <p:spPr bwMode="auto">
              <a:xfrm>
                <a:off x="3651" y="1797"/>
                <a:ext cx="182" cy="272"/>
              </a:xfrm>
              <a:prstGeom prst="upArrow">
                <a:avLst>
                  <a:gd name="adj1" fmla="val 50000"/>
                  <a:gd name="adj2" fmla="val 37363"/>
                </a:avLst>
              </a:prstGeom>
              <a:solidFill>
                <a:schemeClr val="folHlink"/>
              </a:solidFill>
              <a:ln w="28575">
                <a:solidFill>
                  <a:srgbClr val="993300"/>
                </a:solidFill>
                <a:miter lim="800000"/>
                <a:headEnd type="none" w="sm" len="sm"/>
                <a:tailEnd type="none" w="sm" len="sm"/>
              </a:ln>
            </p:spPr>
            <p:txBody>
              <a:bodyPr vert="eaVert" wrap="none" anchor="ctr"/>
              <a:lstStyle/>
              <a:p>
                <a:endParaRPr lang="zh-CN" altLang="en-US" dirty="0">
                  <a:latin typeface="Times New Roman" pitchFamily="18" charset="0"/>
                  <a:ea typeface="楷体" panose="02010609060101010101" pitchFamily="49" charset="-122"/>
                </a:endParaRPr>
              </a:p>
            </p:txBody>
          </p:sp>
        </p:grpSp>
        <p:sp>
          <p:nvSpPr>
            <p:cNvPr id="29" name="Text Box 29"/>
            <p:cNvSpPr txBox="1">
              <a:spLocks noChangeArrowheads="1"/>
            </p:cNvSpPr>
            <p:nvPr/>
          </p:nvSpPr>
          <p:spPr bwMode="auto">
            <a:xfrm>
              <a:off x="539750" y="1109663"/>
              <a:ext cx="8424863" cy="519112"/>
            </a:xfrm>
            <a:prstGeom prst="rect">
              <a:avLst/>
            </a:prstGeom>
            <a:noFill/>
            <a:ln w="12700">
              <a:noFill/>
              <a:miter lim="800000"/>
              <a:headEnd type="none" w="sm" len="sm"/>
              <a:tailEnd type="none" w="sm" len="sm"/>
            </a:ln>
            <a:effectLst/>
          </p:spPr>
          <p:txBody>
            <a:bodyPr>
              <a:spAutoFit/>
            </a:bodyPr>
            <a:lstStyle/>
            <a:p>
              <a:pPr algn="ctr">
                <a:spcBef>
                  <a:spcPct val="50000"/>
                </a:spcBef>
                <a:defRPr/>
              </a:pPr>
              <a:r>
                <a:rPr kumimoji="1" lang="zh-CN" altLang="en-US" sz="2800" b="1" dirty="0">
                  <a:effectLst>
                    <a:outerShdw blurRad="38100" dist="38100" dir="2700000" algn="tl">
                      <a:srgbClr val="C0C0C0"/>
                    </a:outerShdw>
                  </a:effectLst>
                  <a:latin typeface="Times New Roman" pitchFamily="18" charset="0"/>
                  <a:ea typeface="楷体" panose="02010609060101010101" pitchFamily="49" charset="-122"/>
                </a:rPr>
                <a:t>基类和派生类构成类的层次结构</a:t>
              </a:r>
            </a:p>
          </p:txBody>
        </p:sp>
      </p:grpSp>
    </p:spTree>
    <p:extLst>
      <p:ext uri="{BB962C8B-B14F-4D97-AF65-F5344CB8AC3E}">
        <p14:creationId xmlns:p14="http://schemas.microsoft.com/office/powerpoint/2010/main" val="918559458"/>
      </p:ext>
    </p:extLst>
  </p:cSld>
  <p:clrMapOvr>
    <a:masterClrMapping/>
  </p:clrMapOvr>
  <p:transition spd="med">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继承的层次结构</a:t>
            </a:r>
            <a:r>
              <a:rPr lang="en-US" altLang="zh-CN" dirty="0"/>
              <a:t>-</a:t>
            </a:r>
            <a:r>
              <a:rPr lang="zh-CN" altLang="en-US" dirty="0"/>
              <a:t>示例</a:t>
            </a:r>
            <a:r>
              <a:rPr lang="en-US" altLang="zh-CN" dirty="0"/>
              <a:t>2</a:t>
            </a:r>
            <a:endParaRPr lang="zh-CN" altLang="en-US" dirty="0"/>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19</a:t>
            </a:fld>
            <a:endParaRPr lang="en-US" altLang="zh-CN"/>
          </a:p>
        </p:txBody>
      </p:sp>
      <p:grpSp>
        <p:nvGrpSpPr>
          <p:cNvPr id="26" name="Group 25"/>
          <p:cNvGrpSpPr/>
          <p:nvPr/>
        </p:nvGrpSpPr>
        <p:grpSpPr>
          <a:xfrm>
            <a:off x="250825" y="1095375"/>
            <a:ext cx="8923338" cy="4358422"/>
            <a:chOff x="250825" y="1095375"/>
            <a:chExt cx="8923338" cy="4358422"/>
          </a:xfrm>
        </p:grpSpPr>
        <p:grpSp>
          <p:nvGrpSpPr>
            <p:cNvPr id="7" name="Group 6"/>
            <p:cNvGrpSpPr/>
            <p:nvPr/>
          </p:nvGrpSpPr>
          <p:grpSpPr>
            <a:xfrm>
              <a:off x="250825" y="1095375"/>
              <a:ext cx="8353425" cy="4358422"/>
              <a:chOff x="250825" y="1095375"/>
              <a:chExt cx="8353425" cy="4358422"/>
            </a:xfrm>
          </p:grpSpPr>
          <p:sp>
            <p:nvSpPr>
              <p:cNvPr id="8" name="Text Box 3"/>
              <p:cNvSpPr txBox="1">
                <a:spLocks noChangeArrowheads="1"/>
              </p:cNvSpPr>
              <p:nvPr/>
            </p:nvSpPr>
            <p:spPr bwMode="auto">
              <a:xfrm>
                <a:off x="3059113" y="1095375"/>
                <a:ext cx="2881312" cy="45720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Shape</a:t>
                </a:r>
              </a:p>
            </p:txBody>
          </p:sp>
          <p:sp>
            <p:nvSpPr>
              <p:cNvPr id="9" name="Text Box 4"/>
              <p:cNvSpPr txBox="1">
                <a:spLocks noChangeArrowheads="1"/>
              </p:cNvSpPr>
              <p:nvPr/>
            </p:nvSpPr>
            <p:spPr bwMode="auto">
              <a:xfrm>
                <a:off x="323850" y="2103438"/>
                <a:ext cx="3816350" cy="45720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kumimoji="1" lang="en-US" altLang="zh-CN" sz="2400" b="1" dirty="0" err="1">
                    <a:solidFill>
                      <a:srgbClr val="FF3300"/>
                    </a:solidFill>
                    <a:effectLst>
                      <a:outerShdw blurRad="38100" dist="38100" dir="2700000" algn="tl">
                        <a:srgbClr val="C0C0C0"/>
                      </a:outerShdw>
                    </a:effectLst>
                    <a:latin typeface="Times New Roman" pitchFamily="18" charset="0"/>
                    <a:ea typeface="楷体" panose="02010609060101010101" pitchFamily="49" charset="-122"/>
                  </a:rPr>
                  <a:t>TwoDimensionalShape</a:t>
                </a:r>
                <a:endParaRPr kumimoji="1" lang="en-US" altLang="zh-CN"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endParaRPr>
              </a:p>
            </p:txBody>
          </p:sp>
          <p:cxnSp>
            <p:nvCxnSpPr>
              <p:cNvPr id="10" name="AutoShape 5"/>
              <p:cNvCxnSpPr>
                <a:cxnSpLocks noChangeShapeType="1"/>
                <a:stCxn id="9" idx="0"/>
              </p:cNvCxnSpPr>
              <p:nvPr/>
            </p:nvCxnSpPr>
            <p:spPr bwMode="auto">
              <a:xfrm flipV="1">
                <a:off x="2232025" y="1552575"/>
                <a:ext cx="2268538" cy="550863"/>
              </a:xfrm>
              <a:prstGeom prst="straightConnector1">
                <a:avLst/>
              </a:prstGeom>
              <a:noFill/>
              <a:ln w="25400">
                <a:solidFill>
                  <a:srgbClr val="336699"/>
                </a:solidFill>
                <a:round/>
                <a:headEnd type="none" w="sm" len="sm"/>
                <a:tailEnd type="triangle" w="lg" len="lg"/>
              </a:ln>
            </p:spPr>
          </p:cxnSp>
          <p:sp>
            <p:nvSpPr>
              <p:cNvPr id="11" name="Text Box 6"/>
              <p:cNvSpPr txBox="1">
                <a:spLocks noChangeArrowheads="1"/>
              </p:cNvSpPr>
              <p:nvPr/>
            </p:nvSpPr>
            <p:spPr bwMode="auto">
              <a:xfrm>
                <a:off x="4859338" y="2103438"/>
                <a:ext cx="3457575" cy="45720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kumimoji="1" lang="en-US" altLang="zh-CN" sz="2400" b="1" dirty="0" err="1">
                    <a:solidFill>
                      <a:srgbClr val="FF3300"/>
                    </a:solidFill>
                    <a:effectLst>
                      <a:outerShdw blurRad="38100" dist="38100" dir="2700000" algn="tl">
                        <a:srgbClr val="C0C0C0"/>
                      </a:outerShdw>
                    </a:effectLst>
                    <a:latin typeface="Times New Roman" pitchFamily="18" charset="0"/>
                    <a:ea typeface="楷体" panose="02010609060101010101" pitchFamily="49" charset="-122"/>
                  </a:rPr>
                  <a:t>ThreeDimensionalShape</a:t>
                </a:r>
                <a:endParaRPr kumimoji="1" lang="en-US" altLang="zh-CN"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endParaRPr>
              </a:p>
            </p:txBody>
          </p:sp>
          <p:sp>
            <p:nvSpPr>
              <p:cNvPr id="12" name="Text Box 7"/>
              <p:cNvSpPr txBox="1">
                <a:spLocks noChangeArrowheads="1"/>
              </p:cNvSpPr>
              <p:nvPr/>
            </p:nvSpPr>
            <p:spPr bwMode="auto">
              <a:xfrm>
                <a:off x="250825" y="3159125"/>
                <a:ext cx="1152525" cy="45720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Circle</a:t>
                </a:r>
              </a:p>
            </p:txBody>
          </p:sp>
          <p:sp>
            <p:nvSpPr>
              <p:cNvPr id="13" name="Text Box 8"/>
              <p:cNvSpPr txBox="1">
                <a:spLocks noChangeArrowheads="1"/>
              </p:cNvSpPr>
              <p:nvPr/>
            </p:nvSpPr>
            <p:spPr bwMode="auto">
              <a:xfrm>
                <a:off x="1547813" y="3159125"/>
                <a:ext cx="1296987" cy="45720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Square</a:t>
                </a:r>
              </a:p>
            </p:txBody>
          </p:sp>
          <p:cxnSp>
            <p:nvCxnSpPr>
              <p:cNvPr id="14" name="AutoShape 9"/>
              <p:cNvCxnSpPr>
                <a:cxnSpLocks noChangeShapeType="1"/>
                <a:stCxn id="12" idx="0"/>
                <a:endCxn id="9" idx="2"/>
              </p:cNvCxnSpPr>
              <p:nvPr/>
            </p:nvCxnSpPr>
            <p:spPr bwMode="auto">
              <a:xfrm flipV="1">
                <a:off x="827088" y="2560638"/>
                <a:ext cx="1404937" cy="598487"/>
              </a:xfrm>
              <a:prstGeom prst="straightConnector1">
                <a:avLst/>
              </a:prstGeom>
              <a:noFill/>
              <a:ln w="25400">
                <a:solidFill>
                  <a:srgbClr val="336699"/>
                </a:solidFill>
                <a:round/>
                <a:headEnd type="none" w="sm" len="sm"/>
                <a:tailEnd type="triangle" w="lg" len="lg"/>
              </a:ln>
            </p:spPr>
          </p:cxnSp>
          <p:cxnSp>
            <p:nvCxnSpPr>
              <p:cNvPr id="15" name="AutoShape 10"/>
              <p:cNvCxnSpPr>
                <a:cxnSpLocks noChangeShapeType="1"/>
                <a:stCxn id="13" idx="0"/>
                <a:endCxn id="9" idx="2"/>
              </p:cNvCxnSpPr>
              <p:nvPr/>
            </p:nvCxnSpPr>
            <p:spPr bwMode="auto">
              <a:xfrm flipV="1">
                <a:off x="2197100" y="2560638"/>
                <a:ext cx="34925" cy="598487"/>
              </a:xfrm>
              <a:prstGeom prst="straightConnector1">
                <a:avLst/>
              </a:prstGeom>
              <a:noFill/>
              <a:ln w="25400">
                <a:solidFill>
                  <a:srgbClr val="336699"/>
                </a:solidFill>
                <a:round/>
                <a:headEnd type="none" w="sm" len="sm"/>
                <a:tailEnd type="triangle" w="lg" len="lg"/>
              </a:ln>
            </p:spPr>
          </p:cxnSp>
          <p:cxnSp>
            <p:nvCxnSpPr>
              <p:cNvPr id="16" name="AutoShape 11"/>
              <p:cNvCxnSpPr>
                <a:cxnSpLocks noChangeShapeType="1"/>
                <a:stCxn id="11" idx="0"/>
              </p:cNvCxnSpPr>
              <p:nvPr/>
            </p:nvCxnSpPr>
            <p:spPr bwMode="auto">
              <a:xfrm flipH="1" flipV="1">
                <a:off x="4500563" y="1552575"/>
                <a:ext cx="2087562" cy="550863"/>
              </a:xfrm>
              <a:prstGeom prst="straightConnector1">
                <a:avLst/>
              </a:prstGeom>
              <a:noFill/>
              <a:ln w="25400">
                <a:solidFill>
                  <a:srgbClr val="336699"/>
                </a:solidFill>
                <a:round/>
                <a:headEnd type="none" w="sm" len="sm"/>
                <a:tailEnd type="triangle" w="lg" len="lg"/>
              </a:ln>
            </p:spPr>
          </p:cxnSp>
          <p:sp>
            <p:nvSpPr>
              <p:cNvPr id="17" name="Text Box 12"/>
              <p:cNvSpPr txBox="1">
                <a:spLocks noChangeArrowheads="1"/>
              </p:cNvSpPr>
              <p:nvPr/>
            </p:nvSpPr>
            <p:spPr bwMode="auto">
              <a:xfrm>
                <a:off x="3059113" y="3159125"/>
                <a:ext cx="1441450" cy="45720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Triangle</a:t>
                </a:r>
              </a:p>
            </p:txBody>
          </p:sp>
          <p:cxnSp>
            <p:nvCxnSpPr>
              <p:cNvPr id="18" name="AutoShape 13"/>
              <p:cNvCxnSpPr>
                <a:cxnSpLocks noChangeShapeType="1"/>
                <a:stCxn id="17" idx="0"/>
                <a:endCxn id="9" idx="2"/>
              </p:cNvCxnSpPr>
              <p:nvPr/>
            </p:nvCxnSpPr>
            <p:spPr bwMode="auto">
              <a:xfrm flipH="1" flipV="1">
                <a:off x="2232025" y="2560638"/>
                <a:ext cx="1547813" cy="598487"/>
              </a:xfrm>
              <a:prstGeom prst="straightConnector1">
                <a:avLst/>
              </a:prstGeom>
              <a:noFill/>
              <a:ln w="25400">
                <a:solidFill>
                  <a:srgbClr val="336699"/>
                </a:solidFill>
                <a:round/>
                <a:headEnd type="none" w="sm" len="sm"/>
                <a:tailEnd type="triangle" w="lg" len="lg"/>
              </a:ln>
            </p:spPr>
          </p:cxnSp>
          <p:sp>
            <p:nvSpPr>
              <p:cNvPr id="19" name="Text Box 14"/>
              <p:cNvSpPr txBox="1">
                <a:spLocks noChangeArrowheads="1"/>
              </p:cNvSpPr>
              <p:nvPr/>
            </p:nvSpPr>
            <p:spPr bwMode="auto">
              <a:xfrm>
                <a:off x="4572000" y="3159125"/>
                <a:ext cx="1295400" cy="45720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Sphere</a:t>
                </a:r>
              </a:p>
            </p:txBody>
          </p:sp>
          <p:sp>
            <p:nvSpPr>
              <p:cNvPr id="20" name="Text Box 15"/>
              <p:cNvSpPr txBox="1">
                <a:spLocks noChangeArrowheads="1"/>
              </p:cNvSpPr>
              <p:nvPr/>
            </p:nvSpPr>
            <p:spPr bwMode="auto">
              <a:xfrm>
                <a:off x="6084888" y="3159125"/>
                <a:ext cx="1081087" cy="45720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kumimoji="1" lang="en-US" altLang="zh-CN" sz="2400" b="1" dirty="0">
                    <a:solidFill>
                      <a:srgbClr val="CC3300"/>
                    </a:solidFill>
                    <a:effectLst>
                      <a:outerShdw blurRad="38100" dist="38100" dir="2700000" algn="tl">
                        <a:srgbClr val="C0C0C0"/>
                      </a:outerShdw>
                    </a:effectLst>
                    <a:latin typeface="Times New Roman" pitchFamily="18" charset="0"/>
                    <a:ea typeface="楷体" panose="02010609060101010101" pitchFamily="49" charset="-122"/>
                  </a:rPr>
                  <a:t>Cube</a:t>
                </a:r>
              </a:p>
            </p:txBody>
          </p:sp>
          <p:cxnSp>
            <p:nvCxnSpPr>
              <p:cNvPr id="21" name="AutoShape 16"/>
              <p:cNvCxnSpPr>
                <a:cxnSpLocks noChangeShapeType="1"/>
                <a:stCxn id="19" idx="0"/>
                <a:endCxn id="11" idx="2"/>
              </p:cNvCxnSpPr>
              <p:nvPr/>
            </p:nvCxnSpPr>
            <p:spPr bwMode="auto">
              <a:xfrm flipV="1">
                <a:off x="5219700" y="2560638"/>
                <a:ext cx="1368425" cy="598487"/>
              </a:xfrm>
              <a:prstGeom prst="straightConnector1">
                <a:avLst/>
              </a:prstGeom>
              <a:noFill/>
              <a:ln w="25400">
                <a:solidFill>
                  <a:srgbClr val="336699"/>
                </a:solidFill>
                <a:round/>
                <a:headEnd type="none" w="sm" len="sm"/>
                <a:tailEnd type="triangle" w="lg" len="lg"/>
              </a:ln>
            </p:spPr>
          </p:cxnSp>
          <p:cxnSp>
            <p:nvCxnSpPr>
              <p:cNvPr id="22" name="AutoShape 17"/>
              <p:cNvCxnSpPr>
                <a:cxnSpLocks noChangeShapeType="1"/>
                <a:stCxn id="20" idx="0"/>
                <a:endCxn id="11" idx="2"/>
              </p:cNvCxnSpPr>
              <p:nvPr/>
            </p:nvCxnSpPr>
            <p:spPr bwMode="auto">
              <a:xfrm flipH="1" flipV="1">
                <a:off x="6588125" y="2560638"/>
                <a:ext cx="38100" cy="598487"/>
              </a:xfrm>
              <a:prstGeom prst="straightConnector1">
                <a:avLst/>
              </a:prstGeom>
              <a:noFill/>
              <a:ln w="25400">
                <a:solidFill>
                  <a:srgbClr val="336699"/>
                </a:solidFill>
                <a:round/>
                <a:headEnd type="none" w="sm" len="sm"/>
                <a:tailEnd type="triangle" w="lg" len="lg"/>
              </a:ln>
            </p:spPr>
          </p:cxnSp>
          <p:cxnSp>
            <p:nvCxnSpPr>
              <p:cNvPr id="23" name="AutoShape 19"/>
              <p:cNvCxnSpPr>
                <a:cxnSpLocks noChangeShapeType="1"/>
                <a:endCxn id="11" idx="2"/>
              </p:cNvCxnSpPr>
              <p:nvPr/>
            </p:nvCxnSpPr>
            <p:spPr bwMode="auto">
              <a:xfrm flipH="1" flipV="1">
                <a:off x="6588125" y="2560638"/>
                <a:ext cx="1495425" cy="596900"/>
              </a:xfrm>
              <a:prstGeom prst="straightConnector1">
                <a:avLst/>
              </a:prstGeom>
              <a:noFill/>
              <a:ln w="25400">
                <a:solidFill>
                  <a:srgbClr val="336699"/>
                </a:solidFill>
                <a:round/>
                <a:headEnd type="none" w="sm" len="sm"/>
                <a:tailEnd type="triangle" w="lg" len="lg"/>
              </a:ln>
            </p:spPr>
          </p:cxnSp>
          <p:sp>
            <p:nvSpPr>
              <p:cNvPr id="24" name="Text Box 21"/>
              <p:cNvSpPr txBox="1">
                <a:spLocks noChangeArrowheads="1"/>
              </p:cNvSpPr>
              <p:nvPr/>
            </p:nvSpPr>
            <p:spPr bwMode="auto">
              <a:xfrm>
                <a:off x="611188" y="4622800"/>
                <a:ext cx="7993062" cy="830997"/>
              </a:xfrm>
              <a:prstGeom prst="rect">
                <a:avLst/>
              </a:prstGeom>
              <a:noFill/>
              <a:ln w="12700">
                <a:noFill/>
                <a:miter lim="800000"/>
                <a:headEnd type="none" w="sm" len="sm"/>
                <a:tailEnd type="none" w="sm" len="sm"/>
              </a:ln>
              <a:effectLst/>
            </p:spPr>
            <p:txBody>
              <a:bodyPr>
                <a:spAutoFit/>
              </a:bodyPr>
              <a:lstStyle/>
              <a:p>
                <a:pPr>
                  <a:defRPr/>
                </a:pPr>
                <a:r>
                  <a:rPr lang="zh-CN" altLang="en-US"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直接基类、直接派生类：</a:t>
                </a:r>
                <a:r>
                  <a:rPr lang="en-US" altLang="zh-CN"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Shape</a:t>
                </a:r>
                <a:r>
                  <a:rPr lang="zh-CN" altLang="en-US"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与</a:t>
                </a:r>
                <a:r>
                  <a:rPr lang="en-US" altLang="zh-CN" sz="2400" b="1" dirty="0" err="1">
                    <a:solidFill>
                      <a:srgbClr val="FF3300"/>
                    </a:solidFill>
                    <a:effectLst>
                      <a:outerShdw blurRad="38100" dist="38100" dir="2700000" algn="tl">
                        <a:srgbClr val="C0C0C0"/>
                      </a:outerShdw>
                    </a:effectLst>
                    <a:latin typeface="Times New Roman" pitchFamily="18" charset="0"/>
                    <a:ea typeface="楷体" panose="02010609060101010101" pitchFamily="49" charset="-122"/>
                  </a:rPr>
                  <a:t>TwoDimensionalShape</a:t>
                </a:r>
                <a:endParaRPr lang="en-US" altLang="zh-CN"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endParaRPr>
              </a:p>
              <a:p>
                <a:pPr>
                  <a:defRPr/>
                </a:pPr>
                <a:r>
                  <a:rPr lang="zh-CN" altLang="en-US"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间接基类、间接派生类：</a:t>
                </a:r>
                <a:r>
                  <a:rPr lang="en-US" altLang="zh-CN"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Shape</a:t>
                </a:r>
                <a:r>
                  <a:rPr lang="zh-CN" altLang="en-US"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与</a:t>
                </a:r>
                <a:r>
                  <a:rPr lang="en-US" altLang="zh-CN"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Circle</a:t>
                </a:r>
                <a:endParaRPr kumimoji="1" lang="en-US" altLang="zh-CN" sz="24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endParaRPr>
              </a:p>
            </p:txBody>
          </p:sp>
        </p:grpSp>
        <p:sp>
          <p:nvSpPr>
            <p:cNvPr id="25" name="Text Box 20"/>
            <p:cNvSpPr txBox="1">
              <a:spLocks noChangeArrowheads="1"/>
            </p:cNvSpPr>
            <p:nvPr/>
          </p:nvSpPr>
          <p:spPr bwMode="auto">
            <a:xfrm>
              <a:off x="250825" y="3860800"/>
              <a:ext cx="8923338" cy="519113"/>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zh-CN" altLang="en-US" sz="28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对现</a:t>
              </a:r>
              <a:r>
                <a:rPr kumimoji="1" lang="zh-CN" altLang="en-US" sz="2800" b="1" dirty="0">
                  <a:solidFill>
                    <a:srgbClr val="FF3300"/>
                  </a:solidFill>
                  <a:effectLst>
                    <a:outerShdw blurRad="38100" dist="38100" dir="2700000" algn="tl">
                      <a:srgbClr val="C0C0C0"/>
                    </a:outerShdw>
                  </a:effectLst>
                  <a:latin typeface="Times New Roman" pitchFamily="18" charset="0"/>
                  <a:ea typeface="楷体" panose="02010609060101010101" pitchFamily="49" charset="-122"/>
                </a:rPr>
                <a:t>实世界中的层次结构进行分门别类！</a:t>
              </a:r>
            </a:p>
          </p:txBody>
        </p:sp>
      </p:grpSp>
    </p:spTree>
    <p:extLst>
      <p:ext uri="{BB962C8B-B14F-4D97-AF65-F5344CB8AC3E}">
        <p14:creationId xmlns:p14="http://schemas.microsoft.com/office/powerpoint/2010/main" val="3959778634"/>
      </p:ext>
    </p:extLst>
  </p:cSld>
  <p:clrMapOvr>
    <a:masterClrMapping/>
  </p:clrMapOvr>
  <p:transition spd="med">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继承的层次结构</a:t>
            </a:r>
            <a:r>
              <a:rPr lang="en-US" altLang="zh-CN" dirty="0"/>
              <a:t>-</a:t>
            </a:r>
            <a:r>
              <a:rPr lang="zh-CN" altLang="en-US" dirty="0"/>
              <a:t>示例</a:t>
            </a:r>
            <a:r>
              <a:rPr lang="en-US" altLang="zh-CN" dirty="0"/>
              <a:t>3</a:t>
            </a:r>
            <a:endParaRPr lang="zh-CN" altLang="en-US" dirty="0"/>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20</a:t>
            </a:fld>
            <a:endParaRPr lang="en-US" altLang="zh-CN"/>
          </a:p>
        </p:txBody>
      </p:sp>
      <p:sp>
        <p:nvSpPr>
          <p:cNvPr id="7" name="AutoShape 4"/>
          <p:cNvSpPr>
            <a:spLocks/>
          </p:cNvSpPr>
          <p:nvPr/>
        </p:nvSpPr>
        <p:spPr bwMode="auto">
          <a:xfrm>
            <a:off x="6372225" y="1050925"/>
            <a:ext cx="2232025" cy="574675"/>
          </a:xfrm>
          <a:prstGeom prst="borderCallout2">
            <a:avLst>
              <a:gd name="adj1" fmla="val 19889"/>
              <a:gd name="adj2" fmla="val -3412"/>
              <a:gd name="adj3" fmla="val 19889"/>
              <a:gd name="adj4" fmla="val -15148"/>
              <a:gd name="adj5" fmla="val 171269"/>
              <a:gd name="adj6" fmla="val -57111"/>
            </a:avLst>
          </a:prstGeom>
          <a:gradFill rotWithShape="1">
            <a:gsLst>
              <a:gs pos="0">
                <a:srgbClr val="B1F000"/>
              </a:gs>
              <a:gs pos="100000">
                <a:srgbClr val="FFFFFF"/>
              </a:gs>
            </a:gsLst>
            <a:lin ang="5400000" scaled="1"/>
          </a:gradFill>
          <a:ln w="9525" algn="ctr">
            <a:solidFill>
              <a:schemeClr val="tx1"/>
            </a:solidFill>
            <a:miter lim="800000"/>
            <a:headEnd/>
            <a:tailEnd type="triangle" w="med" len="med"/>
          </a:ln>
          <a:effectLst>
            <a:outerShdw dist="71842" dir="2700000" algn="ctr" rotWithShape="0">
              <a:schemeClr val="bg2">
                <a:alpha val="50000"/>
              </a:schemeClr>
            </a:outerShdw>
          </a:effectLst>
        </p:spPr>
        <p:txBody>
          <a:bodyPr wrap="none" anchor="ctr"/>
          <a:lstStyle/>
          <a:p>
            <a:pPr algn="ctr"/>
            <a:r>
              <a:rPr lang="zh-CN" altLang="en-US" sz="2400" b="1" dirty="0">
                <a:ea typeface="楷体" panose="02010609060101010101" pitchFamily="49" charset="-122"/>
              </a:rPr>
              <a:t>父 类</a:t>
            </a:r>
            <a:r>
              <a:rPr lang="zh-CN" altLang="en-US" sz="2400" b="1" dirty="0">
                <a:solidFill>
                  <a:schemeClr val="bg1"/>
                </a:solidFill>
                <a:ea typeface="楷体" panose="02010609060101010101" pitchFamily="49" charset="-122"/>
              </a:rPr>
              <a:t> </a:t>
            </a:r>
            <a:endParaRPr lang="en-US" sz="2400" b="1" dirty="0">
              <a:solidFill>
                <a:schemeClr val="bg1"/>
              </a:solidFill>
            </a:endParaRPr>
          </a:p>
        </p:txBody>
      </p:sp>
      <p:sp>
        <p:nvSpPr>
          <p:cNvPr id="8" name="AutoShape 5"/>
          <p:cNvSpPr>
            <a:spLocks/>
          </p:cNvSpPr>
          <p:nvPr/>
        </p:nvSpPr>
        <p:spPr bwMode="auto">
          <a:xfrm rot="5400000">
            <a:off x="1690688" y="4579938"/>
            <a:ext cx="360362" cy="2519362"/>
          </a:xfrm>
          <a:prstGeom prst="rightBrace">
            <a:avLst>
              <a:gd name="adj1" fmla="val 58260"/>
              <a:gd name="adj2" fmla="val 48704"/>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9" name="AutoShape 6"/>
          <p:cNvSpPr>
            <a:spLocks/>
          </p:cNvSpPr>
          <p:nvPr/>
        </p:nvSpPr>
        <p:spPr bwMode="auto">
          <a:xfrm rot="5400000">
            <a:off x="6516687" y="4578351"/>
            <a:ext cx="360363" cy="2519362"/>
          </a:xfrm>
          <a:prstGeom prst="rightBrace">
            <a:avLst>
              <a:gd name="adj1" fmla="val 58260"/>
              <a:gd name="adj2" fmla="val 48704"/>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10" name="AutoShape 7"/>
          <p:cNvSpPr>
            <a:spLocks/>
          </p:cNvSpPr>
          <p:nvPr/>
        </p:nvSpPr>
        <p:spPr bwMode="auto">
          <a:xfrm>
            <a:off x="3203575" y="5876925"/>
            <a:ext cx="2232025" cy="501650"/>
          </a:xfrm>
          <a:prstGeom prst="borderCallout2">
            <a:avLst>
              <a:gd name="adj1" fmla="val 22787"/>
              <a:gd name="adj2" fmla="val -3412"/>
              <a:gd name="adj3" fmla="val 22787"/>
              <a:gd name="adj4" fmla="val -6472"/>
              <a:gd name="adj5" fmla="val 10759"/>
              <a:gd name="adj6" fmla="val -17708"/>
            </a:avLst>
          </a:prstGeom>
          <a:gradFill rotWithShape="1">
            <a:gsLst>
              <a:gs pos="0">
                <a:srgbClr val="B1F000"/>
              </a:gs>
              <a:gs pos="100000">
                <a:srgbClr val="FFFFFF"/>
              </a:gs>
            </a:gsLst>
            <a:lin ang="5400000" scaled="1"/>
          </a:gradFill>
          <a:ln w="19050" algn="ctr">
            <a:solidFill>
              <a:schemeClr val="tx1"/>
            </a:solidFill>
            <a:miter lim="800000"/>
            <a:headEnd/>
            <a:tailEnd type="triangle" w="med" len="med"/>
          </a:ln>
          <a:effectLst>
            <a:outerShdw dist="71842" dir="2700000" algn="ctr" rotWithShape="0">
              <a:schemeClr val="bg2">
                <a:alpha val="50000"/>
              </a:schemeClr>
            </a:outerShdw>
          </a:effectLst>
        </p:spPr>
        <p:txBody>
          <a:bodyPr wrap="none" anchor="ctr"/>
          <a:lstStyle/>
          <a:p>
            <a:pPr algn="ctr"/>
            <a:r>
              <a:rPr lang="zh-CN" altLang="en-US" sz="2400" b="1" dirty="0">
                <a:ea typeface="楷体" panose="02010609060101010101" pitchFamily="49" charset="-122"/>
              </a:rPr>
              <a:t>子类 </a:t>
            </a:r>
          </a:p>
        </p:txBody>
      </p:sp>
      <p:cxnSp>
        <p:nvCxnSpPr>
          <p:cNvPr id="11" name="AutoShape 8"/>
          <p:cNvCxnSpPr>
            <a:cxnSpLocks noChangeShapeType="1"/>
            <a:endCxn id="9" idx="1"/>
          </p:cNvCxnSpPr>
          <p:nvPr/>
        </p:nvCxnSpPr>
        <p:spPr bwMode="auto">
          <a:xfrm flipV="1">
            <a:off x="5486400" y="6029325"/>
            <a:ext cx="1246188" cy="225425"/>
          </a:xfrm>
          <a:prstGeom prst="bentConnector2">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2" name="Group 9"/>
          <p:cNvGrpSpPr>
            <a:grpSpLocks/>
          </p:cNvGrpSpPr>
          <p:nvPr/>
        </p:nvGrpSpPr>
        <p:grpSpPr bwMode="auto">
          <a:xfrm>
            <a:off x="3059113" y="2346325"/>
            <a:ext cx="2663825" cy="1008063"/>
            <a:chOff x="1474" y="2523"/>
            <a:chExt cx="2222" cy="998"/>
          </a:xfrm>
        </p:grpSpPr>
        <p:sp>
          <p:nvSpPr>
            <p:cNvPr id="13" name="Oval 10"/>
            <p:cNvSpPr>
              <a:spLocks noChangeArrowheads="1"/>
            </p:cNvSpPr>
            <p:nvPr/>
          </p:nvSpPr>
          <p:spPr bwMode="auto">
            <a:xfrm>
              <a:off x="1474" y="2523"/>
              <a:ext cx="2222" cy="998"/>
            </a:xfrm>
            <a:prstGeom prst="ellipse">
              <a:avLst/>
            </a:prstGeom>
            <a:gradFill rotWithShape="1">
              <a:gsLst>
                <a:gs pos="0">
                  <a:srgbClr val="B1F000"/>
                </a:gs>
                <a:gs pos="100000">
                  <a:srgbClr val="FFFFFF"/>
                </a:gs>
              </a:gsLst>
              <a:lin ang="5400000" scaled="1"/>
            </a:gradFill>
            <a:ln w="9525">
              <a:solidFill>
                <a:schemeClr val="tx1"/>
              </a:solidFill>
              <a:round/>
              <a:headEnd/>
              <a:tailEnd/>
            </a:ln>
            <a:effectLst>
              <a:outerShdw dist="71842" dir="2700000" algn="ctr" rotWithShape="0">
                <a:schemeClr val="bg2">
                  <a:alpha val="50000"/>
                </a:schemeClr>
              </a:outerShdw>
            </a:effectLst>
          </p:spPr>
          <p:txBody>
            <a:bodyPr wrap="none" anchor="ctr"/>
            <a:lstStyle/>
            <a:p>
              <a:endParaRPr lang="zh-CN" altLang="en-US" dirty="0">
                <a:ea typeface="楷体" panose="02010609060101010101" pitchFamily="49" charset="-122"/>
              </a:endParaRPr>
            </a:p>
          </p:txBody>
        </p:sp>
        <p:sp>
          <p:nvSpPr>
            <p:cNvPr id="14" name="Text Box 11"/>
            <p:cNvSpPr txBox="1">
              <a:spLocks noChangeArrowheads="1"/>
            </p:cNvSpPr>
            <p:nvPr/>
          </p:nvSpPr>
          <p:spPr bwMode="auto">
            <a:xfrm>
              <a:off x="1927" y="2614"/>
              <a:ext cx="1316" cy="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71842" dir="2700000" algn="ctr" rotWithShape="0">
                      <a:schemeClr val="bg2">
                        <a:alpha val="50000"/>
                      </a:schemeClr>
                    </a:outerShdw>
                  </a:effectLst>
                </a14:hiddenEffects>
              </a:ext>
            </a:extLst>
          </p:spPr>
          <p:txBody>
            <a:bodyPr>
              <a:spAutoFit/>
            </a:bodyPr>
            <a:lstStyle/>
            <a:p>
              <a:pPr algn="ctr">
                <a:spcBef>
                  <a:spcPct val="50000"/>
                </a:spcBef>
              </a:pPr>
              <a:r>
                <a:rPr lang="zh-CN" altLang="en-US" sz="2000" b="1" dirty="0">
                  <a:latin typeface="楷体" panose="02010609060101010101" pitchFamily="49" charset="-122"/>
                  <a:ea typeface="楷体" panose="02010609060101010101" pitchFamily="49" charset="-122"/>
                </a:rPr>
                <a:t>父类</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子类是相对的</a:t>
              </a:r>
            </a:p>
          </p:txBody>
        </p:sp>
      </p:grpSp>
      <p:pic>
        <p:nvPicPr>
          <p:cNvPr id="15" name="Picture 12" descr="狮子"/>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825" y="4237038"/>
            <a:ext cx="1493838" cy="14747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3" descr="老虎"/>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050" y="4248150"/>
            <a:ext cx="1504950" cy="147478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4" descr="牛"/>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1138" y="4256088"/>
            <a:ext cx="1474787" cy="147478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 descr="羊"/>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91363" y="4256088"/>
            <a:ext cx="1474787" cy="1474787"/>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6"/>
          <p:cNvGrpSpPr>
            <a:grpSpLocks/>
          </p:cNvGrpSpPr>
          <p:nvPr/>
        </p:nvGrpSpPr>
        <p:grpSpPr bwMode="auto">
          <a:xfrm>
            <a:off x="395288" y="1195388"/>
            <a:ext cx="7929562" cy="2959100"/>
            <a:chOff x="360" y="981"/>
            <a:chExt cx="4995" cy="1864"/>
          </a:xfrm>
        </p:grpSpPr>
        <p:grpSp>
          <p:nvGrpSpPr>
            <p:cNvPr id="20" name="Group 17"/>
            <p:cNvGrpSpPr>
              <a:grpSpLocks/>
            </p:cNvGrpSpPr>
            <p:nvPr/>
          </p:nvGrpSpPr>
          <p:grpSpPr bwMode="auto">
            <a:xfrm>
              <a:off x="713" y="1435"/>
              <a:ext cx="4247" cy="1055"/>
              <a:chOff x="713" y="1435"/>
              <a:chExt cx="4247" cy="1055"/>
            </a:xfrm>
          </p:grpSpPr>
          <p:cxnSp>
            <p:nvCxnSpPr>
              <p:cNvPr id="29" name="AutoShape 18"/>
              <p:cNvCxnSpPr>
                <a:cxnSpLocks noChangeShapeType="1"/>
              </p:cNvCxnSpPr>
              <p:nvPr/>
            </p:nvCxnSpPr>
            <p:spPr bwMode="auto">
              <a:xfrm rot="16200000" flipH="1" flipV="1">
                <a:off x="2925" y="120"/>
                <a:ext cx="1" cy="3084"/>
              </a:xfrm>
              <a:prstGeom prst="bentConnector3">
                <a:avLst>
                  <a:gd name="adj1" fmla="val -9900000"/>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Line 19"/>
              <p:cNvSpPr>
                <a:spLocks noChangeShapeType="1"/>
              </p:cNvSpPr>
              <p:nvPr/>
            </p:nvSpPr>
            <p:spPr bwMode="auto">
              <a:xfrm flipV="1">
                <a:off x="2880" y="1435"/>
                <a:ext cx="0" cy="13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cxnSp>
            <p:nvCxnSpPr>
              <p:cNvPr id="31" name="AutoShape 20"/>
              <p:cNvCxnSpPr>
                <a:cxnSpLocks noChangeShapeType="1"/>
              </p:cNvCxnSpPr>
              <p:nvPr/>
            </p:nvCxnSpPr>
            <p:spPr bwMode="auto">
              <a:xfrm rot="5400000" flipV="1">
                <a:off x="1270" y="1932"/>
                <a:ext cx="1" cy="1115"/>
              </a:xfrm>
              <a:prstGeom prst="bentConnector3">
                <a:avLst>
                  <a:gd name="adj1" fmla="val -14400000"/>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Line 21"/>
              <p:cNvSpPr>
                <a:spLocks noChangeShapeType="1"/>
              </p:cNvSpPr>
              <p:nvPr/>
            </p:nvSpPr>
            <p:spPr bwMode="auto">
              <a:xfrm flipV="1">
                <a:off x="1292" y="2091"/>
                <a:ext cx="0" cy="27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cxnSp>
            <p:nvCxnSpPr>
              <p:cNvPr id="33" name="AutoShape 22"/>
              <p:cNvCxnSpPr>
                <a:cxnSpLocks noChangeShapeType="1"/>
              </p:cNvCxnSpPr>
              <p:nvPr/>
            </p:nvCxnSpPr>
            <p:spPr bwMode="auto">
              <a:xfrm rot="5400000" flipV="1">
                <a:off x="4402" y="1932"/>
                <a:ext cx="1" cy="1115"/>
              </a:xfrm>
              <a:prstGeom prst="bentConnector3">
                <a:avLst>
                  <a:gd name="adj1" fmla="val -18200000"/>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Line 23"/>
              <p:cNvSpPr>
                <a:spLocks noChangeShapeType="1"/>
              </p:cNvSpPr>
              <p:nvPr/>
            </p:nvSpPr>
            <p:spPr bwMode="auto">
              <a:xfrm flipV="1">
                <a:off x="4418" y="2091"/>
                <a:ext cx="0" cy="20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a typeface="楷体" panose="02010609060101010101" pitchFamily="49" charset="-122"/>
                </a:endParaRPr>
              </a:p>
            </p:txBody>
          </p:sp>
        </p:grpSp>
        <p:grpSp>
          <p:nvGrpSpPr>
            <p:cNvPr id="21" name="Group 24"/>
            <p:cNvGrpSpPr>
              <a:grpSpLocks/>
            </p:cNvGrpSpPr>
            <p:nvPr/>
          </p:nvGrpSpPr>
          <p:grpSpPr bwMode="auto">
            <a:xfrm>
              <a:off x="360" y="981"/>
              <a:ext cx="4995" cy="1864"/>
              <a:chOff x="360" y="981"/>
              <a:chExt cx="4995" cy="1864"/>
            </a:xfrm>
          </p:grpSpPr>
          <p:sp>
            <p:nvSpPr>
              <p:cNvPr id="22" name="Text Box 25"/>
              <p:cNvSpPr txBox="1">
                <a:spLocks noChangeArrowheads="1"/>
              </p:cNvSpPr>
              <p:nvPr/>
            </p:nvSpPr>
            <p:spPr bwMode="auto">
              <a:xfrm>
                <a:off x="3515" y="2467"/>
                <a:ext cx="706" cy="373"/>
              </a:xfrm>
              <a:prstGeom prst="rect">
                <a:avLst/>
              </a:prstGeom>
              <a:gradFill rotWithShape="1">
                <a:gsLst>
                  <a:gs pos="0">
                    <a:srgbClr val="FFCC00"/>
                  </a:gs>
                  <a:gs pos="100000">
                    <a:srgbClr val="FFFFFF"/>
                  </a:gs>
                </a:gsLst>
                <a:lin ang="5400000" scaled="1"/>
              </a:gradFill>
              <a:ln w="9525">
                <a:solidFill>
                  <a:schemeClr val="tx1"/>
                </a:solidFill>
                <a:miter lim="800000"/>
                <a:headEnd/>
                <a:tailEnd/>
              </a:ln>
              <a:effectLst>
                <a:outerShdw dist="71842" dir="2700000" algn="ctr" rotWithShape="0">
                  <a:schemeClr val="bg2">
                    <a:alpha val="50000"/>
                  </a:schemeClr>
                </a:outerShdw>
              </a:effectLst>
            </p:spPr>
            <p:txBody>
              <a:bodyPr anchor="ctr"/>
              <a:lstStyle/>
              <a:p>
                <a:pPr algn="ctr">
                  <a:lnSpc>
                    <a:spcPct val="90000"/>
                  </a:lnSpc>
                  <a:spcBef>
                    <a:spcPct val="10000"/>
                  </a:spcBef>
                </a:pPr>
                <a:r>
                  <a:rPr lang="en-US" altLang="zh-CN" sz="2000" b="1" dirty="0">
                    <a:ea typeface="楷体" panose="02010609060101010101" pitchFamily="49" charset="-122"/>
                  </a:rPr>
                  <a:t>Cow</a:t>
                </a:r>
              </a:p>
              <a:p>
                <a:pPr algn="ctr">
                  <a:lnSpc>
                    <a:spcPct val="90000"/>
                  </a:lnSpc>
                  <a:spcBef>
                    <a:spcPct val="10000"/>
                  </a:spcBef>
                </a:pPr>
                <a:r>
                  <a:rPr lang="zh-CN" altLang="en-US" sz="2000" dirty="0">
                    <a:ea typeface="楷体" panose="02010609060101010101" pitchFamily="49" charset="-122"/>
                  </a:rPr>
                  <a:t>类</a:t>
                </a:r>
              </a:p>
            </p:txBody>
          </p:sp>
          <p:sp>
            <p:nvSpPr>
              <p:cNvPr id="23" name="Text Box 26"/>
              <p:cNvSpPr txBox="1">
                <a:spLocks noChangeArrowheads="1"/>
              </p:cNvSpPr>
              <p:nvPr/>
            </p:nvSpPr>
            <p:spPr bwMode="auto">
              <a:xfrm>
                <a:off x="360" y="2478"/>
                <a:ext cx="706" cy="357"/>
              </a:xfrm>
              <a:prstGeom prst="rect">
                <a:avLst/>
              </a:prstGeom>
              <a:gradFill rotWithShape="1">
                <a:gsLst>
                  <a:gs pos="0">
                    <a:srgbClr val="FFCC00"/>
                  </a:gs>
                  <a:gs pos="100000">
                    <a:srgbClr val="FFFFFF"/>
                  </a:gs>
                </a:gsLst>
                <a:lin ang="5400000" scaled="1"/>
              </a:gradFill>
              <a:ln w="9525">
                <a:solidFill>
                  <a:schemeClr val="tx1"/>
                </a:solidFill>
                <a:miter lim="800000"/>
                <a:headEnd/>
                <a:tailEnd/>
              </a:ln>
              <a:effectLst>
                <a:outerShdw dist="71842" dir="2700000" algn="ctr" rotWithShape="0">
                  <a:schemeClr val="bg2">
                    <a:alpha val="50000"/>
                  </a:schemeClr>
                </a:outerShdw>
              </a:effectLst>
            </p:spPr>
            <p:txBody>
              <a:bodyPr anchor="ctr"/>
              <a:lstStyle/>
              <a:p>
                <a:pPr algn="ctr">
                  <a:lnSpc>
                    <a:spcPct val="85000"/>
                  </a:lnSpc>
                  <a:spcBef>
                    <a:spcPct val="10000"/>
                  </a:spcBef>
                </a:pPr>
                <a:r>
                  <a:rPr lang="en-US" altLang="zh-CN" sz="2000" b="1" dirty="0">
                    <a:ea typeface="楷体" panose="02010609060101010101" pitchFamily="49" charset="-122"/>
                  </a:rPr>
                  <a:t>Lion</a:t>
                </a:r>
              </a:p>
              <a:p>
                <a:pPr algn="ctr">
                  <a:lnSpc>
                    <a:spcPct val="85000"/>
                  </a:lnSpc>
                  <a:spcBef>
                    <a:spcPct val="10000"/>
                  </a:spcBef>
                </a:pPr>
                <a:r>
                  <a:rPr lang="zh-CN" altLang="en-US" sz="2000" dirty="0">
                    <a:ea typeface="楷体" panose="02010609060101010101" pitchFamily="49" charset="-122"/>
                  </a:rPr>
                  <a:t>类</a:t>
                </a:r>
              </a:p>
            </p:txBody>
          </p:sp>
          <p:sp>
            <p:nvSpPr>
              <p:cNvPr id="24" name="Text Box 27"/>
              <p:cNvSpPr txBox="1">
                <a:spLocks noChangeArrowheads="1"/>
              </p:cNvSpPr>
              <p:nvPr/>
            </p:nvSpPr>
            <p:spPr bwMode="auto">
              <a:xfrm>
                <a:off x="1475" y="2478"/>
                <a:ext cx="706" cy="367"/>
              </a:xfrm>
              <a:prstGeom prst="rect">
                <a:avLst/>
              </a:prstGeom>
              <a:gradFill rotWithShape="1">
                <a:gsLst>
                  <a:gs pos="0">
                    <a:srgbClr val="FFCC00"/>
                  </a:gs>
                  <a:gs pos="100000">
                    <a:srgbClr val="FFFFFF"/>
                  </a:gs>
                </a:gsLst>
                <a:lin ang="5400000" scaled="1"/>
              </a:gradFill>
              <a:ln w="9525">
                <a:solidFill>
                  <a:schemeClr val="tx1"/>
                </a:solidFill>
                <a:miter lim="800000"/>
                <a:headEnd/>
                <a:tailEnd/>
              </a:ln>
              <a:effectLst>
                <a:outerShdw dist="71842" dir="2700000" algn="ctr" rotWithShape="0">
                  <a:schemeClr val="bg2">
                    <a:alpha val="50000"/>
                  </a:schemeClr>
                </a:outerShdw>
              </a:effectLst>
            </p:spPr>
            <p:txBody>
              <a:bodyPr anchor="ctr"/>
              <a:lstStyle/>
              <a:p>
                <a:pPr algn="ctr">
                  <a:lnSpc>
                    <a:spcPct val="90000"/>
                  </a:lnSpc>
                  <a:spcBef>
                    <a:spcPct val="10000"/>
                  </a:spcBef>
                </a:pPr>
                <a:r>
                  <a:rPr lang="en-US" altLang="zh-CN" sz="2000" b="1" dirty="0">
                    <a:ea typeface="楷体" panose="02010609060101010101" pitchFamily="49" charset="-122"/>
                  </a:rPr>
                  <a:t>Tiger</a:t>
                </a:r>
              </a:p>
              <a:p>
                <a:pPr algn="ctr">
                  <a:lnSpc>
                    <a:spcPct val="90000"/>
                  </a:lnSpc>
                  <a:spcBef>
                    <a:spcPct val="10000"/>
                  </a:spcBef>
                </a:pPr>
                <a:r>
                  <a:rPr lang="zh-CN" altLang="en-US" sz="2000" b="1" dirty="0">
                    <a:ea typeface="楷体" panose="02010609060101010101" pitchFamily="49" charset="-122"/>
                  </a:rPr>
                  <a:t>类</a:t>
                </a:r>
              </a:p>
            </p:txBody>
          </p:sp>
          <p:sp>
            <p:nvSpPr>
              <p:cNvPr id="25" name="Text Box 28"/>
              <p:cNvSpPr txBox="1">
                <a:spLocks noChangeArrowheads="1"/>
              </p:cNvSpPr>
              <p:nvPr/>
            </p:nvSpPr>
            <p:spPr bwMode="auto">
              <a:xfrm>
                <a:off x="2472" y="981"/>
                <a:ext cx="816" cy="470"/>
              </a:xfrm>
              <a:prstGeom prst="rect">
                <a:avLst/>
              </a:prstGeom>
              <a:gradFill rotWithShape="1">
                <a:gsLst>
                  <a:gs pos="0">
                    <a:srgbClr val="FFCC00"/>
                  </a:gs>
                  <a:gs pos="100000">
                    <a:srgbClr val="FFFFFF"/>
                  </a:gs>
                </a:gsLst>
                <a:lin ang="5400000" scaled="1"/>
              </a:gradFill>
              <a:ln w="9525">
                <a:solidFill>
                  <a:schemeClr val="tx1"/>
                </a:solidFill>
                <a:miter lim="800000"/>
                <a:headEnd/>
                <a:tailEnd/>
              </a:ln>
              <a:effectLst>
                <a:outerShdw dist="71842" dir="2700000" algn="ctr" rotWithShape="0">
                  <a:schemeClr val="bg2">
                    <a:alpha val="50000"/>
                  </a:schemeClr>
                </a:outerShdw>
              </a:effectLst>
            </p:spPr>
            <p:txBody>
              <a:bodyPr anchor="ctr"/>
              <a:lstStyle/>
              <a:p>
                <a:pPr algn="ctr">
                  <a:lnSpc>
                    <a:spcPct val="90000"/>
                  </a:lnSpc>
                  <a:spcBef>
                    <a:spcPct val="10000"/>
                  </a:spcBef>
                </a:pPr>
                <a:r>
                  <a:rPr lang="en-US" altLang="zh-CN" sz="2000" b="1" dirty="0">
                    <a:ea typeface="楷体" panose="02010609060101010101" pitchFamily="49" charset="-122"/>
                  </a:rPr>
                  <a:t>Animals</a:t>
                </a:r>
              </a:p>
              <a:p>
                <a:pPr algn="ctr">
                  <a:lnSpc>
                    <a:spcPct val="90000"/>
                  </a:lnSpc>
                  <a:spcBef>
                    <a:spcPct val="10000"/>
                  </a:spcBef>
                </a:pPr>
                <a:r>
                  <a:rPr lang="zh-CN" altLang="en-US" sz="2000" dirty="0">
                    <a:ea typeface="楷体" panose="02010609060101010101" pitchFamily="49" charset="-122"/>
                  </a:rPr>
                  <a:t>类</a:t>
                </a:r>
              </a:p>
            </p:txBody>
          </p:sp>
          <p:sp>
            <p:nvSpPr>
              <p:cNvPr id="26" name="Text Box 29"/>
              <p:cNvSpPr txBox="1">
                <a:spLocks noChangeArrowheads="1"/>
              </p:cNvSpPr>
              <p:nvPr/>
            </p:nvSpPr>
            <p:spPr bwMode="auto">
              <a:xfrm>
                <a:off x="748" y="1661"/>
                <a:ext cx="1135" cy="470"/>
              </a:xfrm>
              <a:prstGeom prst="rect">
                <a:avLst/>
              </a:prstGeom>
              <a:gradFill rotWithShape="1">
                <a:gsLst>
                  <a:gs pos="0">
                    <a:srgbClr val="FFCC00"/>
                  </a:gs>
                  <a:gs pos="100000">
                    <a:srgbClr val="FFFFFF"/>
                  </a:gs>
                </a:gsLst>
                <a:lin ang="5400000" scaled="1"/>
              </a:gradFill>
              <a:ln w="9525">
                <a:solidFill>
                  <a:schemeClr val="tx1"/>
                </a:solidFill>
                <a:miter lim="800000"/>
                <a:headEnd/>
                <a:tailEnd/>
              </a:ln>
              <a:effectLst>
                <a:outerShdw dist="71842" dir="2700000" algn="ctr" rotWithShape="0">
                  <a:schemeClr val="bg2">
                    <a:alpha val="50000"/>
                  </a:schemeClr>
                </a:outerShdw>
              </a:effectLst>
            </p:spPr>
            <p:txBody>
              <a:bodyPr anchor="ctr"/>
              <a:lstStyle/>
              <a:p>
                <a:pPr algn="ctr">
                  <a:lnSpc>
                    <a:spcPct val="90000"/>
                  </a:lnSpc>
                  <a:spcBef>
                    <a:spcPct val="10000"/>
                  </a:spcBef>
                </a:pPr>
                <a:r>
                  <a:rPr lang="en-US" altLang="zh-CN" sz="2000" b="1" dirty="0">
                    <a:ea typeface="楷体" panose="02010609060101010101" pitchFamily="49" charset="-122"/>
                  </a:rPr>
                  <a:t>Carnivorous</a:t>
                </a:r>
              </a:p>
              <a:p>
                <a:pPr algn="ctr">
                  <a:lnSpc>
                    <a:spcPct val="90000"/>
                  </a:lnSpc>
                  <a:spcBef>
                    <a:spcPct val="10000"/>
                  </a:spcBef>
                </a:pPr>
                <a:r>
                  <a:rPr lang="zh-CN" altLang="en-US" sz="2000" dirty="0">
                    <a:ea typeface="楷体" panose="02010609060101010101" pitchFamily="49" charset="-122"/>
                  </a:rPr>
                  <a:t>类</a:t>
                </a:r>
              </a:p>
            </p:txBody>
          </p:sp>
          <p:sp>
            <p:nvSpPr>
              <p:cNvPr id="27" name="Text Box 30"/>
              <p:cNvSpPr txBox="1">
                <a:spLocks noChangeArrowheads="1"/>
              </p:cNvSpPr>
              <p:nvPr/>
            </p:nvSpPr>
            <p:spPr bwMode="auto">
              <a:xfrm>
                <a:off x="3833" y="1661"/>
                <a:ext cx="1134" cy="470"/>
              </a:xfrm>
              <a:prstGeom prst="rect">
                <a:avLst/>
              </a:prstGeom>
              <a:gradFill rotWithShape="1">
                <a:gsLst>
                  <a:gs pos="0">
                    <a:srgbClr val="FFCC00"/>
                  </a:gs>
                  <a:gs pos="100000">
                    <a:srgbClr val="FFFFFF"/>
                  </a:gs>
                </a:gsLst>
                <a:lin ang="5400000" scaled="1"/>
              </a:gradFill>
              <a:ln w="9525">
                <a:solidFill>
                  <a:schemeClr val="tx1"/>
                </a:solidFill>
                <a:miter lim="800000"/>
                <a:headEnd/>
                <a:tailEnd/>
              </a:ln>
              <a:effectLst>
                <a:outerShdw dist="71842" dir="2700000" algn="ctr" rotWithShape="0">
                  <a:schemeClr val="bg2">
                    <a:alpha val="50000"/>
                  </a:schemeClr>
                </a:outerShdw>
              </a:effectLst>
            </p:spPr>
            <p:txBody>
              <a:bodyPr anchor="ctr"/>
              <a:lstStyle/>
              <a:p>
                <a:pPr algn="ctr">
                  <a:lnSpc>
                    <a:spcPct val="90000"/>
                  </a:lnSpc>
                  <a:spcBef>
                    <a:spcPct val="10000"/>
                  </a:spcBef>
                </a:pPr>
                <a:r>
                  <a:rPr lang="en-US" altLang="zh-CN" sz="2000" b="1" dirty="0">
                    <a:ea typeface="楷体" panose="02010609060101010101" pitchFamily="49" charset="-122"/>
                  </a:rPr>
                  <a:t>Herbivorous</a:t>
                </a:r>
              </a:p>
              <a:p>
                <a:pPr algn="ctr">
                  <a:lnSpc>
                    <a:spcPct val="90000"/>
                  </a:lnSpc>
                  <a:spcBef>
                    <a:spcPct val="10000"/>
                  </a:spcBef>
                </a:pPr>
                <a:r>
                  <a:rPr lang="zh-CN" altLang="en-US" sz="2000" dirty="0">
                    <a:ea typeface="楷体" panose="02010609060101010101" pitchFamily="49" charset="-122"/>
                  </a:rPr>
                  <a:t>类</a:t>
                </a:r>
              </a:p>
            </p:txBody>
          </p:sp>
          <p:sp>
            <p:nvSpPr>
              <p:cNvPr id="28" name="Text Box 31"/>
              <p:cNvSpPr txBox="1">
                <a:spLocks noChangeArrowheads="1"/>
              </p:cNvSpPr>
              <p:nvPr/>
            </p:nvSpPr>
            <p:spPr bwMode="auto">
              <a:xfrm>
                <a:off x="4649" y="2474"/>
                <a:ext cx="706" cy="366"/>
              </a:xfrm>
              <a:prstGeom prst="rect">
                <a:avLst/>
              </a:prstGeom>
              <a:gradFill rotWithShape="1">
                <a:gsLst>
                  <a:gs pos="0">
                    <a:srgbClr val="FFCC00"/>
                  </a:gs>
                  <a:gs pos="100000">
                    <a:srgbClr val="FFFFFF"/>
                  </a:gs>
                </a:gsLst>
                <a:lin ang="5400000" scaled="1"/>
              </a:gradFill>
              <a:ln w="9525">
                <a:solidFill>
                  <a:schemeClr val="tx1"/>
                </a:solidFill>
                <a:miter lim="800000"/>
                <a:headEnd/>
                <a:tailEnd/>
              </a:ln>
              <a:effectLst>
                <a:outerShdw dist="71842" dir="2700000" algn="ctr" rotWithShape="0">
                  <a:schemeClr val="bg2">
                    <a:alpha val="50000"/>
                  </a:schemeClr>
                </a:outerShdw>
              </a:effectLst>
            </p:spPr>
            <p:txBody>
              <a:bodyPr anchor="ctr"/>
              <a:lstStyle/>
              <a:p>
                <a:pPr algn="ctr">
                  <a:lnSpc>
                    <a:spcPct val="90000"/>
                  </a:lnSpc>
                  <a:spcBef>
                    <a:spcPct val="10000"/>
                  </a:spcBef>
                </a:pPr>
                <a:r>
                  <a:rPr lang="en-US" altLang="zh-CN" sz="2000" b="1" dirty="0">
                    <a:ea typeface="楷体" panose="02010609060101010101" pitchFamily="49" charset="-122"/>
                  </a:rPr>
                  <a:t>Goat</a:t>
                </a:r>
              </a:p>
              <a:p>
                <a:pPr algn="ctr">
                  <a:lnSpc>
                    <a:spcPct val="90000"/>
                  </a:lnSpc>
                  <a:spcBef>
                    <a:spcPct val="10000"/>
                  </a:spcBef>
                </a:pPr>
                <a:r>
                  <a:rPr lang="zh-CN" altLang="en-US" sz="2000" dirty="0">
                    <a:ea typeface="楷体" panose="02010609060101010101" pitchFamily="49" charset="-122"/>
                  </a:rPr>
                  <a:t>类</a:t>
                </a:r>
              </a:p>
            </p:txBody>
          </p:sp>
        </p:grpSp>
      </p:grpSp>
    </p:spTree>
    <p:extLst>
      <p:ext uri="{BB962C8B-B14F-4D97-AF65-F5344CB8AC3E}">
        <p14:creationId xmlns:p14="http://schemas.microsoft.com/office/powerpoint/2010/main" val="1973527393"/>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Top)">
                                      <p:cBhvr>
                                        <p:cTn id="7" dur="500"/>
                                        <p:tgtEl>
                                          <p:spTgt spid="19"/>
                                        </p:tgtEl>
                                      </p:cBhvr>
                                    </p:animEffect>
                                  </p:childTnLst>
                                </p:cTn>
                              </p:par>
                              <p:par>
                                <p:cTn id="8" presetID="16" presetClass="entr" presetSubtype="26"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Horizontal)">
                                      <p:cBhvr>
                                        <p:cTn id="10" dur="500"/>
                                        <p:tgtEl>
                                          <p:spTgt spid="15"/>
                                        </p:tgtEl>
                                      </p:cBhvr>
                                    </p:animEffect>
                                  </p:childTnLst>
                                </p:cTn>
                              </p:par>
                              <p:par>
                                <p:cTn id="11" presetID="16" presetClass="entr" presetSubtype="26"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Horizontal)">
                                      <p:cBhvr>
                                        <p:cTn id="13" dur="500"/>
                                        <p:tgtEl>
                                          <p:spTgt spid="16"/>
                                        </p:tgtEl>
                                      </p:cBhvr>
                                    </p:animEffect>
                                  </p:childTnLst>
                                </p:cTn>
                              </p:par>
                              <p:par>
                                <p:cTn id="14" presetID="16" presetClass="entr" presetSubtype="26"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arn(inHorizontal)">
                                      <p:cBhvr>
                                        <p:cTn id="16" dur="500"/>
                                        <p:tgtEl>
                                          <p:spTgt spid="17"/>
                                        </p:tgtEl>
                                      </p:cBhvr>
                                    </p:animEffect>
                                  </p:childTnLst>
                                </p:cTn>
                              </p:par>
                              <p:par>
                                <p:cTn id="17" presetID="16" presetClass="entr" presetSubtype="26"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barn(inHorizontal)">
                                      <p:cBhvr>
                                        <p:cTn id="19" dur="500"/>
                                        <p:tgtEl>
                                          <p:spTgt spid="18"/>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1000"/>
                                        <p:tgtEl>
                                          <p:spTgt spid="8"/>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1000"/>
                                        <p:tgtEl>
                                          <p:spTgt spid="9"/>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2000"/>
                                        <p:tgtEl>
                                          <p:spTgt spid="10"/>
                                        </p:tgtEl>
                                      </p:cBhvr>
                                    </p:animEffect>
                                  </p:childTnLst>
                                </p:cTn>
                              </p:par>
                              <p:par>
                                <p:cTn id="36" presetID="22" presetClass="entr" presetSubtype="8"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1000"/>
                                        <p:tgtEl>
                                          <p:spTgt spid="11"/>
                                        </p:tgtEl>
                                      </p:cBhvr>
                                    </p:animEffect>
                                  </p:childTnLst>
                                </p:cTn>
                              </p:par>
                            </p:childTnLst>
                          </p:cTn>
                        </p:par>
                        <p:par>
                          <p:cTn id="39" fill="hold">
                            <p:stCondLst>
                              <p:cond delay="3000"/>
                            </p:stCondLst>
                            <p:childTnLst>
                              <p:par>
                                <p:cTn id="40" presetID="20" presetClass="entr" presetSubtype="0" fill="hold"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edge">
                                      <p:cBhvr>
                                        <p:cTn id="4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zh-CN" altLang="en-US" dirty="0"/>
              <a:t>问答题：请确认各类之间的关系</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dirty="0"/>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21</a:t>
            </a:fld>
            <a:endParaRPr lang="en-US" altLang="zh-CN"/>
          </a:p>
        </p:txBody>
      </p:sp>
      <p:sp>
        <p:nvSpPr>
          <p:cNvPr id="7" name="Rectangle 3"/>
          <p:cNvSpPr>
            <a:spLocks noGrp="1" noChangeArrowheads="1"/>
          </p:cNvSpPr>
          <p:nvPr>
            <p:ph idx="1"/>
          </p:nvPr>
        </p:nvSpPr>
        <p:spPr/>
        <p:txBody>
          <a:bodyPr/>
          <a:lstStyle/>
          <a:p>
            <a:pPr>
              <a:buClr>
                <a:schemeClr val="tx1"/>
              </a:buClr>
              <a:buFont typeface="Wingdings" pitchFamily="2" charset="2"/>
              <a:buChar char="l"/>
            </a:pPr>
            <a:r>
              <a:rPr lang="en-GB" sz="2800" dirty="0"/>
              <a:t>Plane</a:t>
            </a:r>
            <a:r>
              <a:rPr lang="zh-CN" altLang="en-US" sz="2800" dirty="0"/>
              <a:t> （飞机）</a:t>
            </a:r>
            <a:endParaRPr lang="en-GB" sz="2800" dirty="0"/>
          </a:p>
          <a:p>
            <a:pPr>
              <a:buClr>
                <a:schemeClr val="tx1"/>
              </a:buClr>
              <a:buFont typeface="Wingdings" pitchFamily="2" charset="2"/>
              <a:buChar char="l"/>
            </a:pPr>
            <a:r>
              <a:rPr lang="en-GB" sz="2800" dirty="0"/>
              <a:t>military plane</a:t>
            </a:r>
            <a:r>
              <a:rPr lang="en-GB" altLang="zh-CN" sz="2800" dirty="0"/>
              <a:t>（</a:t>
            </a:r>
            <a:r>
              <a:rPr lang="zh-CN" altLang="en-GB" sz="2800" dirty="0"/>
              <a:t>军事</a:t>
            </a:r>
            <a:r>
              <a:rPr lang="zh-CN" altLang="en-US" sz="2800" dirty="0"/>
              <a:t>机</a:t>
            </a:r>
            <a:r>
              <a:rPr lang="zh-CN" altLang="en-GB" sz="2800" dirty="0"/>
              <a:t>）</a:t>
            </a:r>
          </a:p>
          <a:p>
            <a:pPr>
              <a:buClr>
                <a:schemeClr val="tx1"/>
              </a:buClr>
              <a:buFont typeface="Wingdings" pitchFamily="2" charset="2"/>
              <a:buChar char="l"/>
            </a:pPr>
            <a:r>
              <a:rPr lang="en-GB" sz="2800" dirty="0"/>
              <a:t>passenger plane </a:t>
            </a:r>
            <a:r>
              <a:rPr lang="en-GB" altLang="zh-CN" sz="2800" dirty="0"/>
              <a:t>（</a:t>
            </a:r>
            <a:r>
              <a:rPr lang="zh-CN" altLang="en-GB" sz="2800" dirty="0"/>
              <a:t>客机）</a:t>
            </a:r>
          </a:p>
          <a:p>
            <a:pPr>
              <a:buClr>
                <a:schemeClr val="tx1"/>
              </a:buClr>
              <a:buFont typeface="Wingdings" pitchFamily="2" charset="2"/>
              <a:buChar char="l"/>
            </a:pPr>
            <a:r>
              <a:rPr lang="en-GB" sz="2800" dirty="0"/>
              <a:t>cargo plane </a:t>
            </a:r>
            <a:r>
              <a:rPr lang="en-GB" altLang="zh-CN" sz="2800" dirty="0"/>
              <a:t>（</a:t>
            </a:r>
            <a:r>
              <a:rPr lang="zh-CN" altLang="en-GB" sz="2800" dirty="0"/>
              <a:t>货物</a:t>
            </a:r>
            <a:r>
              <a:rPr lang="zh-CN" altLang="en-US" sz="2800" dirty="0"/>
              <a:t>机</a:t>
            </a:r>
            <a:r>
              <a:rPr lang="zh-CN" altLang="en-GB" sz="2800" dirty="0"/>
              <a:t>）</a:t>
            </a:r>
          </a:p>
          <a:p>
            <a:pPr>
              <a:buClr>
                <a:schemeClr val="tx1"/>
              </a:buClr>
              <a:buFont typeface="Wingdings" pitchFamily="2" charset="2"/>
              <a:buChar char="l"/>
            </a:pPr>
            <a:r>
              <a:rPr lang="en-GB" sz="2800" dirty="0"/>
              <a:t>fighter plane </a:t>
            </a:r>
            <a:r>
              <a:rPr lang="en-GB" altLang="zh-CN" sz="2800" dirty="0"/>
              <a:t>（</a:t>
            </a:r>
            <a:r>
              <a:rPr lang="zh-CN" altLang="en-GB" sz="2800" dirty="0"/>
              <a:t>战斗机）</a:t>
            </a:r>
          </a:p>
          <a:p>
            <a:pPr>
              <a:buClr>
                <a:schemeClr val="tx1"/>
              </a:buClr>
              <a:buFont typeface="Wingdings" pitchFamily="2" charset="2"/>
              <a:buChar char="l"/>
            </a:pPr>
            <a:r>
              <a:rPr lang="en-GB" sz="2800" dirty="0"/>
              <a:t>Airliner </a:t>
            </a:r>
            <a:r>
              <a:rPr lang="en-GB" altLang="zh-CN" sz="2800" dirty="0"/>
              <a:t>（</a:t>
            </a:r>
            <a:r>
              <a:rPr lang="zh-CN" altLang="en-GB" sz="2800" dirty="0"/>
              <a:t>民用机）</a:t>
            </a:r>
            <a:endParaRPr lang="zh-CN" altLang="en-GB" dirty="0">
              <a:latin typeface="Arial Narrow" pitchFamily="34" charset="0"/>
            </a:endParaRPr>
          </a:p>
          <a:p>
            <a:endParaRPr lang="en-US" altLang="zh-CN" dirty="0"/>
          </a:p>
        </p:txBody>
      </p:sp>
      <p:sp>
        <p:nvSpPr>
          <p:cNvPr id="22" name="Text Box 2"/>
          <p:cNvSpPr txBox="1">
            <a:spLocks noChangeArrowheads="1"/>
          </p:cNvSpPr>
          <p:nvPr/>
        </p:nvSpPr>
        <p:spPr bwMode="auto">
          <a:xfrm>
            <a:off x="5105400" y="38862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GB" sz="2400" dirty="0">
                <a:latin typeface="Arial Narrow" pitchFamily="34" charset="0"/>
                <a:ea typeface="楷体" panose="02010609060101010101" pitchFamily="49" charset="-122"/>
              </a:rPr>
              <a:t>飞机</a:t>
            </a:r>
          </a:p>
        </p:txBody>
      </p:sp>
      <p:sp>
        <p:nvSpPr>
          <p:cNvPr id="23" name="Text Box 3"/>
          <p:cNvSpPr txBox="1">
            <a:spLocks noChangeArrowheads="1"/>
          </p:cNvSpPr>
          <p:nvPr/>
        </p:nvSpPr>
        <p:spPr bwMode="auto">
          <a:xfrm>
            <a:off x="3810000" y="4572000"/>
            <a:ext cx="167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GB" sz="2400" dirty="0">
                <a:latin typeface="Arial Narrow" pitchFamily="34" charset="0"/>
                <a:ea typeface="楷体" panose="02010609060101010101" pitchFamily="49" charset="-122"/>
              </a:rPr>
              <a:t>军事机</a:t>
            </a:r>
          </a:p>
        </p:txBody>
      </p:sp>
      <p:sp>
        <p:nvSpPr>
          <p:cNvPr id="24" name="Text Box 4"/>
          <p:cNvSpPr txBox="1">
            <a:spLocks noChangeArrowheads="1"/>
          </p:cNvSpPr>
          <p:nvPr/>
        </p:nvSpPr>
        <p:spPr bwMode="auto">
          <a:xfrm>
            <a:off x="6248400" y="46482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GB" sz="2400" dirty="0">
                <a:latin typeface="Arial Narrow" pitchFamily="34" charset="0"/>
                <a:ea typeface="楷体" panose="02010609060101010101" pitchFamily="49" charset="-122"/>
              </a:rPr>
              <a:t>民用机</a:t>
            </a:r>
            <a:endParaRPr lang="en-GB" sz="2400" dirty="0">
              <a:latin typeface="Arial Narrow" pitchFamily="34" charset="0"/>
            </a:endParaRPr>
          </a:p>
        </p:txBody>
      </p:sp>
      <p:sp>
        <p:nvSpPr>
          <p:cNvPr id="25" name="Text Box 5"/>
          <p:cNvSpPr txBox="1">
            <a:spLocks noChangeArrowheads="1"/>
          </p:cNvSpPr>
          <p:nvPr/>
        </p:nvSpPr>
        <p:spPr bwMode="auto">
          <a:xfrm>
            <a:off x="2362200" y="52578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GB" sz="2400" dirty="0">
                <a:latin typeface="Arial Narrow" pitchFamily="34" charset="0"/>
                <a:ea typeface="楷体" panose="02010609060101010101" pitchFamily="49" charset="-122"/>
              </a:rPr>
              <a:t>战斗机</a:t>
            </a:r>
          </a:p>
        </p:txBody>
      </p:sp>
      <p:sp>
        <p:nvSpPr>
          <p:cNvPr id="26" name="Text Box 6"/>
          <p:cNvSpPr txBox="1">
            <a:spLocks noChangeArrowheads="1"/>
          </p:cNvSpPr>
          <p:nvPr/>
        </p:nvSpPr>
        <p:spPr bwMode="auto">
          <a:xfrm>
            <a:off x="5715000" y="55626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GB" sz="2400" dirty="0">
                <a:latin typeface="Arial Narrow" pitchFamily="34" charset="0"/>
                <a:ea typeface="楷体" panose="02010609060101010101" pitchFamily="49" charset="-122"/>
              </a:rPr>
              <a:t>货物机</a:t>
            </a:r>
          </a:p>
        </p:txBody>
      </p:sp>
      <p:sp>
        <p:nvSpPr>
          <p:cNvPr id="27" name="Line 8"/>
          <p:cNvSpPr>
            <a:spLocks noChangeShapeType="1"/>
          </p:cNvSpPr>
          <p:nvPr/>
        </p:nvSpPr>
        <p:spPr bwMode="auto">
          <a:xfrm flipH="1">
            <a:off x="4724400" y="4267200"/>
            <a:ext cx="685800" cy="381000"/>
          </a:xfrm>
          <a:prstGeom prst="line">
            <a:avLst/>
          </a:prstGeom>
          <a:noFill/>
          <a:ln w="38100">
            <a:solidFill>
              <a:srgbClr val="C00000"/>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28" name="Line 9"/>
          <p:cNvSpPr>
            <a:spLocks noChangeShapeType="1"/>
          </p:cNvSpPr>
          <p:nvPr/>
        </p:nvSpPr>
        <p:spPr bwMode="auto">
          <a:xfrm flipH="1">
            <a:off x="3505200" y="4953000"/>
            <a:ext cx="609600" cy="381000"/>
          </a:xfrm>
          <a:prstGeom prst="line">
            <a:avLst/>
          </a:prstGeom>
          <a:noFill/>
          <a:ln w="38100">
            <a:solidFill>
              <a:srgbClr val="C00000"/>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29" name="Line 10"/>
          <p:cNvSpPr>
            <a:spLocks noChangeShapeType="1"/>
          </p:cNvSpPr>
          <p:nvPr/>
        </p:nvSpPr>
        <p:spPr bwMode="auto">
          <a:xfrm>
            <a:off x="5715000" y="4343400"/>
            <a:ext cx="838200" cy="304800"/>
          </a:xfrm>
          <a:prstGeom prst="line">
            <a:avLst/>
          </a:prstGeom>
          <a:noFill/>
          <a:ln w="38100">
            <a:solidFill>
              <a:srgbClr val="C00000"/>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30" name="Line 11"/>
          <p:cNvSpPr>
            <a:spLocks noChangeShapeType="1"/>
          </p:cNvSpPr>
          <p:nvPr/>
        </p:nvSpPr>
        <p:spPr bwMode="auto">
          <a:xfrm flipH="1">
            <a:off x="6477000" y="5029200"/>
            <a:ext cx="228600" cy="609600"/>
          </a:xfrm>
          <a:prstGeom prst="line">
            <a:avLst/>
          </a:prstGeom>
          <a:noFill/>
          <a:ln w="38100">
            <a:solidFill>
              <a:srgbClr val="C00000"/>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sp>
        <p:nvSpPr>
          <p:cNvPr id="31" name="Line 12"/>
          <p:cNvSpPr>
            <a:spLocks noChangeShapeType="1"/>
          </p:cNvSpPr>
          <p:nvPr/>
        </p:nvSpPr>
        <p:spPr bwMode="auto">
          <a:xfrm>
            <a:off x="6934200" y="5029199"/>
            <a:ext cx="1143000" cy="405483"/>
          </a:xfrm>
          <a:prstGeom prst="line">
            <a:avLst/>
          </a:prstGeom>
          <a:noFill/>
          <a:ln w="38100">
            <a:solidFill>
              <a:srgbClr val="C00000"/>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楷体" panose="02010609060101010101" pitchFamily="49" charset="-122"/>
            </a:endParaRPr>
          </a:p>
        </p:txBody>
      </p:sp>
      <p:cxnSp>
        <p:nvCxnSpPr>
          <p:cNvPr id="21" name="Straight Arrow Connector 20"/>
          <p:cNvCxnSpPr/>
          <p:nvPr/>
        </p:nvCxnSpPr>
        <p:spPr>
          <a:xfrm flipH="1" flipV="1">
            <a:off x="4495800" y="5029200"/>
            <a:ext cx="1219200" cy="6096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 name="Text Box 6">
            <a:extLst>
              <a:ext uri="{FF2B5EF4-FFF2-40B4-BE49-F238E27FC236}">
                <a16:creationId xmlns:a16="http://schemas.microsoft.com/office/drawing/2014/main" id="{B702B486-9163-8734-561C-520D774C9F3F}"/>
              </a:ext>
            </a:extLst>
          </p:cNvPr>
          <p:cNvSpPr txBox="1">
            <a:spLocks noChangeArrowheads="1"/>
          </p:cNvSpPr>
          <p:nvPr/>
        </p:nvSpPr>
        <p:spPr bwMode="auto">
          <a:xfrm>
            <a:off x="7828621" y="5557157"/>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zh-CN" altLang="en-US" sz="2400" dirty="0">
                <a:latin typeface="Arial Narrow" pitchFamily="34" charset="0"/>
                <a:ea typeface="楷体" panose="02010609060101010101" pitchFamily="49" charset="-122"/>
              </a:rPr>
              <a:t>客机</a:t>
            </a:r>
            <a:endParaRPr lang="zh-CN" altLang="en-GB" sz="2400" dirty="0">
              <a:latin typeface="Arial Narrow" pitchFamily="34" charset="0"/>
              <a:ea typeface="楷体" panose="02010609060101010101" pitchFamily="49" charset="-122"/>
            </a:endParaRPr>
          </a:p>
        </p:txBody>
      </p:sp>
    </p:spTree>
    <p:extLst>
      <p:ext uri="{BB962C8B-B14F-4D97-AF65-F5344CB8AC3E}">
        <p14:creationId xmlns:p14="http://schemas.microsoft.com/office/powerpoint/2010/main" val="1258674163"/>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ppt_y</p:attrName>
                                        </p:attrNameLst>
                                      </p:cBhvr>
                                      <p:tavLst>
                                        <p:tav tm="0">
                                          <p:val>
                                            <p:strVal val="#ppt_y+#ppt_h*1.125000"/>
                                          </p:val>
                                        </p:tav>
                                        <p:tav tm="100000">
                                          <p:val>
                                            <p:strVal val="#ppt_y"/>
                                          </p:val>
                                        </p:tav>
                                      </p:tavLst>
                                    </p:anim>
                                    <p:animEffect transition="in" filter="wipe(up)">
                                      <p:cBhvr>
                                        <p:cTn id="8" dur="500"/>
                                        <p:tgtEl>
                                          <p:spTgt spid="2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p:tgtEl>
                                          <p:spTgt spid="29"/>
                                        </p:tgtEl>
                                        <p:attrNameLst>
                                          <p:attrName>ppt_y</p:attrName>
                                        </p:attrNameLst>
                                      </p:cBhvr>
                                      <p:tavLst>
                                        <p:tav tm="0">
                                          <p:val>
                                            <p:strVal val="#ppt_y+#ppt_h*1.125000"/>
                                          </p:val>
                                        </p:tav>
                                        <p:tav tm="100000">
                                          <p:val>
                                            <p:strVal val="#ppt_y"/>
                                          </p:val>
                                        </p:tav>
                                      </p:tavLst>
                                    </p:anim>
                                    <p:animEffect transition="in" filter="wipe(up)">
                                      <p:cBhvr>
                                        <p:cTn id="14" dur="500"/>
                                        <p:tgtEl>
                                          <p:spTgt spid="29"/>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p:tgtEl>
                                          <p:spTgt spid="27"/>
                                        </p:tgtEl>
                                        <p:attrNameLst>
                                          <p:attrName>ppt_y</p:attrName>
                                        </p:attrNameLst>
                                      </p:cBhvr>
                                      <p:tavLst>
                                        <p:tav tm="0">
                                          <p:val>
                                            <p:strVal val="#ppt_y+#ppt_h*1.125000"/>
                                          </p:val>
                                        </p:tav>
                                        <p:tav tm="100000">
                                          <p:val>
                                            <p:strVal val="#ppt_y"/>
                                          </p:val>
                                        </p:tav>
                                      </p:tavLst>
                                    </p:anim>
                                    <p:animEffect transition="in" filter="wipe(up)">
                                      <p:cBhvr>
                                        <p:cTn id="18" dur="500"/>
                                        <p:tgtEl>
                                          <p:spTgt spid="27"/>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p:tgtEl>
                                          <p:spTgt spid="23"/>
                                        </p:tgtEl>
                                        <p:attrNameLst>
                                          <p:attrName>ppt_y</p:attrName>
                                        </p:attrNameLst>
                                      </p:cBhvr>
                                      <p:tavLst>
                                        <p:tav tm="0">
                                          <p:val>
                                            <p:strVal val="#ppt_y+#ppt_h*1.125000"/>
                                          </p:val>
                                        </p:tav>
                                        <p:tav tm="100000">
                                          <p:val>
                                            <p:strVal val="#ppt_y"/>
                                          </p:val>
                                        </p:tav>
                                      </p:tavLst>
                                    </p:anim>
                                    <p:animEffect transition="in" filter="wipe(up)">
                                      <p:cBhvr>
                                        <p:cTn id="22" dur="500"/>
                                        <p:tgtEl>
                                          <p:spTgt spid="23"/>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p:tgtEl>
                                          <p:spTgt spid="24"/>
                                        </p:tgtEl>
                                        <p:attrNameLst>
                                          <p:attrName>ppt_y</p:attrName>
                                        </p:attrNameLst>
                                      </p:cBhvr>
                                      <p:tavLst>
                                        <p:tav tm="0">
                                          <p:val>
                                            <p:strVal val="#ppt_y+#ppt_h*1.125000"/>
                                          </p:val>
                                        </p:tav>
                                        <p:tav tm="100000">
                                          <p:val>
                                            <p:strVal val="#ppt_y"/>
                                          </p:val>
                                        </p:tav>
                                      </p:tavLst>
                                    </p:anim>
                                    <p:animEffect transition="in" filter="wipe(up)">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p:tgtEl>
                                          <p:spTgt spid="25"/>
                                        </p:tgtEl>
                                        <p:attrNameLst>
                                          <p:attrName>ppt_y</p:attrName>
                                        </p:attrNameLst>
                                      </p:cBhvr>
                                      <p:tavLst>
                                        <p:tav tm="0">
                                          <p:val>
                                            <p:strVal val="#ppt_y+#ppt_h*1.125000"/>
                                          </p:val>
                                        </p:tav>
                                        <p:tav tm="100000">
                                          <p:val>
                                            <p:strVal val="#ppt_y"/>
                                          </p:val>
                                        </p:tav>
                                      </p:tavLst>
                                    </p:anim>
                                    <p:animEffect transition="in" filter="wipe(up)">
                                      <p:cBhvr>
                                        <p:cTn id="32" dur="500"/>
                                        <p:tgtEl>
                                          <p:spTgt spid="25"/>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p:tgtEl>
                                          <p:spTgt spid="28"/>
                                        </p:tgtEl>
                                        <p:attrNameLst>
                                          <p:attrName>ppt_y</p:attrName>
                                        </p:attrNameLst>
                                      </p:cBhvr>
                                      <p:tavLst>
                                        <p:tav tm="0">
                                          <p:val>
                                            <p:strVal val="#ppt_y+#ppt_h*1.125000"/>
                                          </p:val>
                                        </p:tav>
                                        <p:tav tm="100000">
                                          <p:val>
                                            <p:strVal val="#ppt_y"/>
                                          </p:val>
                                        </p:tav>
                                      </p:tavLst>
                                    </p:anim>
                                    <p:animEffect transition="in" filter="wipe(up)">
                                      <p:cBhvr>
                                        <p:cTn id="36" dur="500"/>
                                        <p:tgtEl>
                                          <p:spTgt spid="28"/>
                                        </p:tgtEl>
                                      </p:cBhvr>
                                    </p:animEffect>
                                  </p:childTnLst>
                                </p:cTn>
                              </p:par>
                              <p:par>
                                <p:cTn id="37" presetID="12" presetClass="entr" presetSubtype="4"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p:tgtEl>
                                          <p:spTgt spid="21"/>
                                        </p:tgtEl>
                                        <p:attrNameLst>
                                          <p:attrName>ppt_y</p:attrName>
                                        </p:attrNameLst>
                                      </p:cBhvr>
                                      <p:tavLst>
                                        <p:tav tm="0">
                                          <p:val>
                                            <p:strVal val="#ppt_y+#ppt_h*1.125000"/>
                                          </p:val>
                                        </p:tav>
                                        <p:tav tm="100000">
                                          <p:val>
                                            <p:strVal val="#ppt_y"/>
                                          </p:val>
                                        </p:tav>
                                      </p:tavLst>
                                    </p:anim>
                                    <p:animEffect transition="in" filter="wipe(up)">
                                      <p:cBhvr>
                                        <p:cTn id="40" dur="500"/>
                                        <p:tgtEl>
                                          <p:spTgt spid="21"/>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p:tgtEl>
                                          <p:spTgt spid="26"/>
                                        </p:tgtEl>
                                        <p:attrNameLst>
                                          <p:attrName>ppt_y</p:attrName>
                                        </p:attrNameLst>
                                      </p:cBhvr>
                                      <p:tavLst>
                                        <p:tav tm="0">
                                          <p:val>
                                            <p:strVal val="#ppt_y+#ppt_h*1.125000"/>
                                          </p:val>
                                        </p:tav>
                                        <p:tav tm="100000">
                                          <p:val>
                                            <p:strVal val="#ppt_y"/>
                                          </p:val>
                                        </p:tav>
                                      </p:tavLst>
                                    </p:anim>
                                    <p:animEffect transition="in" filter="wipe(up)">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p:tgtEl>
                                          <p:spTgt spid="30"/>
                                        </p:tgtEl>
                                        <p:attrNameLst>
                                          <p:attrName>ppt_y</p:attrName>
                                        </p:attrNameLst>
                                      </p:cBhvr>
                                      <p:tavLst>
                                        <p:tav tm="0">
                                          <p:val>
                                            <p:strVal val="#ppt_y+#ppt_h*1.125000"/>
                                          </p:val>
                                        </p:tav>
                                        <p:tav tm="100000">
                                          <p:val>
                                            <p:strVal val="#ppt_y"/>
                                          </p:val>
                                        </p:tav>
                                      </p:tavLst>
                                    </p:anim>
                                    <p:animEffect transition="in" filter="wipe(up)">
                                      <p:cBhvr>
                                        <p:cTn id="50" dur="500"/>
                                        <p:tgtEl>
                                          <p:spTgt spid="30"/>
                                        </p:tgtEl>
                                      </p:cBhvr>
                                    </p:animEffect>
                                  </p:childTnLst>
                                </p:cTn>
                              </p:par>
                              <p:par>
                                <p:cTn id="51" presetID="12" presetClass="entr" presetSubtype="4"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 calcmode="lin" valueType="num">
                                      <p:cBhvr additive="base">
                                        <p:cTn id="53" dur="500"/>
                                        <p:tgtEl>
                                          <p:spTgt spid="31"/>
                                        </p:tgtEl>
                                        <p:attrNameLst>
                                          <p:attrName>ppt_y</p:attrName>
                                        </p:attrNameLst>
                                      </p:cBhvr>
                                      <p:tavLst>
                                        <p:tav tm="0">
                                          <p:val>
                                            <p:strVal val="#ppt_y+#ppt_h*1.125000"/>
                                          </p:val>
                                        </p:tav>
                                        <p:tav tm="100000">
                                          <p:val>
                                            <p:strVal val="#ppt_y"/>
                                          </p:val>
                                        </p:tav>
                                      </p:tavLst>
                                    </p:anim>
                                    <p:animEffect transition="in" filter="wipe(up)">
                                      <p:cBhvr>
                                        <p:cTn id="54" dur="500"/>
                                        <p:tgtEl>
                                          <p:spTgt spid="31"/>
                                        </p:tgtEl>
                                      </p:cBhvr>
                                    </p:animEffect>
                                  </p:childTnLst>
                                </p:cTn>
                              </p:par>
                              <p:par>
                                <p:cTn id="55" presetID="12" presetClass="entr" presetSubtype="4" fill="hold" grpId="0" nodeType="withEffect">
                                  <p:stCondLst>
                                    <p:cond delay="0"/>
                                  </p:stCondLst>
                                  <p:childTnLst>
                                    <p:set>
                                      <p:cBhvr>
                                        <p:cTn id="56" dur="1" fill="hold">
                                          <p:stCondLst>
                                            <p:cond delay="0"/>
                                          </p:stCondLst>
                                        </p:cTn>
                                        <p:tgtEl>
                                          <p:spTgt spid="2"/>
                                        </p:tgtEl>
                                        <p:attrNameLst>
                                          <p:attrName>style.visibility</p:attrName>
                                        </p:attrNameLst>
                                      </p:cBhvr>
                                      <p:to>
                                        <p:strVal val="visible"/>
                                      </p:to>
                                    </p:set>
                                    <p:anim calcmode="lin" valueType="num">
                                      <p:cBhvr additive="base">
                                        <p:cTn id="57" dur="500"/>
                                        <p:tgtEl>
                                          <p:spTgt spid="2"/>
                                        </p:tgtEl>
                                        <p:attrNameLst>
                                          <p:attrName>ppt_y</p:attrName>
                                        </p:attrNameLst>
                                      </p:cBhvr>
                                      <p:tavLst>
                                        <p:tav tm="0">
                                          <p:val>
                                            <p:strVal val="#ppt_y+#ppt_h*1.125000"/>
                                          </p:val>
                                        </p:tav>
                                        <p:tav tm="100000">
                                          <p:val>
                                            <p:strVal val="#ppt_y"/>
                                          </p:val>
                                        </p:tav>
                                      </p:tavLst>
                                    </p:anim>
                                    <p:animEffect transition="in" filter="wipe(up)">
                                      <p:cBhvr>
                                        <p:cTn id="5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animBg="1"/>
      <p:bldP spid="28" grpId="0" animBg="1"/>
      <p:bldP spid="29" grpId="0" animBg="1"/>
      <p:bldP spid="30" grpId="0" animBg="1"/>
      <p:bldP spid="31" grpId="0" animBg="1"/>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534400" cy="5720680"/>
          </a:xfrm>
        </p:spPr>
        <p:txBody>
          <a:bodyPr>
            <a:normAutofit/>
          </a:bodyPr>
          <a:lstStyle/>
          <a:p>
            <a:r>
              <a:rPr lang="zh-CN" altLang="en-US" dirty="0"/>
              <a:t>一、</a:t>
            </a:r>
            <a:r>
              <a:rPr lang="zh-CN" altLang="en-US" dirty="0">
                <a:solidFill>
                  <a:srgbClr val="C00000"/>
                </a:solidFill>
              </a:rPr>
              <a:t>子类拥有父类的所有属性和方法</a:t>
            </a:r>
            <a:r>
              <a:rPr lang="zh-CN" altLang="en-US" dirty="0"/>
              <a:t>，只不过父类的私有属性和方法，子类是无法直接访问到的。</a:t>
            </a:r>
            <a:endParaRPr lang="en-US" altLang="zh-CN" dirty="0"/>
          </a:p>
          <a:p>
            <a:endParaRPr lang="zh-CN" altLang="en-US" dirty="0"/>
          </a:p>
          <a:p>
            <a:r>
              <a:rPr lang="zh-CN" altLang="en-US" dirty="0"/>
              <a:t>二、</a:t>
            </a:r>
            <a:r>
              <a:rPr lang="zh-CN" altLang="en-US" dirty="0">
                <a:solidFill>
                  <a:srgbClr val="C00000"/>
                </a:solidFill>
              </a:rPr>
              <a:t>子类可以对父类进行扩展。子类可以拥有自己属性和方法；</a:t>
            </a:r>
            <a:r>
              <a:rPr lang="zh-CN" altLang="en-US" sz="3100" b="0" dirty="0">
                <a:effectLst/>
                <a:latin typeface="PingFang SC"/>
              </a:rPr>
              <a:t>子类既可以</a:t>
            </a:r>
            <a:r>
              <a:rPr lang="zh-CN" altLang="en-US" sz="3100" b="0" dirty="0">
                <a:solidFill>
                  <a:srgbClr val="FF0000"/>
                </a:solidFill>
                <a:effectLst/>
                <a:latin typeface="PingFang SC"/>
              </a:rPr>
              <a:t>重载</a:t>
            </a:r>
            <a:r>
              <a:rPr lang="zh-CN" altLang="en-US" sz="3100" b="0" dirty="0">
                <a:effectLst/>
                <a:latin typeface="PingFang SC"/>
              </a:rPr>
              <a:t>父类的方法，也可以</a:t>
            </a:r>
            <a:r>
              <a:rPr lang="zh-CN" altLang="en-US" sz="3100" b="0" dirty="0">
                <a:solidFill>
                  <a:srgbClr val="FF0000"/>
                </a:solidFill>
                <a:effectLst/>
                <a:latin typeface="PingFang SC"/>
              </a:rPr>
              <a:t>覆盖</a:t>
            </a:r>
            <a:r>
              <a:rPr lang="zh-CN" altLang="en-US" sz="3100" b="0" dirty="0">
                <a:effectLst/>
                <a:latin typeface="PingFang SC"/>
              </a:rPr>
              <a:t>父类的方法。</a:t>
            </a:r>
            <a:endParaRPr lang="en-SG" altLang="zh-CN" sz="3100" b="0" dirty="0">
              <a:effectLst/>
              <a:latin typeface="PingFang SC"/>
            </a:endParaRPr>
          </a:p>
          <a:p>
            <a:endParaRPr lang="en-SG" altLang="zh-CN" sz="3100" dirty="0">
              <a:latin typeface="PingFang SC"/>
            </a:endParaRPr>
          </a:p>
          <a:p>
            <a:r>
              <a:rPr lang="zh-CN" altLang="en-US" dirty="0"/>
              <a:t>子类不能继承父类的构造方法</a:t>
            </a:r>
            <a:endParaRPr lang="en-US" altLang="zh-CN" dirty="0"/>
          </a:p>
          <a:p>
            <a:pPr lvl="1"/>
            <a:r>
              <a:rPr lang="zh-CN" altLang="en-US" dirty="0">
                <a:solidFill>
                  <a:srgbClr val="C00000"/>
                </a:solidFill>
              </a:rPr>
              <a:t>如何解决？</a:t>
            </a:r>
            <a:endParaRPr lang="en-US" altLang="zh-CN" sz="3100" b="0" dirty="0">
              <a:effectLst/>
              <a:latin typeface="PingFang SC"/>
            </a:endParaRPr>
          </a:p>
          <a:p>
            <a:pPr marL="0" indent="0">
              <a:buNone/>
            </a:pPr>
            <a:endParaRPr lang="zh-CN" altLang="en-US" dirty="0"/>
          </a:p>
        </p:txBody>
      </p:sp>
      <p:sp>
        <p:nvSpPr>
          <p:cNvPr id="3" name="Title 2"/>
          <p:cNvSpPr>
            <a:spLocks noGrp="1"/>
          </p:cNvSpPr>
          <p:nvPr>
            <p:ph type="title"/>
          </p:nvPr>
        </p:nvSpPr>
        <p:spPr/>
        <p:txBody>
          <a:bodyPr/>
          <a:lstStyle/>
          <a:p>
            <a:r>
              <a:rPr lang="zh-CN" altLang="en-US" dirty="0"/>
              <a:t>子类从父类那里继承了什么？</a:t>
            </a:r>
          </a:p>
        </p:txBody>
      </p:sp>
      <p:sp>
        <p:nvSpPr>
          <p:cNvPr id="4" name="Date Placeholder 3"/>
          <p:cNvSpPr>
            <a:spLocks noGrp="1"/>
          </p:cNvSpPr>
          <p:nvPr>
            <p:ph type="dt" sz="half" idx="10"/>
          </p:nvPr>
        </p:nvSpPr>
        <p:spPr/>
        <p:txBody>
          <a:bodyPr/>
          <a:lstStyle/>
          <a:p>
            <a:pPr>
              <a:defRPr/>
            </a:pPr>
            <a:fld id="{17D07B3B-420C-40B4-8EE6-75E23E01B0D4}"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22</a:t>
            </a:fld>
            <a:endParaRPr lang="en-US" altLang="zh-CN"/>
          </a:p>
        </p:txBody>
      </p:sp>
    </p:spTree>
    <p:extLst>
      <p:ext uri="{BB962C8B-B14F-4D97-AF65-F5344CB8AC3E}">
        <p14:creationId xmlns:p14="http://schemas.microsoft.com/office/powerpoint/2010/main" val="507678952"/>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2" end="2"/>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 calcmode="lin" valueType="num">
                                      <p:cBhvr additive="base">
                                        <p:cTn id="19" dur="500"/>
                                        <p:tgtEl>
                                          <p:spTgt spid="2">
                                            <p:txEl>
                                              <p:pRg st="5" end="5"/>
                                            </p:txEl>
                                          </p:spTgt>
                                        </p:tgtEl>
                                        <p:attrNameLst>
                                          <p:attrName>ppt_y</p:attrName>
                                        </p:attrNameLst>
                                      </p:cBhvr>
                                      <p:tavLst>
                                        <p:tav tm="0">
                                          <p:val>
                                            <p:strVal val="#ppt_y+#ppt_h*1.125000"/>
                                          </p:val>
                                        </p:tav>
                                        <p:tav tm="100000">
                                          <p:val>
                                            <p:strVal val="#ppt_y"/>
                                          </p:val>
                                        </p:tav>
                                      </p:tavLst>
                                    </p:anim>
                                    <p:animEffect transition="in" filter="wipe(up)">
                                      <p:cBhvr>
                                        <p:cTn id="2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812800" indent="-812800">
              <a:buFont typeface="+mj-ea"/>
              <a:buAutoNum type="ea1JpnChsDbPeriod"/>
            </a:pPr>
            <a:r>
              <a:rPr kumimoji="1" lang="zh-CN" altLang="en-US" dirty="0">
                <a:latin typeface="微软雅黑" pitchFamily="34" charset="-122"/>
              </a:rPr>
              <a:t>继承</a:t>
            </a:r>
            <a:r>
              <a:rPr lang="zh-CN" altLang="en-US" dirty="0">
                <a:latin typeface="微软雅黑" pitchFamily="34" charset="-122"/>
              </a:rPr>
              <a:t>避免了公用代码的重复开发，减少代码的冗余，</a:t>
            </a:r>
            <a:r>
              <a:rPr lang="zh-CN" altLang="en-US" dirty="0"/>
              <a:t>提高程序的复用性</a:t>
            </a:r>
            <a:r>
              <a:rPr lang="zh-CN" altLang="en-US" dirty="0">
                <a:latin typeface="微软雅黑" pitchFamily="34" charset="-122"/>
              </a:rPr>
              <a:t>；</a:t>
            </a:r>
            <a:endParaRPr lang="en-US" altLang="zh-CN" dirty="0">
              <a:latin typeface="微软雅黑" pitchFamily="34" charset="-122"/>
            </a:endParaRPr>
          </a:p>
          <a:p>
            <a:pPr marL="812800" indent="-812800">
              <a:buFont typeface="+mj-ea"/>
              <a:buAutoNum type="ea1JpnChsDbPeriod"/>
            </a:pPr>
            <a:r>
              <a:rPr kumimoji="1" lang="zh-CN" altLang="en-US" dirty="0">
                <a:latin typeface="微软雅黑" pitchFamily="34" charset="-122"/>
              </a:rPr>
              <a:t>继承是类实现可重用性和可扩充性的关键持征。在继承关系下类之间组成网状的层次结构。</a:t>
            </a:r>
            <a:endParaRPr kumimoji="1" lang="en-US" altLang="zh-CN" dirty="0">
              <a:latin typeface="微软雅黑" pitchFamily="34" charset="-122"/>
            </a:endParaRPr>
          </a:p>
          <a:p>
            <a:pPr marL="812800" indent="-812800">
              <a:buFont typeface="+mj-ea"/>
              <a:buAutoNum type="ea1JpnChsDbPeriod"/>
            </a:pPr>
            <a:r>
              <a:rPr lang="zh-CN" altLang="en-US" dirty="0">
                <a:latin typeface="微软雅黑" pitchFamily="34" charset="-122"/>
              </a:rPr>
              <a:t>通过</a:t>
            </a:r>
            <a:r>
              <a:rPr kumimoji="1" lang="zh-CN" altLang="en-US" dirty="0">
                <a:latin typeface="微软雅黑" pitchFamily="34" charset="-122"/>
              </a:rPr>
              <a:t>继承</a:t>
            </a:r>
            <a:r>
              <a:rPr lang="zh-CN" altLang="en-US" dirty="0">
                <a:latin typeface="微软雅黑" pitchFamily="34" charset="-122"/>
              </a:rPr>
              <a:t>增强一致性，从而减少模块间的接口和界面。</a:t>
            </a:r>
            <a:endParaRPr lang="en-US" altLang="zh-CN" dirty="0">
              <a:latin typeface="微软雅黑" pitchFamily="34" charset="-122"/>
            </a:endParaRPr>
          </a:p>
          <a:p>
            <a:pPr marL="812800" indent="-812800">
              <a:buFont typeface="+mj-ea"/>
              <a:buAutoNum type="ea1JpnChsDbPeriod"/>
            </a:pPr>
            <a:r>
              <a:rPr lang="zh-CN" altLang="en-US" b="1" dirty="0">
                <a:solidFill>
                  <a:srgbClr val="C00000"/>
                </a:solidFill>
                <a:effectLst>
                  <a:outerShdw blurRad="38100" dist="38100" dir="2700000" algn="tl">
                    <a:srgbClr val="000000">
                      <a:alpha val="43137"/>
                    </a:srgbClr>
                  </a:outerShdw>
                </a:effectLst>
              </a:rPr>
              <a:t>通过向上映射</a:t>
            </a:r>
            <a:r>
              <a:rPr lang="en-US" altLang="zh-CN" b="1" dirty="0">
                <a:solidFill>
                  <a:srgbClr val="C00000"/>
                </a:solidFill>
                <a:effectLst>
                  <a:outerShdw blurRad="38100" dist="38100" dir="2700000" algn="tl">
                    <a:srgbClr val="000000">
                      <a:alpha val="43137"/>
                    </a:srgbClr>
                  </a:outerShdw>
                </a:effectLst>
              </a:rPr>
              <a:t>(</a:t>
            </a:r>
            <a:r>
              <a:rPr lang="zh-CN" altLang="en-US" b="1" dirty="0">
                <a:solidFill>
                  <a:srgbClr val="C00000"/>
                </a:solidFill>
                <a:effectLst>
                  <a:outerShdw blurRad="38100" dist="38100" dir="2700000" algn="tl">
                    <a:srgbClr val="000000">
                      <a:alpha val="43137"/>
                    </a:srgbClr>
                  </a:outerShdw>
                </a:effectLst>
              </a:rPr>
              <a:t>支持多态</a:t>
            </a:r>
            <a:r>
              <a:rPr lang="en-US" altLang="zh-CN" b="1" dirty="0">
                <a:solidFill>
                  <a:srgbClr val="C00000"/>
                </a:solidFill>
                <a:effectLst>
                  <a:outerShdw blurRad="38100" dist="38100" dir="2700000" algn="tl">
                    <a:srgbClr val="000000">
                      <a:alpha val="43137"/>
                    </a:srgbClr>
                  </a:outerShdw>
                </a:effectLst>
              </a:rPr>
              <a:t>)</a:t>
            </a:r>
            <a:r>
              <a:rPr lang="zh-CN" altLang="en-US" b="1" dirty="0">
                <a:solidFill>
                  <a:srgbClr val="C00000"/>
                </a:solidFill>
                <a:effectLst>
                  <a:outerShdw blurRad="38100" dist="38100" dir="2700000" algn="tl">
                    <a:srgbClr val="000000">
                      <a:alpha val="43137"/>
                    </a:srgbClr>
                  </a:outerShdw>
                </a:effectLst>
              </a:rPr>
              <a:t>，提高程序的可扩展性；</a:t>
            </a:r>
            <a:endParaRPr lang="en-US" altLang="zh-CN" dirty="0">
              <a:latin typeface="微软雅黑" pitchFamily="34" charset="-122"/>
            </a:endParaRPr>
          </a:p>
          <a:p>
            <a:endParaRPr lang="zh-CN" altLang="en-US" dirty="0"/>
          </a:p>
        </p:txBody>
      </p:sp>
      <p:sp>
        <p:nvSpPr>
          <p:cNvPr id="3" name="Title 2"/>
          <p:cNvSpPr>
            <a:spLocks noGrp="1"/>
          </p:cNvSpPr>
          <p:nvPr>
            <p:ph type="title"/>
          </p:nvPr>
        </p:nvSpPr>
        <p:spPr/>
        <p:txBody>
          <a:bodyPr/>
          <a:lstStyle/>
          <a:p>
            <a:r>
              <a:rPr kumimoji="1" lang="zh-CN" altLang="en-US" dirty="0"/>
              <a:t>继承的进一步理解</a:t>
            </a:r>
            <a:endParaRPr lang="zh-CN" altLang="en-US" dirty="0"/>
          </a:p>
        </p:txBody>
      </p:sp>
      <p:sp>
        <p:nvSpPr>
          <p:cNvPr id="4" name="Date Placeholder 3"/>
          <p:cNvSpPr>
            <a:spLocks noGrp="1"/>
          </p:cNvSpPr>
          <p:nvPr>
            <p:ph type="dt" sz="half" idx="10"/>
          </p:nvPr>
        </p:nvSpPr>
        <p:spPr/>
        <p:txBody>
          <a:bodyPr/>
          <a:lstStyle/>
          <a:p>
            <a:pPr>
              <a:defRPr/>
            </a:pPr>
            <a:fld id="{AA78C7E2-13EF-4A39-A730-7C909C0CA37C}"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23</a:t>
            </a:fld>
            <a:endParaRPr lang="en-US" altLang="zh-CN" dirty="0"/>
          </a:p>
        </p:txBody>
      </p:sp>
    </p:spTree>
    <p:extLst>
      <p:ext uri="{BB962C8B-B14F-4D97-AF65-F5344CB8AC3E}">
        <p14:creationId xmlns:p14="http://schemas.microsoft.com/office/powerpoint/2010/main" val="499746648"/>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p:tgtEl>
                                          <p:spTgt spid="2">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382000" cy="5263480"/>
          </a:xfrm>
        </p:spPr>
        <p:txBody>
          <a:bodyPr>
            <a:normAutofit fontScale="55000" lnSpcReduction="20000"/>
          </a:bodyPr>
          <a:lstStyle/>
          <a:p>
            <a:r>
              <a:rPr lang="zh-CN" altLang="en-US" sz="4400" dirty="0">
                <a:latin typeface="KaiTi" panose="02010609060101010101" pitchFamily="49" charset="-122"/>
                <a:ea typeface="KaiTi" panose="02010609060101010101" pitchFamily="49" charset="-122"/>
              </a:rPr>
              <a:t>继承的必要性</a:t>
            </a:r>
            <a:endParaRPr lang="en-US" altLang="zh-CN" sz="4400" dirty="0">
              <a:latin typeface="KaiTi" panose="02010609060101010101" pitchFamily="49" charset="-122"/>
              <a:ea typeface="KaiTi" panose="02010609060101010101" pitchFamily="49" charset="-122"/>
            </a:endParaRPr>
          </a:p>
          <a:p>
            <a:r>
              <a:rPr lang="zh-CN" altLang="en-US" sz="4400" dirty="0">
                <a:latin typeface="KaiTi" panose="02010609060101010101" pitchFamily="49" charset="-122"/>
                <a:ea typeface="KaiTi" panose="02010609060101010101" pitchFamily="49" charset="-122"/>
              </a:rPr>
              <a:t>理解继承</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基类与派生类的关系</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单继承、多继承</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继承的层次结构</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子类继承了什么？</a:t>
            </a:r>
            <a:endParaRPr lang="en-US" altLang="zh-CN" sz="4400" dirty="0">
              <a:latin typeface="KaiTi" panose="02010609060101010101" pitchFamily="49" charset="-122"/>
              <a:ea typeface="KaiTi" panose="02010609060101010101" pitchFamily="49" charset="-122"/>
            </a:endParaRPr>
          </a:p>
          <a:p>
            <a:r>
              <a:rPr lang="en-US" altLang="zh-CN" sz="4400" dirty="0">
                <a:solidFill>
                  <a:srgbClr val="FF0000"/>
                </a:solidFill>
                <a:latin typeface="KaiTi" panose="02010609060101010101" pitchFamily="49" charset="-122"/>
                <a:ea typeface="KaiTi" panose="02010609060101010101" pitchFamily="49" charset="-122"/>
              </a:rPr>
              <a:t>Java</a:t>
            </a:r>
            <a:r>
              <a:rPr lang="zh-CN" altLang="en-US" sz="4400" dirty="0">
                <a:solidFill>
                  <a:srgbClr val="FF0000"/>
                </a:solidFill>
                <a:latin typeface="KaiTi" panose="02010609060101010101" pitchFamily="49" charset="-122"/>
                <a:ea typeface="KaiTi" panose="02010609060101010101" pitchFamily="49" charset="-122"/>
              </a:rPr>
              <a:t>继承（</a:t>
            </a:r>
            <a:r>
              <a:rPr lang="en-US" altLang="zh-CN" sz="4400" dirty="0">
                <a:solidFill>
                  <a:srgbClr val="FF0000"/>
                </a:solidFill>
                <a:latin typeface="KaiTi" panose="02010609060101010101" pitchFamily="49" charset="-122"/>
                <a:ea typeface="KaiTi" panose="02010609060101010101" pitchFamily="49" charset="-122"/>
              </a:rPr>
              <a:t>extends</a:t>
            </a:r>
            <a:r>
              <a:rPr lang="zh-CN" altLang="en-US" sz="4400" dirty="0">
                <a:solidFill>
                  <a:srgbClr val="FF0000"/>
                </a:solidFill>
                <a:latin typeface="KaiTi" panose="02010609060101010101" pitchFamily="49" charset="-122"/>
                <a:ea typeface="KaiTi" panose="02010609060101010101" pitchFamily="49" charset="-122"/>
              </a:rPr>
              <a:t>）</a:t>
            </a:r>
            <a:endParaRPr lang="en-US" altLang="zh-CN" sz="4400" dirty="0">
              <a:solidFill>
                <a:srgbClr val="FF0000"/>
              </a:solidFill>
              <a:latin typeface="KaiTi" panose="02010609060101010101" pitchFamily="49" charset="-122"/>
              <a:ea typeface="KaiTi" panose="02010609060101010101" pitchFamily="49" charset="-122"/>
            </a:endParaRPr>
          </a:p>
          <a:p>
            <a:pPr lvl="1"/>
            <a:r>
              <a:rPr lang="zh-CN" altLang="en-US" sz="4400" dirty="0">
                <a:solidFill>
                  <a:srgbClr val="FF0000"/>
                </a:solidFill>
                <a:latin typeface="KaiTi" panose="02010609060101010101" pitchFamily="49" charset="-122"/>
                <a:ea typeface="KaiTi" panose="02010609060101010101" pitchFamily="49" charset="-122"/>
              </a:rPr>
              <a:t>子类构造方法</a:t>
            </a:r>
            <a:endParaRPr lang="en-SG" altLang="zh-CN" sz="4400" dirty="0">
              <a:solidFill>
                <a:srgbClr val="FF0000"/>
              </a:solidFill>
              <a:latin typeface="KaiTi" panose="02010609060101010101" pitchFamily="49" charset="-122"/>
              <a:ea typeface="KaiTi" panose="02010609060101010101" pitchFamily="49" charset="-122"/>
            </a:endParaRPr>
          </a:p>
          <a:p>
            <a:pPr lvl="1"/>
            <a:r>
              <a:rPr lang="zh-CN" altLang="en-US" sz="4400" dirty="0">
                <a:solidFill>
                  <a:srgbClr val="FF0000"/>
                </a:solidFill>
                <a:latin typeface="KaiTi" panose="02010609060101010101" pitchFamily="49" charset="-122"/>
                <a:ea typeface="KaiTi" panose="02010609060101010101" pitchFamily="49" charset="-122"/>
              </a:rPr>
              <a:t>保护成员的使用</a:t>
            </a:r>
            <a:endParaRPr lang="en-US" altLang="zh-CN" sz="4400" dirty="0">
              <a:solidFill>
                <a:srgbClr val="FF0000"/>
              </a:solidFill>
              <a:latin typeface="KaiTi" panose="02010609060101010101" pitchFamily="49" charset="-122"/>
              <a:ea typeface="KaiTi" panose="02010609060101010101" pitchFamily="49" charset="-122"/>
            </a:endParaRPr>
          </a:p>
          <a:p>
            <a:pPr lvl="1"/>
            <a:r>
              <a:rPr lang="zh-CN" altLang="en-US" sz="4400" dirty="0">
                <a:solidFill>
                  <a:srgbClr val="FF0000"/>
                </a:solidFill>
                <a:latin typeface="KaiTi" panose="02010609060101010101" pitchFamily="49" charset="-122"/>
                <a:ea typeface="KaiTi" panose="02010609060101010101" pitchFamily="49" charset="-122"/>
              </a:rPr>
              <a:t>向上映射</a:t>
            </a:r>
            <a:endParaRPr lang="en-US" altLang="zh-CN" sz="4400" dirty="0">
              <a:solidFill>
                <a:srgbClr val="FF0000"/>
              </a:solidFill>
              <a:latin typeface="KaiTi" panose="02010609060101010101" pitchFamily="49" charset="-122"/>
              <a:ea typeface="KaiTi" panose="02010609060101010101" pitchFamily="49" charset="-122"/>
            </a:endParaRPr>
          </a:p>
          <a:p>
            <a:pPr lvl="1"/>
            <a:r>
              <a:rPr lang="zh-CN" altLang="en-US" sz="4400" dirty="0">
                <a:solidFill>
                  <a:srgbClr val="FF0000"/>
                </a:solidFill>
                <a:latin typeface="KaiTi" panose="02010609060101010101" pitchFamily="49" charset="-122"/>
                <a:ea typeface="KaiTi" panose="02010609060101010101" pitchFamily="49" charset="-122"/>
              </a:rPr>
              <a:t>隐藏、覆盖</a:t>
            </a:r>
            <a:endParaRPr lang="en-US" altLang="zh-CN" sz="4400" dirty="0">
              <a:solidFill>
                <a:srgbClr val="FF0000"/>
              </a:solidFill>
              <a:latin typeface="KaiTi" panose="02010609060101010101" pitchFamily="49" charset="-122"/>
              <a:ea typeface="KaiTi" panose="02010609060101010101" pitchFamily="49" charset="-122"/>
            </a:endParaRPr>
          </a:p>
          <a:p>
            <a:r>
              <a:rPr lang="zh-CN" altLang="en-US" sz="4800" dirty="0">
                <a:latin typeface="KaiTi" panose="02010609060101010101" pitchFamily="49" charset="-122"/>
                <a:ea typeface="KaiTi" panose="02010609060101010101" pitchFamily="49" charset="-122"/>
              </a:rPr>
              <a:t>继承的优缺点、组合与继承</a:t>
            </a:r>
            <a:endParaRPr lang="en-SG" altLang="zh-CN" sz="4800" dirty="0">
              <a:latin typeface="KaiTi" panose="02010609060101010101" pitchFamily="49" charset="-122"/>
              <a:ea typeface="KaiTi" panose="02010609060101010101" pitchFamily="49" charset="-122"/>
            </a:endParaRPr>
          </a:p>
          <a:p>
            <a:r>
              <a:rPr lang="zh-CN" altLang="en-US" sz="4800" dirty="0">
                <a:latin typeface="KaiTi" panose="02010609060101010101" pitchFamily="49" charset="-122"/>
                <a:ea typeface="KaiTi" panose="02010609060101010101" pitchFamily="49" charset="-122"/>
              </a:rPr>
              <a:t>继承的案例</a:t>
            </a:r>
            <a:endParaRPr lang="en-US" altLang="zh-CN" sz="4800" dirty="0">
              <a:latin typeface="KaiTi" panose="02010609060101010101" pitchFamily="49" charset="-122"/>
              <a:ea typeface="KaiTi" panose="02010609060101010101" pitchFamily="49" charset="-122"/>
            </a:endParaRPr>
          </a:p>
        </p:txBody>
      </p:sp>
      <p:sp>
        <p:nvSpPr>
          <p:cNvPr id="3" name="Title 2"/>
          <p:cNvSpPr>
            <a:spLocks noGrp="1"/>
          </p:cNvSpPr>
          <p:nvPr>
            <p:ph type="title"/>
          </p:nvPr>
        </p:nvSpPr>
        <p:spPr/>
        <p:txBody>
          <a:bodyPr/>
          <a:lstStyle/>
          <a:p>
            <a:r>
              <a:rPr lang="zh-CN" altLang="en-US" dirty="0"/>
              <a:t>主要内容</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24</a:t>
            </a:fld>
            <a:endParaRPr lang="en-US" altLang="zh-CN" dirty="0"/>
          </a:p>
        </p:txBody>
      </p:sp>
    </p:spTree>
    <p:extLst>
      <p:ext uri="{BB962C8B-B14F-4D97-AF65-F5344CB8AC3E}">
        <p14:creationId xmlns:p14="http://schemas.microsoft.com/office/powerpoint/2010/main" val="3493339554"/>
      </p:ext>
    </p:extLst>
  </p:cSld>
  <p:clrMapOvr>
    <a:masterClrMapping/>
  </p:clrMapOvr>
  <p:transition spd="med">
    <p:pull dir="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812800" indent="-812800">
              <a:buFont typeface="Arial" pitchFamily="34" charset="0"/>
              <a:buAutoNum type="ea1JpnChsDbPeriod"/>
            </a:pPr>
            <a:r>
              <a:rPr lang="en-US" altLang="zh-CN" dirty="0">
                <a:latin typeface="微软雅黑" pitchFamily="34" charset="-122"/>
              </a:rPr>
              <a:t>Java</a:t>
            </a:r>
            <a:r>
              <a:rPr lang="zh-CN" altLang="en-US" dirty="0">
                <a:latin typeface="微软雅黑" pitchFamily="34" charset="-122"/>
              </a:rPr>
              <a:t>不支持类的多继承。</a:t>
            </a:r>
          </a:p>
          <a:p>
            <a:pPr marL="812800" indent="-812800">
              <a:buFont typeface="Arial" pitchFamily="34" charset="0"/>
              <a:buAutoNum type="ea1JpnChsDbPeriod"/>
            </a:pPr>
            <a:r>
              <a:rPr lang="en-US" altLang="zh-CN" dirty="0">
                <a:latin typeface="微软雅黑" pitchFamily="34" charset="-122"/>
              </a:rPr>
              <a:t>Java</a:t>
            </a:r>
            <a:r>
              <a:rPr lang="zh-CN" altLang="en-US" dirty="0">
                <a:latin typeface="微软雅黑" pitchFamily="34" charset="-122"/>
              </a:rPr>
              <a:t>中的继承通过关键字</a:t>
            </a:r>
            <a:r>
              <a:rPr lang="en-US" altLang="zh-CN" dirty="0">
                <a:latin typeface="微软雅黑" pitchFamily="34" charset="-122"/>
              </a:rPr>
              <a:t>extends</a:t>
            </a:r>
            <a:r>
              <a:rPr lang="zh-CN" altLang="en-US" dirty="0">
                <a:latin typeface="微软雅黑" pitchFamily="34" charset="-122"/>
              </a:rPr>
              <a:t>实现。</a:t>
            </a:r>
            <a:endParaRPr lang="en-US" altLang="zh-CN" dirty="0">
              <a:latin typeface="微软雅黑" pitchFamily="34" charset="-122"/>
            </a:endParaRPr>
          </a:p>
          <a:p>
            <a:pPr marL="812800" indent="-812800">
              <a:buFont typeface="Arial" pitchFamily="34" charset="0"/>
              <a:buAutoNum type="ea1JpnChsDbPeriod"/>
            </a:pPr>
            <a:r>
              <a:rPr lang="zh-CN" altLang="en-US" dirty="0">
                <a:latin typeface="楷体" panose="02010609060101010101" pitchFamily="49" charset="-122"/>
              </a:rPr>
              <a:t>类继承的格式：</a:t>
            </a:r>
          </a:p>
          <a:p>
            <a:pPr marL="812800" indent="-812800">
              <a:buFont typeface="Arial" pitchFamily="34" charset="0"/>
              <a:buAutoNum type="ea1JpnChsDbPeriod"/>
            </a:pPr>
            <a:endParaRPr lang="zh-CN" altLang="en-US" dirty="0">
              <a:latin typeface="微软雅黑" pitchFamily="34" charset="-122"/>
            </a:endParaRPr>
          </a:p>
          <a:p>
            <a:endParaRPr lang="zh-CN" altLang="en-US" dirty="0"/>
          </a:p>
        </p:txBody>
      </p:sp>
      <p:sp>
        <p:nvSpPr>
          <p:cNvPr id="3" name="Title 2"/>
          <p:cNvSpPr>
            <a:spLocks noGrp="1"/>
          </p:cNvSpPr>
          <p:nvPr>
            <p:ph type="title"/>
          </p:nvPr>
        </p:nvSpPr>
        <p:spPr/>
        <p:txBody>
          <a:bodyPr/>
          <a:lstStyle/>
          <a:p>
            <a:r>
              <a:rPr lang="en-US" altLang="zh-CN" dirty="0">
                <a:latin typeface="微软雅黑" pitchFamily="34" charset="-122"/>
              </a:rPr>
              <a:t>Java</a:t>
            </a:r>
            <a:r>
              <a:rPr lang="zh-CN" altLang="en-US" dirty="0">
                <a:latin typeface="微软雅黑" pitchFamily="34" charset="-122"/>
              </a:rPr>
              <a:t>继承</a:t>
            </a:r>
            <a:endParaRPr lang="zh-CN" altLang="en-US" dirty="0"/>
          </a:p>
        </p:txBody>
      </p:sp>
      <p:sp>
        <p:nvSpPr>
          <p:cNvPr id="4" name="Rectangle 3"/>
          <p:cNvSpPr/>
          <p:nvPr/>
        </p:nvSpPr>
        <p:spPr>
          <a:xfrm>
            <a:off x="849824" y="3429000"/>
            <a:ext cx="6705600" cy="1815882"/>
          </a:xfrm>
          <a:prstGeom prst="rect">
            <a:avLst/>
          </a:prstGeom>
          <a:ln>
            <a:solidFill>
              <a:schemeClr val="tx1"/>
            </a:solidFill>
          </a:ln>
        </p:spPr>
        <p:txBody>
          <a:bodyPr wrap="square">
            <a:spAutoFit/>
          </a:bodyPr>
          <a:lstStyle/>
          <a:p>
            <a:pPr lvl="1">
              <a:buNone/>
            </a:pP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修饰符</a:t>
            </a:r>
            <a:r>
              <a:rPr lang="en-US" altLang="zh-CN" sz="2800" dirty="0">
                <a:latin typeface="楷体" panose="02010609060101010101" pitchFamily="49" charset="-122"/>
                <a:ea typeface="楷体" panose="02010609060101010101" pitchFamily="49" charset="-122"/>
              </a:rPr>
              <a:t>]class </a:t>
            </a:r>
            <a:r>
              <a:rPr lang="zh-CN" altLang="en-US" sz="2800" dirty="0">
                <a:latin typeface="楷体" panose="02010609060101010101" pitchFamily="49" charset="-122"/>
                <a:ea typeface="楷体" panose="02010609060101010101" pitchFamily="49" charset="-122"/>
              </a:rPr>
              <a:t>类名 </a:t>
            </a:r>
            <a:r>
              <a:rPr lang="en-US" altLang="zh-CN" sz="2800" b="1" dirty="0">
                <a:solidFill>
                  <a:srgbClr val="FF0000"/>
                </a:solidFill>
                <a:latin typeface="楷体" panose="02010609060101010101" pitchFamily="49" charset="-122"/>
                <a:ea typeface="楷体" panose="02010609060101010101" pitchFamily="49" charset="-122"/>
              </a:rPr>
              <a:t>extends</a:t>
            </a:r>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父类名</a:t>
            </a:r>
          </a:p>
          <a:p>
            <a:pPr lvl="1">
              <a:buNone/>
            </a:pPr>
            <a:r>
              <a:rPr lang="en-US" altLang="zh-CN" sz="2800" dirty="0">
                <a:latin typeface="楷体" panose="02010609060101010101" pitchFamily="49" charset="-122"/>
                <a:ea typeface="楷体" panose="02010609060101010101" pitchFamily="49" charset="-122"/>
              </a:rPr>
              <a:t>{</a:t>
            </a:r>
          </a:p>
          <a:p>
            <a:pPr lvl="1">
              <a:buNone/>
            </a:pPr>
            <a:r>
              <a:rPr lang="zh-CN" altLang="en-US" sz="2800" dirty="0">
                <a:latin typeface="楷体" panose="02010609060101010101" pitchFamily="49" charset="-122"/>
                <a:ea typeface="楷体" panose="02010609060101010101" pitchFamily="49" charset="-122"/>
              </a:rPr>
              <a:t>			类体；</a:t>
            </a:r>
          </a:p>
          <a:p>
            <a:pPr lvl="1">
              <a:buNone/>
            </a:pPr>
            <a:r>
              <a:rPr lang="en-US" altLang="zh-CN" sz="2800" dirty="0">
                <a:latin typeface="楷体" panose="02010609060101010101" pitchFamily="49" charset="-122"/>
                <a:ea typeface="楷体" panose="02010609060101010101" pitchFamily="49" charset="-122"/>
              </a:rPr>
              <a:t>}</a:t>
            </a:r>
          </a:p>
        </p:txBody>
      </p:sp>
      <p:sp>
        <p:nvSpPr>
          <p:cNvPr id="5" name="Date Placeholder 4"/>
          <p:cNvSpPr>
            <a:spLocks noGrp="1"/>
          </p:cNvSpPr>
          <p:nvPr>
            <p:ph type="dt" sz="half" idx="10"/>
          </p:nvPr>
        </p:nvSpPr>
        <p:spPr/>
        <p:txBody>
          <a:bodyPr/>
          <a:lstStyle/>
          <a:p>
            <a:pPr>
              <a:defRPr/>
            </a:pPr>
            <a:fld id="{A96E7659-9047-45C7-BD11-35B4684D3612}" type="datetime1">
              <a:rPr lang="zh-CN" altLang="en-US" smtClean="0"/>
              <a:t>2024/10/17</a:t>
            </a:fld>
            <a:endParaRPr lang="en-US" altLang="zh-CN"/>
          </a:p>
        </p:txBody>
      </p:sp>
      <p:sp>
        <p:nvSpPr>
          <p:cNvPr id="6" name="Footer Placeholder 5"/>
          <p:cNvSpPr>
            <a:spLocks noGrp="1"/>
          </p:cNvSpPr>
          <p:nvPr>
            <p:ph type="ftr" sz="quarter" idx="11"/>
          </p:nvPr>
        </p:nvSpPr>
        <p:spPr/>
        <p:txBody>
          <a:bodyPr/>
          <a:lstStyle/>
          <a:p>
            <a:pPr>
              <a:defRPr/>
            </a:pPr>
            <a:r>
              <a:rPr lang="en-US" altLang="zh-CN" dirty="0"/>
              <a:t>Xiang Gao</a:t>
            </a:r>
          </a:p>
        </p:txBody>
      </p:sp>
      <p:sp>
        <p:nvSpPr>
          <p:cNvPr id="7" name="Slide Number Placeholder 6"/>
          <p:cNvSpPr>
            <a:spLocks noGrp="1"/>
          </p:cNvSpPr>
          <p:nvPr>
            <p:ph type="sldNum" sz="quarter" idx="12"/>
          </p:nvPr>
        </p:nvSpPr>
        <p:spPr/>
        <p:txBody>
          <a:bodyPr/>
          <a:lstStyle/>
          <a:p>
            <a:pPr>
              <a:defRPr/>
            </a:pPr>
            <a:fld id="{F7C8A414-E22E-4DF8-8FC5-FF8056582F45}" type="slidenum">
              <a:rPr lang="en-US" altLang="zh-CN" smtClean="0"/>
              <a:pPr>
                <a:defRPr/>
              </a:pPr>
              <a:t>25</a:t>
            </a:fld>
            <a:endParaRPr lang="en-US" altLang="zh-CN"/>
          </a:p>
        </p:txBody>
      </p:sp>
    </p:spTree>
    <p:extLst>
      <p:ext uri="{BB962C8B-B14F-4D97-AF65-F5344CB8AC3E}">
        <p14:creationId xmlns:p14="http://schemas.microsoft.com/office/powerpoint/2010/main" val="4142713255"/>
      </p:ext>
    </p:extLst>
  </p:cSld>
  <p:clrMapOvr>
    <a:masterClrMapping/>
  </p:clrMapOvr>
  <p:transition spd="med">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812800" indent="-812800">
              <a:buFont typeface="Arial" pitchFamily="34" charset="0"/>
              <a:buAutoNum type="ea1JpnChsDbPeriod"/>
            </a:pPr>
            <a:r>
              <a:rPr lang="en-US" altLang="zh-CN" dirty="0">
                <a:latin typeface="微软雅黑" pitchFamily="34" charset="-122"/>
              </a:rPr>
              <a:t>this</a:t>
            </a:r>
            <a:r>
              <a:rPr lang="zh-CN" altLang="en-US" dirty="0">
                <a:latin typeface="微软雅黑" pitchFamily="34" charset="-122"/>
              </a:rPr>
              <a:t>变量代表对象本身。</a:t>
            </a:r>
          </a:p>
          <a:p>
            <a:pPr marL="812800" indent="-812800">
              <a:buFont typeface="Arial" pitchFamily="34" charset="0"/>
              <a:buAutoNum type="ea1JpnChsDbPeriod"/>
            </a:pPr>
            <a:endParaRPr lang="zh-CN" altLang="en-US" dirty="0">
              <a:latin typeface="微软雅黑" pitchFamily="34" charset="-122"/>
            </a:endParaRPr>
          </a:p>
          <a:p>
            <a:pPr marL="812800" indent="-812800">
              <a:buFont typeface="Arial" pitchFamily="34" charset="0"/>
              <a:buAutoNum type="ea1JpnChsDbPeriod"/>
            </a:pPr>
            <a:r>
              <a:rPr lang="zh-CN" altLang="en-US" dirty="0">
                <a:latin typeface="微软雅黑" pitchFamily="34" charset="-122"/>
              </a:rPr>
              <a:t>当类中有两个同名变量，一个属于类的成员变量，而另一个属于方法中的局部变量，使用</a:t>
            </a:r>
            <a:r>
              <a:rPr lang="en-US" altLang="zh-CN" dirty="0">
                <a:latin typeface="微软雅黑" pitchFamily="34" charset="-122"/>
              </a:rPr>
              <a:t>this</a:t>
            </a:r>
            <a:r>
              <a:rPr lang="zh-CN" altLang="en-US" dirty="0">
                <a:latin typeface="微软雅黑" pitchFamily="34" charset="-122"/>
              </a:rPr>
              <a:t>区分成员变量和局部变量。</a:t>
            </a:r>
          </a:p>
          <a:p>
            <a:pPr marL="812800" indent="-812800">
              <a:buFont typeface="Arial" pitchFamily="34" charset="0"/>
              <a:buAutoNum type="ea1JpnChsDbPeriod"/>
            </a:pPr>
            <a:endParaRPr lang="zh-CN" altLang="en-US" dirty="0">
              <a:latin typeface="微软雅黑" pitchFamily="34" charset="-122"/>
            </a:endParaRPr>
          </a:p>
          <a:p>
            <a:pPr marL="812800" indent="-812800">
              <a:buFont typeface="Arial" pitchFamily="34" charset="0"/>
              <a:buAutoNum type="ea1JpnChsDbPeriod"/>
            </a:pPr>
            <a:r>
              <a:rPr lang="zh-CN" altLang="en-US" dirty="0">
                <a:latin typeface="微软雅黑" pitchFamily="34" charset="-122"/>
              </a:rPr>
              <a:t>使用</a:t>
            </a:r>
            <a:r>
              <a:rPr lang="en-US" altLang="zh-CN" dirty="0">
                <a:latin typeface="微软雅黑" pitchFamily="34" charset="-122"/>
              </a:rPr>
              <a:t>this</a:t>
            </a:r>
            <a:r>
              <a:rPr lang="zh-CN" altLang="en-US" dirty="0">
                <a:latin typeface="微软雅黑" pitchFamily="34" charset="-122"/>
              </a:rPr>
              <a:t>简化构造函数的调用。</a:t>
            </a:r>
          </a:p>
          <a:p>
            <a:endParaRPr lang="zh-CN" altLang="en-US" dirty="0"/>
          </a:p>
        </p:txBody>
      </p:sp>
      <p:sp>
        <p:nvSpPr>
          <p:cNvPr id="3" name="Title 2"/>
          <p:cNvSpPr>
            <a:spLocks noGrp="1"/>
          </p:cNvSpPr>
          <p:nvPr>
            <p:ph type="title"/>
          </p:nvPr>
        </p:nvSpPr>
        <p:spPr/>
        <p:txBody>
          <a:bodyPr/>
          <a:lstStyle/>
          <a:p>
            <a:r>
              <a:rPr lang="en-US" altLang="zh-CN" dirty="0"/>
              <a:t>this</a:t>
            </a:r>
            <a:r>
              <a:rPr lang="zh-CN" altLang="en-US" dirty="0"/>
              <a:t>关键字</a:t>
            </a:r>
          </a:p>
        </p:txBody>
      </p:sp>
      <p:sp>
        <p:nvSpPr>
          <p:cNvPr id="4" name="Date Placeholder 3"/>
          <p:cNvSpPr>
            <a:spLocks noGrp="1"/>
          </p:cNvSpPr>
          <p:nvPr>
            <p:ph type="dt" sz="half" idx="10"/>
          </p:nvPr>
        </p:nvSpPr>
        <p:spPr/>
        <p:txBody>
          <a:bodyPr/>
          <a:lstStyle/>
          <a:p>
            <a:pPr>
              <a:defRPr/>
            </a:pPr>
            <a:fld id="{53CD92EF-5BA8-4B39-98AE-EE430559721F}"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26</a:t>
            </a:fld>
            <a:endParaRPr lang="en-US" altLang="zh-CN"/>
          </a:p>
        </p:txBody>
      </p:sp>
    </p:spTree>
    <p:extLst>
      <p:ext uri="{BB962C8B-B14F-4D97-AF65-F5344CB8AC3E}">
        <p14:creationId xmlns:p14="http://schemas.microsoft.com/office/powerpoint/2010/main" val="1982978521"/>
      </p:ext>
    </p:extLst>
  </p:cSld>
  <p:clrMapOvr>
    <a:masterClrMapping/>
  </p:clrMapOvr>
  <p:transition spd="med">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a:t>This</a:t>
            </a:r>
            <a:r>
              <a:rPr lang="zh-CN" altLang="en-US" dirty="0"/>
              <a:t>调用构造函数</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27</a:t>
            </a:fld>
            <a:endParaRPr lang="en-US" altLang="zh-CN"/>
          </a:p>
        </p:txBody>
      </p:sp>
      <p:sp>
        <p:nvSpPr>
          <p:cNvPr id="7" name="Rectangle 4"/>
          <p:cNvSpPr>
            <a:spLocks/>
          </p:cNvSpPr>
          <p:nvPr/>
        </p:nvSpPr>
        <p:spPr bwMode="auto">
          <a:xfrm>
            <a:off x="280750" y="704106"/>
            <a:ext cx="6272450" cy="2798445"/>
          </a:xfrm>
          <a:prstGeom prst="rect">
            <a:avLst/>
          </a:prstGeom>
          <a:noFill/>
          <a:ln w="9525">
            <a:noFill/>
            <a:miter lim="800000"/>
            <a:headEnd/>
            <a:tailEnd/>
          </a:ln>
        </p:spPr>
        <p:txBody>
          <a:bodyPr/>
          <a:lstStyle>
            <a:lvl1pPr marL="533400" indent="-533400" eaLnBrk="0" hangingPunct="0">
              <a:defRPr kumimoji="1" sz="2400">
                <a:solidFill>
                  <a:schemeClr val="tx1"/>
                </a:solidFill>
                <a:latin typeface="Times New Roman" panose="02020603050405020304" pitchFamily="18" charset="0"/>
                <a:ea typeface="宋体" panose="02010600030101010101" pitchFamily="2" charset="-122"/>
              </a:defRPr>
            </a:lvl1pPr>
            <a:lvl2pPr marL="914400" indent="-4572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533400" marR="0" lvl="0" indent="-533400" defTabSz="914400" eaLnBrk="0" fontAlgn="base" latinLnBrk="0" hangingPunct="0">
              <a:lnSpc>
                <a:spcPct val="100000"/>
              </a:lnSpc>
              <a:spcBef>
                <a:spcPct val="20000"/>
              </a:spcBef>
              <a:spcAft>
                <a:spcPct val="0"/>
              </a:spcAft>
              <a:buClrTx/>
              <a:buSzPct val="110000"/>
              <a:buFont typeface="Wingdings" panose="05000000000000000000" pitchFamily="2" charset="2"/>
              <a:buAutoNum type="arabicPeriod"/>
              <a:tabLst/>
              <a:defRPr/>
            </a:pP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引用自身对象的成员变量</a:t>
            </a:r>
          </a:p>
          <a:p>
            <a:pPr marL="914400" marR="0" lvl="1" indent="-457200" defTabSz="914400" eaLnBrk="0" fontAlgn="base" latinLnBrk="0" hangingPunct="0">
              <a:lnSpc>
                <a:spcPct val="100000"/>
              </a:lnSpc>
              <a:spcBef>
                <a:spcPct val="20000"/>
              </a:spcBef>
              <a:spcAft>
                <a:spcPct val="0"/>
              </a:spcAft>
              <a:buClrTx/>
              <a:buSzPct val="110000"/>
              <a:buFont typeface="Wingdings" panose="05000000000000000000" pitchFamily="2" charset="2"/>
              <a:buChar char="w"/>
              <a:tabLst/>
              <a:defRPr/>
            </a:pPr>
            <a:r>
              <a:rPr kumimoji="0" lang="en-US" altLang="zh-CN"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this.age</a:t>
            </a: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533400" marR="0" lvl="0" indent="-533400" defTabSz="914400" eaLnBrk="0" fontAlgn="base" latinLnBrk="0" hangingPunct="0">
              <a:lnSpc>
                <a:spcPct val="100000"/>
              </a:lnSpc>
              <a:spcBef>
                <a:spcPct val="20000"/>
              </a:spcBef>
              <a:spcAft>
                <a:spcPct val="0"/>
              </a:spcAft>
              <a:buClrTx/>
              <a:buSzPct val="110000"/>
              <a:buFont typeface="Wingdings" panose="05000000000000000000" pitchFamily="2" charset="2"/>
              <a:buAutoNum type="arabicPeriod"/>
              <a:tabLst/>
              <a:defRPr/>
            </a:pP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引用自身对象的成员方法</a:t>
            </a:r>
          </a:p>
          <a:p>
            <a:pPr marL="914400" marR="0" lvl="1" indent="-457200" defTabSz="914400" eaLnBrk="0" fontAlgn="base" latinLnBrk="0" hangingPunct="0">
              <a:lnSpc>
                <a:spcPct val="100000"/>
              </a:lnSpc>
              <a:spcBef>
                <a:spcPct val="20000"/>
              </a:spcBef>
              <a:spcAft>
                <a:spcPct val="0"/>
              </a:spcAft>
              <a:buClrTx/>
              <a:buSzPct val="110000"/>
              <a:buFont typeface="Wingdings" panose="05000000000000000000" pitchFamily="2" charset="2"/>
              <a:buChar char="w"/>
              <a:tabLst/>
              <a:defRPr/>
            </a:pPr>
            <a:r>
              <a:rPr kumimoji="0" lang="en-US" altLang="zh-CN"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this.diaplay</a:t>
            </a: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533400" marR="0" lvl="0" indent="-533400" defTabSz="914400" eaLnBrk="0" fontAlgn="base" latinLnBrk="0" hangingPunct="0">
              <a:lnSpc>
                <a:spcPct val="100000"/>
              </a:lnSpc>
              <a:spcBef>
                <a:spcPct val="20000"/>
              </a:spcBef>
              <a:spcAft>
                <a:spcPct val="0"/>
              </a:spcAft>
              <a:buClrTx/>
              <a:buSzPct val="110000"/>
              <a:buFont typeface="Wingdings" panose="05000000000000000000" pitchFamily="2" charset="2"/>
              <a:buAutoNum type="arabicPeriod"/>
              <a:tabLst/>
              <a:defRPr/>
            </a:pP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调用自身的构造方法</a:t>
            </a:r>
          </a:p>
          <a:p>
            <a:pPr marL="914400" marR="0" lvl="1" indent="-457200" defTabSz="914400" eaLnBrk="0" fontAlgn="base" latinLnBrk="0" hangingPunct="0">
              <a:lnSpc>
                <a:spcPct val="100000"/>
              </a:lnSpc>
              <a:spcBef>
                <a:spcPct val="20000"/>
              </a:spcBef>
              <a:spcAft>
                <a:spcPct val="0"/>
              </a:spcAft>
              <a:buClrTx/>
              <a:buSzPct val="110000"/>
              <a:buFont typeface="Wingdings" panose="05000000000000000000" pitchFamily="2" charset="2"/>
              <a:buChar char="w"/>
              <a:tabLst/>
              <a:defRPr/>
            </a:pP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this(</a:t>
            </a:r>
            <a:r>
              <a:rPr kumimoji="0" lang="en-US" altLang="zh-CN" b="0" i="0" u="none" strike="noStrike" kern="1200" cap="none" spc="0" normalizeH="0" baseline="0" noProof="0" dirty="0">
                <a:ln>
                  <a:noFill/>
                </a:ln>
                <a:solidFill>
                  <a:prstClr val="black"/>
                </a:solidFill>
                <a:effectLst/>
                <a:uLnTx/>
                <a:uFillTx/>
                <a:latin typeface="Franklin Gothic Book" panose="020B0503020102020204" pitchFamily="34" charset="0"/>
                <a:ea typeface="微软雅黑" panose="020B0503020204020204" pitchFamily="34" charset="-122"/>
                <a:cs typeface="+mn-cs"/>
              </a:rPr>
              <a:t>“</a:t>
            </a: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Jack</a:t>
            </a:r>
            <a:r>
              <a:rPr kumimoji="0" lang="en-US" altLang="zh-CN" b="0" i="0" u="none" strike="noStrike" kern="1200" cap="none" spc="0" normalizeH="0" baseline="0" noProof="0" dirty="0">
                <a:ln>
                  <a:noFill/>
                </a:ln>
                <a:solidFill>
                  <a:prstClr val="black"/>
                </a:solidFill>
                <a:effectLst/>
                <a:uLnTx/>
                <a:uFillTx/>
                <a:latin typeface="Franklin Gothic Book" panose="020B0503020102020204" pitchFamily="34" charset="0"/>
                <a:ea typeface="微软雅黑" panose="020B0503020204020204" pitchFamily="34" charset="-122"/>
                <a:cs typeface="+mn-cs"/>
              </a:rPr>
              <a:t>”</a:t>
            </a: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,Male,10);</a:t>
            </a:r>
          </a:p>
        </p:txBody>
      </p:sp>
      <p:pic>
        <p:nvPicPr>
          <p:cNvPr id="2" name="Picture 1">
            <a:extLst>
              <a:ext uri="{FF2B5EF4-FFF2-40B4-BE49-F238E27FC236}">
                <a16:creationId xmlns:a16="http://schemas.microsoft.com/office/drawing/2014/main" id="{FF2DAFFA-8046-0B09-6358-E789C4D86A43}"/>
              </a:ext>
            </a:extLst>
          </p:cNvPr>
          <p:cNvPicPr>
            <a:picLocks noChangeAspect="1"/>
          </p:cNvPicPr>
          <p:nvPr/>
        </p:nvPicPr>
        <p:blipFill>
          <a:blip r:embed="rId2"/>
          <a:stretch>
            <a:fillRect/>
          </a:stretch>
        </p:blipFill>
        <p:spPr>
          <a:xfrm>
            <a:off x="457200" y="3469213"/>
            <a:ext cx="7772400" cy="3165230"/>
          </a:xfrm>
          <a:prstGeom prst="rect">
            <a:avLst/>
          </a:prstGeom>
        </p:spPr>
      </p:pic>
      <p:sp>
        <p:nvSpPr>
          <p:cNvPr id="8" name="Rectangle 7">
            <a:extLst>
              <a:ext uri="{FF2B5EF4-FFF2-40B4-BE49-F238E27FC236}">
                <a16:creationId xmlns:a16="http://schemas.microsoft.com/office/drawing/2014/main" id="{576BBE38-966A-D1DD-3123-E7C8FCD54E18}"/>
              </a:ext>
            </a:extLst>
          </p:cNvPr>
          <p:cNvSpPr/>
          <p:nvPr/>
        </p:nvSpPr>
        <p:spPr>
          <a:xfrm>
            <a:off x="1143000" y="5486400"/>
            <a:ext cx="14478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2723299"/>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par>
                                <p:cTn id="9" presetID="1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ppt_y</p:attrName>
                                        </p:attrNameLst>
                                      </p:cBhvr>
                                      <p:tavLst>
                                        <p:tav tm="0">
                                          <p:val>
                                            <p:strVal val="#ppt_y+#ppt_h*1.125000"/>
                                          </p:val>
                                        </p:tav>
                                        <p:tav tm="100000">
                                          <p:val>
                                            <p:strVal val="#ppt_y"/>
                                          </p:val>
                                        </p:tav>
                                      </p:tavLst>
                                    </p:anim>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812800" indent="-812800">
              <a:buFont typeface="Arial" pitchFamily="34" charset="0"/>
              <a:buAutoNum type="ea1JpnChsDbPeriod"/>
            </a:pPr>
            <a:r>
              <a:rPr lang="zh-CN" altLang="en-US" dirty="0">
                <a:latin typeface="楷体" panose="02010609060101010101" pitchFamily="49" charset="-122"/>
              </a:rPr>
              <a:t>如果子类调用父类的构造函数，则通过</a:t>
            </a:r>
            <a:r>
              <a:rPr lang="en-US" altLang="zh-CN" i="1" u="sng" dirty="0">
                <a:latin typeface="楷体" panose="02010609060101010101" pitchFamily="49" charset="-122"/>
              </a:rPr>
              <a:t>super()</a:t>
            </a:r>
            <a:r>
              <a:rPr lang="zh-CN" altLang="en-US" dirty="0">
                <a:latin typeface="楷体" panose="02010609060101010101" pitchFamily="49" charset="-122"/>
              </a:rPr>
              <a:t>调用来实现。</a:t>
            </a:r>
          </a:p>
          <a:p>
            <a:pPr marL="812800" indent="-812800">
              <a:buFont typeface="Arial" pitchFamily="34" charset="0"/>
              <a:buAutoNum type="ea1JpnChsDbPeriod"/>
            </a:pPr>
            <a:endParaRPr lang="zh-CN" altLang="en-US" dirty="0">
              <a:latin typeface="楷体" panose="02010609060101010101" pitchFamily="49" charset="-122"/>
            </a:endParaRPr>
          </a:p>
          <a:p>
            <a:pPr marL="812800" indent="-812800">
              <a:buFont typeface="Arial" pitchFamily="34" charset="0"/>
              <a:buAutoNum type="ea1JpnChsDbPeriod"/>
            </a:pPr>
            <a:r>
              <a:rPr lang="zh-CN" altLang="en-US" dirty="0">
                <a:latin typeface="楷体" panose="02010609060101010101" pitchFamily="49" charset="-122"/>
              </a:rPr>
              <a:t>如果子类调用父类的同名方法，则通过</a:t>
            </a:r>
            <a:r>
              <a:rPr lang="en-US" altLang="zh-CN" u="sng" dirty="0">
                <a:latin typeface="楷体" panose="02010609060101010101" pitchFamily="49" charset="-122"/>
              </a:rPr>
              <a:t>super.</a:t>
            </a:r>
            <a:r>
              <a:rPr lang="zh-CN" altLang="en-US" u="sng" dirty="0">
                <a:latin typeface="楷体" panose="02010609060101010101" pitchFamily="49" charset="-122"/>
              </a:rPr>
              <a:t>方法名</a:t>
            </a:r>
            <a:r>
              <a:rPr lang="en-US" altLang="zh-CN" u="sng" dirty="0">
                <a:latin typeface="楷体" panose="02010609060101010101" pitchFamily="49" charset="-122"/>
              </a:rPr>
              <a:t>()</a:t>
            </a:r>
            <a:r>
              <a:rPr lang="zh-CN" altLang="en-US" dirty="0">
                <a:latin typeface="楷体" panose="02010609060101010101" pitchFamily="49" charset="-122"/>
              </a:rPr>
              <a:t>来实现。</a:t>
            </a:r>
          </a:p>
          <a:p>
            <a:endParaRPr lang="zh-CN" altLang="en-US" dirty="0"/>
          </a:p>
        </p:txBody>
      </p:sp>
      <p:sp>
        <p:nvSpPr>
          <p:cNvPr id="3" name="Title 2"/>
          <p:cNvSpPr>
            <a:spLocks noGrp="1"/>
          </p:cNvSpPr>
          <p:nvPr>
            <p:ph type="title"/>
          </p:nvPr>
        </p:nvSpPr>
        <p:spPr/>
        <p:txBody>
          <a:bodyPr/>
          <a:lstStyle/>
          <a:p>
            <a:r>
              <a:rPr lang="en-US" altLang="zh-CN" dirty="0"/>
              <a:t>super</a:t>
            </a:r>
            <a:r>
              <a:rPr lang="zh-CN" altLang="en-US" dirty="0"/>
              <a:t>关键字</a:t>
            </a:r>
          </a:p>
        </p:txBody>
      </p:sp>
      <p:sp>
        <p:nvSpPr>
          <p:cNvPr id="4" name="Date Placeholder 3"/>
          <p:cNvSpPr>
            <a:spLocks noGrp="1"/>
          </p:cNvSpPr>
          <p:nvPr>
            <p:ph type="dt" sz="half" idx="10"/>
          </p:nvPr>
        </p:nvSpPr>
        <p:spPr/>
        <p:txBody>
          <a:bodyPr/>
          <a:lstStyle/>
          <a:p>
            <a:pPr>
              <a:defRPr/>
            </a:pPr>
            <a:fld id="{769105E5-7E30-4223-B27A-288B32032B02}"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28</a:t>
            </a:fld>
            <a:endParaRPr lang="en-US" altLang="zh-CN"/>
          </a:p>
        </p:txBody>
      </p:sp>
    </p:spTree>
    <p:extLst>
      <p:ext uri="{BB962C8B-B14F-4D97-AF65-F5344CB8AC3E}">
        <p14:creationId xmlns:p14="http://schemas.microsoft.com/office/powerpoint/2010/main" val="200826007"/>
      </p:ext>
    </p:extLst>
  </p:cSld>
  <p:clrMapOvr>
    <a:masterClrMapping/>
  </p:clrMapOvr>
  <p:transition spd="med">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a:t>super</a:t>
            </a:r>
            <a:r>
              <a:rPr lang="zh-CN" altLang="en-US" dirty="0"/>
              <a:t>的用法</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29</a:t>
            </a:fld>
            <a:endParaRPr lang="en-US" altLang="zh-CN"/>
          </a:p>
        </p:txBody>
      </p:sp>
      <p:sp>
        <p:nvSpPr>
          <p:cNvPr id="7" name="Rectangle 4"/>
          <p:cNvSpPr>
            <a:spLocks/>
          </p:cNvSpPr>
          <p:nvPr/>
        </p:nvSpPr>
        <p:spPr bwMode="auto">
          <a:xfrm>
            <a:off x="661750" y="935355"/>
            <a:ext cx="6048375" cy="4895850"/>
          </a:xfrm>
          <a:prstGeom prst="rect">
            <a:avLst/>
          </a:prstGeom>
          <a:noFill/>
          <a:ln w="9525">
            <a:noFill/>
            <a:miter lim="800000"/>
            <a:headEnd/>
            <a:tailEnd/>
          </a:ln>
        </p:spPr>
        <p:txBody>
          <a:bodyPr/>
          <a:lstStyle>
            <a:lvl1pPr marL="533400" indent="-533400" eaLnBrk="0" hangingPunct="0">
              <a:defRPr kumimoji="1" sz="2400">
                <a:solidFill>
                  <a:schemeClr val="tx1"/>
                </a:solidFill>
                <a:latin typeface="Times New Roman" panose="02020603050405020304" pitchFamily="18" charset="0"/>
                <a:ea typeface="宋体" panose="02010600030101010101" pitchFamily="2" charset="-122"/>
              </a:defRPr>
            </a:lvl1pPr>
            <a:lvl2pPr marL="914400" indent="-4572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20000"/>
              </a:spcBef>
              <a:spcAft>
                <a:spcPct val="0"/>
              </a:spcAft>
              <a:buSzPct val="110000"/>
              <a:buFont typeface="Wingdings" panose="05000000000000000000" pitchFamily="2" charset="2"/>
              <a:buAutoNum type="arabicPeriod"/>
            </a:pPr>
            <a:r>
              <a:rPr kumimoji="0" lang="en-US" altLang="zh-CN" dirty="0">
                <a:solidFill>
                  <a:prstClr val="black"/>
                </a:solidFill>
                <a:latin typeface="微软雅黑" panose="020B0503020204020204" pitchFamily="34" charset="-122"/>
                <a:ea typeface="微软雅黑" panose="020B0503020204020204" pitchFamily="34" charset="-122"/>
              </a:rPr>
              <a:t>super</a:t>
            </a:r>
            <a:r>
              <a:rPr kumimoji="0" lang="zh-CN" altLang="en-US" dirty="0">
                <a:solidFill>
                  <a:prstClr val="black"/>
                </a:solidFill>
                <a:latin typeface="微软雅黑" panose="020B0503020204020204" pitchFamily="34" charset="-122"/>
                <a:ea typeface="微软雅黑" panose="020B0503020204020204" pitchFamily="34" charset="-122"/>
              </a:rPr>
              <a:t>用于：</a:t>
            </a:r>
          </a:p>
          <a:p>
            <a:pPr fontAlgn="base">
              <a:spcBef>
                <a:spcPct val="20000"/>
              </a:spcBef>
              <a:spcAft>
                <a:spcPct val="0"/>
              </a:spcAft>
              <a:buSzPct val="110000"/>
              <a:buFont typeface="Wingdings" panose="05000000000000000000" pitchFamily="2" charset="2"/>
              <a:buAutoNum type="arabicPeriod"/>
            </a:pPr>
            <a:r>
              <a:rPr kumimoji="0" lang="zh-CN" altLang="en-US" dirty="0">
                <a:solidFill>
                  <a:prstClr val="black"/>
                </a:solidFill>
                <a:latin typeface="微软雅黑" panose="020B0503020204020204" pitchFamily="34" charset="-122"/>
                <a:ea typeface="微软雅黑" panose="020B0503020204020204" pitchFamily="34" charset="-122"/>
              </a:rPr>
              <a:t>引用父类对象的成员变量</a:t>
            </a:r>
          </a:p>
          <a:p>
            <a:pPr lvl="1" fontAlgn="base">
              <a:spcBef>
                <a:spcPct val="20000"/>
              </a:spcBef>
              <a:spcAft>
                <a:spcPct val="0"/>
              </a:spcAft>
              <a:buSzPct val="110000"/>
              <a:buFont typeface="Wingdings" panose="05000000000000000000" pitchFamily="2" charset="2"/>
              <a:buChar char="w"/>
            </a:pPr>
            <a:r>
              <a:rPr kumimoji="0" lang="en-US" altLang="zh-CN" dirty="0" err="1">
                <a:solidFill>
                  <a:prstClr val="black"/>
                </a:solidFill>
                <a:latin typeface="微软雅黑" panose="020B0503020204020204" pitchFamily="34" charset="-122"/>
                <a:ea typeface="微软雅黑" panose="020B0503020204020204" pitchFamily="34" charset="-122"/>
              </a:rPr>
              <a:t>super.age</a:t>
            </a:r>
            <a:r>
              <a:rPr kumimoji="0" lang="en-US" altLang="zh-CN" dirty="0">
                <a:solidFill>
                  <a:prstClr val="black"/>
                </a:solidFill>
                <a:latin typeface="微软雅黑" panose="020B0503020204020204" pitchFamily="34" charset="-122"/>
                <a:ea typeface="微软雅黑" panose="020B0503020204020204" pitchFamily="34" charset="-122"/>
              </a:rPr>
              <a:t>;</a:t>
            </a:r>
          </a:p>
          <a:p>
            <a:pPr fontAlgn="base">
              <a:spcBef>
                <a:spcPct val="20000"/>
              </a:spcBef>
              <a:spcAft>
                <a:spcPct val="0"/>
              </a:spcAft>
              <a:buSzPct val="110000"/>
              <a:buFont typeface="Wingdings" panose="05000000000000000000" pitchFamily="2" charset="2"/>
              <a:buAutoNum type="arabicPeriod"/>
            </a:pPr>
            <a:r>
              <a:rPr kumimoji="0" lang="zh-CN" altLang="en-US" dirty="0">
                <a:solidFill>
                  <a:prstClr val="black"/>
                </a:solidFill>
                <a:latin typeface="微软雅黑" panose="020B0503020204020204" pitchFamily="34" charset="-122"/>
                <a:ea typeface="微软雅黑" panose="020B0503020204020204" pitchFamily="34" charset="-122"/>
              </a:rPr>
              <a:t>引用父类对象的成员方法</a:t>
            </a:r>
          </a:p>
          <a:p>
            <a:pPr lvl="1" fontAlgn="base">
              <a:spcBef>
                <a:spcPct val="20000"/>
              </a:spcBef>
              <a:spcAft>
                <a:spcPct val="0"/>
              </a:spcAft>
              <a:buSzPct val="110000"/>
              <a:buFont typeface="Wingdings" panose="05000000000000000000" pitchFamily="2" charset="2"/>
              <a:buChar char="w"/>
            </a:pPr>
            <a:r>
              <a:rPr kumimoji="0" lang="en-US" altLang="zh-CN" dirty="0" err="1">
                <a:solidFill>
                  <a:prstClr val="black"/>
                </a:solidFill>
                <a:latin typeface="微软雅黑" panose="020B0503020204020204" pitchFamily="34" charset="-122"/>
                <a:ea typeface="微软雅黑" panose="020B0503020204020204" pitchFamily="34" charset="-122"/>
              </a:rPr>
              <a:t>super.diaplay</a:t>
            </a:r>
            <a:r>
              <a:rPr kumimoji="0" lang="en-US" altLang="zh-CN" dirty="0">
                <a:solidFill>
                  <a:prstClr val="black"/>
                </a:solidFill>
                <a:latin typeface="微软雅黑" panose="020B0503020204020204" pitchFamily="34" charset="-122"/>
                <a:ea typeface="微软雅黑" panose="020B0503020204020204" pitchFamily="34" charset="-122"/>
              </a:rPr>
              <a:t>();</a:t>
            </a:r>
          </a:p>
          <a:p>
            <a:pPr fontAlgn="base">
              <a:spcBef>
                <a:spcPct val="20000"/>
              </a:spcBef>
              <a:spcAft>
                <a:spcPct val="0"/>
              </a:spcAft>
              <a:buSzPct val="110000"/>
              <a:buFont typeface="Wingdings" panose="05000000000000000000" pitchFamily="2" charset="2"/>
              <a:buAutoNum type="arabicPeriod"/>
            </a:pPr>
            <a:r>
              <a:rPr kumimoji="0" lang="zh-CN" altLang="en-US" dirty="0">
                <a:solidFill>
                  <a:prstClr val="black"/>
                </a:solidFill>
                <a:latin typeface="微软雅黑" panose="020B0503020204020204" pitchFamily="34" charset="-122"/>
                <a:ea typeface="微软雅黑" panose="020B0503020204020204" pitchFamily="34" charset="-122"/>
              </a:rPr>
              <a:t>调用父类的构造方法</a:t>
            </a:r>
          </a:p>
          <a:p>
            <a:pPr lvl="1" fontAlgn="base">
              <a:spcBef>
                <a:spcPct val="20000"/>
              </a:spcBef>
              <a:spcAft>
                <a:spcPct val="0"/>
              </a:spcAft>
              <a:buSzPct val="110000"/>
              <a:buFont typeface="Wingdings" panose="05000000000000000000" pitchFamily="2" charset="2"/>
              <a:buChar char="w"/>
            </a:pPr>
            <a:r>
              <a:rPr kumimoji="0" lang="en-US" altLang="zh-CN" dirty="0">
                <a:solidFill>
                  <a:prstClr val="black"/>
                </a:solidFill>
                <a:latin typeface="微软雅黑" panose="020B0503020204020204" pitchFamily="34" charset="-122"/>
                <a:ea typeface="微软雅黑" panose="020B0503020204020204" pitchFamily="34" charset="-122"/>
              </a:rPr>
              <a:t>super(“Jack”,Male,10);</a:t>
            </a:r>
          </a:p>
        </p:txBody>
      </p:sp>
      <p:pic>
        <p:nvPicPr>
          <p:cNvPr id="2" name="Picture 1">
            <a:extLst>
              <a:ext uri="{FF2B5EF4-FFF2-40B4-BE49-F238E27FC236}">
                <a16:creationId xmlns:a16="http://schemas.microsoft.com/office/drawing/2014/main" id="{38731307-976D-ED83-8173-74F7EF63CD72}"/>
              </a:ext>
            </a:extLst>
          </p:cNvPr>
          <p:cNvPicPr>
            <a:picLocks noChangeAspect="1"/>
          </p:cNvPicPr>
          <p:nvPr/>
        </p:nvPicPr>
        <p:blipFill>
          <a:blip r:embed="rId2"/>
          <a:stretch>
            <a:fillRect/>
          </a:stretch>
        </p:blipFill>
        <p:spPr>
          <a:xfrm>
            <a:off x="107504" y="4320929"/>
            <a:ext cx="9093204" cy="1766925"/>
          </a:xfrm>
          <a:prstGeom prst="rect">
            <a:avLst/>
          </a:prstGeom>
        </p:spPr>
      </p:pic>
      <p:sp>
        <p:nvSpPr>
          <p:cNvPr id="8" name="Rectangle 7">
            <a:extLst>
              <a:ext uri="{FF2B5EF4-FFF2-40B4-BE49-F238E27FC236}">
                <a16:creationId xmlns:a16="http://schemas.microsoft.com/office/drawing/2014/main" id="{01700340-8976-ADC4-AC45-30F124EA1591}"/>
              </a:ext>
            </a:extLst>
          </p:cNvPr>
          <p:cNvSpPr/>
          <p:nvPr/>
        </p:nvSpPr>
        <p:spPr>
          <a:xfrm>
            <a:off x="1146312" y="5090090"/>
            <a:ext cx="1977887" cy="2439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6836882"/>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1"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p:tgtEl>
                                          <p:spTgt spid="8"/>
                                        </p:tgtEl>
                                        <p:attrNameLst>
                                          <p:attrName>ppt_y</p:attrName>
                                        </p:attrNameLst>
                                      </p:cBhvr>
                                      <p:tavLst>
                                        <p:tav tm="0">
                                          <p:val>
                                            <p:strVal val="#ppt_y+#ppt_h*1.125000"/>
                                          </p:val>
                                        </p:tav>
                                        <p:tav tm="100000">
                                          <p:val>
                                            <p:strVal val="#ppt_y"/>
                                          </p:val>
                                        </p:tav>
                                      </p:tavLst>
                                    </p:anim>
                                    <p:animEffect transition="in" filter="wipe(up)">
                                      <p:cBhvr>
                                        <p:cTn id="14" dur="500"/>
                                        <p:tgtEl>
                                          <p:spTgt spid="8"/>
                                        </p:tgtEl>
                                      </p:cBhvr>
                                    </p:animEffect>
                                  </p:childTnLst>
                                </p:cTn>
                              </p:par>
                              <p:par>
                                <p:cTn id="15" presetID="12" presetClass="entr" presetSubtype="4"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p:tgtEl>
                                          <p:spTgt spid="2"/>
                                        </p:tgtEl>
                                        <p:attrNameLst>
                                          <p:attrName>ppt_y</p:attrName>
                                        </p:attrNameLst>
                                      </p:cBhvr>
                                      <p:tavLst>
                                        <p:tav tm="0">
                                          <p:val>
                                            <p:strVal val="#ppt_y+#ppt_h*1.125000"/>
                                          </p:val>
                                        </p:tav>
                                        <p:tav tm="100000">
                                          <p:val>
                                            <p:strVal val="#ppt_y"/>
                                          </p:val>
                                        </p:tav>
                                      </p:tavLst>
                                    </p:anim>
                                    <p:animEffect transition="in" filter="wipe(up)">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spcBef>
                <a:spcPct val="50000"/>
              </a:spcBef>
            </a:pPr>
            <a:r>
              <a:rPr lang="en-US" altLang="zh-CN" dirty="0">
                <a:latin typeface="楷体" panose="02010609060101010101" pitchFamily="49" charset="-122"/>
              </a:rPr>
              <a:t>Java </a:t>
            </a:r>
            <a:r>
              <a:rPr lang="zh-CN" altLang="en-US" dirty="0">
                <a:latin typeface="楷体" panose="02010609060101010101" pitchFamily="49" charset="-122"/>
              </a:rPr>
              <a:t>每个类都默认地具有 </a:t>
            </a:r>
            <a:r>
              <a:rPr lang="en-US" altLang="zh-CN" dirty="0">
                <a:latin typeface="楷体" panose="02010609060101010101" pitchFamily="49" charset="-122"/>
              </a:rPr>
              <a:t>null</a:t>
            </a:r>
            <a:r>
              <a:rPr lang="zh-CN" altLang="en-US" dirty="0">
                <a:latin typeface="楷体" panose="02010609060101010101" pitchFamily="49" charset="-122"/>
              </a:rPr>
              <a:t>、</a:t>
            </a:r>
            <a:r>
              <a:rPr lang="en-US" altLang="zh-CN" dirty="0">
                <a:latin typeface="楷体" panose="02010609060101010101" pitchFamily="49" charset="-122"/>
              </a:rPr>
              <a:t>this</a:t>
            </a:r>
            <a:r>
              <a:rPr lang="zh-CN" altLang="en-US" dirty="0">
                <a:latin typeface="楷体" panose="02010609060101010101" pitchFamily="49" charset="-122"/>
              </a:rPr>
              <a:t>、</a:t>
            </a:r>
            <a:r>
              <a:rPr lang="en-US" altLang="zh-CN" dirty="0">
                <a:latin typeface="楷体" panose="02010609060101010101" pitchFamily="49" charset="-122"/>
              </a:rPr>
              <a:t>super</a:t>
            </a:r>
            <a:r>
              <a:rPr lang="zh-CN" altLang="en-US" dirty="0">
                <a:latin typeface="楷体" panose="02010609060101010101" pitchFamily="49" charset="-122"/>
              </a:rPr>
              <a:t>三个域，所以在任何类中都可以不加说明就可以直接引用它们：</a:t>
            </a:r>
          </a:p>
          <a:p>
            <a:pPr lvl="1">
              <a:spcBef>
                <a:spcPct val="50000"/>
              </a:spcBef>
              <a:buFont typeface="Wingdings" pitchFamily="2" charset="2"/>
              <a:buAutoNum type="arabicPeriod"/>
            </a:pPr>
            <a:r>
              <a:rPr lang="en-US" altLang="zh-CN" sz="3200" dirty="0">
                <a:latin typeface="楷体" panose="02010609060101010101" pitchFamily="49" charset="-122"/>
              </a:rPr>
              <a:t>null </a:t>
            </a:r>
            <a:r>
              <a:rPr lang="zh-CN" altLang="en-US" sz="3200" dirty="0">
                <a:latin typeface="楷体" panose="02010609060101010101" pitchFamily="49" charset="-122"/>
              </a:rPr>
              <a:t>：代表“空”，用在定义一个对象但尚未为其开辟内存空间时。</a:t>
            </a:r>
          </a:p>
          <a:p>
            <a:pPr lvl="1">
              <a:spcBef>
                <a:spcPct val="50000"/>
              </a:spcBef>
              <a:buFont typeface="Wingdings" pitchFamily="2" charset="2"/>
              <a:buAutoNum type="arabicPeriod"/>
            </a:pPr>
            <a:r>
              <a:rPr lang="en-US" altLang="zh-CN" sz="3200" dirty="0">
                <a:latin typeface="楷体" panose="02010609060101010101" pitchFamily="49" charset="-122"/>
              </a:rPr>
              <a:t>this </a:t>
            </a:r>
            <a:r>
              <a:rPr lang="zh-CN" altLang="en-US" sz="3200" dirty="0">
                <a:latin typeface="楷体" panose="02010609060101010101" pitchFamily="49" charset="-122"/>
              </a:rPr>
              <a:t>和 </a:t>
            </a:r>
            <a:r>
              <a:rPr lang="en-US" altLang="zh-CN" sz="3200" dirty="0">
                <a:latin typeface="楷体" panose="02010609060101010101" pitchFamily="49" charset="-122"/>
              </a:rPr>
              <a:t>super </a:t>
            </a:r>
            <a:r>
              <a:rPr lang="zh-CN" altLang="en-US" sz="3200" dirty="0">
                <a:latin typeface="楷体" panose="02010609060101010101" pitchFamily="49" charset="-122"/>
              </a:rPr>
              <a:t>：是常用的指代子类对象和父类对象的关键字</a:t>
            </a:r>
          </a:p>
          <a:p>
            <a:endParaRPr lang="zh-CN" altLang="en-US" dirty="0"/>
          </a:p>
        </p:txBody>
      </p:sp>
      <p:sp>
        <p:nvSpPr>
          <p:cNvPr id="3" name="Title 2"/>
          <p:cNvSpPr>
            <a:spLocks noGrp="1"/>
          </p:cNvSpPr>
          <p:nvPr>
            <p:ph type="title"/>
          </p:nvPr>
        </p:nvSpPr>
        <p:spPr/>
        <p:txBody>
          <a:bodyPr/>
          <a:lstStyle/>
          <a:p>
            <a:r>
              <a:rPr lang="en-US" altLang="zh-CN" dirty="0">
                <a:latin typeface="微软雅黑" pitchFamily="34" charset="-122"/>
              </a:rPr>
              <a:t>this</a:t>
            </a:r>
            <a:r>
              <a:rPr lang="zh-CN" altLang="en-US" dirty="0">
                <a:latin typeface="微软雅黑" pitchFamily="34" charset="-122"/>
              </a:rPr>
              <a:t>引用与</a:t>
            </a:r>
            <a:r>
              <a:rPr lang="en-US" altLang="zh-CN" dirty="0">
                <a:latin typeface="微软雅黑" pitchFamily="34" charset="-122"/>
              </a:rPr>
              <a:t>super</a:t>
            </a:r>
            <a:r>
              <a:rPr lang="zh-CN" altLang="en-US" dirty="0">
                <a:latin typeface="微软雅黑" pitchFamily="34" charset="-122"/>
              </a:rPr>
              <a:t>引用的对比</a:t>
            </a:r>
            <a:endParaRPr lang="zh-CN" altLang="en-US" dirty="0"/>
          </a:p>
        </p:txBody>
      </p:sp>
      <p:sp>
        <p:nvSpPr>
          <p:cNvPr id="4" name="Date Placeholder 3"/>
          <p:cNvSpPr>
            <a:spLocks noGrp="1"/>
          </p:cNvSpPr>
          <p:nvPr>
            <p:ph type="dt" sz="half" idx="10"/>
          </p:nvPr>
        </p:nvSpPr>
        <p:spPr/>
        <p:txBody>
          <a:bodyPr/>
          <a:lstStyle/>
          <a:p>
            <a:pPr>
              <a:defRPr/>
            </a:pPr>
            <a:fld id="{7C05E551-E7B5-4100-A392-54F00F32568F}"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30</a:t>
            </a:fld>
            <a:endParaRPr lang="en-US" altLang="zh-CN" dirty="0"/>
          </a:p>
        </p:txBody>
      </p:sp>
    </p:spTree>
    <p:extLst>
      <p:ext uri="{BB962C8B-B14F-4D97-AF65-F5344CB8AC3E}">
        <p14:creationId xmlns:p14="http://schemas.microsoft.com/office/powerpoint/2010/main" val="3660464863"/>
      </p:ext>
    </p:extLst>
  </p:cSld>
  <p:clrMapOvr>
    <a:masterClrMapping/>
  </p:clrMapOvr>
  <p:transition spd="med">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A28082-8BD9-FAFF-8FB2-CB9F0F11D7C2}"/>
              </a:ext>
            </a:extLst>
          </p:cNvPr>
          <p:cNvSpPr>
            <a:spLocks noGrp="1"/>
          </p:cNvSpPr>
          <p:nvPr>
            <p:ph type="title"/>
          </p:nvPr>
        </p:nvSpPr>
        <p:spPr/>
        <p:txBody>
          <a:bodyPr/>
          <a:lstStyle/>
          <a:p>
            <a:r>
              <a:rPr lang="en-US" altLang="zh-CN" dirty="0">
                <a:latin typeface="微软雅黑" pitchFamily="34" charset="-122"/>
              </a:rPr>
              <a:t>this</a:t>
            </a:r>
            <a:r>
              <a:rPr lang="zh-CN" altLang="en-US" dirty="0">
                <a:latin typeface="微软雅黑" pitchFamily="34" charset="-122"/>
              </a:rPr>
              <a:t>引用与</a:t>
            </a:r>
            <a:r>
              <a:rPr lang="en-US" altLang="zh-CN" dirty="0">
                <a:latin typeface="微软雅黑" pitchFamily="34" charset="-122"/>
              </a:rPr>
              <a:t>super</a:t>
            </a:r>
            <a:r>
              <a:rPr lang="zh-CN" altLang="en-US" dirty="0">
                <a:latin typeface="微软雅黑" pitchFamily="34" charset="-122"/>
              </a:rPr>
              <a:t>引用的对比</a:t>
            </a:r>
            <a:endParaRPr lang="en-US" dirty="0"/>
          </a:p>
        </p:txBody>
      </p:sp>
      <p:sp>
        <p:nvSpPr>
          <p:cNvPr id="4" name="Date Placeholder 3">
            <a:extLst>
              <a:ext uri="{FF2B5EF4-FFF2-40B4-BE49-F238E27FC236}">
                <a16:creationId xmlns:a16="http://schemas.microsoft.com/office/drawing/2014/main" id="{082935F3-329B-7FA8-1730-65A82601738E}"/>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B749EC3-8FB9-B495-535F-D933625D1D94}"/>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2D1B1470-B96C-9579-80A8-2D5ECF5883E1}"/>
              </a:ext>
            </a:extLst>
          </p:cNvPr>
          <p:cNvSpPr>
            <a:spLocks noGrp="1"/>
          </p:cNvSpPr>
          <p:nvPr>
            <p:ph type="sldNum" sz="quarter" idx="12"/>
          </p:nvPr>
        </p:nvSpPr>
        <p:spPr/>
        <p:txBody>
          <a:bodyPr/>
          <a:lstStyle/>
          <a:p>
            <a:pPr>
              <a:defRPr/>
            </a:pPr>
            <a:fld id="{F7C8A414-E22E-4DF8-8FC5-FF8056582F45}" type="slidenum">
              <a:rPr lang="en-US" altLang="zh-CN" smtClean="0"/>
              <a:pPr>
                <a:defRPr/>
              </a:pPr>
              <a:t>31</a:t>
            </a:fld>
            <a:endParaRPr lang="en-US" altLang="zh-CN"/>
          </a:p>
        </p:txBody>
      </p:sp>
      <p:pic>
        <p:nvPicPr>
          <p:cNvPr id="7" name="Picture 6">
            <a:extLst>
              <a:ext uri="{FF2B5EF4-FFF2-40B4-BE49-F238E27FC236}">
                <a16:creationId xmlns:a16="http://schemas.microsoft.com/office/drawing/2014/main" id="{2D0B4CB6-3313-4AFF-E664-FBC23B4EC6F4}"/>
              </a:ext>
            </a:extLst>
          </p:cNvPr>
          <p:cNvPicPr>
            <a:picLocks noChangeAspect="1"/>
          </p:cNvPicPr>
          <p:nvPr/>
        </p:nvPicPr>
        <p:blipFill>
          <a:blip r:embed="rId2"/>
          <a:stretch>
            <a:fillRect/>
          </a:stretch>
        </p:blipFill>
        <p:spPr>
          <a:xfrm>
            <a:off x="1072730" y="796553"/>
            <a:ext cx="6710508" cy="5264894"/>
          </a:xfrm>
          <a:prstGeom prst="rect">
            <a:avLst/>
          </a:prstGeom>
        </p:spPr>
      </p:pic>
      <p:cxnSp>
        <p:nvCxnSpPr>
          <p:cNvPr id="8" name="Straight Arrow Connector 7">
            <a:extLst>
              <a:ext uri="{FF2B5EF4-FFF2-40B4-BE49-F238E27FC236}">
                <a16:creationId xmlns:a16="http://schemas.microsoft.com/office/drawing/2014/main" id="{842F437A-E908-D5F0-4BC9-39C88E44946B}"/>
              </a:ext>
            </a:extLst>
          </p:cNvPr>
          <p:cNvCxnSpPr>
            <a:cxnSpLocks/>
          </p:cNvCxnSpPr>
          <p:nvPr/>
        </p:nvCxnSpPr>
        <p:spPr>
          <a:xfrm flipH="1">
            <a:off x="5861957" y="3657600"/>
            <a:ext cx="1524000" cy="0"/>
          </a:xfrm>
          <a:prstGeom prst="straightConnector1">
            <a:avLst/>
          </a:prstGeom>
          <a:ln w="920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222AD59-F899-896F-8457-D0D4EC0F7DD8}"/>
              </a:ext>
            </a:extLst>
          </p:cNvPr>
          <p:cNvCxnSpPr>
            <a:cxnSpLocks/>
          </p:cNvCxnSpPr>
          <p:nvPr/>
        </p:nvCxnSpPr>
        <p:spPr>
          <a:xfrm flipH="1">
            <a:off x="5861957" y="4724400"/>
            <a:ext cx="1524000" cy="0"/>
          </a:xfrm>
          <a:prstGeom prst="straightConnector1">
            <a:avLst/>
          </a:prstGeom>
          <a:ln w="920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5BD5C2D-D45B-9DFD-E3BC-58317B21D9C5}"/>
              </a:ext>
            </a:extLst>
          </p:cNvPr>
          <p:cNvSpPr txBox="1"/>
          <p:nvPr/>
        </p:nvSpPr>
        <p:spPr>
          <a:xfrm>
            <a:off x="7740593" y="4432012"/>
            <a:ext cx="793807" cy="584775"/>
          </a:xfrm>
          <a:prstGeom prst="rect">
            <a:avLst/>
          </a:prstGeom>
          <a:noFill/>
        </p:spPr>
        <p:txBody>
          <a:bodyPr wrap="none" rtlCol="0">
            <a:spAutoFit/>
          </a:bodyPr>
          <a:lstStyle/>
          <a:p>
            <a:r>
              <a:rPr lang="en-US" sz="3200" dirty="0">
                <a:solidFill>
                  <a:srgbClr val="0070C0"/>
                </a:solidFill>
              </a:rPr>
              <a:t>this</a:t>
            </a:r>
          </a:p>
        </p:txBody>
      </p:sp>
      <p:sp>
        <p:nvSpPr>
          <p:cNvPr id="11" name="TextBox 10">
            <a:extLst>
              <a:ext uri="{FF2B5EF4-FFF2-40B4-BE49-F238E27FC236}">
                <a16:creationId xmlns:a16="http://schemas.microsoft.com/office/drawing/2014/main" id="{B162EE23-4A4E-4998-0847-5E04F0E2406F}"/>
              </a:ext>
            </a:extLst>
          </p:cNvPr>
          <p:cNvSpPr txBox="1"/>
          <p:nvPr/>
        </p:nvSpPr>
        <p:spPr>
          <a:xfrm>
            <a:off x="7652657" y="3365212"/>
            <a:ext cx="1124026" cy="584775"/>
          </a:xfrm>
          <a:prstGeom prst="rect">
            <a:avLst/>
          </a:prstGeom>
          <a:noFill/>
        </p:spPr>
        <p:txBody>
          <a:bodyPr wrap="none" rtlCol="0">
            <a:spAutoFit/>
          </a:bodyPr>
          <a:lstStyle/>
          <a:p>
            <a:r>
              <a:rPr lang="en-US" sz="3200" dirty="0">
                <a:solidFill>
                  <a:srgbClr val="FF0000"/>
                </a:solidFill>
              </a:rPr>
              <a:t>super</a:t>
            </a:r>
          </a:p>
        </p:txBody>
      </p:sp>
    </p:spTree>
    <p:extLst>
      <p:ext uri="{BB962C8B-B14F-4D97-AF65-F5344CB8AC3E}">
        <p14:creationId xmlns:p14="http://schemas.microsoft.com/office/powerpoint/2010/main" val="1794864678"/>
      </p:ext>
    </p:extLst>
  </p:cSld>
  <p:clrMapOvr>
    <a:masterClrMapping/>
  </p:clrMapOvr>
  <p:transition spd="med">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514350" indent="-514350">
              <a:buFont typeface="+mj-lt"/>
              <a:buAutoNum type="arabicPeriod"/>
            </a:pPr>
            <a:r>
              <a:rPr lang="zh-CN" altLang="en-US" dirty="0">
                <a:latin typeface="楷体" panose="02010609060101010101" pitchFamily="49" charset="-122"/>
              </a:rPr>
              <a:t>编写子类构造器</a:t>
            </a:r>
            <a:endParaRPr lang="en-US" altLang="zh-CN" dirty="0">
              <a:latin typeface="楷体" panose="02010609060101010101" pitchFamily="49" charset="-122"/>
            </a:endParaRPr>
          </a:p>
          <a:p>
            <a:pPr lvl="1">
              <a:buFont typeface="Arial" panose="020B0604020202020204" pitchFamily="34" charset="0"/>
              <a:buChar char="•"/>
            </a:pPr>
            <a:r>
              <a:rPr lang="zh-CN" altLang="en-US" dirty="0"/>
              <a:t>子类不能继承父类的构造方法</a:t>
            </a:r>
            <a:endParaRPr lang="en-US" altLang="zh-CN" dirty="0">
              <a:latin typeface="楷体" panose="02010609060101010101" pitchFamily="49" charset="-122"/>
            </a:endParaRPr>
          </a:p>
          <a:p>
            <a:pPr marL="514350" indent="-514350">
              <a:buFont typeface="+mj-lt"/>
              <a:buAutoNum type="arabicPeriod"/>
            </a:pPr>
            <a:endParaRPr lang="en-US" altLang="zh-CN" dirty="0">
              <a:latin typeface="楷体" panose="02010609060101010101" pitchFamily="49" charset="-122"/>
            </a:endParaRPr>
          </a:p>
          <a:p>
            <a:pPr marL="514350" indent="-514350">
              <a:buFont typeface="+mj-lt"/>
              <a:buAutoNum type="arabicPeriod"/>
            </a:pPr>
            <a:r>
              <a:rPr lang="en-US" altLang="zh-CN" dirty="0">
                <a:latin typeface="楷体" panose="02010609060101010101" pitchFamily="49" charset="-122"/>
              </a:rPr>
              <a:t>protected</a:t>
            </a:r>
            <a:r>
              <a:rPr lang="zh-CN" altLang="en-US" dirty="0">
                <a:latin typeface="楷体" panose="02010609060101010101" pitchFamily="49" charset="-122"/>
              </a:rPr>
              <a:t>关键字的使用</a:t>
            </a:r>
            <a:endParaRPr lang="en-US" altLang="zh-CN" dirty="0">
              <a:latin typeface="楷体" panose="02010609060101010101" pitchFamily="49" charset="-122"/>
            </a:endParaRPr>
          </a:p>
          <a:p>
            <a:pPr marL="514350" indent="-514350">
              <a:buFont typeface="+mj-lt"/>
              <a:buAutoNum type="arabicPeriod"/>
            </a:pPr>
            <a:endParaRPr lang="en-US" altLang="zh-CN" dirty="0">
              <a:latin typeface="楷体" panose="02010609060101010101" pitchFamily="49" charset="-122"/>
            </a:endParaRPr>
          </a:p>
          <a:p>
            <a:pPr marL="514350" indent="-514350">
              <a:buFont typeface="+mj-lt"/>
              <a:buAutoNum type="arabicPeriod"/>
            </a:pPr>
            <a:r>
              <a:rPr lang="zh-CN" altLang="en-US" dirty="0">
                <a:latin typeface="楷体" panose="02010609060101010101" pitchFamily="49" charset="-122"/>
              </a:rPr>
              <a:t>向上转型</a:t>
            </a:r>
          </a:p>
          <a:p>
            <a:endParaRPr lang="zh-CN" altLang="en-US" dirty="0"/>
          </a:p>
        </p:txBody>
      </p:sp>
      <p:sp>
        <p:nvSpPr>
          <p:cNvPr id="3" name="Title 2"/>
          <p:cNvSpPr>
            <a:spLocks noGrp="1"/>
          </p:cNvSpPr>
          <p:nvPr>
            <p:ph type="title"/>
          </p:nvPr>
        </p:nvSpPr>
        <p:spPr/>
        <p:txBody>
          <a:bodyPr/>
          <a:lstStyle/>
          <a:p>
            <a:r>
              <a:rPr lang="en-US" altLang="zh-CN" dirty="0"/>
              <a:t>Java</a:t>
            </a:r>
            <a:r>
              <a:rPr lang="zh-CN" altLang="en-US" dirty="0"/>
              <a:t>继承的三个重点</a:t>
            </a:r>
          </a:p>
        </p:txBody>
      </p:sp>
      <p:sp>
        <p:nvSpPr>
          <p:cNvPr id="4" name="Date Placeholder 3"/>
          <p:cNvSpPr>
            <a:spLocks noGrp="1"/>
          </p:cNvSpPr>
          <p:nvPr>
            <p:ph type="dt" sz="half" idx="10"/>
          </p:nvPr>
        </p:nvSpPr>
        <p:spPr/>
        <p:txBody>
          <a:bodyPr/>
          <a:lstStyle/>
          <a:p>
            <a:pPr>
              <a:defRPr/>
            </a:pPr>
            <a:fld id="{892E9D55-3090-4C0A-8E2F-8D9CFD9320BE}"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32</a:t>
            </a:fld>
            <a:endParaRPr lang="en-US" altLang="zh-CN"/>
          </a:p>
        </p:txBody>
      </p:sp>
    </p:spTree>
    <p:extLst>
      <p:ext uri="{BB962C8B-B14F-4D97-AF65-F5344CB8AC3E}">
        <p14:creationId xmlns:p14="http://schemas.microsoft.com/office/powerpoint/2010/main" val="552317523"/>
      </p:ext>
    </p:extLst>
  </p:cSld>
  <p:clrMapOvr>
    <a:masterClrMapping/>
  </p:clrMapOvr>
  <p:transition spd="med">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229600" cy="5111080"/>
          </a:xfrm>
        </p:spPr>
        <p:txBody>
          <a:bodyPr>
            <a:normAutofit/>
          </a:bodyPr>
          <a:lstStyle/>
          <a:p>
            <a:pPr>
              <a:lnSpc>
                <a:spcPct val="120000"/>
              </a:lnSpc>
            </a:pPr>
            <a:r>
              <a:rPr lang="zh-CN" altLang="en-US" dirty="0"/>
              <a:t>构造函数不能被继承；</a:t>
            </a:r>
            <a:endParaRPr lang="en-US" altLang="zh-CN" dirty="0"/>
          </a:p>
          <a:p>
            <a:pPr>
              <a:lnSpc>
                <a:spcPct val="120000"/>
              </a:lnSpc>
            </a:pPr>
            <a:r>
              <a:rPr lang="zh-CN" altLang="en-US" dirty="0"/>
              <a:t>无参</a:t>
            </a:r>
            <a:r>
              <a:rPr lang="zh-CN" altLang="en-US" dirty="0">
                <a:latin typeface="楷体" panose="02010609060101010101" pitchFamily="49" charset="-122"/>
              </a:rPr>
              <a:t>子类构造函数的编写</a:t>
            </a:r>
            <a:endParaRPr lang="en-US" altLang="zh-CN" dirty="0">
              <a:latin typeface="楷体" panose="02010609060101010101" pitchFamily="49" charset="-122"/>
            </a:endParaRPr>
          </a:p>
          <a:p>
            <a:pPr lvl="1">
              <a:lnSpc>
                <a:spcPct val="120000"/>
              </a:lnSpc>
            </a:pPr>
            <a:r>
              <a:rPr lang="zh-CN" altLang="en-US" dirty="0"/>
              <a:t>子类可以通过</a:t>
            </a:r>
            <a:r>
              <a:rPr lang="en-US" altLang="zh-CN" dirty="0"/>
              <a:t>super()</a:t>
            </a:r>
            <a:r>
              <a:rPr lang="zh-CN" altLang="en-US" dirty="0"/>
              <a:t>显示调用父类无参的构造函数，也可以隐式调用</a:t>
            </a:r>
          </a:p>
          <a:p>
            <a:endParaRPr lang="zh-CN" altLang="en-US" dirty="0"/>
          </a:p>
        </p:txBody>
      </p:sp>
      <p:sp>
        <p:nvSpPr>
          <p:cNvPr id="3" name="Title 2"/>
          <p:cNvSpPr>
            <a:spLocks noGrp="1"/>
          </p:cNvSpPr>
          <p:nvPr>
            <p:ph type="title"/>
          </p:nvPr>
        </p:nvSpPr>
        <p:spPr/>
        <p:txBody>
          <a:bodyPr/>
          <a:lstStyle/>
          <a:p>
            <a:r>
              <a:rPr lang="zh-CN" altLang="en-US" dirty="0"/>
              <a:t>子类构造函数：</a:t>
            </a:r>
          </a:p>
        </p:txBody>
      </p:sp>
      <p:sp>
        <p:nvSpPr>
          <p:cNvPr id="4" name="Date Placeholder 3"/>
          <p:cNvSpPr>
            <a:spLocks noGrp="1"/>
          </p:cNvSpPr>
          <p:nvPr>
            <p:ph type="dt" sz="half" idx="10"/>
          </p:nvPr>
        </p:nvSpPr>
        <p:spPr/>
        <p:txBody>
          <a:bodyPr/>
          <a:lstStyle/>
          <a:p>
            <a:pPr>
              <a:defRPr/>
            </a:pPr>
            <a:fld id="{719706F8-2054-40F1-B825-B99E8DE8DACE}" type="datetime1">
              <a:rPr lang="zh-CN" altLang="en-US" smtClean="0"/>
              <a:t>2024/10/17</a:t>
            </a:fld>
            <a:endParaRPr lang="en-US" altLang="zh-CN" dirty="0"/>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33</a:t>
            </a:fld>
            <a:endParaRPr lang="en-US" altLang="zh-CN" dirty="0"/>
          </a:p>
        </p:txBody>
      </p:sp>
    </p:spTree>
    <p:extLst>
      <p:ext uri="{BB962C8B-B14F-4D97-AF65-F5344CB8AC3E}">
        <p14:creationId xmlns:p14="http://schemas.microsoft.com/office/powerpoint/2010/main" val="1487112393"/>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p:tgtEl>
                                          <p:spTgt spid="2">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1" end="1"/>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无参子类构造函数</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34</a:t>
            </a:fld>
            <a:endParaRPr lang="en-US" altLang="zh-CN"/>
          </a:p>
        </p:txBody>
      </p:sp>
      <p:pic>
        <p:nvPicPr>
          <p:cNvPr id="7" name="Picture 6">
            <a:extLst>
              <a:ext uri="{FF2B5EF4-FFF2-40B4-BE49-F238E27FC236}">
                <a16:creationId xmlns:a16="http://schemas.microsoft.com/office/drawing/2014/main" id="{FB921C81-2567-DE91-E805-2AF85420B4A6}"/>
              </a:ext>
            </a:extLst>
          </p:cNvPr>
          <p:cNvPicPr>
            <a:picLocks noChangeAspect="1"/>
          </p:cNvPicPr>
          <p:nvPr/>
        </p:nvPicPr>
        <p:blipFill>
          <a:blip r:embed="rId2"/>
          <a:stretch>
            <a:fillRect/>
          </a:stretch>
        </p:blipFill>
        <p:spPr>
          <a:xfrm>
            <a:off x="0" y="678706"/>
            <a:ext cx="7442200" cy="2781300"/>
          </a:xfrm>
          <a:prstGeom prst="rect">
            <a:avLst/>
          </a:prstGeom>
        </p:spPr>
      </p:pic>
      <p:sp>
        <p:nvSpPr>
          <p:cNvPr id="9" name="TextBox 8">
            <a:extLst>
              <a:ext uri="{FF2B5EF4-FFF2-40B4-BE49-F238E27FC236}">
                <a16:creationId xmlns:a16="http://schemas.microsoft.com/office/drawing/2014/main" id="{88978DB0-E66F-41E6-9B7A-6DEEAB2524E3}"/>
              </a:ext>
            </a:extLst>
          </p:cNvPr>
          <p:cNvSpPr txBox="1"/>
          <p:nvPr/>
        </p:nvSpPr>
        <p:spPr>
          <a:xfrm>
            <a:off x="368322" y="4416016"/>
            <a:ext cx="2374878" cy="646331"/>
          </a:xfrm>
          <a:prstGeom prst="rect">
            <a:avLst/>
          </a:prstGeom>
          <a:solidFill>
            <a:schemeClr val="bg1">
              <a:lumMod val="75000"/>
            </a:schemeClr>
          </a:solidFill>
        </p:spPr>
        <p:txBody>
          <a:bodyPr wrap="square" rtlCol="0">
            <a:spAutoFit/>
          </a:bodyPr>
          <a:lstStyle/>
          <a:p>
            <a:r>
              <a:rPr lang="en-SG" b="0" dirty="0">
                <a:solidFill>
                  <a:srgbClr val="A31515"/>
                </a:solidFill>
                <a:effectLst/>
                <a:latin typeface="Menlo" panose="020B0609030804020204" pitchFamily="49" charset="0"/>
              </a:rPr>
              <a:t>Constructor 1 is running!</a:t>
            </a:r>
            <a:endParaRPr lang="en-SG" b="0" dirty="0">
              <a:solidFill>
                <a:srgbClr val="000000"/>
              </a:solidFill>
              <a:effectLst/>
              <a:latin typeface="Menlo" panose="020B0609030804020204" pitchFamily="49" charset="0"/>
            </a:endParaRPr>
          </a:p>
        </p:txBody>
      </p:sp>
      <p:pic>
        <p:nvPicPr>
          <p:cNvPr id="8" name="Picture 7">
            <a:extLst>
              <a:ext uri="{FF2B5EF4-FFF2-40B4-BE49-F238E27FC236}">
                <a16:creationId xmlns:a16="http://schemas.microsoft.com/office/drawing/2014/main" id="{361A7C75-1440-1344-E259-D4C2C1BFE6A9}"/>
              </a:ext>
            </a:extLst>
          </p:cNvPr>
          <p:cNvPicPr>
            <a:picLocks noChangeAspect="1"/>
          </p:cNvPicPr>
          <p:nvPr/>
        </p:nvPicPr>
        <p:blipFill>
          <a:blip r:embed="rId3"/>
          <a:stretch>
            <a:fillRect/>
          </a:stretch>
        </p:blipFill>
        <p:spPr>
          <a:xfrm>
            <a:off x="3314700" y="2114685"/>
            <a:ext cx="4991100" cy="4743315"/>
          </a:xfrm>
          <a:prstGeom prst="rect">
            <a:avLst/>
          </a:prstGeom>
          <a:ln>
            <a:solidFill>
              <a:srgbClr val="FF0000"/>
            </a:solidFill>
          </a:ln>
        </p:spPr>
      </p:pic>
      <p:sp>
        <p:nvSpPr>
          <p:cNvPr id="10" name="Rectangle 9">
            <a:extLst>
              <a:ext uri="{FF2B5EF4-FFF2-40B4-BE49-F238E27FC236}">
                <a16:creationId xmlns:a16="http://schemas.microsoft.com/office/drawing/2014/main" id="{B55E5337-920B-E918-7F91-69AF178D6DEC}"/>
              </a:ext>
            </a:extLst>
          </p:cNvPr>
          <p:cNvSpPr/>
          <p:nvPr/>
        </p:nvSpPr>
        <p:spPr>
          <a:xfrm>
            <a:off x="3505200" y="2422146"/>
            <a:ext cx="3115013" cy="7782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8616752"/>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par>
                                <p:cTn id="9" presetID="1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p:tgtEl>
                                          <p:spTgt spid="9"/>
                                        </p:tgtEl>
                                        <p:attrNameLst>
                                          <p:attrName>ppt_y</p:attrName>
                                        </p:attrNameLst>
                                      </p:cBhvr>
                                      <p:tavLst>
                                        <p:tav tm="0">
                                          <p:val>
                                            <p:strVal val="#ppt_y+#ppt_h*1.125000"/>
                                          </p:val>
                                        </p:tav>
                                        <p:tav tm="100000">
                                          <p:val>
                                            <p:strVal val="#ppt_y"/>
                                          </p:val>
                                        </p:tav>
                                      </p:tavLst>
                                    </p:anim>
                                    <p:animEffect transition="in" filter="wipe(up)">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无参子类构造函数</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35</a:t>
            </a:fld>
            <a:endParaRPr lang="en-US" altLang="zh-CN"/>
          </a:p>
        </p:txBody>
      </p:sp>
      <p:pic>
        <p:nvPicPr>
          <p:cNvPr id="7" name="Picture 6">
            <a:extLst>
              <a:ext uri="{FF2B5EF4-FFF2-40B4-BE49-F238E27FC236}">
                <a16:creationId xmlns:a16="http://schemas.microsoft.com/office/drawing/2014/main" id="{FB921C81-2567-DE91-E805-2AF85420B4A6}"/>
              </a:ext>
            </a:extLst>
          </p:cNvPr>
          <p:cNvPicPr>
            <a:picLocks noChangeAspect="1"/>
          </p:cNvPicPr>
          <p:nvPr/>
        </p:nvPicPr>
        <p:blipFill>
          <a:blip r:embed="rId2"/>
          <a:stretch>
            <a:fillRect/>
          </a:stretch>
        </p:blipFill>
        <p:spPr>
          <a:xfrm>
            <a:off x="0" y="678706"/>
            <a:ext cx="7442200" cy="2781300"/>
          </a:xfrm>
          <a:prstGeom prst="rect">
            <a:avLst/>
          </a:prstGeom>
        </p:spPr>
      </p:pic>
      <p:sp>
        <p:nvSpPr>
          <p:cNvPr id="9" name="TextBox 8">
            <a:extLst>
              <a:ext uri="{FF2B5EF4-FFF2-40B4-BE49-F238E27FC236}">
                <a16:creationId xmlns:a16="http://schemas.microsoft.com/office/drawing/2014/main" id="{88978DB0-E66F-41E6-9B7A-6DEEAB2524E3}"/>
              </a:ext>
            </a:extLst>
          </p:cNvPr>
          <p:cNvSpPr txBox="1"/>
          <p:nvPr/>
        </p:nvSpPr>
        <p:spPr>
          <a:xfrm>
            <a:off x="368322" y="4416016"/>
            <a:ext cx="2374878" cy="646331"/>
          </a:xfrm>
          <a:prstGeom prst="rect">
            <a:avLst/>
          </a:prstGeom>
          <a:solidFill>
            <a:schemeClr val="bg1">
              <a:lumMod val="75000"/>
            </a:schemeClr>
          </a:solidFill>
        </p:spPr>
        <p:txBody>
          <a:bodyPr wrap="square" rtlCol="0">
            <a:spAutoFit/>
          </a:bodyPr>
          <a:lstStyle/>
          <a:p>
            <a:r>
              <a:rPr lang="en-SG" b="0" dirty="0">
                <a:solidFill>
                  <a:srgbClr val="A31515"/>
                </a:solidFill>
                <a:effectLst/>
                <a:latin typeface="Menlo" panose="020B0609030804020204" pitchFamily="49" charset="0"/>
              </a:rPr>
              <a:t>Constructor 1 is running!</a:t>
            </a:r>
            <a:endParaRPr lang="en-SG" b="0" dirty="0">
              <a:solidFill>
                <a:srgbClr val="000000"/>
              </a:solidFill>
              <a:effectLst/>
              <a:latin typeface="Menlo" panose="020B0609030804020204" pitchFamily="49" charset="0"/>
            </a:endParaRPr>
          </a:p>
        </p:txBody>
      </p:sp>
      <p:pic>
        <p:nvPicPr>
          <p:cNvPr id="2" name="Picture 1">
            <a:extLst>
              <a:ext uri="{FF2B5EF4-FFF2-40B4-BE49-F238E27FC236}">
                <a16:creationId xmlns:a16="http://schemas.microsoft.com/office/drawing/2014/main" id="{E1B8E149-9456-0676-B463-74775B7B6F18}"/>
              </a:ext>
            </a:extLst>
          </p:cNvPr>
          <p:cNvPicPr>
            <a:picLocks noChangeAspect="1"/>
          </p:cNvPicPr>
          <p:nvPr/>
        </p:nvPicPr>
        <p:blipFill>
          <a:blip r:embed="rId3"/>
          <a:stretch>
            <a:fillRect/>
          </a:stretch>
        </p:blipFill>
        <p:spPr>
          <a:xfrm>
            <a:off x="3124200" y="2057400"/>
            <a:ext cx="5372100" cy="4762500"/>
          </a:xfrm>
          <a:prstGeom prst="rect">
            <a:avLst/>
          </a:prstGeom>
          <a:ln>
            <a:solidFill>
              <a:srgbClr val="FF0000"/>
            </a:solidFill>
          </a:ln>
        </p:spPr>
      </p:pic>
      <p:sp>
        <p:nvSpPr>
          <p:cNvPr id="10" name="Rectangle 9">
            <a:extLst>
              <a:ext uri="{FF2B5EF4-FFF2-40B4-BE49-F238E27FC236}">
                <a16:creationId xmlns:a16="http://schemas.microsoft.com/office/drawing/2014/main" id="{B55E5337-920B-E918-7F91-69AF178D6DEC}"/>
              </a:ext>
            </a:extLst>
          </p:cNvPr>
          <p:cNvSpPr/>
          <p:nvPr/>
        </p:nvSpPr>
        <p:spPr>
          <a:xfrm>
            <a:off x="3352800" y="2317006"/>
            <a:ext cx="3352800"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1321099"/>
      </p:ext>
    </p:extLst>
  </p:cSld>
  <p:clrMapOvr>
    <a:masterClrMapping/>
  </p:clrMapOvr>
  <p:transition spd="med">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无参子类构造函数</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36</a:t>
            </a:fld>
            <a:endParaRPr lang="en-US" altLang="zh-CN"/>
          </a:p>
        </p:txBody>
      </p:sp>
      <p:pic>
        <p:nvPicPr>
          <p:cNvPr id="7" name="Picture 6">
            <a:extLst>
              <a:ext uri="{FF2B5EF4-FFF2-40B4-BE49-F238E27FC236}">
                <a16:creationId xmlns:a16="http://schemas.microsoft.com/office/drawing/2014/main" id="{FB921C81-2567-DE91-E805-2AF85420B4A6}"/>
              </a:ext>
            </a:extLst>
          </p:cNvPr>
          <p:cNvPicPr>
            <a:picLocks noChangeAspect="1"/>
          </p:cNvPicPr>
          <p:nvPr/>
        </p:nvPicPr>
        <p:blipFill>
          <a:blip r:embed="rId2"/>
          <a:stretch>
            <a:fillRect/>
          </a:stretch>
        </p:blipFill>
        <p:spPr>
          <a:xfrm>
            <a:off x="0" y="678706"/>
            <a:ext cx="7442200" cy="2781300"/>
          </a:xfrm>
          <a:prstGeom prst="rect">
            <a:avLst/>
          </a:prstGeom>
        </p:spPr>
      </p:pic>
      <p:sp>
        <p:nvSpPr>
          <p:cNvPr id="9" name="TextBox 8">
            <a:extLst>
              <a:ext uri="{FF2B5EF4-FFF2-40B4-BE49-F238E27FC236}">
                <a16:creationId xmlns:a16="http://schemas.microsoft.com/office/drawing/2014/main" id="{88978DB0-E66F-41E6-9B7A-6DEEAB2524E3}"/>
              </a:ext>
            </a:extLst>
          </p:cNvPr>
          <p:cNvSpPr txBox="1"/>
          <p:nvPr/>
        </p:nvSpPr>
        <p:spPr>
          <a:xfrm>
            <a:off x="368322" y="4416016"/>
            <a:ext cx="2374878" cy="646331"/>
          </a:xfrm>
          <a:prstGeom prst="rect">
            <a:avLst/>
          </a:prstGeom>
          <a:solidFill>
            <a:schemeClr val="bg1">
              <a:lumMod val="75000"/>
            </a:schemeClr>
          </a:solidFill>
        </p:spPr>
        <p:txBody>
          <a:bodyPr wrap="square" rtlCol="0">
            <a:spAutoFit/>
          </a:bodyPr>
          <a:lstStyle/>
          <a:p>
            <a:r>
              <a:rPr lang="en-SG" b="0" dirty="0">
                <a:solidFill>
                  <a:srgbClr val="A31515"/>
                </a:solidFill>
                <a:effectLst/>
                <a:latin typeface="Menlo" panose="020B0609030804020204" pitchFamily="49" charset="0"/>
              </a:rPr>
              <a:t>Constructor 1 is running!</a:t>
            </a:r>
            <a:endParaRPr lang="en-SG" b="0" dirty="0">
              <a:solidFill>
                <a:srgbClr val="000000"/>
              </a:solidFill>
              <a:effectLst/>
              <a:latin typeface="Menlo" panose="020B0609030804020204" pitchFamily="49" charset="0"/>
            </a:endParaRPr>
          </a:p>
        </p:txBody>
      </p:sp>
      <p:pic>
        <p:nvPicPr>
          <p:cNvPr id="8" name="Picture 7">
            <a:extLst>
              <a:ext uri="{FF2B5EF4-FFF2-40B4-BE49-F238E27FC236}">
                <a16:creationId xmlns:a16="http://schemas.microsoft.com/office/drawing/2014/main" id="{93D00B5F-B6A2-7C61-C455-A9559512F277}"/>
              </a:ext>
            </a:extLst>
          </p:cNvPr>
          <p:cNvPicPr>
            <a:picLocks noChangeAspect="1"/>
          </p:cNvPicPr>
          <p:nvPr/>
        </p:nvPicPr>
        <p:blipFill>
          <a:blip r:embed="rId3"/>
          <a:stretch>
            <a:fillRect/>
          </a:stretch>
        </p:blipFill>
        <p:spPr>
          <a:xfrm>
            <a:off x="2775857" y="2032000"/>
            <a:ext cx="6146800" cy="4826000"/>
          </a:xfrm>
          <a:prstGeom prst="rect">
            <a:avLst/>
          </a:prstGeom>
        </p:spPr>
      </p:pic>
      <p:sp>
        <p:nvSpPr>
          <p:cNvPr id="10" name="Rectangle 9">
            <a:extLst>
              <a:ext uri="{FF2B5EF4-FFF2-40B4-BE49-F238E27FC236}">
                <a16:creationId xmlns:a16="http://schemas.microsoft.com/office/drawing/2014/main" id="{B55E5337-920B-E918-7F91-69AF178D6DEC}"/>
              </a:ext>
            </a:extLst>
          </p:cNvPr>
          <p:cNvSpPr/>
          <p:nvPr/>
        </p:nvSpPr>
        <p:spPr>
          <a:xfrm>
            <a:off x="3233057" y="2240260"/>
            <a:ext cx="3352800" cy="7565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4198010"/>
      </p:ext>
    </p:extLst>
  </p:cSld>
  <p:clrMapOvr>
    <a:masterClrMapping/>
  </p:clrMapOvr>
  <p:transition spd="med">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无参子类构造函数</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37</a:t>
            </a:fld>
            <a:endParaRPr lang="en-US" altLang="zh-CN"/>
          </a:p>
        </p:txBody>
      </p:sp>
      <p:pic>
        <p:nvPicPr>
          <p:cNvPr id="7" name="Picture 6">
            <a:extLst>
              <a:ext uri="{FF2B5EF4-FFF2-40B4-BE49-F238E27FC236}">
                <a16:creationId xmlns:a16="http://schemas.microsoft.com/office/drawing/2014/main" id="{FB921C81-2567-DE91-E805-2AF85420B4A6}"/>
              </a:ext>
            </a:extLst>
          </p:cNvPr>
          <p:cNvPicPr>
            <a:picLocks noChangeAspect="1"/>
          </p:cNvPicPr>
          <p:nvPr/>
        </p:nvPicPr>
        <p:blipFill>
          <a:blip r:embed="rId2"/>
          <a:stretch>
            <a:fillRect/>
          </a:stretch>
        </p:blipFill>
        <p:spPr>
          <a:xfrm>
            <a:off x="0" y="678706"/>
            <a:ext cx="7442200" cy="2781300"/>
          </a:xfrm>
          <a:prstGeom prst="rect">
            <a:avLst/>
          </a:prstGeom>
        </p:spPr>
      </p:pic>
      <p:pic>
        <p:nvPicPr>
          <p:cNvPr id="8" name="Picture 7">
            <a:extLst>
              <a:ext uri="{FF2B5EF4-FFF2-40B4-BE49-F238E27FC236}">
                <a16:creationId xmlns:a16="http://schemas.microsoft.com/office/drawing/2014/main" id="{DC15F301-707E-554A-2347-B5FDD3C92B19}"/>
              </a:ext>
            </a:extLst>
          </p:cNvPr>
          <p:cNvPicPr>
            <a:picLocks noChangeAspect="1"/>
          </p:cNvPicPr>
          <p:nvPr/>
        </p:nvPicPr>
        <p:blipFill>
          <a:blip r:embed="rId3"/>
          <a:stretch>
            <a:fillRect/>
          </a:stretch>
        </p:blipFill>
        <p:spPr>
          <a:xfrm>
            <a:off x="3390878" y="1865458"/>
            <a:ext cx="5384800" cy="4229100"/>
          </a:xfrm>
          <a:prstGeom prst="rect">
            <a:avLst/>
          </a:prstGeom>
        </p:spPr>
      </p:pic>
      <p:sp>
        <p:nvSpPr>
          <p:cNvPr id="9" name="TextBox 8">
            <a:extLst>
              <a:ext uri="{FF2B5EF4-FFF2-40B4-BE49-F238E27FC236}">
                <a16:creationId xmlns:a16="http://schemas.microsoft.com/office/drawing/2014/main" id="{88978DB0-E66F-41E6-9B7A-6DEEAB2524E3}"/>
              </a:ext>
            </a:extLst>
          </p:cNvPr>
          <p:cNvSpPr txBox="1"/>
          <p:nvPr/>
        </p:nvSpPr>
        <p:spPr>
          <a:xfrm>
            <a:off x="368322" y="4416016"/>
            <a:ext cx="2374878" cy="646331"/>
          </a:xfrm>
          <a:prstGeom prst="rect">
            <a:avLst/>
          </a:prstGeom>
          <a:solidFill>
            <a:schemeClr val="bg1">
              <a:lumMod val="75000"/>
            </a:schemeClr>
          </a:solidFill>
        </p:spPr>
        <p:txBody>
          <a:bodyPr wrap="square" rtlCol="0">
            <a:spAutoFit/>
          </a:bodyPr>
          <a:lstStyle/>
          <a:p>
            <a:r>
              <a:rPr lang="en-SG" b="0" dirty="0">
                <a:solidFill>
                  <a:srgbClr val="A31515"/>
                </a:solidFill>
                <a:effectLst/>
                <a:latin typeface="Menlo" panose="020B0609030804020204" pitchFamily="49" charset="0"/>
              </a:rPr>
              <a:t>Constructor 1 is running!</a:t>
            </a:r>
            <a:endParaRPr lang="en-SG" b="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735735791"/>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无参子类构造函数</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38</a:t>
            </a:fld>
            <a:endParaRPr lang="en-US" altLang="zh-CN"/>
          </a:p>
        </p:txBody>
      </p:sp>
      <p:pic>
        <p:nvPicPr>
          <p:cNvPr id="7" name="Picture 6">
            <a:extLst>
              <a:ext uri="{FF2B5EF4-FFF2-40B4-BE49-F238E27FC236}">
                <a16:creationId xmlns:a16="http://schemas.microsoft.com/office/drawing/2014/main" id="{FB921C81-2567-DE91-E805-2AF85420B4A6}"/>
              </a:ext>
            </a:extLst>
          </p:cNvPr>
          <p:cNvPicPr>
            <a:picLocks noChangeAspect="1"/>
          </p:cNvPicPr>
          <p:nvPr/>
        </p:nvPicPr>
        <p:blipFill>
          <a:blip r:embed="rId2"/>
          <a:stretch>
            <a:fillRect/>
          </a:stretch>
        </p:blipFill>
        <p:spPr>
          <a:xfrm>
            <a:off x="0" y="678706"/>
            <a:ext cx="7442200" cy="2781300"/>
          </a:xfrm>
          <a:prstGeom prst="rect">
            <a:avLst/>
          </a:prstGeom>
        </p:spPr>
      </p:pic>
      <p:pic>
        <p:nvPicPr>
          <p:cNvPr id="8" name="Picture 7">
            <a:extLst>
              <a:ext uri="{FF2B5EF4-FFF2-40B4-BE49-F238E27FC236}">
                <a16:creationId xmlns:a16="http://schemas.microsoft.com/office/drawing/2014/main" id="{DC15F301-707E-554A-2347-B5FDD3C92B19}"/>
              </a:ext>
            </a:extLst>
          </p:cNvPr>
          <p:cNvPicPr>
            <a:picLocks noChangeAspect="1"/>
          </p:cNvPicPr>
          <p:nvPr/>
        </p:nvPicPr>
        <p:blipFill>
          <a:blip r:embed="rId3"/>
          <a:stretch>
            <a:fillRect/>
          </a:stretch>
        </p:blipFill>
        <p:spPr>
          <a:xfrm>
            <a:off x="3390878" y="2171700"/>
            <a:ext cx="5384800" cy="4229100"/>
          </a:xfrm>
          <a:prstGeom prst="rect">
            <a:avLst/>
          </a:prstGeom>
        </p:spPr>
      </p:pic>
      <p:sp>
        <p:nvSpPr>
          <p:cNvPr id="9" name="TextBox 8">
            <a:extLst>
              <a:ext uri="{FF2B5EF4-FFF2-40B4-BE49-F238E27FC236}">
                <a16:creationId xmlns:a16="http://schemas.microsoft.com/office/drawing/2014/main" id="{88978DB0-E66F-41E6-9B7A-6DEEAB2524E3}"/>
              </a:ext>
            </a:extLst>
          </p:cNvPr>
          <p:cNvSpPr txBox="1"/>
          <p:nvPr/>
        </p:nvSpPr>
        <p:spPr>
          <a:xfrm>
            <a:off x="368322" y="4416016"/>
            <a:ext cx="2374878" cy="369332"/>
          </a:xfrm>
          <a:prstGeom prst="rect">
            <a:avLst/>
          </a:prstGeom>
          <a:solidFill>
            <a:schemeClr val="bg1">
              <a:lumMod val="75000"/>
            </a:schemeClr>
          </a:solidFill>
        </p:spPr>
        <p:txBody>
          <a:bodyPr wrap="square" rtlCol="0">
            <a:spAutoFit/>
          </a:bodyPr>
          <a:lstStyle/>
          <a:p>
            <a:r>
              <a:rPr lang="en-SG" b="0" dirty="0">
                <a:solidFill>
                  <a:srgbClr val="A31515"/>
                </a:solidFill>
                <a:effectLst/>
                <a:latin typeface="Menlo" panose="020B0609030804020204" pitchFamily="49" charset="0"/>
              </a:rPr>
              <a:t>Compilation</a:t>
            </a:r>
            <a:r>
              <a:rPr lang="zh-CN" altLang="en-US" b="0" dirty="0">
                <a:solidFill>
                  <a:srgbClr val="A31515"/>
                </a:solidFill>
                <a:effectLst/>
                <a:latin typeface="Menlo" panose="020B0609030804020204" pitchFamily="49" charset="0"/>
                <a:ea typeface="楷体" panose="02010609060101010101" pitchFamily="49" charset="-122"/>
              </a:rPr>
              <a:t> </a:t>
            </a:r>
            <a:r>
              <a:rPr lang="en-SG" b="0" dirty="0">
                <a:solidFill>
                  <a:srgbClr val="A31515"/>
                </a:solidFill>
                <a:effectLst/>
                <a:latin typeface="Menlo" panose="020B0609030804020204" pitchFamily="49" charset="0"/>
              </a:rPr>
              <a:t>Error</a:t>
            </a:r>
            <a:r>
              <a:rPr lang="zh-CN" altLang="en-US" b="0" dirty="0">
                <a:solidFill>
                  <a:srgbClr val="A31515"/>
                </a:solidFill>
                <a:effectLst/>
                <a:latin typeface="Menlo" panose="020B0609030804020204" pitchFamily="49" charset="0"/>
                <a:ea typeface="楷体" panose="02010609060101010101" pitchFamily="49" charset="-122"/>
              </a:rPr>
              <a:t>！！！</a:t>
            </a:r>
            <a:endParaRPr lang="en-SG" b="0" dirty="0">
              <a:solidFill>
                <a:srgbClr val="000000"/>
              </a:solidFill>
              <a:effectLst/>
              <a:latin typeface="Menlo" panose="020B0609030804020204" pitchFamily="49" charset="0"/>
            </a:endParaRPr>
          </a:p>
        </p:txBody>
      </p:sp>
      <p:cxnSp>
        <p:nvCxnSpPr>
          <p:cNvPr id="10" name="Straight Connector 9">
            <a:extLst>
              <a:ext uri="{FF2B5EF4-FFF2-40B4-BE49-F238E27FC236}">
                <a16:creationId xmlns:a16="http://schemas.microsoft.com/office/drawing/2014/main" id="{6AC9870B-D391-F2B8-0E27-B14A3EC00F2D}"/>
              </a:ext>
            </a:extLst>
          </p:cNvPr>
          <p:cNvCxnSpPr/>
          <p:nvPr/>
        </p:nvCxnSpPr>
        <p:spPr>
          <a:xfrm>
            <a:off x="457200" y="1524000"/>
            <a:ext cx="2286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ABEBE2B-FC73-8B31-156B-EB7C44C82924}"/>
              </a:ext>
            </a:extLst>
          </p:cNvPr>
          <p:cNvCxnSpPr>
            <a:cxnSpLocks/>
          </p:cNvCxnSpPr>
          <p:nvPr/>
        </p:nvCxnSpPr>
        <p:spPr>
          <a:xfrm>
            <a:off x="457200" y="1828800"/>
            <a:ext cx="6985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4A5E28-7098-13ED-EB0A-B0207C39A7FF}"/>
              </a:ext>
            </a:extLst>
          </p:cNvPr>
          <p:cNvCxnSpPr>
            <a:cxnSpLocks/>
          </p:cNvCxnSpPr>
          <p:nvPr/>
        </p:nvCxnSpPr>
        <p:spPr>
          <a:xfrm>
            <a:off x="457200" y="2133600"/>
            <a:ext cx="304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9113273"/>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229600" cy="4044280"/>
          </a:xfrm>
        </p:spPr>
        <p:txBody>
          <a:bodyPr>
            <a:normAutofit fontScale="92500" lnSpcReduction="20000"/>
          </a:bodyPr>
          <a:lstStyle/>
          <a:p>
            <a:pPr>
              <a:lnSpc>
                <a:spcPct val="120000"/>
              </a:lnSpc>
            </a:pPr>
            <a:r>
              <a:rPr lang="zh-CN" altLang="en-US" dirty="0"/>
              <a:t>构造函数不能被继承；</a:t>
            </a:r>
            <a:endParaRPr lang="en-US" altLang="zh-CN" dirty="0"/>
          </a:p>
          <a:p>
            <a:pPr>
              <a:lnSpc>
                <a:spcPct val="120000"/>
              </a:lnSpc>
            </a:pPr>
            <a:r>
              <a:rPr lang="zh-CN" altLang="en-US" dirty="0"/>
              <a:t>无参</a:t>
            </a:r>
            <a:r>
              <a:rPr lang="zh-CN" altLang="en-US" dirty="0">
                <a:latin typeface="楷体" panose="02010609060101010101" pitchFamily="49" charset="-122"/>
              </a:rPr>
              <a:t>子类构造函数的编写</a:t>
            </a:r>
            <a:endParaRPr lang="en-US" altLang="zh-CN" dirty="0">
              <a:latin typeface="楷体" panose="02010609060101010101" pitchFamily="49" charset="-122"/>
            </a:endParaRPr>
          </a:p>
          <a:p>
            <a:pPr lvl="1">
              <a:lnSpc>
                <a:spcPct val="120000"/>
              </a:lnSpc>
            </a:pPr>
            <a:r>
              <a:rPr lang="zh-CN" altLang="en-US" dirty="0"/>
              <a:t>子类可以通过</a:t>
            </a:r>
            <a:r>
              <a:rPr lang="en-US" altLang="zh-CN" dirty="0"/>
              <a:t>super()</a:t>
            </a:r>
            <a:r>
              <a:rPr lang="zh-CN" altLang="en-US" dirty="0"/>
              <a:t>显示调用父类无参的构造函数，也可以隐式调用</a:t>
            </a:r>
            <a:endParaRPr lang="en-US" altLang="zh-CN" dirty="0"/>
          </a:p>
          <a:p>
            <a:pPr>
              <a:lnSpc>
                <a:spcPct val="120000"/>
              </a:lnSpc>
            </a:pPr>
            <a:r>
              <a:rPr lang="zh-CN" altLang="en-US" dirty="0">
                <a:latin typeface="楷体" panose="02010609060101010101" pitchFamily="49" charset="-122"/>
              </a:rPr>
              <a:t>有参子类构造函数的编写</a:t>
            </a:r>
            <a:endParaRPr lang="en-US" altLang="zh-CN" dirty="0">
              <a:latin typeface="楷体" panose="02010609060101010101" pitchFamily="49" charset="-122"/>
            </a:endParaRPr>
          </a:p>
          <a:p>
            <a:pPr lvl="1">
              <a:lnSpc>
                <a:spcPct val="120000"/>
              </a:lnSpc>
            </a:pPr>
            <a:r>
              <a:rPr lang="zh-CN" altLang="en-US" dirty="0">
                <a:latin typeface="楷体" panose="02010609060101010101" pitchFamily="49" charset="-122"/>
              </a:rPr>
              <a:t>初始化父类的成员变量；</a:t>
            </a:r>
            <a:endParaRPr lang="en-US" altLang="zh-CN" dirty="0">
              <a:latin typeface="楷体" panose="02010609060101010101" pitchFamily="49" charset="-122"/>
            </a:endParaRPr>
          </a:p>
          <a:p>
            <a:pPr lvl="1">
              <a:lnSpc>
                <a:spcPct val="120000"/>
              </a:lnSpc>
            </a:pPr>
            <a:r>
              <a:rPr lang="zh-CN" altLang="en-US" dirty="0">
                <a:latin typeface="楷体" panose="02010609060101010101" pitchFamily="49" charset="-122"/>
              </a:rPr>
              <a:t>初始化子类的成员变量</a:t>
            </a:r>
            <a:endParaRPr lang="en-US" altLang="zh-CN" dirty="0">
              <a:latin typeface="楷体" panose="02010609060101010101" pitchFamily="49" charset="-122"/>
            </a:endParaRPr>
          </a:p>
          <a:p>
            <a:pPr lvl="1">
              <a:lnSpc>
                <a:spcPct val="120000"/>
              </a:lnSpc>
            </a:pPr>
            <a:r>
              <a:rPr lang="zh-CN" altLang="en-US" dirty="0">
                <a:latin typeface="楷体" panose="02010609060101010101" pitchFamily="49" charset="-122"/>
              </a:rPr>
              <a:t>必须显示调用父类有参构造函数</a:t>
            </a:r>
            <a:endParaRPr lang="en-US" altLang="zh-CN" dirty="0">
              <a:latin typeface="楷体" panose="02010609060101010101" pitchFamily="49" charset="-122"/>
            </a:endParaRPr>
          </a:p>
          <a:p>
            <a:endParaRPr lang="zh-CN" altLang="en-US" dirty="0"/>
          </a:p>
          <a:p>
            <a:endParaRPr lang="zh-CN" altLang="en-US" dirty="0"/>
          </a:p>
        </p:txBody>
      </p:sp>
      <p:sp>
        <p:nvSpPr>
          <p:cNvPr id="3" name="Title 2"/>
          <p:cNvSpPr>
            <a:spLocks noGrp="1"/>
          </p:cNvSpPr>
          <p:nvPr>
            <p:ph type="title"/>
          </p:nvPr>
        </p:nvSpPr>
        <p:spPr/>
        <p:txBody>
          <a:bodyPr/>
          <a:lstStyle/>
          <a:p>
            <a:r>
              <a:rPr lang="zh-CN" altLang="en-US" dirty="0"/>
              <a:t>子类构造函数：</a:t>
            </a:r>
          </a:p>
        </p:txBody>
      </p:sp>
      <p:sp>
        <p:nvSpPr>
          <p:cNvPr id="4" name="Date Placeholder 3"/>
          <p:cNvSpPr>
            <a:spLocks noGrp="1"/>
          </p:cNvSpPr>
          <p:nvPr>
            <p:ph type="dt" sz="half" idx="10"/>
          </p:nvPr>
        </p:nvSpPr>
        <p:spPr/>
        <p:txBody>
          <a:bodyPr/>
          <a:lstStyle/>
          <a:p>
            <a:pPr>
              <a:defRPr/>
            </a:pPr>
            <a:fld id="{719706F8-2054-40F1-B825-B99E8DE8DACE}" type="datetime1">
              <a:rPr lang="zh-CN" altLang="en-US" smtClean="0"/>
              <a:t>2024/10/17</a:t>
            </a:fld>
            <a:endParaRPr lang="en-US" altLang="zh-CN" dirty="0"/>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39</a:t>
            </a:fld>
            <a:endParaRPr lang="en-US" altLang="zh-CN" dirty="0"/>
          </a:p>
        </p:txBody>
      </p:sp>
    </p:spTree>
    <p:extLst>
      <p:ext uri="{BB962C8B-B14F-4D97-AF65-F5344CB8AC3E}">
        <p14:creationId xmlns:p14="http://schemas.microsoft.com/office/powerpoint/2010/main" val="1457365803"/>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3" end="3"/>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anim calcmode="lin" valueType="num">
                                      <p:cBhvr additive="base">
                                        <p:cTn id="11" dur="5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12" dur="500"/>
                                        <p:tgtEl>
                                          <p:spTgt spid="2">
                                            <p:txEl>
                                              <p:pRg st="4" end="4"/>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 calcmode="lin" valueType="num">
                                      <p:cBhvr additive="base">
                                        <p:cTn id="15" dur="500"/>
                                        <p:tgtEl>
                                          <p:spTgt spid="2">
                                            <p:txEl>
                                              <p:pRg st="5" end="5"/>
                                            </p:txEl>
                                          </p:spTgt>
                                        </p:tgtEl>
                                        <p:attrNameLst>
                                          <p:attrName>ppt_y</p:attrName>
                                        </p:attrNameLst>
                                      </p:cBhvr>
                                      <p:tavLst>
                                        <p:tav tm="0">
                                          <p:val>
                                            <p:strVal val="#ppt_y+#ppt_h*1.125000"/>
                                          </p:val>
                                        </p:tav>
                                        <p:tav tm="100000">
                                          <p:val>
                                            <p:strVal val="#ppt_y"/>
                                          </p:val>
                                        </p:tav>
                                      </p:tavLst>
                                    </p:anim>
                                    <p:animEffect transition="in" filter="wipe(up)">
                                      <p:cBhvr>
                                        <p:cTn id="16" dur="500"/>
                                        <p:tgtEl>
                                          <p:spTgt spid="2">
                                            <p:txEl>
                                              <p:pRg st="5" end="5"/>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 calcmode="lin" valueType="num">
                                      <p:cBhvr additive="base">
                                        <p:cTn id="19" dur="500"/>
                                        <p:tgtEl>
                                          <p:spTgt spid="2">
                                            <p:txEl>
                                              <p:pRg st="6" end="6"/>
                                            </p:txEl>
                                          </p:spTgt>
                                        </p:tgtEl>
                                        <p:attrNameLst>
                                          <p:attrName>ppt_y</p:attrName>
                                        </p:attrNameLst>
                                      </p:cBhvr>
                                      <p:tavLst>
                                        <p:tav tm="0">
                                          <p:val>
                                            <p:strVal val="#ppt_y+#ppt_h*1.125000"/>
                                          </p:val>
                                        </p:tav>
                                        <p:tav tm="100000">
                                          <p:val>
                                            <p:strVal val="#ppt_y"/>
                                          </p:val>
                                        </p:tav>
                                      </p:tavLst>
                                    </p:anim>
                                    <p:animEffect transition="in" filter="wipe(up)">
                                      <p:cBhvr>
                                        <p:cTn id="20"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有参子类构造函数</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40</a:t>
            </a:fld>
            <a:endParaRPr lang="en-US" altLang="zh-CN"/>
          </a:p>
        </p:txBody>
      </p:sp>
      <p:pic>
        <p:nvPicPr>
          <p:cNvPr id="7" name="Picture 6">
            <a:extLst>
              <a:ext uri="{FF2B5EF4-FFF2-40B4-BE49-F238E27FC236}">
                <a16:creationId xmlns:a16="http://schemas.microsoft.com/office/drawing/2014/main" id="{FB921C81-2567-DE91-E805-2AF85420B4A6}"/>
              </a:ext>
            </a:extLst>
          </p:cNvPr>
          <p:cNvPicPr>
            <a:picLocks noChangeAspect="1"/>
          </p:cNvPicPr>
          <p:nvPr/>
        </p:nvPicPr>
        <p:blipFill>
          <a:blip r:embed="rId2"/>
          <a:stretch>
            <a:fillRect/>
          </a:stretch>
        </p:blipFill>
        <p:spPr>
          <a:xfrm>
            <a:off x="0" y="678706"/>
            <a:ext cx="7442200" cy="2781300"/>
          </a:xfrm>
          <a:prstGeom prst="rect">
            <a:avLst/>
          </a:prstGeom>
        </p:spPr>
      </p:pic>
      <p:sp>
        <p:nvSpPr>
          <p:cNvPr id="2" name="Rectangle 1">
            <a:extLst>
              <a:ext uri="{FF2B5EF4-FFF2-40B4-BE49-F238E27FC236}">
                <a16:creationId xmlns:a16="http://schemas.microsoft.com/office/drawing/2014/main" id="{F3C4BEE6-33C7-D130-554E-75FCCB415153}"/>
              </a:ext>
            </a:extLst>
          </p:cNvPr>
          <p:cNvSpPr/>
          <p:nvPr/>
        </p:nvSpPr>
        <p:spPr>
          <a:xfrm>
            <a:off x="457200" y="2286000"/>
            <a:ext cx="6985000" cy="1143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9BC9C84-0563-51CD-A676-3C6E7F39263D}"/>
              </a:ext>
            </a:extLst>
          </p:cNvPr>
          <p:cNvPicPr>
            <a:picLocks noChangeAspect="1"/>
          </p:cNvPicPr>
          <p:nvPr/>
        </p:nvPicPr>
        <p:blipFill>
          <a:blip r:embed="rId3"/>
          <a:stretch>
            <a:fillRect/>
          </a:stretch>
        </p:blipFill>
        <p:spPr>
          <a:xfrm>
            <a:off x="2743200" y="1225550"/>
            <a:ext cx="6159500" cy="5130800"/>
          </a:xfrm>
          <a:prstGeom prst="rect">
            <a:avLst/>
          </a:prstGeom>
        </p:spPr>
      </p:pic>
      <p:cxnSp>
        <p:nvCxnSpPr>
          <p:cNvPr id="12" name="Straight Arrow Connector 11">
            <a:extLst>
              <a:ext uri="{FF2B5EF4-FFF2-40B4-BE49-F238E27FC236}">
                <a16:creationId xmlns:a16="http://schemas.microsoft.com/office/drawing/2014/main" id="{9FB543BF-9417-5290-CFC7-12EADAC74B0D}"/>
              </a:ext>
            </a:extLst>
          </p:cNvPr>
          <p:cNvCxnSpPr>
            <a:cxnSpLocks/>
          </p:cNvCxnSpPr>
          <p:nvPr/>
        </p:nvCxnSpPr>
        <p:spPr>
          <a:xfrm flipH="1">
            <a:off x="5791200" y="1981200"/>
            <a:ext cx="1524000" cy="0"/>
          </a:xfrm>
          <a:prstGeom prst="straightConnector1">
            <a:avLst/>
          </a:prstGeom>
          <a:ln w="920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111521B-DEE6-17E4-95C2-2A632FA2A088}"/>
              </a:ext>
            </a:extLst>
          </p:cNvPr>
          <p:cNvSpPr txBox="1"/>
          <p:nvPr/>
        </p:nvSpPr>
        <p:spPr>
          <a:xfrm>
            <a:off x="368322" y="4416016"/>
            <a:ext cx="2374878" cy="646331"/>
          </a:xfrm>
          <a:prstGeom prst="rect">
            <a:avLst/>
          </a:prstGeom>
          <a:solidFill>
            <a:schemeClr val="bg1">
              <a:lumMod val="75000"/>
            </a:schemeClr>
          </a:solidFill>
        </p:spPr>
        <p:txBody>
          <a:bodyPr wrap="square" rtlCol="0">
            <a:spAutoFit/>
          </a:bodyPr>
          <a:lstStyle/>
          <a:p>
            <a:r>
              <a:rPr lang="en-SG" b="0" dirty="0">
                <a:solidFill>
                  <a:srgbClr val="A31515"/>
                </a:solidFill>
                <a:effectLst/>
                <a:latin typeface="Menlo" panose="020B0609030804020204" pitchFamily="49" charset="0"/>
              </a:rPr>
              <a:t>Constructor </a:t>
            </a:r>
            <a:r>
              <a:rPr lang="en-US" altLang="zh-CN" b="0" dirty="0">
                <a:solidFill>
                  <a:srgbClr val="A31515"/>
                </a:solidFill>
                <a:effectLst/>
                <a:latin typeface="Menlo" panose="020B0609030804020204" pitchFamily="49" charset="0"/>
                <a:ea typeface="楷体" panose="02010609060101010101" pitchFamily="49" charset="-122"/>
              </a:rPr>
              <a:t>2</a:t>
            </a:r>
            <a:r>
              <a:rPr lang="en-SG" b="0" dirty="0">
                <a:solidFill>
                  <a:srgbClr val="A31515"/>
                </a:solidFill>
                <a:effectLst/>
                <a:latin typeface="Menlo" panose="020B0609030804020204" pitchFamily="49" charset="0"/>
              </a:rPr>
              <a:t> is running!</a:t>
            </a:r>
            <a:endParaRPr lang="en-SG" b="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030996340"/>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par>
                                <p:cTn id="9" presetID="1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p:tgtEl>
                                          <p:spTgt spid="10"/>
                                        </p:tgtEl>
                                        <p:attrNameLst>
                                          <p:attrName>ppt_y</p:attrName>
                                        </p:attrNameLst>
                                      </p:cBhvr>
                                      <p:tavLst>
                                        <p:tav tm="0">
                                          <p:val>
                                            <p:strVal val="#ppt_y+#ppt_h*1.125000"/>
                                          </p:val>
                                        </p:tav>
                                        <p:tav tm="100000">
                                          <p:val>
                                            <p:strVal val="#ppt_y"/>
                                          </p:val>
                                        </p:tav>
                                      </p:tavLst>
                                    </p:anim>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p:tgtEl>
                                          <p:spTgt spid="14"/>
                                        </p:tgtEl>
                                        <p:attrNameLst>
                                          <p:attrName>ppt_y</p:attrName>
                                        </p:attrNameLst>
                                      </p:cBhvr>
                                      <p:tavLst>
                                        <p:tav tm="0">
                                          <p:val>
                                            <p:strVal val="#ppt_y+#ppt_h*1.125000"/>
                                          </p:val>
                                        </p:tav>
                                        <p:tav tm="100000">
                                          <p:val>
                                            <p:strVal val="#ppt_y"/>
                                          </p:val>
                                        </p:tav>
                                      </p:tavLst>
                                    </p:anim>
                                    <p:animEffect transition="in" filter="wipe(up)">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229600" cy="5111080"/>
          </a:xfrm>
        </p:spPr>
        <p:txBody>
          <a:bodyPr>
            <a:normAutofit fontScale="85000" lnSpcReduction="20000"/>
          </a:bodyPr>
          <a:lstStyle/>
          <a:p>
            <a:pPr>
              <a:lnSpc>
                <a:spcPct val="120000"/>
              </a:lnSpc>
            </a:pPr>
            <a:r>
              <a:rPr lang="zh-CN" altLang="en-US" dirty="0"/>
              <a:t>构造函数不能被继承；</a:t>
            </a:r>
            <a:endParaRPr lang="en-US" altLang="zh-CN" dirty="0"/>
          </a:p>
          <a:p>
            <a:pPr>
              <a:lnSpc>
                <a:spcPct val="120000"/>
              </a:lnSpc>
            </a:pPr>
            <a:r>
              <a:rPr lang="zh-CN" altLang="en-US" dirty="0"/>
              <a:t>无参</a:t>
            </a:r>
            <a:r>
              <a:rPr lang="zh-CN" altLang="en-US" dirty="0">
                <a:latin typeface="楷体" panose="02010609060101010101" pitchFamily="49" charset="-122"/>
              </a:rPr>
              <a:t>子类构造函数的编写</a:t>
            </a:r>
            <a:endParaRPr lang="en-US" altLang="zh-CN" dirty="0">
              <a:latin typeface="楷体" panose="02010609060101010101" pitchFamily="49" charset="-122"/>
            </a:endParaRPr>
          </a:p>
          <a:p>
            <a:pPr lvl="1">
              <a:lnSpc>
                <a:spcPct val="120000"/>
              </a:lnSpc>
            </a:pPr>
            <a:r>
              <a:rPr lang="zh-CN" altLang="en-US" dirty="0"/>
              <a:t>子类可以通过</a:t>
            </a:r>
            <a:r>
              <a:rPr lang="en-US" altLang="zh-CN" dirty="0"/>
              <a:t>super()</a:t>
            </a:r>
            <a:r>
              <a:rPr lang="zh-CN" altLang="en-US" dirty="0"/>
              <a:t>显示调用父类无参的构造函数，也可以隐式调用</a:t>
            </a:r>
            <a:endParaRPr lang="en-US" altLang="zh-CN" dirty="0"/>
          </a:p>
          <a:p>
            <a:pPr>
              <a:lnSpc>
                <a:spcPct val="120000"/>
              </a:lnSpc>
            </a:pPr>
            <a:r>
              <a:rPr lang="zh-CN" altLang="en-US" dirty="0">
                <a:latin typeface="楷体" panose="02010609060101010101" pitchFamily="49" charset="-122"/>
              </a:rPr>
              <a:t>有参子类构造函数的编写</a:t>
            </a:r>
            <a:endParaRPr lang="en-US" altLang="zh-CN" dirty="0">
              <a:latin typeface="楷体" panose="02010609060101010101" pitchFamily="49" charset="-122"/>
            </a:endParaRPr>
          </a:p>
          <a:p>
            <a:pPr lvl="1">
              <a:lnSpc>
                <a:spcPct val="120000"/>
              </a:lnSpc>
            </a:pPr>
            <a:r>
              <a:rPr lang="zh-CN" altLang="en-US" dirty="0">
                <a:latin typeface="楷体" panose="02010609060101010101" pitchFamily="49" charset="-122"/>
              </a:rPr>
              <a:t>初始化父类的成员变量；</a:t>
            </a:r>
            <a:endParaRPr lang="en-US" altLang="zh-CN" dirty="0">
              <a:latin typeface="楷体" panose="02010609060101010101" pitchFamily="49" charset="-122"/>
            </a:endParaRPr>
          </a:p>
          <a:p>
            <a:pPr lvl="1">
              <a:lnSpc>
                <a:spcPct val="120000"/>
              </a:lnSpc>
            </a:pPr>
            <a:r>
              <a:rPr lang="zh-CN" altLang="en-US" dirty="0">
                <a:latin typeface="楷体" panose="02010609060101010101" pitchFamily="49" charset="-122"/>
              </a:rPr>
              <a:t>初始化子类的成员变量</a:t>
            </a:r>
            <a:endParaRPr lang="en-US" altLang="zh-CN" dirty="0">
              <a:latin typeface="楷体" panose="02010609060101010101" pitchFamily="49" charset="-122"/>
            </a:endParaRPr>
          </a:p>
          <a:p>
            <a:pPr lvl="1">
              <a:lnSpc>
                <a:spcPct val="120000"/>
              </a:lnSpc>
            </a:pPr>
            <a:r>
              <a:rPr lang="zh-CN" altLang="en-US" dirty="0">
                <a:latin typeface="楷体" panose="02010609060101010101" pitchFamily="49" charset="-122"/>
              </a:rPr>
              <a:t>必须显示调用父类有参构造函数</a:t>
            </a:r>
            <a:endParaRPr lang="en-US" altLang="zh-CN" dirty="0">
              <a:latin typeface="楷体" panose="02010609060101010101" pitchFamily="49" charset="-122"/>
            </a:endParaRPr>
          </a:p>
          <a:p>
            <a:pPr>
              <a:lnSpc>
                <a:spcPct val="120000"/>
              </a:lnSpc>
            </a:pPr>
            <a:r>
              <a:rPr lang="zh-CN" altLang="en-US" dirty="0">
                <a:latin typeface="楷体" panose="02010609060101010101" pitchFamily="49" charset="-122"/>
              </a:rPr>
              <a:t>无论使用</a:t>
            </a:r>
            <a:r>
              <a:rPr lang="en-US" altLang="zh-CN" dirty="0">
                <a:latin typeface="楷体" panose="02010609060101010101" pitchFamily="49" charset="-122"/>
              </a:rPr>
              <a:t>this</a:t>
            </a:r>
            <a:r>
              <a:rPr lang="zh-CN" altLang="en-US" dirty="0">
                <a:latin typeface="楷体" panose="02010609060101010101" pitchFamily="49" charset="-122"/>
              </a:rPr>
              <a:t>调用本类构造函数，还是使用</a:t>
            </a:r>
            <a:r>
              <a:rPr lang="en-US" altLang="zh-CN" dirty="0">
                <a:latin typeface="楷体" panose="02010609060101010101" pitchFamily="49" charset="-122"/>
              </a:rPr>
              <a:t>super</a:t>
            </a:r>
            <a:r>
              <a:rPr lang="zh-CN" altLang="en-US" dirty="0">
                <a:latin typeface="楷体" panose="02010609060101010101" pitchFamily="49" charset="-122"/>
              </a:rPr>
              <a:t>调用父类构造函数，都必须是该方法体中的第一条可以执行语句，否则会产生语法错误。</a:t>
            </a:r>
          </a:p>
          <a:p>
            <a:endParaRPr lang="zh-CN" altLang="en-US" dirty="0"/>
          </a:p>
          <a:p>
            <a:endParaRPr lang="zh-CN" altLang="en-US" dirty="0"/>
          </a:p>
        </p:txBody>
      </p:sp>
      <p:sp>
        <p:nvSpPr>
          <p:cNvPr id="3" name="Title 2"/>
          <p:cNvSpPr>
            <a:spLocks noGrp="1"/>
          </p:cNvSpPr>
          <p:nvPr>
            <p:ph type="title"/>
          </p:nvPr>
        </p:nvSpPr>
        <p:spPr/>
        <p:txBody>
          <a:bodyPr/>
          <a:lstStyle/>
          <a:p>
            <a:r>
              <a:rPr lang="zh-CN" altLang="en-US" dirty="0"/>
              <a:t>子类构造函数：</a:t>
            </a:r>
          </a:p>
        </p:txBody>
      </p:sp>
      <p:sp>
        <p:nvSpPr>
          <p:cNvPr id="4" name="Date Placeholder 3"/>
          <p:cNvSpPr>
            <a:spLocks noGrp="1"/>
          </p:cNvSpPr>
          <p:nvPr>
            <p:ph type="dt" sz="half" idx="10"/>
          </p:nvPr>
        </p:nvSpPr>
        <p:spPr/>
        <p:txBody>
          <a:bodyPr/>
          <a:lstStyle/>
          <a:p>
            <a:pPr>
              <a:defRPr/>
            </a:pPr>
            <a:fld id="{719706F8-2054-40F1-B825-B99E8DE8DACE}" type="datetime1">
              <a:rPr lang="zh-CN" altLang="en-US" smtClean="0"/>
              <a:t>2024/10/17</a:t>
            </a:fld>
            <a:endParaRPr lang="en-US" altLang="zh-CN" dirty="0"/>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41</a:t>
            </a:fld>
            <a:endParaRPr lang="en-US" altLang="zh-CN" dirty="0"/>
          </a:p>
        </p:txBody>
      </p:sp>
    </p:spTree>
    <p:extLst>
      <p:ext uri="{BB962C8B-B14F-4D97-AF65-F5344CB8AC3E}">
        <p14:creationId xmlns:p14="http://schemas.microsoft.com/office/powerpoint/2010/main" val="1222681360"/>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 calcmode="lin" valueType="num">
                                      <p:cBhvr additive="base">
                                        <p:cTn id="7" dur="500"/>
                                        <p:tgtEl>
                                          <p:spTgt spid="2">
                                            <p:txEl>
                                              <p:pRg st="7" end="7"/>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有参子类构造函数</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42</a:t>
            </a:fld>
            <a:endParaRPr lang="en-US" altLang="zh-CN"/>
          </a:p>
        </p:txBody>
      </p:sp>
      <p:pic>
        <p:nvPicPr>
          <p:cNvPr id="7" name="Picture 6">
            <a:extLst>
              <a:ext uri="{FF2B5EF4-FFF2-40B4-BE49-F238E27FC236}">
                <a16:creationId xmlns:a16="http://schemas.microsoft.com/office/drawing/2014/main" id="{FB921C81-2567-DE91-E805-2AF85420B4A6}"/>
              </a:ext>
            </a:extLst>
          </p:cNvPr>
          <p:cNvPicPr>
            <a:picLocks noChangeAspect="1"/>
          </p:cNvPicPr>
          <p:nvPr/>
        </p:nvPicPr>
        <p:blipFill>
          <a:blip r:embed="rId2"/>
          <a:stretch>
            <a:fillRect/>
          </a:stretch>
        </p:blipFill>
        <p:spPr>
          <a:xfrm>
            <a:off x="0" y="678706"/>
            <a:ext cx="7442200" cy="2781300"/>
          </a:xfrm>
          <a:prstGeom prst="rect">
            <a:avLst/>
          </a:prstGeom>
        </p:spPr>
      </p:pic>
      <p:sp>
        <p:nvSpPr>
          <p:cNvPr id="2" name="Rectangle 1">
            <a:extLst>
              <a:ext uri="{FF2B5EF4-FFF2-40B4-BE49-F238E27FC236}">
                <a16:creationId xmlns:a16="http://schemas.microsoft.com/office/drawing/2014/main" id="{F3C4BEE6-33C7-D130-554E-75FCCB415153}"/>
              </a:ext>
            </a:extLst>
          </p:cNvPr>
          <p:cNvSpPr/>
          <p:nvPr/>
        </p:nvSpPr>
        <p:spPr>
          <a:xfrm>
            <a:off x="457200" y="2286000"/>
            <a:ext cx="6985000" cy="1143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FBC4142-B06F-64FF-417E-9DB3C9EE17C9}"/>
              </a:ext>
            </a:extLst>
          </p:cNvPr>
          <p:cNvPicPr>
            <a:picLocks noChangeAspect="1"/>
          </p:cNvPicPr>
          <p:nvPr/>
        </p:nvPicPr>
        <p:blipFill>
          <a:blip r:embed="rId3"/>
          <a:stretch>
            <a:fillRect/>
          </a:stretch>
        </p:blipFill>
        <p:spPr>
          <a:xfrm>
            <a:off x="1371600" y="1974138"/>
            <a:ext cx="7772400" cy="3740862"/>
          </a:xfrm>
          <a:prstGeom prst="rect">
            <a:avLst/>
          </a:prstGeom>
        </p:spPr>
      </p:pic>
      <p:cxnSp>
        <p:nvCxnSpPr>
          <p:cNvPr id="12" name="Straight Arrow Connector 11">
            <a:extLst>
              <a:ext uri="{FF2B5EF4-FFF2-40B4-BE49-F238E27FC236}">
                <a16:creationId xmlns:a16="http://schemas.microsoft.com/office/drawing/2014/main" id="{9FB543BF-9417-5290-CFC7-12EADAC74B0D}"/>
              </a:ext>
            </a:extLst>
          </p:cNvPr>
          <p:cNvCxnSpPr>
            <a:cxnSpLocks/>
          </p:cNvCxnSpPr>
          <p:nvPr/>
        </p:nvCxnSpPr>
        <p:spPr>
          <a:xfrm flipH="1">
            <a:off x="4427984" y="3158769"/>
            <a:ext cx="1524000" cy="0"/>
          </a:xfrm>
          <a:prstGeom prst="straightConnector1">
            <a:avLst/>
          </a:prstGeom>
          <a:ln w="920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857FBCB-9DF9-52E6-1573-DD6762ACEB6F}"/>
              </a:ext>
            </a:extLst>
          </p:cNvPr>
          <p:cNvSpPr txBox="1"/>
          <p:nvPr/>
        </p:nvSpPr>
        <p:spPr>
          <a:xfrm>
            <a:off x="6041571" y="2927936"/>
            <a:ext cx="2398605" cy="461665"/>
          </a:xfrm>
          <a:prstGeom prst="rect">
            <a:avLst/>
          </a:prstGeom>
          <a:noFill/>
        </p:spPr>
        <p:txBody>
          <a:bodyPr wrap="none" rtlCol="0">
            <a:spAutoFit/>
          </a:bodyPr>
          <a:lstStyle/>
          <a:p>
            <a:r>
              <a:rPr lang="en-US" sz="2400" dirty="0">
                <a:solidFill>
                  <a:srgbClr val="FF0000"/>
                </a:solidFill>
              </a:rPr>
              <a:t>Compilation Error</a:t>
            </a:r>
          </a:p>
        </p:txBody>
      </p:sp>
    </p:spTree>
    <p:extLst>
      <p:ext uri="{BB962C8B-B14F-4D97-AF65-F5344CB8AC3E}">
        <p14:creationId xmlns:p14="http://schemas.microsoft.com/office/powerpoint/2010/main" val="57773516"/>
      </p:ext>
    </p:extLst>
  </p:cSld>
  <p:clrMapOvr>
    <a:masterClrMapping/>
  </p:clrMapOvr>
  <p:transition spd="med">
    <p:pull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229600" cy="5111080"/>
          </a:xfrm>
        </p:spPr>
        <p:txBody>
          <a:bodyPr>
            <a:normAutofit fontScale="92500" lnSpcReduction="10000"/>
          </a:bodyPr>
          <a:lstStyle/>
          <a:p>
            <a:pPr>
              <a:lnSpc>
                <a:spcPct val="120000"/>
              </a:lnSpc>
            </a:pPr>
            <a:r>
              <a:rPr lang="zh-CN" altLang="en-US" sz="3000" dirty="0">
                <a:latin typeface="楷体" panose="02010609060101010101" pitchFamily="49" charset="-122"/>
              </a:rPr>
              <a:t>子类创建对象时，</a:t>
            </a:r>
            <a:r>
              <a:rPr lang="zh-CN" altLang="en-US" sz="3000" dirty="0">
                <a:solidFill>
                  <a:srgbClr val="FF0000"/>
                </a:solidFill>
                <a:latin typeface="楷体" panose="02010609060101010101" pitchFamily="49" charset="-122"/>
              </a:rPr>
              <a:t>子类的构造方法</a:t>
            </a:r>
            <a:r>
              <a:rPr lang="zh-CN" altLang="en-US" sz="3000" dirty="0">
                <a:latin typeface="楷体" panose="02010609060101010101" pitchFamily="49" charset="-122"/>
              </a:rPr>
              <a:t>总是先调用父类的某个构造方法，完成父类部分的创建；然后再调用子类自己的构造方法，完成子类部分的创建。</a:t>
            </a:r>
            <a:endParaRPr lang="en-US" altLang="zh-CN" sz="3000" dirty="0">
              <a:latin typeface="楷体" panose="02010609060101010101" pitchFamily="49" charset="-122"/>
            </a:endParaRPr>
          </a:p>
          <a:p>
            <a:pPr>
              <a:lnSpc>
                <a:spcPct val="120000"/>
              </a:lnSpc>
            </a:pPr>
            <a:r>
              <a:rPr lang="zh-CN" altLang="en-US" sz="3000" dirty="0">
                <a:latin typeface="楷体" panose="02010609060101010101" pitchFamily="49" charset="-122"/>
              </a:rPr>
              <a:t>如果子类的构造方法没有明显地指明使用父类的哪个构造方法，子类就调用父类的不带参数的构造方法 。</a:t>
            </a:r>
          </a:p>
          <a:p>
            <a:pPr>
              <a:lnSpc>
                <a:spcPct val="120000"/>
              </a:lnSpc>
            </a:pPr>
            <a:r>
              <a:rPr lang="zh-CN" altLang="en-US" sz="3000" dirty="0">
                <a:latin typeface="楷体" panose="02010609060101010101" pitchFamily="49" charset="-122"/>
              </a:rPr>
              <a:t>子类在创建一个子类对象时，不仅</a:t>
            </a:r>
            <a:r>
              <a:rPr lang="zh-CN" altLang="en-US" sz="3000" dirty="0">
                <a:solidFill>
                  <a:srgbClr val="000000"/>
                </a:solidFill>
                <a:latin typeface="楷体" panose="02010609060101010101" pitchFamily="49" charset="-122"/>
              </a:rPr>
              <a:t>子类中声明的成员变量被分配了内存，而且父类的所有的成员变量也都分配了内存空间</a:t>
            </a:r>
            <a:r>
              <a:rPr lang="zh-CN" altLang="en-US" sz="3000" dirty="0">
                <a:latin typeface="楷体" panose="02010609060101010101" pitchFamily="49" charset="-122"/>
              </a:rPr>
              <a:t>。</a:t>
            </a:r>
            <a:endParaRPr lang="en-US" altLang="zh-CN" sz="3000" dirty="0">
              <a:latin typeface="楷体" panose="02010609060101010101" pitchFamily="49" charset="-122"/>
            </a:endParaRPr>
          </a:p>
          <a:p>
            <a:endParaRPr lang="zh-CN" altLang="en-US" dirty="0"/>
          </a:p>
          <a:p>
            <a:endParaRPr lang="zh-CN" altLang="en-US" dirty="0"/>
          </a:p>
        </p:txBody>
      </p:sp>
      <p:sp>
        <p:nvSpPr>
          <p:cNvPr id="3" name="Title 2"/>
          <p:cNvSpPr>
            <a:spLocks noGrp="1"/>
          </p:cNvSpPr>
          <p:nvPr>
            <p:ph type="title"/>
          </p:nvPr>
        </p:nvSpPr>
        <p:spPr/>
        <p:txBody>
          <a:bodyPr/>
          <a:lstStyle/>
          <a:p>
            <a:r>
              <a:rPr lang="zh-CN" altLang="en-US" b="1" dirty="0"/>
              <a:t>子类对象的生成（构建）</a:t>
            </a:r>
            <a:r>
              <a:rPr lang="zh-CN" altLang="en-US" dirty="0"/>
              <a:t> </a:t>
            </a:r>
          </a:p>
        </p:txBody>
      </p:sp>
      <p:sp>
        <p:nvSpPr>
          <p:cNvPr id="4" name="Date Placeholder 3"/>
          <p:cNvSpPr>
            <a:spLocks noGrp="1"/>
          </p:cNvSpPr>
          <p:nvPr>
            <p:ph type="dt" sz="half" idx="10"/>
          </p:nvPr>
        </p:nvSpPr>
        <p:spPr/>
        <p:txBody>
          <a:bodyPr/>
          <a:lstStyle/>
          <a:p>
            <a:pPr>
              <a:defRPr/>
            </a:pPr>
            <a:fld id="{7953759C-5306-4EEB-BDA4-E4D9A60E9274}" type="datetime1">
              <a:rPr lang="zh-CN" altLang="en-US" smtClean="0"/>
              <a:t>2024/10/17</a:t>
            </a:fld>
            <a:endParaRPr lang="en-US" altLang="zh-CN" dirty="0"/>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43</a:t>
            </a:fld>
            <a:endParaRPr lang="en-US" altLang="zh-CN" dirty="0"/>
          </a:p>
        </p:txBody>
      </p:sp>
    </p:spTree>
    <p:extLst>
      <p:ext uri="{BB962C8B-B14F-4D97-AF65-F5344CB8AC3E}">
        <p14:creationId xmlns:p14="http://schemas.microsoft.com/office/powerpoint/2010/main" val="71147163"/>
      </p:ext>
    </p:extLst>
  </p:cSld>
  <p:clrMapOvr>
    <a:masterClrMapping/>
  </p:clrMapOvr>
  <p:transition spd="med">
    <p:pull dir="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zh-CN" altLang="en-US" dirty="0">
                <a:latin typeface="楷体" panose="02010609060101010101" pitchFamily="49" charset="-122"/>
              </a:rPr>
              <a:t>创建子类对象时，子类总是按</a:t>
            </a:r>
            <a:r>
              <a:rPr lang="zh-CN" altLang="en-US" dirty="0">
                <a:solidFill>
                  <a:srgbClr val="FF0000"/>
                </a:solidFill>
                <a:latin typeface="楷体" panose="02010609060101010101" pitchFamily="49" charset="-122"/>
              </a:rPr>
              <a:t>层次结构从上到下</a:t>
            </a:r>
            <a:r>
              <a:rPr lang="zh-CN" altLang="en-US" dirty="0">
                <a:latin typeface="楷体" panose="02010609060101010101" pitchFamily="49" charset="-122"/>
              </a:rPr>
              <a:t>的顺序调用所有超类的构造函数。</a:t>
            </a:r>
            <a:endParaRPr lang="en-US" altLang="zh-CN" dirty="0">
              <a:latin typeface="楷体" panose="02010609060101010101" pitchFamily="49" charset="-122"/>
            </a:endParaRPr>
          </a:p>
          <a:p>
            <a:r>
              <a:rPr lang="zh-CN" altLang="en-US" dirty="0">
                <a:latin typeface="楷体" panose="02010609060101010101" pitchFamily="49" charset="-122"/>
              </a:rPr>
              <a:t>如果父类没有不带参数的构造方法，则在子类的构造方法中必须明确的告诉调用父类的某个带参数的构造方法，通过</a:t>
            </a:r>
            <a:r>
              <a:rPr lang="en-US" altLang="zh-CN" dirty="0">
                <a:solidFill>
                  <a:srgbClr val="FF0000"/>
                </a:solidFill>
                <a:latin typeface="楷体" panose="02010609060101010101" pitchFamily="49" charset="-122"/>
              </a:rPr>
              <a:t>super</a:t>
            </a:r>
            <a:r>
              <a:rPr lang="zh-CN" altLang="en-US" dirty="0">
                <a:solidFill>
                  <a:srgbClr val="FF0000"/>
                </a:solidFill>
                <a:latin typeface="楷体" panose="02010609060101010101" pitchFamily="49" charset="-122"/>
              </a:rPr>
              <a:t>关键字</a:t>
            </a:r>
            <a:r>
              <a:rPr lang="zh-CN" altLang="en-US" dirty="0">
                <a:latin typeface="楷体" panose="02010609060101010101" pitchFamily="49" charset="-122"/>
              </a:rPr>
              <a:t>，这条语句还必须出现在构造方法的第一句。</a:t>
            </a:r>
          </a:p>
          <a:p>
            <a:endParaRPr lang="en-US" altLang="zh-CN" dirty="0">
              <a:latin typeface="楷体" panose="02010609060101010101" pitchFamily="49" charset="-122"/>
            </a:endParaRPr>
          </a:p>
          <a:p>
            <a:endParaRPr lang="en-US" altLang="zh-CN" dirty="0">
              <a:latin typeface="楷体" panose="02010609060101010101" pitchFamily="49" charset="-122"/>
            </a:endParaRPr>
          </a:p>
          <a:p>
            <a:endParaRPr lang="zh-CN" altLang="en-US" dirty="0"/>
          </a:p>
        </p:txBody>
      </p:sp>
      <p:sp>
        <p:nvSpPr>
          <p:cNvPr id="3" name="Title 2"/>
          <p:cNvSpPr>
            <a:spLocks noGrp="1"/>
          </p:cNvSpPr>
          <p:nvPr>
            <p:ph type="title"/>
          </p:nvPr>
        </p:nvSpPr>
        <p:spPr/>
        <p:txBody>
          <a:bodyPr/>
          <a:lstStyle/>
          <a:p>
            <a:r>
              <a:rPr lang="zh-CN" altLang="en-US" b="1" dirty="0"/>
              <a:t>子类对象的生成</a:t>
            </a:r>
            <a:r>
              <a:rPr lang="en-US" altLang="zh-CN" b="1" dirty="0"/>
              <a:t>(</a:t>
            </a:r>
            <a:r>
              <a:rPr lang="zh-CN" altLang="en-US" b="1" dirty="0"/>
              <a:t>构造函数的调用顺序</a:t>
            </a:r>
            <a:r>
              <a:rPr lang="en-US" altLang="zh-CN" b="1" dirty="0"/>
              <a:t>)</a:t>
            </a:r>
            <a:endParaRPr lang="zh-CN" altLang="en-US" dirty="0"/>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44</a:t>
            </a:fld>
            <a:endParaRPr lang="en-US" altLang="zh-CN"/>
          </a:p>
        </p:txBody>
      </p:sp>
    </p:spTree>
    <p:extLst>
      <p:ext uri="{BB962C8B-B14F-4D97-AF65-F5344CB8AC3E}">
        <p14:creationId xmlns:p14="http://schemas.microsoft.com/office/powerpoint/2010/main" val="3034564093"/>
      </p:ext>
    </p:extLst>
  </p:cSld>
  <p:clrMapOvr>
    <a:masterClrMapping/>
  </p:clrMapOvr>
  <p:transition spd="med">
    <p:pull dir="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子类对象的创建</a:t>
            </a:r>
            <a:r>
              <a:rPr lang="en-US" altLang="zh-CN" dirty="0"/>
              <a:t>-</a:t>
            </a:r>
            <a:r>
              <a:rPr lang="zh-CN" altLang="en-US" dirty="0"/>
              <a:t>父类对象</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45</a:t>
            </a:fld>
            <a:endParaRPr lang="en-US" altLang="zh-CN"/>
          </a:p>
        </p:txBody>
      </p:sp>
      <p:pic>
        <p:nvPicPr>
          <p:cNvPr id="7" name="Picture 6">
            <a:extLst>
              <a:ext uri="{FF2B5EF4-FFF2-40B4-BE49-F238E27FC236}">
                <a16:creationId xmlns:a16="http://schemas.microsoft.com/office/drawing/2014/main" id="{FB921C81-2567-DE91-E805-2AF85420B4A6}"/>
              </a:ext>
            </a:extLst>
          </p:cNvPr>
          <p:cNvPicPr>
            <a:picLocks noChangeAspect="1"/>
          </p:cNvPicPr>
          <p:nvPr/>
        </p:nvPicPr>
        <p:blipFill>
          <a:blip r:embed="rId2"/>
          <a:stretch>
            <a:fillRect/>
          </a:stretch>
        </p:blipFill>
        <p:spPr>
          <a:xfrm>
            <a:off x="107504" y="1310290"/>
            <a:ext cx="8786505" cy="3283694"/>
          </a:xfrm>
          <a:prstGeom prst="rect">
            <a:avLst/>
          </a:prstGeom>
        </p:spPr>
      </p:pic>
    </p:spTree>
    <p:extLst>
      <p:ext uri="{BB962C8B-B14F-4D97-AF65-F5344CB8AC3E}">
        <p14:creationId xmlns:p14="http://schemas.microsoft.com/office/powerpoint/2010/main" val="887346847"/>
      </p:ext>
    </p:extLst>
  </p:cSld>
  <p:clrMapOvr>
    <a:masterClrMapping/>
  </p:clrMapOvr>
  <p:transition spd="med">
    <p:pull dir="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子类对象的创建</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46</a:t>
            </a:fld>
            <a:endParaRPr lang="en-US" altLang="zh-CN"/>
          </a:p>
        </p:txBody>
      </p:sp>
      <p:pic>
        <p:nvPicPr>
          <p:cNvPr id="9" name="Picture 8">
            <a:extLst>
              <a:ext uri="{FF2B5EF4-FFF2-40B4-BE49-F238E27FC236}">
                <a16:creationId xmlns:a16="http://schemas.microsoft.com/office/drawing/2014/main" id="{69E7EA3A-A70D-DB71-E3E9-A3F04422DF38}"/>
              </a:ext>
            </a:extLst>
          </p:cNvPr>
          <p:cNvPicPr>
            <a:picLocks noChangeAspect="1"/>
          </p:cNvPicPr>
          <p:nvPr/>
        </p:nvPicPr>
        <p:blipFill>
          <a:blip r:embed="rId2"/>
          <a:stretch>
            <a:fillRect/>
          </a:stretch>
        </p:blipFill>
        <p:spPr>
          <a:xfrm>
            <a:off x="876300" y="704396"/>
            <a:ext cx="7391400" cy="6108980"/>
          </a:xfrm>
          <a:prstGeom prst="rect">
            <a:avLst/>
          </a:prstGeom>
        </p:spPr>
      </p:pic>
      <p:sp>
        <p:nvSpPr>
          <p:cNvPr id="10" name="Rectangle 9">
            <a:extLst>
              <a:ext uri="{FF2B5EF4-FFF2-40B4-BE49-F238E27FC236}">
                <a16:creationId xmlns:a16="http://schemas.microsoft.com/office/drawing/2014/main" id="{6E26E25E-6474-7558-4F45-F66FBA70AF06}"/>
              </a:ext>
            </a:extLst>
          </p:cNvPr>
          <p:cNvSpPr/>
          <p:nvPr/>
        </p:nvSpPr>
        <p:spPr>
          <a:xfrm>
            <a:off x="3657600" y="3124200"/>
            <a:ext cx="5029200" cy="1447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Animal's Constructor 2 is running!</a:t>
            </a:r>
          </a:p>
          <a:p>
            <a:r>
              <a:rPr lang="en-US" sz="2400" dirty="0">
                <a:solidFill>
                  <a:schemeClr val="tx1"/>
                </a:solidFill>
              </a:rPr>
              <a:t>Deer's constructor 1 is running</a:t>
            </a:r>
          </a:p>
          <a:p>
            <a:r>
              <a:rPr lang="en-US" sz="2400" dirty="0">
                <a:solidFill>
                  <a:schemeClr val="tx1"/>
                </a:solidFill>
              </a:rPr>
              <a:t>My name is little deer</a:t>
            </a:r>
          </a:p>
        </p:txBody>
      </p:sp>
    </p:spTree>
    <p:extLst>
      <p:ext uri="{BB962C8B-B14F-4D97-AF65-F5344CB8AC3E}">
        <p14:creationId xmlns:p14="http://schemas.microsoft.com/office/powerpoint/2010/main" val="1179715004"/>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子类对象的创建</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47</a:t>
            </a:fld>
            <a:endParaRPr lang="en-US" altLang="zh-CN"/>
          </a:p>
        </p:txBody>
      </p:sp>
      <p:pic>
        <p:nvPicPr>
          <p:cNvPr id="2" name="Picture 1">
            <a:extLst>
              <a:ext uri="{FF2B5EF4-FFF2-40B4-BE49-F238E27FC236}">
                <a16:creationId xmlns:a16="http://schemas.microsoft.com/office/drawing/2014/main" id="{56BE8A54-21EE-E9ED-2199-1E1137925766}"/>
              </a:ext>
            </a:extLst>
          </p:cNvPr>
          <p:cNvPicPr>
            <a:picLocks noChangeAspect="1"/>
          </p:cNvPicPr>
          <p:nvPr/>
        </p:nvPicPr>
        <p:blipFill>
          <a:blip r:embed="rId2"/>
          <a:stretch>
            <a:fillRect/>
          </a:stretch>
        </p:blipFill>
        <p:spPr>
          <a:xfrm>
            <a:off x="914400" y="762000"/>
            <a:ext cx="7222568" cy="6003472"/>
          </a:xfrm>
          <a:prstGeom prst="rect">
            <a:avLst/>
          </a:prstGeom>
        </p:spPr>
      </p:pic>
      <p:sp>
        <p:nvSpPr>
          <p:cNvPr id="10" name="Rectangle 9">
            <a:extLst>
              <a:ext uri="{FF2B5EF4-FFF2-40B4-BE49-F238E27FC236}">
                <a16:creationId xmlns:a16="http://schemas.microsoft.com/office/drawing/2014/main" id="{6E26E25E-6474-7558-4F45-F66FBA70AF06}"/>
              </a:ext>
            </a:extLst>
          </p:cNvPr>
          <p:cNvSpPr/>
          <p:nvPr/>
        </p:nvSpPr>
        <p:spPr>
          <a:xfrm>
            <a:off x="3657600" y="3124200"/>
            <a:ext cx="5029200" cy="1447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Animal's Constructor 2 is running!</a:t>
            </a:r>
          </a:p>
          <a:p>
            <a:r>
              <a:rPr lang="en-US" sz="2400" dirty="0">
                <a:solidFill>
                  <a:schemeClr val="tx1"/>
                </a:solidFill>
              </a:rPr>
              <a:t>Deer's constructor 1 is running</a:t>
            </a:r>
          </a:p>
          <a:p>
            <a:r>
              <a:rPr lang="en-US" sz="2400" dirty="0">
                <a:solidFill>
                  <a:schemeClr val="tx1"/>
                </a:solidFill>
              </a:rPr>
              <a:t>Deer's constructor 2 is running</a:t>
            </a:r>
          </a:p>
          <a:p>
            <a:r>
              <a:rPr lang="en-US" sz="2400" dirty="0">
                <a:solidFill>
                  <a:schemeClr val="tx1"/>
                </a:solidFill>
              </a:rPr>
              <a:t>My name is little deer</a:t>
            </a:r>
          </a:p>
        </p:txBody>
      </p:sp>
    </p:spTree>
    <p:extLst>
      <p:ext uri="{BB962C8B-B14F-4D97-AF65-F5344CB8AC3E}">
        <p14:creationId xmlns:p14="http://schemas.microsoft.com/office/powerpoint/2010/main" val="2320285763"/>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9EF9F-F9D5-BAD0-A547-9E8B69A9F10E}"/>
              </a:ext>
            </a:extLst>
          </p:cNvPr>
          <p:cNvSpPr>
            <a:spLocks noGrp="1"/>
          </p:cNvSpPr>
          <p:nvPr>
            <p:ph type="title"/>
          </p:nvPr>
        </p:nvSpPr>
        <p:spPr/>
        <p:txBody>
          <a:bodyPr>
            <a:normAutofit/>
          </a:bodyPr>
          <a:lstStyle/>
          <a:p>
            <a:r>
              <a:rPr lang="zh-CN" altLang="en-US" dirty="0"/>
              <a:t>子类对象的创建</a:t>
            </a:r>
            <a:endParaRPr lang="en-US" dirty="0"/>
          </a:p>
        </p:txBody>
      </p:sp>
      <p:sp>
        <p:nvSpPr>
          <p:cNvPr id="4" name="Date Placeholder 3">
            <a:extLst>
              <a:ext uri="{FF2B5EF4-FFF2-40B4-BE49-F238E27FC236}">
                <a16:creationId xmlns:a16="http://schemas.microsoft.com/office/drawing/2014/main" id="{73939FAC-22CA-EFC3-2896-3B70A746BB6A}"/>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948B78C-2DEE-9804-1F96-146D78CA7A16}"/>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C38A50F7-65C5-E4DE-9E91-44954A439F20}"/>
              </a:ext>
            </a:extLst>
          </p:cNvPr>
          <p:cNvSpPr>
            <a:spLocks noGrp="1"/>
          </p:cNvSpPr>
          <p:nvPr>
            <p:ph type="sldNum" sz="quarter" idx="12"/>
          </p:nvPr>
        </p:nvSpPr>
        <p:spPr/>
        <p:txBody>
          <a:bodyPr/>
          <a:lstStyle/>
          <a:p>
            <a:pPr>
              <a:defRPr/>
            </a:pPr>
            <a:fld id="{F7C8A414-E22E-4DF8-8FC5-FF8056582F45}" type="slidenum">
              <a:rPr lang="en-US" altLang="zh-CN" smtClean="0"/>
              <a:pPr>
                <a:defRPr/>
              </a:pPr>
              <a:t>48</a:t>
            </a:fld>
            <a:endParaRPr lang="en-US" altLang="zh-CN"/>
          </a:p>
        </p:txBody>
      </p:sp>
      <p:pic>
        <p:nvPicPr>
          <p:cNvPr id="8" name="Picture 7">
            <a:extLst>
              <a:ext uri="{FF2B5EF4-FFF2-40B4-BE49-F238E27FC236}">
                <a16:creationId xmlns:a16="http://schemas.microsoft.com/office/drawing/2014/main" id="{651605AA-D4C8-1C56-209C-440A884F2528}"/>
              </a:ext>
            </a:extLst>
          </p:cNvPr>
          <p:cNvPicPr>
            <a:picLocks noChangeAspect="1"/>
          </p:cNvPicPr>
          <p:nvPr/>
        </p:nvPicPr>
        <p:blipFill>
          <a:blip r:embed="rId2"/>
          <a:stretch>
            <a:fillRect/>
          </a:stretch>
        </p:blipFill>
        <p:spPr>
          <a:xfrm>
            <a:off x="914400" y="759214"/>
            <a:ext cx="7391400" cy="6098786"/>
          </a:xfrm>
          <a:prstGeom prst="rect">
            <a:avLst/>
          </a:prstGeom>
        </p:spPr>
      </p:pic>
      <p:sp>
        <p:nvSpPr>
          <p:cNvPr id="10" name="Rectangle 9">
            <a:extLst>
              <a:ext uri="{FF2B5EF4-FFF2-40B4-BE49-F238E27FC236}">
                <a16:creationId xmlns:a16="http://schemas.microsoft.com/office/drawing/2014/main" id="{6E26E25E-6474-7558-4F45-F66FBA70AF06}"/>
              </a:ext>
            </a:extLst>
          </p:cNvPr>
          <p:cNvSpPr/>
          <p:nvPr/>
        </p:nvSpPr>
        <p:spPr>
          <a:xfrm>
            <a:off x="3657600" y="3429000"/>
            <a:ext cx="5029200" cy="114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Animal's Constructor 1 is running!</a:t>
            </a:r>
          </a:p>
          <a:p>
            <a:r>
              <a:rPr lang="en-US" sz="2400" dirty="0">
                <a:solidFill>
                  <a:schemeClr val="tx1"/>
                </a:solidFill>
              </a:rPr>
              <a:t>Deer's constructor 2 is running</a:t>
            </a:r>
          </a:p>
          <a:p>
            <a:r>
              <a:rPr lang="en-US" sz="2400" dirty="0">
                <a:solidFill>
                  <a:schemeClr val="tx1"/>
                </a:solidFill>
              </a:rPr>
              <a:t>My name is little deer</a:t>
            </a:r>
          </a:p>
        </p:txBody>
      </p:sp>
    </p:spTree>
    <p:extLst>
      <p:ext uri="{BB962C8B-B14F-4D97-AF65-F5344CB8AC3E}">
        <p14:creationId xmlns:p14="http://schemas.microsoft.com/office/powerpoint/2010/main" val="3140414065"/>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Date Placeholder 1"/>
          <p:cNvSpPr>
            <a:spLocks noGrp="1"/>
          </p:cNvSpPr>
          <p:nvPr>
            <p:ph type="dt"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fld id="{8D1655AF-D672-419E-A4E0-A243F3CD2DFC}" type="datetime1">
              <a:rPr lang="zh-CN" altLang="en-US" smtClean="0">
                <a:solidFill>
                  <a:srgbClr val="898989"/>
                </a:solidFill>
                <a:ea typeface="楷体" panose="02010609060101010101" pitchFamily="49" charset="-122"/>
              </a:rPr>
              <a:t>2024/10/17</a:t>
            </a:fld>
            <a:endParaRPr lang="en-US" altLang="zh-CN" dirty="0">
              <a:solidFill>
                <a:srgbClr val="898989"/>
              </a:solidFill>
              <a:ea typeface="楷体" panose="02010609060101010101" pitchFamily="49" charset="-122"/>
            </a:endParaRPr>
          </a:p>
        </p:txBody>
      </p:sp>
      <p:sp>
        <p:nvSpPr>
          <p:cNvPr id="3" name="Footer Placeholder 2"/>
          <p:cNvSpPr>
            <a:spLocks noGrp="1"/>
          </p:cNvSpPr>
          <p:nvPr>
            <p:ph type="ftr" sz="quarter" idx="4294967295"/>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fontAlgn="base">
              <a:spcBef>
                <a:spcPct val="0"/>
              </a:spcBef>
              <a:spcAft>
                <a:spcPct val="0"/>
              </a:spcAft>
              <a:defRPr>
                <a:solidFill>
                  <a:schemeClr val="tx1"/>
                </a:solidFill>
                <a:latin typeface="Times New Roman" pitchFamily="18" charset="0"/>
              </a:defRPr>
            </a:lvl6pPr>
            <a:lvl7pPr marL="2971800" indent="-228600" fontAlgn="base">
              <a:spcBef>
                <a:spcPct val="0"/>
              </a:spcBef>
              <a:spcAft>
                <a:spcPct val="0"/>
              </a:spcAft>
              <a:defRPr>
                <a:solidFill>
                  <a:schemeClr val="tx1"/>
                </a:solidFill>
                <a:latin typeface="Times New Roman" pitchFamily="18" charset="0"/>
              </a:defRPr>
            </a:lvl7pPr>
            <a:lvl8pPr marL="3429000" indent="-228600" fontAlgn="base">
              <a:spcBef>
                <a:spcPct val="0"/>
              </a:spcBef>
              <a:spcAft>
                <a:spcPct val="0"/>
              </a:spcAft>
              <a:defRPr>
                <a:solidFill>
                  <a:schemeClr val="tx1"/>
                </a:solidFill>
                <a:latin typeface="Times New Roman" pitchFamily="18" charset="0"/>
              </a:defRPr>
            </a:lvl8pPr>
            <a:lvl9pPr marL="3886200" indent="-228600" fontAlgn="base">
              <a:spcBef>
                <a:spcPct val="0"/>
              </a:spcBef>
              <a:spcAft>
                <a:spcPct val="0"/>
              </a:spcAft>
              <a:defRPr>
                <a:solidFill>
                  <a:schemeClr val="tx1"/>
                </a:solidFill>
                <a:latin typeface="Times New Roman" pitchFamily="18" charset="0"/>
              </a:defRPr>
            </a:lvl9pPr>
          </a:lstStyle>
          <a:p>
            <a:pPr>
              <a:defRPr/>
            </a:pPr>
            <a:r>
              <a:rPr lang="en-US" altLang="zh-CN" dirty="0">
                <a:solidFill>
                  <a:srgbClr val="898989"/>
                </a:solidFill>
                <a:ea typeface="楷体" panose="02010609060101010101" pitchFamily="49" charset="-122"/>
              </a:rPr>
              <a:t>Xiang Gao</a:t>
            </a:r>
          </a:p>
        </p:txBody>
      </p:sp>
      <p:sp>
        <p:nvSpPr>
          <p:cNvPr id="4" name="Slide Number Placeholder 3"/>
          <p:cNvSpPr>
            <a:spLocks noGrp="1"/>
          </p:cNvSpPr>
          <p:nvPr>
            <p:ph type="sldNum" sz="quarter" idx="4294967295"/>
          </p:nvPr>
        </p:nvSpPr>
        <p:spPr/>
        <p:txBody>
          <a:bodyPr/>
          <a:lstStyle/>
          <a:p>
            <a:pPr>
              <a:defRPr/>
            </a:pPr>
            <a:fld id="{B2E7A4B3-B9C0-4828-83B2-0D3BECF0A283}" type="slidenum">
              <a:rPr lang="uk-UA"/>
              <a:pPr>
                <a:defRPr/>
              </a:pPr>
              <a:t>49</a:t>
            </a:fld>
            <a:endParaRPr lang="uk-UA"/>
          </a:p>
        </p:txBody>
      </p:sp>
      <p:sp>
        <p:nvSpPr>
          <p:cNvPr id="5" name="Title 4"/>
          <p:cNvSpPr>
            <a:spLocks noGrp="1"/>
          </p:cNvSpPr>
          <p:nvPr>
            <p:ph type="title"/>
          </p:nvPr>
        </p:nvSpPr>
        <p:spPr>
          <a:xfrm>
            <a:off x="628650" y="2766218"/>
            <a:ext cx="7886700" cy="1325563"/>
          </a:xfrm>
        </p:spPr>
        <p:txBody>
          <a:bodyPr rtlCol="0">
            <a:normAutofit/>
          </a:bodyPr>
          <a:lstStyle/>
          <a:p>
            <a:r>
              <a:rPr lang="zh-CN" altLang="en-SG" b="1" i="0" dirty="0">
                <a:effectLst/>
                <a:latin typeface="PingFang SC"/>
              </a:rPr>
              <a:t>保护</a:t>
            </a:r>
            <a:r>
              <a:rPr lang="zh-CN" altLang="en-US" b="1" i="0" dirty="0">
                <a:effectLst/>
                <a:latin typeface="PingFang SC"/>
              </a:rPr>
              <a:t>成员的使用</a:t>
            </a:r>
          </a:p>
        </p:txBody>
      </p:sp>
      <p:sp>
        <p:nvSpPr>
          <p:cNvPr id="6" name="Text Placeholder 5"/>
          <p:cNvSpPr>
            <a:spLocks noGrp="1"/>
          </p:cNvSpPr>
          <p:nvPr>
            <p:ph type="body" sz="quarter" idx="13"/>
          </p:nvPr>
        </p:nvSpPr>
        <p:spPr>
          <a:xfrm>
            <a:off x="1905000" y="4851400"/>
            <a:ext cx="5334000" cy="365125"/>
          </a:xfrm>
        </p:spPr>
        <p:txBody>
          <a:bodyPr rtlCol="0">
            <a:normAutofit fontScale="92500" lnSpcReduction="10000"/>
          </a:bodyPr>
          <a:lstStyle/>
          <a:p>
            <a:pPr fontAlgn="auto">
              <a:spcAft>
                <a:spcPts val="0"/>
              </a:spcAft>
              <a:defRPr/>
            </a:pPr>
            <a:endParaRPr lang="zh-CN" altLang="en-US"/>
          </a:p>
        </p:txBody>
      </p:sp>
    </p:spTree>
    <p:extLst>
      <p:ext uri="{BB962C8B-B14F-4D97-AF65-F5344CB8AC3E}">
        <p14:creationId xmlns:p14="http://schemas.microsoft.com/office/powerpoint/2010/main" val="41924524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SG" dirty="0"/>
              <a:t>继承</a:t>
            </a:r>
            <a:r>
              <a:rPr lang="zh-CN" altLang="en-US" dirty="0"/>
              <a:t>中的访问权限</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50</a:t>
            </a:fld>
            <a:endParaRPr lang="en-US" altLang="zh-CN"/>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93" y="1295400"/>
            <a:ext cx="8001000" cy="3048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E6D6FB9-7BD0-9057-4801-523BB612BFB8}"/>
              </a:ext>
            </a:extLst>
          </p:cNvPr>
          <p:cNvSpPr/>
          <p:nvPr/>
        </p:nvSpPr>
        <p:spPr>
          <a:xfrm>
            <a:off x="5638800" y="1295400"/>
            <a:ext cx="1219200" cy="3276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9027875"/>
      </p:ext>
    </p:extLst>
  </p:cSld>
  <p:clrMapOvr>
    <a:masterClrMapping/>
  </p:clrMapOvr>
  <p:transition spd="med">
    <p:pull dir="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SG" dirty="0"/>
              <a:t>继承</a:t>
            </a:r>
            <a:r>
              <a:rPr lang="zh-CN" altLang="en-US" dirty="0"/>
              <a:t>中的访问权限</a:t>
            </a:r>
          </a:p>
        </p:txBody>
      </p:sp>
      <p:grpSp>
        <p:nvGrpSpPr>
          <p:cNvPr id="4" name="Group 3"/>
          <p:cNvGrpSpPr/>
          <p:nvPr/>
        </p:nvGrpSpPr>
        <p:grpSpPr>
          <a:xfrm>
            <a:off x="323850" y="1354755"/>
            <a:ext cx="8515350" cy="4335041"/>
            <a:chOff x="323850" y="1354755"/>
            <a:chExt cx="7943974" cy="4335041"/>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354755"/>
              <a:ext cx="6959600" cy="363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3362820" y="4212468"/>
              <a:ext cx="4905004" cy="1477328"/>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285750" indent="-285750">
                <a:buFont typeface="Arial" pitchFamily="34" charset="0"/>
                <a:buChar char="•"/>
                <a:defRPr/>
              </a:pPr>
              <a:r>
                <a:rPr lang="zh-CN" altLang="zh-CN" dirty="0">
                  <a:ea typeface="楷体" panose="02010609060101010101" pitchFamily="49" charset="-122"/>
                </a:rPr>
                <a:t>当</a:t>
              </a:r>
              <a:r>
                <a:rPr lang="zh-CN" altLang="en-US" dirty="0">
                  <a:ea typeface="楷体" panose="02010609060101010101" pitchFamily="49" charset="-122"/>
                </a:rPr>
                <a:t>子类</a:t>
              </a:r>
              <a:r>
                <a:rPr lang="zh-CN" altLang="zh-CN" dirty="0">
                  <a:ea typeface="楷体" panose="02010609060101010101" pitchFamily="49" charset="-122"/>
                </a:rPr>
                <a:t>和</a:t>
              </a:r>
              <a:r>
                <a:rPr lang="zh-CN" altLang="en-US" dirty="0">
                  <a:ea typeface="楷体" panose="02010609060101010101" pitchFamily="49" charset="-122"/>
                </a:rPr>
                <a:t>父</a:t>
              </a:r>
              <a:r>
                <a:rPr lang="zh-CN" altLang="zh-CN" dirty="0">
                  <a:ea typeface="楷体" panose="02010609060101010101" pitchFamily="49" charset="-122"/>
                </a:rPr>
                <a:t>类位于同一个包中：</a:t>
              </a:r>
              <a:r>
                <a:rPr lang="zh-CN" altLang="en-US" dirty="0">
                  <a:ea typeface="楷体" panose="02010609060101010101" pitchFamily="49" charset="-122"/>
                </a:rPr>
                <a:t>子</a:t>
              </a:r>
              <a:r>
                <a:rPr lang="zh-CN" altLang="zh-CN" dirty="0">
                  <a:ea typeface="楷体" panose="02010609060101010101" pitchFamily="49" charset="-122"/>
                </a:rPr>
                <a:t>类</a:t>
              </a:r>
              <a:r>
                <a:rPr lang="zh-CN" altLang="en-US" dirty="0">
                  <a:ea typeface="楷体" panose="02010609060101010101" pitchFamily="49" charset="-122"/>
                </a:rPr>
                <a:t>可以直接访问父类</a:t>
              </a:r>
              <a:r>
                <a:rPr lang="zh-CN" altLang="zh-CN" dirty="0">
                  <a:ea typeface="楷体" panose="02010609060101010101" pitchFamily="49" charset="-122"/>
                </a:rPr>
                <a:t>中</a:t>
              </a:r>
              <a:r>
                <a:rPr lang="en-US" altLang="zh-CN" dirty="0">
                  <a:ea typeface="楷体" panose="02010609060101010101" pitchFamily="49" charset="-122"/>
                </a:rPr>
                <a:t>public</a:t>
              </a:r>
              <a:r>
                <a:rPr lang="zh-CN" altLang="zh-CN" dirty="0">
                  <a:ea typeface="楷体" panose="02010609060101010101" pitchFamily="49" charset="-122"/>
                </a:rPr>
                <a:t>、</a:t>
              </a:r>
              <a:r>
                <a:rPr lang="en-US" altLang="zh-CN" dirty="0">
                  <a:ea typeface="楷体" panose="02010609060101010101" pitchFamily="49" charset="-122"/>
                </a:rPr>
                <a:t>protected</a:t>
              </a:r>
              <a:r>
                <a:rPr lang="zh-CN" altLang="zh-CN" dirty="0">
                  <a:ea typeface="楷体" panose="02010609060101010101" pitchFamily="49" charset="-122"/>
                </a:rPr>
                <a:t>和默认访问级别的成员变量和成员方法。</a:t>
              </a:r>
            </a:p>
            <a:p>
              <a:pPr marL="285750" indent="-285750">
                <a:buFont typeface="Arial" pitchFamily="34" charset="0"/>
                <a:buChar char="•"/>
                <a:defRPr/>
              </a:pPr>
              <a:r>
                <a:rPr lang="zh-CN" altLang="zh-CN" dirty="0">
                  <a:ea typeface="楷体" panose="02010609060101010101" pitchFamily="49" charset="-122"/>
                </a:rPr>
                <a:t>当</a:t>
              </a:r>
              <a:r>
                <a:rPr lang="zh-CN" altLang="en-US" dirty="0">
                  <a:ea typeface="楷体" panose="02010609060101010101" pitchFamily="49" charset="-122"/>
                </a:rPr>
                <a:t>子</a:t>
              </a:r>
              <a:r>
                <a:rPr lang="zh-CN" altLang="zh-CN" dirty="0">
                  <a:ea typeface="楷体" panose="02010609060101010101" pitchFamily="49" charset="-122"/>
                </a:rPr>
                <a:t>类和</a:t>
              </a:r>
              <a:r>
                <a:rPr lang="zh-CN" altLang="en-US" dirty="0">
                  <a:ea typeface="楷体" panose="02010609060101010101" pitchFamily="49" charset="-122"/>
                </a:rPr>
                <a:t>父</a:t>
              </a:r>
              <a:r>
                <a:rPr lang="zh-CN" altLang="zh-CN" dirty="0">
                  <a:ea typeface="楷体" panose="02010609060101010101" pitchFamily="49" charset="-122"/>
                </a:rPr>
                <a:t>类位于不同的包中：</a:t>
              </a:r>
              <a:r>
                <a:rPr lang="zh-CN" altLang="en-US" dirty="0">
                  <a:ea typeface="楷体" panose="02010609060101010101" pitchFamily="49" charset="-122"/>
                </a:rPr>
                <a:t>情况比较复杂，具体问题，具体分析。</a:t>
              </a:r>
            </a:p>
          </p:txBody>
        </p:sp>
      </p:grpSp>
      <p:sp>
        <p:nvSpPr>
          <p:cNvPr id="7" name="Date Placeholder 6"/>
          <p:cNvSpPr>
            <a:spLocks noGrp="1"/>
          </p:cNvSpPr>
          <p:nvPr>
            <p:ph type="dt" sz="half" idx="10"/>
          </p:nvPr>
        </p:nvSpPr>
        <p:spPr/>
        <p:txBody>
          <a:bodyPr/>
          <a:lstStyle/>
          <a:p>
            <a:pPr>
              <a:defRPr/>
            </a:pPr>
            <a:fld id="{7D52CD67-2E82-4515-8FC9-A35D24854DB2}" type="datetime1">
              <a:rPr lang="zh-CN" altLang="en-US" smtClean="0"/>
              <a:t>2024/10/17</a:t>
            </a:fld>
            <a:endParaRPr lang="en-US" altLang="zh-CN"/>
          </a:p>
        </p:txBody>
      </p:sp>
      <p:sp>
        <p:nvSpPr>
          <p:cNvPr id="8" name="Footer Placeholder 7"/>
          <p:cNvSpPr>
            <a:spLocks noGrp="1"/>
          </p:cNvSpPr>
          <p:nvPr>
            <p:ph type="ftr" sz="quarter" idx="11"/>
          </p:nvPr>
        </p:nvSpPr>
        <p:spPr/>
        <p:txBody>
          <a:bodyPr/>
          <a:lstStyle/>
          <a:p>
            <a:pPr>
              <a:defRPr/>
            </a:pPr>
            <a:r>
              <a:rPr lang="en-US" altLang="zh-CN" dirty="0"/>
              <a:t>Xiang Gao</a:t>
            </a:r>
          </a:p>
        </p:txBody>
      </p:sp>
      <p:sp>
        <p:nvSpPr>
          <p:cNvPr id="9" name="Slide Number Placeholder 8"/>
          <p:cNvSpPr>
            <a:spLocks noGrp="1"/>
          </p:cNvSpPr>
          <p:nvPr>
            <p:ph type="sldNum" sz="quarter" idx="12"/>
          </p:nvPr>
        </p:nvSpPr>
        <p:spPr/>
        <p:txBody>
          <a:bodyPr/>
          <a:lstStyle/>
          <a:p>
            <a:pPr>
              <a:defRPr/>
            </a:pPr>
            <a:fld id="{F7C8A414-E22E-4DF8-8FC5-FF8056582F45}" type="slidenum">
              <a:rPr lang="en-US" altLang="zh-CN" smtClean="0"/>
              <a:pPr>
                <a:defRPr/>
              </a:pPr>
              <a:t>51</a:t>
            </a:fld>
            <a:endParaRPr lang="en-US" altLang="zh-CN"/>
          </a:p>
        </p:txBody>
      </p:sp>
    </p:spTree>
    <p:extLst>
      <p:ext uri="{BB962C8B-B14F-4D97-AF65-F5344CB8AC3E}">
        <p14:creationId xmlns:p14="http://schemas.microsoft.com/office/powerpoint/2010/main" val="1105807150"/>
      </p:ext>
    </p:extLst>
  </p:cSld>
  <p:clrMapOvr>
    <a:masterClrMapping/>
  </p:clrMapOvr>
  <p:transition spd="med">
    <p:pull dir="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C6BBB2D-AA59-440B-B1C6-A1FF4DC50496}"/>
              </a:ext>
            </a:extLst>
          </p:cNvPr>
          <p:cNvSpPr>
            <a:spLocks noGrp="1"/>
          </p:cNvSpPr>
          <p:nvPr>
            <p:ph idx="1"/>
          </p:nvPr>
        </p:nvSpPr>
        <p:spPr/>
        <p:txBody>
          <a:bodyPr/>
          <a:lstStyle/>
          <a:p>
            <a:pPr algn="l">
              <a:buFont typeface="+mj-lt"/>
              <a:buAutoNum type="arabicPeriod"/>
            </a:pPr>
            <a:r>
              <a:rPr lang="zh-CN" altLang="en-US" sz="2800" i="0" dirty="0">
                <a:effectLst/>
                <a:latin typeface="-apple-system"/>
              </a:rPr>
              <a:t>父类的</a:t>
            </a:r>
            <a:r>
              <a:rPr lang="en-US" altLang="zh-CN" sz="2800" i="0" dirty="0">
                <a:effectLst/>
                <a:latin typeface="-apple-system"/>
              </a:rPr>
              <a:t>protected</a:t>
            </a:r>
            <a:r>
              <a:rPr lang="zh-CN" altLang="en-US" sz="2800" i="0" dirty="0">
                <a:effectLst/>
                <a:latin typeface="-apple-system"/>
              </a:rPr>
              <a:t>成员是</a:t>
            </a:r>
            <a:r>
              <a:rPr lang="zh-CN" altLang="en-US" sz="2800" i="0" dirty="0">
                <a:solidFill>
                  <a:srgbClr val="FF0000"/>
                </a:solidFill>
                <a:effectLst/>
                <a:latin typeface="-apple-system"/>
              </a:rPr>
              <a:t>包内可见的，并且对子类可见；</a:t>
            </a:r>
            <a:endParaRPr lang="en-US" altLang="zh-CN" sz="2800" dirty="0">
              <a:solidFill>
                <a:srgbClr val="FF0000"/>
              </a:solidFill>
              <a:latin typeface="-apple-system"/>
            </a:endParaRPr>
          </a:p>
          <a:p>
            <a:pPr algn="l">
              <a:buFont typeface="+mj-lt"/>
              <a:buAutoNum type="arabicPeriod"/>
            </a:pPr>
            <a:r>
              <a:rPr lang="zh-CN" altLang="en-US" sz="2800" i="0" dirty="0">
                <a:effectLst/>
                <a:latin typeface="-apple-system"/>
              </a:rPr>
              <a:t>若子类与父类不在同一包中，那么在子类中，</a:t>
            </a:r>
            <a:r>
              <a:rPr lang="zh-CN" altLang="en-US" sz="2800" i="0" dirty="0">
                <a:solidFill>
                  <a:srgbClr val="FF0000"/>
                </a:solidFill>
                <a:effectLst/>
                <a:latin typeface="-apple-system"/>
              </a:rPr>
              <a:t>子类实例可以访问其从父类继承而来的</a:t>
            </a:r>
            <a:r>
              <a:rPr lang="en-US" altLang="zh-CN" sz="2800" i="0" dirty="0">
                <a:solidFill>
                  <a:srgbClr val="FF0000"/>
                </a:solidFill>
                <a:effectLst/>
                <a:latin typeface="-apple-system"/>
              </a:rPr>
              <a:t>protected</a:t>
            </a:r>
            <a:r>
              <a:rPr lang="zh-CN" altLang="en-US" sz="2800" i="0" dirty="0">
                <a:solidFill>
                  <a:srgbClr val="FF0000"/>
                </a:solidFill>
                <a:effectLst/>
                <a:latin typeface="-apple-system"/>
              </a:rPr>
              <a:t>方法，而不能访问父类实例的</a:t>
            </a:r>
            <a:r>
              <a:rPr lang="en-US" altLang="zh-CN" sz="2800" i="0" dirty="0">
                <a:solidFill>
                  <a:srgbClr val="FF0000"/>
                </a:solidFill>
                <a:effectLst/>
                <a:latin typeface="-apple-system"/>
              </a:rPr>
              <a:t>protected</a:t>
            </a:r>
            <a:r>
              <a:rPr lang="zh-CN" altLang="en-US" sz="2800" i="0" dirty="0">
                <a:solidFill>
                  <a:srgbClr val="FF0000"/>
                </a:solidFill>
                <a:effectLst/>
                <a:latin typeface="-apple-system"/>
              </a:rPr>
              <a:t>方法。</a:t>
            </a:r>
            <a:endParaRPr lang="en-US" altLang="zh-CN" sz="2800" i="0" dirty="0">
              <a:solidFill>
                <a:srgbClr val="FF0000"/>
              </a:solidFill>
              <a:effectLst/>
              <a:latin typeface="-apple-system"/>
            </a:endParaRPr>
          </a:p>
        </p:txBody>
      </p:sp>
      <p:sp>
        <p:nvSpPr>
          <p:cNvPr id="3" name="标题 2">
            <a:extLst>
              <a:ext uri="{FF2B5EF4-FFF2-40B4-BE49-F238E27FC236}">
                <a16:creationId xmlns:a16="http://schemas.microsoft.com/office/drawing/2014/main" id="{87B87BBB-1961-4DD9-953D-16ACF22A3771}"/>
              </a:ext>
            </a:extLst>
          </p:cNvPr>
          <p:cNvSpPr>
            <a:spLocks noGrp="1"/>
          </p:cNvSpPr>
          <p:nvPr>
            <p:ph type="title"/>
          </p:nvPr>
        </p:nvSpPr>
        <p:spPr/>
        <p:txBody>
          <a:bodyPr/>
          <a:lstStyle/>
          <a:p>
            <a:r>
              <a:rPr lang="en-US" altLang="zh-CN" b="1" i="0" dirty="0">
                <a:effectLst/>
                <a:latin typeface="PingFang SC"/>
              </a:rPr>
              <a:t>Java</a:t>
            </a:r>
            <a:r>
              <a:rPr lang="zh-CN" altLang="en-US" b="1" i="0" dirty="0">
                <a:effectLst/>
                <a:latin typeface="PingFang SC"/>
              </a:rPr>
              <a:t>中的</a:t>
            </a:r>
            <a:r>
              <a:rPr lang="en-US" altLang="zh-CN" b="1" i="0" dirty="0">
                <a:effectLst/>
                <a:latin typeface="PingFang SC"/>
              </a:rPr>
              <a:t>protected</a:t>
            </a:r>
            <a:r>
              <a:rPr lang="zh-CN" altLang="en-US" b="1" i="0" dirty="0">
                <a:effectLst/>
                <a:latin typeface="PingFang SC"/>
              </a:rPr>
              <a:t>修饰符</a:t>
            </a:r>
            <a:endParaRPr lang="zh-CN" altLang="en-US" dirty="0"/>
          </a:p>
        </p:txBody>
      </p:sp>
    </p:spTree>
    <p:extLst>
      <p:ext uri="{BB962C8B-B14F-4D97-AF65-F5344CB8AC3E}">
        <p14:creationId xmlns:p14="http://schemas.microsoft.com/office/powerpoint/2010/main" val="961127808"/>
      </p:ext>
    </p:extLst>
  </p:cSld>
  <p:clrMapOvr>
    <a:masterClrMapping/>
  </p:clrMapOvr>
  <p:transition spd="med">
    <p:pull dir="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A435D7D-87A3-4A10-9320-EE132D69DBD9}"/>
              </a:ext>
            </a:extLst>
          </p:cNvPr>
          <p:cNvSpPr>
            <a:spLocks noGrp="1"/>
          </p:cNvSpPr>
          <p:nvPr>
            <p:ph type="title"/>
          </p:nvPr>
        </p:nvSpPr>
        <p:spPr/>
        <p:txBody>
          <a:bodyPr/>
          <a:lstStyle/>
          <a:p>
            <a:r>
              <a:rPr lang="zh-CN" altLang="en-US" dirty="0"/>
              <a:t>父类中</a:t>
            </a:r>
            <a:r>
              <a:rPr lang="en-US" altLang="zh-CN" dirty="0"/>
              <a:t>protected</a:t>
            </a:r>
            <a:r>
              <a:rPr lang="zh-CN" altLang="en-US" dirty="0"/>
              <a:t>成员函数</a:t>
            </a:r>
          </a:p>
        </p:txBody>
      </p:sp>
      <p:pic>
        <p:nvPicPr>
          <p:cNvPr id="4" name="Picture 3">
            <a:extLst>
              <a:ext uri="{FF2B5EF4-FFF2-40B4-BE49-F238E27FC236}">
                <a16:creationId xmlns:a16="http://schemas.microsoft.com/office/drawing/2014/main" id="{6289693D-186E-7CF2-BCCE-921F1BC80153}"/>
              </a:ext>
            </a:extLst>
          </p:cNvPr>
          <p:cNvPicPr>
            <a:picLocks noChangeAspect="1"/>
          </p:cNvPicPr>
          <p:nvPr/>
        </p:nvPicPr>
        <p:blipFill>
          <a:blip r:embed="rId2"/>
          <a:stretch>
            <a:fillRect/>
          </a:stretch>
        </p:blipFill>
        <p:spPr>
          <a:xfrm>
            <a:off x="134718" y="990600"/>
            <a:ext cx="8789831" cy="4572000"/>
          </a:xfrm>
          <a:prstGeom prst="rect">
            <a:avLst/>
          </a:prstGeom>
        </p:spPr>
      </p:pic>
    </p:spTree>
    <p:extLst>
      <p:ext uri="{BB962C8B-B14F-4D97-AF65-F5344CB8AC3E}">
        <p14:creationId xmlns:p14="http://schemas.microsoft.com/office/powerpoint/2010/main" val="3604573309"/>
      </p:ext>
    </p:extLst>
  </p:cSld>
  <p:clrMapOvr>
    <a:masterClrMapping/>
  </p:clrMapOvr>
  <p:transition spd="med">
    <p:pull dir="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EDF51FD-6F28-4B8D-BA0A-D64702830DD5}"/>
              </a:ext>
            </a:extLst>
          </p:cNvPr>
          <p:cNvSpPr>
            <a:spLocks noGrp="1"/>
          </p:cNvSpPr>
          <p:nvPr>
            <p:ph type="title"/>
          </p:nvPr>
        </p:nvSpPr>
        <p:spPr>
          <a:xfrm>
            <a:off x="0" y="74956"/>
            <a:ext cx="9341296" cy="634082"/>
          </a:xfrm>
        </p:spPr>
        <p:txBody>
          <a:bodyPr>
            <a:normAutofit/>
          </a:bodyPr>
          <a:lstStyle/>
          <a:p>
            <a:r>
              <a:rPr lang="zh-CN" altLang="en-US" b="1" i="0" dirty="0">
                <a:solidFill>
                  <a:srgbClr val="4F4F4F"/>
                </a:solidFill>
                <a:effectLst/>
                <a:latin typeface="PingFang SC"/>
              </a:rPr>
              <a:t>在子类中通过该子类引用可以访问其 </a:t>
            </a:r>
            <a:r>
              <a:rPr lang="en-US" altLang="zh-CN" b="1" i="0" dirty="0">
                <a:solidFill>
                  <a:srgbClr val="4F4F4F"/>
                </a:solidFill>
                <a:effectLst/>
                <a:latin typeface="PingFang SC"/>
              </a:rPr>
              <a:t>protected </a:t>
            </a:r>
            <a:r>
              <a:rPr lang="zh-CN" altLang="en-US" b="1" i="0" dirty="0">
                <a:solidFill>
                  <a:srgbClr val="4F4F4F"/>
                </a:solidFill>
                <a:effectLst/>
                <a:latin typeface="PingFang SC"/>
              </a:rPr>
              <a:t>方法</a:t>
            </a:r>
            <a:endParaRPr lang="zh-CN" altLang="en-US" dirty="0"/>
          </a:p>
        </p:txBody>
      </p:sp>
      <p:pic>
        <p:nvPicPr>
          <p:cNvPr id="4" name="Picture 3">
            <a:extLst>
              <a:ext uri="{FF2B5EF4-FFF2-40B4-BE49-F238E27FC236}">
                <a16:creationId xmlns:a16="http://schemas.microsoft.com/office/drawing/2014/main" id="{09E69ED9-9C2C-91CA-22CB-54139E33532B}"/>
              </a:ext>
            </a:extLst>
          </p:cNvPr>
          <p:cNvPicPr>
            <a:picLocks noChangeAspect="1"/>
          </p:cNvPicPr>
          <p:nvPr/>
        </p:nvPicPr>
        <p:blipFill>
          <a:blip r:embed="rId2"/>
          <a:stretch>
            <a:fillRect/>
          </a:stretch>
        </p:blipFill>
        <p:spPr>
          <a:xfrm>
            <a:off x="838200" y="735635"/>
            <a:ext cx="6851650" cy="4826965"/>
          </a:xfrm>
          <a:prstGeom prst="rect">
            <a:avLst/>
          </a:prstGeom>
        </p:spPr>
      </p:pic>
    </p:spTree>
    <p:extLst>
      <p:ext uri="{BB962C8B-B14F-4D97-AF65-F5344CB8AC3E}">
        <p14:creationId xmlns:p14="http://schemas.microsoft.com/office/powerpoint/2010/main" val="520246444"/>
      </p:ext>
    </p:extLst>
  </p:cSld>
  <p:clrMapOvr>
    <a:masterClrMapping/>
  </p:clrMapOvr>
  <p:transition spd="med">
    <p:pull dir="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EDF51FD-6F28-4B8D-BA0A-D64702830DD5}"/>
              </a:ext>
            </a:extLst>
          </p:cNvPr>
          <p:cNvSpPr>
            <a:spLocks noGrp="1"/>
          </p:cNvSpPr>
          <p:nvPr>
            <p:ph type="title"/>
          </p:nvPr>
        </p:nvSpPr>
        <p:spPr>
          <a:xfrm>
            <a:off x="0" y="74956"/>
            <a:ext cx="9341296" cy="634082"/>
          </a:xfrm>
        </p:spPr>
        <p:txBody>
          <a:bodyPr>
            <a:normAutofit fontScale="90000"/>
          </a:bodyPr>
          <a:lstStyle/>
          <a:p>
            <a:r>
              <a:rPr lang="zh-CN" altLang="en-US" b="1" i="0" dirty="0">
                <a:solidFill>
                  <a:srgbClr val="4F4F4F"/>
                </a:solidFill>
                <a:effectLst/>
                <a:latin typeface="PingFang SC"/>
              </a:rPr>
              <a:t>不同包下，在子类中通过该子类引用可以访问其 </a:t>
            </a:r>
            <a:r>
              <a:rPr lang="en-US" altLang="zh-CN" b="1" i="0" dirty="0">
                <a:solidFill>
                  <a:srgbClr val="4F4F4F"/>
                </a:solidFill>
                <a:effectLst/>
                <a:latin typeface="PingFang SC"/>
              </a:rPr>
              <a:t>protected </a:t>
            </a:r>
            <a:r>
              <a:rPr lang="zh-CN" altLang="en-US" b="1" i="0" dirty="0">
                <a:solidFill>
                  <a:srgbClr val="4F4F4F"/>
                </a:solidFill>
                <a:effectLst/>
                <a:latin typeface="PingFang SC"/>
              </a:rPr>
              <a:t>方法</a:t>
            </a:r>
            <a:endParaRPr lang="zh-CN" altLang="en-US" dirty="0"/>
          </a:p>
        </p:txBody>
      </p:sp>
      <p:sp>
        <p:nvSpPr>
          <p:cNvPr id="6" name="文本框 5">
            <a:extLst>
              <a:ext uri="{FF2B5EF4-FFF2-40B4-BE49-F238E27FC236}">
                <a16:creationId xmlns:a16="http://schemas.microsoft.com/office/drawing/2014/main" id="{3513A10E-835B-4355-9C4D-DE33D1E5B6CE}"/>
              </a:ext>
            </a:extLst>
          </p:cNvPr>
          <p:cNvSpPr txBox="1"/>
          <p:nvPr/>
        </p:nvSpPr>
        <p:spPr>
          <a:xfrm>
            <a:off x="304800" y="5562600"/>
            <a:ext cx="8534400" cy="1200329"/>
          </a:xfrm>
          <a:prstGeom prst="rect">
            <a:avLst/>
          </a:prstGeom>
          <a:noFill/>
          <a:ln>
            <a:solidFill>
              <a:srgbClr val="FF0000"/>
            </a:solidFill>
          </a:ln>
        </p:spPr>
        <p:txBody>
          <a:bodyPr wrap="square" rtlCol="0">
            <a:spAutoFit/>
          </a:bodyPr>
          <a:lstStyle/>
          <a:p>
            <a:r>
              <a:rPr lang="zh-CN" altLang="en-US" sz="2400" b="0" i="0" dirty="0">
                <a:solidFill>
                  <a:srgbClr val="4D4D4D"/>
                </a:solidFill>
                <a:effectLst/>
                <a:latin typeface="-apple-system"/>
                <a:ea typeface="楷体" panose="02010609060101010101" pitchFamily="49" charset="-122"/>
              </a:rPr>
              <a:t>子类中实际上把父类的方法继承下来了， 可以通过该子类对象访问， 也可以在子类方法中直接访问。</a:t>
            </a:r>
            <a:r>
              <a:rPr lang="zh-CN" altLang="en-US" sz="2400" b="0" i="0" dirty="0">
                <a:solidFill>
                  <a:srgbClr val="4D4D4D"/>
                </a:solidFill>
                <a:effectLst/>
                <a:highlight>
                  <a:srgbClr val="FFFF00"/>
                </a:highlight>
                <a:latin typeface="-apple-system"/>
                <a:ea typeface="楷体" panose="02010609060101010101" pitchFamily="49" charset="-122"/>
              </a:rPr>
              <a:t>还可以通过 </a:t>
            </a:r>
            <a:r>
              <a:rPr lang="en-US" altLang="zh-CN" sz="2400" b="0" i="0" dirty="0">
                <a:solidFill>
                  <a:srgbClr val="4D4D4D"/>
                </a:solidFill>
                <a:effectLst/>
                <a:highlight>
                  <a:srgbClr val="FFFF00"/>
                </a:highlight>
                <a:latin typeface="-apple-system"/>
                <a:ea typeface="楷体" panose="02010609060101010101" pitchFamily="49" charset="-122"/>
              </a:rPr>
              <a:t>super </a:t>
            </a:r>
            <a:r>
              <a:rPr lang="zh-CN" altLang="en-US" sz="2400" b="0" i="0" dirty="0">
                <a:solidFill>
                  <a:srgbClr val="4D4D4D"/>
                </a:solidFill>
                <a:effectLst/>
                <a:highlight>
                  <a:srgbClr val="FFFF00"/>
                </a:highlight>
                <a:latin typeface="-apple-system"/>
                <a:ea typeface="楷体" panose="02010609060101010101" pitchFamily="49" charset="-122"/>
              </a:rPr>
              <a:t>关键字调用父类中的该方法。</a:t>
            </a:r>
            <a:endParaRPr lang="zh-CN" altLang="en-US" sz="2400" dirty="0">
              <a:highlight>
                <a:srgbClr val="FFFF00"/>
              </a:highlight>
              <a:ea typeface="楷体" panose="02010609060101010101" pitchFamily="49" charset="-122"/>
            </a:endParaRPr>
          </a:p>
        </p:txBody>
      </p:sp>
      <p:pic>
        <p:nvPicPr>
          <p:cNvPr id="2" name="Picture 1">
            <a:extLst>
              <a:ext uri="{FF2B5EF4-FFF2-40B4-BE49-F238E27FC236}">
                <a16:creationId xmlns:a16="http://schemas.microsoft.com/office/drawing/2014/main" id="{B8CA062F-0E05-7D3D-FB18-72D7C513FD3C}"/>
              </a:ext>
            </a:extLst>
          </p:cNvPr>
          <p:cNvPicPr>
            <a:picLocks noChangeAspect="1"/>
          </p:cNvPicPr>
          <p:nvPr/>
        </p:nvPicPr>
        <p:blipFill>
          <a:blip r:embed="rId2"/>
          <a:stretch>
            <a:fillRect/>
          </a:stretch>
        </p:blipFill>
        <p:spPr>
          <a:xfrm>
            <a:off x="1631950" y="711200"/>
            <a:ext cx="5880100" cy="4851400"/>
          </a:xfrm>
          <a:prstGeom prst="rect">
            <a:avLst/>
          </a:prstGeom>
        </p:spPr>
      </p:pic>
    </p:spTree>
    <p:extLst>
      <p:ext uri="{BB962C8B-B14F-4D97-AF65-F5344CB8AC3E}">
        <p14:creationId xmlns:p14="http://schemas.microsoft.com/office/powerpoint/2010/main" val="2865042292"/>
      </p:ext>
    </p:extLst>
  </p:cSld>
  <p:clrMapOvr>
    <a:masterClrMapping/>
  </p:clrMapOvr>
  <p:transition spd="med">
    <p:pull dir="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DE1FE8E-7712-4A35-B5D3-64FC5926E53B}"/>
              </a:ext>
            </a:extLst>
          </p:cNvPr>
          <p:cNvSpPr>
            <a:spLocks noGrp="1"/>
          </p:cNvSpPr>
          <p:nvPr>
            <p:ph type="title"/>
          </p:nvPr>
        </p:nvSpPr>
        <p:spPr>
          <a:xfrm>
            <a:off x="0" y="0"/>
            <a:ext cx="9265096" cy="634082"/>
          </a:xfrm>
        </p:spPr>
        <p:txBody>
          <a:bodyPr>
            <a:normAutofit fontScale="90000"/>
          </a:bodyPr>
          <a:lstStyle/>
          <a:p>
            <a:r>
              <a:rPr lang="zh-CN" altLang="en-US" b="1" i="0" dirty="0">
                <a:solidFill>
                  <a:srgbClr val="4F4F4F"/>
                </a:solidFill>
                <a:effectLst/>
                <a:highlight>
                  <a:srgbClr val="FFFF00"/>
                </a:highlight>
                <a:latin typeface="PingFang SC"/>
              </a:rPr>
              <a:t>不同包下，</a:t>
            </a:r>
            <a:r>
              <a:rPr lang="zh-CN" altLang="en-US" b="1" i="0" dirty="0">
                <a:solidFill>
                  <a:srgbClr val="4F4F4F"/>
                </a:solidFill>
                <a:effectLst/>
                <a:latin typeface="PingFang SC"/>
              </a:rPr>
              <a:t>在子类中通过父类引用不可以访问其 </a:t>
            </a:r>
            <a:r>
              <a:rPr lang="en-US" altLang="zh-CN" b="1" i="0" dirty="0">
                <a:solidFill>
                  <a:srgbClr val="4F4F4F"/>
                </a:solidFill>
                <a:effectLst/>
                <a:latin typeface="PingFang SC"/>
              </a:rPr>
              <a:t>protected</a:t>
            </a:r>
            <a:r>
              <a:rPr lang="zh-CN" altLang="en-US" b="1" i="0" dirty="0">
                <a:solidFill>
                  <a:srgbClr val="4F4F4F"/>
                </a:solidFill>
                <a:effectLst/>
                <a:latin typeface="PingFang SC"/>
              </a:rPr>
              <a:t>方法</a:t>
            </a:r>
            <a:endParaRPr lang="zh-CN" altLang="en-US" dirty="0"/>
          </a:p>
        </p:txBody>
      </p:sp>
      <p:pic>
        <p:nvPicPr>
          <p:cNvPr id="4" name="Picture 3">
            <a:extLst>
              <a:ext uri="{FF2B5EF4-FFF2-40B4-BE49-F238E27FC236}">
                <a16:creationId xmlns:a16="http://schemas.microsoft.com/office/drawing/2014/main" id="{5F95FD60-F38A-D9BB-B133-BD284D6E2BCA}"/>
              </a:ext>
            </a:extLst>
          </p:cNvPr>
          <p:cNvPicPr>
            <a:picLocks noChangeAspect="1"/>
          </p:cNvPicPr>
          <p:nvPr/>
        </p:nvPicPr>
        <p:blipFill>
          <a:blip r:embed="rId2"/>
          <a:stretch>
            <a:fillRect/>
          </a:stretch>
        </p:blipFill>
        <p:spPr>
          <a:xfrm>
            <a:off x="1266825" y="858930"/>
            <a:ext cx="6610350" cy="5999070"/>
          </a:xfrm>
          <a:prstGeom prst="rect">
            <a:avLst/>
          </a:prstGeom>
        </p:spPr>
      </p:pic>
      <p:cxnSp>
        <p:nvCxnSpPr>
          <p:cNvPr id="7" name="Straight Connector 6">
            <a:extLst>
              <a:ext uri="{FF2B5EF4-FFF2-40B4-BE49-F238E27FC236}">
                <a16:creationId xmlns:a16="http://schemas.microsoft.com/office/drawing/2014/main" id="{75B6747B-AEE3-F97D-03C5-7931F6336435}"/>
              </a:ext>
            </a:extLst>
          </p:cNvPr>
          <p:cNvCxnSpPr/>
          <p:nvPr/>
        </p:nvCxnSpPr>
        <p:spPr>
          <a:xfrm>
            <a:off x="2286000" y="4876800"/>
            <a:ext cx="2895600"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1D640E2-C95E-B155-ABD7-1C4EBC399886}"/>
              </a:ext>
            </a:extLst>
          </p:cNvPr>
          <p:cNvCxnSpPr/>
          <p:nvPr/>
        </p:nvCxnSpPr>
        <p:spPr>
          <a:xfrm>
            <a:off x="2286000" y="4191000"/>
            <a:ext cx="2895600" cy="0"/>
          </a:xfrm>
          <a:prstGeom prst="line">
            <a:avLst/>
          </a:prstGeom>
          <a:ln w="34925">
            <a:solidFill>
              <a:srgbClr val="00B050"/>
            </a:solidFill>
          </a:ln>
        </p:spPr>
        <p:style>
          <a:lnRef idx="1">
            <a:schemeClr val="accent1"/>
          </a:lnRef>
          <a:fillRef idx="0">
            <a:schemeClr val="accent1"/>
          </a:fillRef>
          <a:effectRef idx="0">
            <a:schemeClr val="accent1"/>
          </a:effectRef>
          <a:fontRef idx="minor">
            <a:schemeClr val="tx1"/>
          </a:fontRef>
        </p:style>
      </p:cxnSp>
      <p:sp>
        <p:nvSpPr>
          <p:cNvPr id="9" name="Multiply 8">
            <a:extLst>
              <a:ext uri="{FF2B5EF4-FFF2-40B4-BE49-F238E27FC236}">
                <a16:creationId xmlns:a16="http://schemas.microsoft.com/office/drawing/2014/main" id="{434B1336-A753-1E2B-CDE3-C782AECF8C84}"/>
              </a:ext>
            </a:extLst>
          </p:cNvPr>
          <p:cNvSpPr/>
          <p:nvPr/>
        </p:nvSpPr>
        <p:spPr>
          <a:xfrm>
            <a:off x="5187043" y="4610100"/>
            <a:ext cx="533400" cy="533400"/>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6186187"/>
      </p:ext>
    </p:extLst>
  </p:cSld>
  <p:clrMapOvr>
    <a:masterClrMapping/>
  </p:clrMapOvr>
  <p:transition spd="med">
    <p:pull dir="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C6BBB2D-AA59-440B-B1C6-A1FF4DC50496}"/>
              </a:ext>
            </a:extLst>
          </p:cNvPr>
          <p:cNvSpPr>
            <a:spLocks noGrp="1"/>
          </p:cNvSpPr>
          <p:nvPr>
            <p:ph idx="1"/>
          </p:nvPr>
        </p:nvSpPr>
        <p:spPr>
          <a:xfrm>
            <a:off x="457200" y="908720"/>
            <a:ext cx="8229600" cy="5339680"/>
          </a:xfrm>
        </p:spPr>
        <p:txBody>
          <a:bodyPr>
            <a:normAutofit/>
          </a:bodyPr>
          <a:lstStyle/>
          <a:p>
            <a:pPr algn="l">
              <a:buFont typeface="+mj-lt"/>
              <a:buAutoNum type="arabicPeriod"/>
            </a:pPr>
            <a:r>
              <a:rPr lang="zh-CN" altLang="en-US" sz="2800" i="0" dirty="0">
                <a:effectLst/>
                <a:latin typeface="-apple-system"/>
              </a:rPr>
              <a:t>父类的</a:t>
            </a:r>
            <a:r>
              <a:rPr lang="en-US" altLang="zh-CN" sz="2800" i="0" dirty="0">
                <a:effectLst/>
                <a:latin typeface="-apple-system"/>
              </a:rPr>
              <a:t>protected</a:t>
            </a:r>
            <a:r>
              <a:rPr lang="zh-CN" altLang="en-US" sz="2800" i="0" dirty="0">
                <a:effectLst/>
                <a:latin typeface="-apple-system"/>
              </a:rPr>
              <a:t>成员是</a:t>
            </a:r>
            <a:r>
              <a:rPr lang="zh-CN" altLang="en-US" sz="2800" i="0" dirty="0">
                <a:solidFill>
                  <a:srgbClr val="FF0000"/>
                </a:solidFill>
                <a:effectLst/>
                <a:latin typeface="-apple-system"/>
              </a:rPr>
              <a:t>包内可见的，并且对子类可见；</a:t>
            </a:r>
            <a:endParaRPr lang="en-US" altLang="zh-CN" sz="2800" dirty="0">
              <a:solidFill>
                <a:srgbClr val="FF0000"/>
              </a:solidFill>
              <a:latin typeface="-apple-system"/>
            </a:endParaRPr>
          </a:p>
          <a:p>
            <a:pPr algn="l">
              <a:buFont typeface="+mj-lt"/>
              <a:buAutoNum type="arabicPeriod"/>
            </a:pPr>
            <a:r>
              <a:rPr lang="zh-CN" altLang="en-US" sz="2800" i="0" dirty="0">
                <a:effectLst/>
                <a:latin typeface="-apple-system"/>
              </a:rPr>
              <a:t>若子类与父类不在同一包中，那么在子类中，</a:t>
            </a:r>
            <a:r>
              <a:rPr lang="zh-CN" altLang="en-US" sz="2800" i="0" dirty="0">
                <a:solidFill>
                  <a:srgbClr val="FF0000"/>
                </a:solidFill>
                <a:effectLst/>
                <a:latin typeface="-apple-system"/>
              </a:rPr>
              <a:t>子类实例可以访问其从父类继承而来的</a:t>
            </a:r>
            <a:r>
              <a:rPr lang="en-US" altLang="zh-CN" sz="2800" i="0" dirty="0">
                <a:solidFill>
                  <a:srgbClr val="FF0000"/>
                </a:solidFill>
                <a:effectLst/>
                <a:latin typeface="-apple-system"/>
              </a:rPr>
              <a:t>protected</a:t>
            </a:r>
            <a:r>
              <a:rPr lang="zh-CN" altLang="en-US" sz="2800" i="0" dirty="0">
                <a:solidFill>
                  <a:srgbClr val="FF0000"/>
                </a:solidFill>
                <a:effectLst/>
                <a:latin typeface="-apple-system"/>
              </a:rPr>
              <a:t>方法，而不能访问父类实例的</a:t>
            </a:r>
            <a:r>
              <a:rPr lang="en-US" altLang="zh-CN" sz="2800" i="0" dirty="0">
                <a:solidFill>
                  <a:srgbClr val="FF0000"/>
                </a:solidFill>
                <a:effectLst/>
                <a:latin typeface="-apple-system"/>
              </a:rPr>
              <a:t>protected</a:t>
            </a:r>
            <a:r>
              <a:rPr lang="zh-CN" altLang="en-US" sz="2800" i="0" dirty="0">
                <a:solidFill>
                  <a:srgbClr val="FF0000"/>
                </a:solidFill>
                <a:effectLst/>
                <a:latin typeface="-apple-system"/>
              </a:rPr>
              <a:t>方法。</a:t>
            </a:r>
            <a:endParaRPr lang="en-US" altLang="zh-CN" sz="2800" dirty="0">
              <a:solidFill>
                <a:srgbClr val="FF0000"/>
              </a:solidFill>
              <a:latin typeface="-apple-system"/>
            </a:endParaRPr>
          </a:p>
          <a:p>
            <a:pPr>
              <a:buFont typeface="+mj-lt"/>
              <a:buAutoNum type="arabicPeriod"/>
            </a:pPr>
            <a:r>
              <a:rPr lang="zh-CN" altLang="en-US" sz="2800" dirty="0">
                <a:solidFill>
                  <a:srgbClr val="4D4D4D"/>
                </a:solidFill>
                <a:latin typeface="-apple-system"/>
              </a:rPr>
              <a:t>不同包下，</a:t>
            </a:r>
            <a:r>
              <a:rPr lang="zh-CN" altLang="en-US" sz="2800" dirty="0">
                <a:solidFill>
                  <a:srgbClr val="FF0000"/>
                </a:solidFill>
                <a:latin typeface="-apple-system"/>
              </a:rPr>
              <a:t>在子类中不能通过另一个子类引用访问共同基类的 </a:t>
            </a:r>
            <a:r>
              <a:rPr lang="en-US" altLang="zh-CN" sz="2800" dirty="0">
                <a:solidFill>
                  <a:srgbClr val="FF0000"/>
                </a:solidFill>
                <a:latin typeface="-apple-system"/>
              </a:rPr>
              <a:t>protected </a:t>
            </a:r>
            <a:r>
              <a:rPr lang="zh-CN" altLang="en-US" sz="2800" dirty="0">
                <a:solidFill>
                  <a:srgbClr val="FF0000"/>
                </a:solidFill>
                <a:latin typeface="-apple-system"/>
              </a:rPr>
              <a:t>方法</a:t>
            </a:r>
          </a:p>
          <a:p>
            <a:pPr marL="0" indent="0" algn="l">
              <a:buNone/>
            </a:pPr>
            <a:endParaRPr lang="en-US" altLang="zh-CN" sz="2800" i="0" dirty="0">
              <a:solidFill>
                <a:srgbClr val="FF0000"/>
              </a:solidFill>
              <a:effectLst/>
              <a:latin typeface="PingFang SC"/>
            </a:endParaRPr>
          </a:p>
          <a:p>
            <a:endParaRPr lang="zh-CN" altLang="en-US" dirty="0"/>
          </a:p>
        </p:txBody>
      </p:sp>
      <p:sp>
        <p:nvSpPr>
          <p:cNvPr id="3" name="标题 2">
            <a:extLst>
              <a:ext uri="{FF2B5EF4-FFF2-40B4-BE49-F238E27FC236}">
                <a16:creationId xmlns:a16="http://schemas.microsoft.com/office/drawing/2014/main" id="{87B87BBB-1961-4DD9-953D-16ACF22A3771}"/>
              </a:ext>
            </a:extLst>
          </p:cNvPr>
          <p:cNvSpPr>
            <a:spLocks noGrp="1"/>
          </p:cNvSpPr>
          <p:nvPr>
            <p:ph type="title"/>
          </p:nvPr>
        </p:nvSpPr>
        <p:spPr/>
        <p:txBody>
          <a:bodyPr/>
          <a:lstStyle/>
          <a:p>
            <a:r>
              <a:rPr lang="en-US" altLang="zh-CN" b="1" i="0" dirty="0">
                <a:effectLst/>
                <a:latin typeface="PingFang SC"/>
              </a:rPr>
              <a:t>Java</a:t>
            </a:r>
            <a:r>
              <a:rPr lang="zh-CN" altLang="en-US" b="1" i="0" dirty="0">
                <a:effectLst/>
                <a:latin typeface="PingFang SC"/>
              </a:rPr>
              <a:t>中的</a:t>
            </a:r>
            <a:r>
              <a:rPr lang="en-US" altLang="zh-CN" b="1" i="0" dirty="0">
                <a:effectLst/>
                <a:latin typeface="PingFang SC"/>
              </a:rPr>
              <a:t>protected</a:t>
            </a:r>
            <a:r>
              <a:rPr lang="zh-CN" altLang="en-US" b="1" i="0" dirty="0">
                <a:effectLst/>
                <a:latin typeface="PingFang SC"/>
              </a:rPr>
              <a:t>修饰符</a:t>
            </a:r>
            <a:endParaRPr lang="zh-CN" altLang="en-US" dirty="0"/>
          </a:p>
        </p:txBody>
      </p:sp>
    </p:spTree>
    <p:extLst>
      <p:ext uri="{BB962C8B-B14F-4D97-AF65-F5344CB8AC3E}">
        <p14:creationId xmlns:p14="http://schemas.microsoft.com/office/powerpoint/2010/main" val="1915703813"/>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10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8" dur="1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4AC538E-D759-45E0-AAB1-B21E4BAB9932}"/>
              </a:ext>
            </a:extLst>
          </p:cNvPr>
          <p:cNvSpPr>
            <a:spLocks noGrp="1"/>
          </p:cNvSpPr>
          <p:nvPr>
            <p:ph type="title"/>
          </p:nvPr>
        </p:nvSpPr>
        <p:spPr/>
        <p:txBody>
          <a:bodyPr/>
          <a:lstStyle/>
          <a:p>
            <a:endParaRPr lang="zh-CN" altLang="en-US"/>
          </a:p>
        </p:txBody>
      </p:sp>
      <p:pic>
        <p:nvPicPr>
          <p:cNvPr id="4" name="Picture 3">
            <a:extLst>
              <a:ext uri="{FF2B5EF4-FFF2-40B4-BE49-F238E27FC236}">
                <a16:creationId xmlns:a16="http://schemas.microsoft.com/office/drawing/2014/main" id="{4208D3A9-786E-CC27-214B-64D00FDD74AD}"/>
              </a:ext>
            </a:extLst>
          </p:cNvPr>
          <p:cNvPicPr>
            <a:picLocks noChangeAspect="1"/>
          </p:cNvPicPr>
          <p:nvPr/>
        </p:nvPicPr>
        <p:blipFill>
          <a:blip r:embed="rId2"/>
          <a:stretch>
            <a:fillRect/>
          </a:stretch>
        </p:blipFill>
        <p:spPr>
          <a:xfrm>
            <a:off x="2438400" y="2090790"/>
            <a:ext cx="6019800" cy="4711700"/>
          </a:xfrm>
          <a:prstGeom prst="rect">
            <a:avLst/>
          </a:prstGeom>
        </p:spPr>
      </p:pic>
      <p:pic>
        <p:nvPicPr>
          <p:cNvPr id="5" name="Picture 4">
            <a:extLst>
              <a:ext uri="{FF2B5EF4-FFF2-40B4-BE49-F238E27FC236}">
                <a16:creationId xmlns:a16="http://schemas.microsoft.com/office/drawing/2014/main" id="{1ED55155-94F6-DE5C-B0E6-A54FAF68E3A7}"/>
              </a:ext>
            </a:extLst>
          </p:cNvPr>
          <p:cNvPicPr>
            <a:picLocks noChangeAspect="1"/>
          </p:cNvPicPr>
          <p:nvPr/>
        </p:nvPicPr>
        <p:blipFill>
          <a:blip r:embed="rId3"/>
          <a:stretch>
            <a:fillRect/>
          </a:stretch>
        </p:blipFill>
        <p:spPr>
          <a:xfrm>
            <a:off x="-19050" y="356222"/>
            <a:ext cx="5829300" cy="1498600"/>
          </a:xfrm>
          <a:prstGeom prst="rect">
            <a:avLst/>
          </a:prstGeom>
        </p:spPr>
      </p:pic>
      <p:cxnSp>
        <p:nvCxnSpPr>
          <p:cNvPr id="7" name="Straight Connector 6">
            <a:extLst>
              <a:ext uri="{FF2B5EF4-FFF2-40B4-BE49-F238E27FC236}">
                <a16:creationId xmlns:a16="http://schemas.microsoft.com/office/drawing/2014/main" id="{AE1B0C0C-B96C-7CCC-71B9-DB437B05E0B3}"/>
              </a:ext>
            </a:extLst>
          </p:cNvPr>
          <p:cNvCxnSpPr/>
          <p:nvPr/>
        </p:nvCxnSpPr>
        <p:spPr>
          <a:xfrm>
            <a:off x="3124200" y="5029200"/>
            <a:ext cx="2895600"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Multiply 7">
            <a:extLst>
              <a:ext uri="{FF2B5EF4-FFF2-40B4-BE49-F238E27FC236}">
                <a16:creationId xmlns:a16="http://schemas.microsoft.com/office/drawing/2014/main" id="{7F28A4E3-2B87-C514-FF24-4A0255D1382C}"/>
              </a:ext>
            </a:extLst>
          </p:cNvPr>
          <p:cNvSpPr/>
          <p:nvPr/>
        </p:nvSpPr>
        <p:spPr>
          <a:xfrm>
            <a:off x="6025243" y="4762500"/>
            <a:ext cx="533400" cy="533400"/>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Elbow Connector 9">
            <a:extLst>
              <a:ext uri="{FF2B5EF4-FFF2-40B4-BE49-F238E27FC236}">
                <a16:creationId xmlns:a16="http://schemas.microsoft.com/office/drawing/2014/main" id="{DB5EC1F8-C8F1-B4B2-EFE3-8A8F233C172E}"/>
              </a:ext>
            </a:extLst>
          </p:cNvPr>
          <p:cNvCxnSpPr/>
          <p:nvPr/>
        </p:nvCxnSpPr>
        <p:spPr>
          <a:xfrm rot="16200000" flipH="1">
            <a:off x="5219700" y="800100"/>
            <a:ext cx="1447800" cy="914400"/>
          </a:xfrm>
          <a:prstGeom prst="bentConnector3">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8202807"/>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par>
                                <p:cTn id="9" presetID="1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up)">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C6BBB2D-AA59-440B-B1C6-A1FF4DC50496}"/>
              </a:ext>
            </a:extLst>
          </p:cNvPr>
          <p:cNvSpPr>
            <a:spLocks noGrp="1"/>
          </p:cNvSpPr>
          <p:nvPr>
            <p:ph idx="1"/>
          </p:nvPr>
        </p:nvSpPr>
        <p:spPr/>
        <p:txBody>
          <a:bodyPr>
            <a:normAutofit/>
          </a:bodyPr>
          <a:lstStyle/>
          <a:p>
            <a:pPr algn="l">
              <a:buFont typeface="+mj-lt"/>
              <a:buAutoNum type="arabicPeriod"/>
            </a:pPr>
            <a:r>
              <a:rPr lang="zh-CN" altLang="en-US" sz="2800" i="0" dirty="0">
                <a:effectLst/>
                <a:latin typeface="-apple-system"/>
              </a:rPr>
              <a:t>父类的</a:t>
            </a:r>
            <a:r>
              <a:rPr lang="en-US" altLang="zh-CN" sz="2800" i="0" dirty="0">
                <a:effectLst/>
                <a:latin typeface="-apple-system"/>
              </a:rPr>
              <a:t>protected</a:t>
            </a:r>
            <a:r>
              <a:rPr lang="zh-CN" altLang="en-US" sz="2800" i="0" dirty="0">
                <a:effectLst/>
                <a:latin typeface="-apple-system"/>
              </a:rPr>
              <a:t>成员是</a:t>
            </a:r>
            <a:r>
              <a:rPr lang="zh-CN" altLang="en-US" sz="2800" i="0" dirty="0">
                <a:solidFill>
                  <a:srgbClr val="FF0000"/>
                </a:solidFill>
                <a:effectLst/>
                <a:latin typeface="-apple-system"/>
              </a:rPr>
              <a:t>包内可见的，并且对子类可见；</a:t>
            </a:r>
            <a:endParaRPr lang="en-US" altLang="zh-CN" sz="2800" dirty="0">
              <a:solidFill>
                <a:srgbClr val="FF0000"/>
              </a:solidFill>
              <a:latin typeface="-apple-system"/>
            </a:endParaRPr>
          </a:p>
          <a:p>
            <a:pPr algn="l">
              <a:buFont typeface="+mj-lt"/>
              <a:buAutoNum type="arabicPeriod"/>
            </a:pPr>
            <a:r>
              <a:rPr lang="zh-CN" altLang="en-US" sz="2800" i="0" dirty="0">
                <a:effectLst/>
                <a:latin typeface="-apple-system"/>
              </a:rPr>
              <a:t>若子类与父类不在同一包中，那么在子类中，</a:t>
            </a:r>
            <a:r>
              <a:rPr lang="zh-CN" altLang="en-US" sz="2800" i="0" dirty="0">
                <a:solidFill>
                  <a:srgbClr val="FF0000"/>
                </a:solidFill>
                <a:effectLst/>
                <a:latin typeface="-apple-system"/>
              </a:rPr>
              <a:t>子类实例可以访问其从父类继承而来的</a:t>
            </a:r>
            <a:r>
              <a:rPr lang="en-US" altLang="zh-CN" sz="2800" i="0" dirty="0">
                <a:solidFill>
                  <a:srgbClr val="FF0000"/>
                </a:solidFill>
                <a:effectLst/>
                <a:latin typeface="-apple-system"/>
              </a:rPr>
              <a:t>protected</a:t>
            </a:r>
            <a:r>
              <a:rPr lang="zh-CN" altLang="en-US" sz="2800" i="0" dirty="0">
                <a:solidFill>
                  <a:srgbClr val="FF0000"/>
                </a:solidFill>
                <a:effectLst/>
                <a:latin typeface="-apple-system"/>
              </a:rPr>
              <a:t>方法，而不能访问父类实例的</a:t>
            </a:r>
            <a:r>
              <a:rPr lang="en-US" altLang="zh-CN" sz="2800" i="0" dirty="0">
                <a:solidFill>
                  <a:srgbClr val="FF0000"/>
                </a:solidFill>
                <a:effectLst/>
                <a:latin typeface="-apple-system"/>
              </a:rPr>
              <a:t>protected</a:t>
            </a:r>
            <a:r>
              <a:rPr lang="zh-CN" altLang="en-US" sz="2800" i="0" dirty="0">
                <a:solidFill>
                  <a:srgbClr val="FF0000"/>
                </a:solidFill>
                <a:effectLst/>
                <a:latin typeface="-apple-system"/>
              </a:rPr>
              <a:t>方法。</a:t>
            </a:r>
            <a:endParaRPr lang="en-SG" altLang="zh-CN" sz="2800" i="0" dirty="0">
              <a:solidFill>
                <a:srgbClr val="FF0000"/>
              </a:solidFill>
              <a:effectLst/>
              <a:latin typeface="-apple-system"/>
            </a:endParaRPr>
          </a:p>
          <a:p>
            <a:pPr>
              <a:buFont typeface="+mj-lt"/>
              <a:buAutoNum type="arabicPeriod"/>
            </a:pPr>
            <a:r>
              <a:rPr lang="zh-CN" altLang="en-US" sz="2800" dirty="0">
                <a:solidFill>
                  <a:srgbClr val="4D4D4D"/>
                </a:solidFill>
                <a:latin typeface="-apple-system"/>
              </a:rPr>
              <a:t>不同包下，</a:t>
            </a:r>
            <a:r>
              <a:rPr lang="zh-CN" altLang="en-US" sz="2800" dirty="0">
                <a:solidFill>
                  <a:srgbClr val="FF0000"/>
                </a:solidFill>
                <a:latin typeface="-apple-system"/>
              </a:rPr>
              <a:t>在子类中不能通过另一个子类引用访问共同基类的 </a:t>
            </a:r>
            <a:r>
              <a:rPr lang="en-US" altLang="zh-CN" sz="2800" dirty="0">
                <a:solidFill>
                  <a:srgbClr val="FF0000"/>
                </a:solidFill>
                <a:latin typeface="-apple-system"/>
              </a:rPr>
              <a:t>protected </a:t>
            </a:r>
            <a:r>
              <a:rPr lang="zh-CN" altLang="en-US" sz="2800" dirty="0">
                <a:solidFill>
                  <a:srgbClr val="FF0000"/>
                </a:solidFill>
                <a:latin typeface="-apple-system"/>
              </a:rPr>
              <a:t>方法</a:t>
            </a:r>
            <a:endParaRPr lang="en-US" altLang="zh-CN" sz="2800" dirty="0">
              <a:solidFill>
                <a:srgbClr val="FF0000"/>
              </a:solidFill>
              <a:latin typeface="-apple-system"/>
            </a:endParaRPr>
          </a:p>
          <a:p>
            <a:pPr algn="l">
              <a:buFont typeface="+mj-lt"/>
              <a:buAutoNum type="arabicPeriod"/>
            </a:pPr>
            <a:r>
              <a:rPr lang="zh-CN" altLang="en-US" sz="2800" i="0" dirty="0">
                <a:solidFill>
                  <a:srgbClr val="4D4D4D"/>
                </a:solidFill>
                <a:effectLst/>
                <a:latin typeface="-apple-system"/>
              </a:rPr>
              <a:t>对于</a:t>
            </a:r>
            <a:r>
              <a:rPr lang="en-US" altLang="zh-CN" sz="2800" i="0" dirty="0">
                <a:solidFill>
                  <a:srgbClr val="4D4D4D"/>
                </a:solidFill>
                <a:effectLst/>
                <a:latin typeface="-apple-system"/>
              </a:rPr>
              <a:t>protected</a:t>
            </a:r>
            <a:r>
              <a:rPr lang="zh-CN" altLang="en-US" sz="2800" i="0" dirty="0">
                <a:solidFill>
                  <a:srgbClr val="4D4D4D"/>
                </a:solidFill>
                <a:effectLst/>
                <a:latin typeface="-apple-system"/>
              </a:rPr>
              <a:t>修饰的静态变量，</a:t>
            </a:r>
            <a:r>
              <a:rPr lang="zh-CN" altLang="en-US" sz="2800" i="0" dirty="0">
                <a:solidFill>
                  <a:srgbClr val="FF0000"/>
                </a:solidFill>
                <a:effectLst/>
                <a:latin typeface="PingFang SC"/>
              </a:rPr>
              <a:t>无论是否同一个包，在子类中均可直接访问</a:t>
            </a:r>
            <a:endParaRPr lang="en-US" altLang="zh-CN" sz="2800" i="0" dirty="0">
              <a:solidFill>
                <a:srgbClr val="FF0000"/>
              </a:solidFill>
              <a:effectLst/>
              <a:latin typeface="PingFang SC"/>
            </a:endParaRPr>
          </a:p>
          <a:p>
            <a:endParaRPr lang="zh-CN" altLang="en-US" dirty="0"/>
          </a:p>
        </p:txBody>
      </p:sp>
      <p:sp>
        <p:nvSpPr>
          <p:cNvPr id="3" name="标题 2">
            <a:extLst>
              <a:ext uri="{FF2B5EF4-FFF2-40B4-BE49-F238E27FC236}">
                <a16:creationId xmlns:a16="http://schemas.microsoft.com/office/drawing/2014/main" id="{87B87BBB-1961-4DD9-953D-16ACF22A3771}"/>
              </a:ext>
            </a:extLst>
          </p:cNvPr>
          <p:cNvSpPr>
            <a:spLocks noGrp="1"/>
          </p:cNvSpPr>
          <p:nvPr>
            <p:ph type="title"/>
          </p:nvPr>
        </p:nvSpPr>
        <p:spPr/>
        <p:txBody>
          <a:bodyPr/>
          <a:lstStyle/>
          <a:p>
            <a:r>
              <a:rPr lang="en-US" altLang="zh-CN" b="1" i="0" dirty="0">
                <a:effectLst/>
                <a:latin typeface="PingFang SC"/>
              </a:rPr>
              <a:t>Java</a:t>
            </a:r>
            <a:r>
              <a:rPr lang="zh-CN" altLang="en-US" b="1" i="0" dirty="0">
                <a:effectLst/>
                <a:latin typeface="PingFang SC"/>
              </a:rPr>
              <a:t>中的</a:t>
            </a:r>
            <a:r>
              <a:rPr lang="en-US" altLang="zh-CN" b="1" i="0" dirty="0">
                <a:effectLst/>
                <a:latin typeface="PingFang SC"/>
              </a:rPr>
              <a:t>protected</a:t>
            </a:r>
            <a:r>
              <a:rPr lang="zh-CN" altLang="en-US" b="1" i="0" dirty="0">
                <a:effectLst/>
                <a:latin typeface="PingFang SC"/>
              </a:rPr>
              <a:t>修饰符</a:t>
            </a:r>
            <a:endParaRPr lang="zh-CN" altLang="en-US" dirty="0"/>
          </a:p>
        </p:txBody>
      </p:sp>
    </p:spTree>
    <p:extLst>
      <p:ext uri="{BB962C8B-B14F-4D97-AF65-F5344CB8AC3E}">
        <p14:creationId xmlns:p14="http://schemas.microsoft.com/office/powerpoint/2010/main" val="317701513"/>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10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8" dur="1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60" y="990600"/>
            <a:ext cx="7078216" cy="3407420"/>
          </a:xfrm>
          <a:prstGeom prst="rect">
            <a:avLst/>
          </a:prstGeom>
        </p:spPr>
      </p:pic>
      <p:sp>
        <p:nvSpPr>
          <p:cNvPr id="4" name="Title 2">
            <a:extLst>
              <a:ext uri="{FF2B5EF4-FFF2-40B4-BE49-F238E27FC236}">
                <a16:creationId xmlns:a16="http://schemas.microsoft.com/office/drawing/2014/main" id="{3004F910-0D23-4BDE-1581-F45C564BB9CE}"/>
              </a:ext>
            </a:extLst>
          </p:cNvPr>
          <p:cNvSpPr>
            <a:spLocks noGrp="1"/>
          </p:cNvSpPr>
          <p:nvPr>
            <p:ph type="title"/>
          </p:nvPr>
        </p:nvSpPr>
        <p:spPr>
          <a:xfrm>
            <a:off x="107504" y="44624"/>
            <a:ext cx="8640960" cy="634082"/>
          </a:xfrm>
        </p:spPr>
        <p:txBody>
          <a:bodyPr/>
          <a:lstStyle/>
          <a:p>
            <a:r>
              <a:rPr lang="zh-CN" altLang="en-SG" dirty="0"/>
              <a:t>继承中</a:t>
            </a:r>
            <a:r>
              <a:rPr lang="zh-CN" altLang="en-US" dirty="0"/>
              <a:t>的静态变量</a:t>
            </a:r>
            <a:endParaRPr lang="en-US" dirty="0"/>
          </a:p>
        </p:txBody>
      </p:sp>
      <p:sp>
        <p:nvSpPr>
          <p:cNvPr id="7" name="Rectangle 6">
            <a:extLst>
              <a:ext uri="{FF2B5EF4-FFF2-40B4-BE49-F238E27FC236}">
                <a16:creationId xmlns:a16="http://schemas.microsoft.com/office/drawing/2014/main" id="{616993C3-CA05-A64B-6DC3-171D0EEFA2DE}"/>
              </a:ext>
            </a:extLst>
          </p:cNvPr>
          <p:cNvSpPr/>
          <p:nvPr/>
        </p:nvSpPr>
        <p:spPr>
          <a:xfrm>
            <a:off x="533400" y="2667000"/>
            <a:ext cx="6477000" cy="457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ECFF106-2CDA-7D1E-3300-9AC3E126FBAE}"/>
              </a:ext>
            </a:extLst>
          </p:cNvPr>
          <p:cNvPicPr>
            <a:picLocks noChangeAspect="1"/>
          </p:cNvPicPr>
          <p:nvPr/>
        </p:nvPicPr>
        <p:blipFill>
          <a:blip r:embed="rId3"/>
          <a:stretch>
            <a:fillRect/>
          </a:stretch>
        </p:blipFill>
        <p:spPr>
          <a:xfrm>
            <a:off x="2639764" y="3276600"/>
            <a:ext cx="6108700" cy="3302000"/>
          </a:xfrm>
          <a:prstGeom prst="rect">
            <a:avLst/>
          </a:prstGeom>
        </p:spPr>
      </p:pic>
      <p:sp>
        <p:nvSpPr>
          <p:cNvPr id="11" name="Rounded Rectangle 10">
            <a:extLst>
              <a:ext uri="{FF2B5EF4-FFF2-40B4-BE49-F238E27FC236}">
                <a16:creationId xmlns:a16="http://schemas.microsoft.com/office/drawing/2014/main" id="{FFAB290E-B78E-74C6-F72D-E140274FBF6A}"/>
              </a:ext>
            </a:extLst>
          </p:cNvPr>
          <p:cNvSpPr/>
          <p:nvPr/>
        </p:nvSpPr>
        <p:spPr>
          <a:xfrm>
            <a:off x="723454" y="4717520"/>
            <a:ext cx="2819400" cy="175877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static field</a:t>
            </a:r>
          </a:p>
          <a:p>
            <a:r>
              <a:rPr lang="en-US" sz="2400" dirty="0">
                <a:solidFill>
                  <a:schemeClr val="tx1"/>
                </a:solidFill>
              </a:rPr>
              <a:t>static field</a:t>
            </a:r>
          </a:p>
          <a:p>
            <a:r>
              <a:rPr lang="en-US" sz="2400" dirty="0">
                <a:solidFill>
                  <a:schemeClr val="tx1"/>
                </a:solidFill>
              </a:rPr>
              <a:t>Kid1's static field</a:t>
            </a:r>
          </a:p>
          <a:p>
            <a:r>
              <a:rPr lang="en-US" sz="2400" dirty="0">
                <a:solidFill>
                  <a:schemeClr val="tx1"/>
                </a:solidFill>
              </a:rPr>
              <a:t>Kid1's static field</a:t>
            </a:r>
          </a:p>
        </p:txBody>
      </p:sp>
    </p:spTree>
    <p:extLst>
      <p:ext uri="{BB962C8B-B14F-4D97-AF65-F5344CB8AC3E}">
        <p14:creationId xmlns:p14="http://schemas.microsoft.com/office/powerpoint/2010/main" val="2998850556"/>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p:tgtEl>
                                          <p:spTgt spid="11"/>
                                        </p:tgtEl>
                                        <p:attrNameLst>
                                          <p:attrName>ppt_y</p:attrName>
                                        </p:attrNameLst>
                                      </p:cBhvr>
                                      <p:tavLst>
                                        <p:tav tm="0">
                                          <p:val>
                                            <p:strVal val="#ppt_y+#ppt_h*1.125000"/>
                                          </p:val>
                                        </p:tav>
                                        <p:tav tm="100000">
                                          <p:val>
                                            <p:strVal val="#ppt_y"/>
                                          </p:val>
                                        </p:tav>
                                      </p:tavLst>
                                    </p:anim>
                                    <p:animEffect transition="in" filter="wipe(up)">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60" y="707380"/>
            <a:ext cx="7078216" cy="3407420"/>
          </a:xfrm>
          <a:prstGeom prst="rect">
            <a:avLst/>
          </a:prstGeom>
        </p:spPr>
      </p:pic>
      <p:sp>
        <p:nvSpPr>
          <p:cNvPr id="4" name="Title 2">
            <a:extLst>
              <a:ext uri="{FF2B5EF4-FFF2-40B4-BE49-F238E27FC236}">
                <a16:creationId xmlns:a16="http://schemas.microsoft.com/office/drawing/2014/main" id="{3004F910-0D23-4BDE-1581-F45C564BB9CE}"/>
              </a:ext>
            </a:extLst>
          </p:cNvPr>
          <p:cNvSpPr>
            <a:spLocks noGrp="1"/>
          </p:cNvSpPr>
          <p:nvPr>
            <p:ph type="title"/>
          </p:nvPr>
        </p:nvSpPr>
        <p:spPr>
          <a:xfrm>
            <a:off x="107504" y="44624"/>
            <a:ext cx="8640960" cy="634082"/>
          </a:xfrm>
        </p:spPr>
        <p:txBody>
          <a:bodyPr/>
          <a:lstStyle/>
          <a:p>
            <a:r>
              <a:rPr lang="zh-CN" altLang="en-SG" dirty="0"/>
              <a:t>继承中</a:t>
            </a:r>
            <a:r>
              <a:rPr lang="zh-CN" altLang="en-US" dirty="0"/>
              <a:t>的静态变量</a:t>
            </a:r>
            <a:endParaRPr lang="en-US" dirty="0"/>
          </a:p>
        </p:txBody>
      </p:sp>
      <p:sp>
        <p:nvSpPr>
          <p:cNvPr id="11" name="Rounded Rectangle 10">
            <a:extLst>
              <a:ext uri="{FF2B5EF4-FFF2-40B4-BE49-F238E27FC236}">
                <a16:creationId xmlns:a16="http://schemas.microsoft.com/office/drawing/2014/main" id="{FFAB290E-B78E-74C6-F72D-E140274FBF6A}"/>
              </a:ext>
            </a:extLst>
          </p:cNvPr>
          <p:cNvSpPr/>
          <p:nvPr/>
        </p:nvSpPr>
        <p:spPr>
          <a:xfrm>
            <a:off x="206152" y="4706841"/>
            <a:ext cx="2819400" cy="175877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static field</a:t>
            </a:r>
          </a:p>
          <a:p>
            <a:r>
              <a:rPr lang="en-US" sz="2400" dirty="0">
                <a:solidFill>
                  <a:schemeClr val="tx1"/>
                </a:solidFill>
              </a:rPr>
              <a:t>static field</a:t>
            </a:r>
          </a:p>
          <a:p>
            <a:r>
              <a:rPr lang="en-US" sz="2400" dirty="0">
                <a:solidFill>
                  <a:schemeClr val="tx1"/>
                </a:solidFill>
              </a:rPr>
              <a:t>Kid2's static field</a:t>
            </a:r>
          </a:p>
          <a:p>
            <a:r>
              <a:rPr lang="en-US" sz="2400" dirty="0">
                <a:solidFill>
                  <a:schemeClr val="tx1"/>
                </a:solidFill>
              </a:rPr>
              <a:t>Kid2's static field</a:t>
            </a:r>
          </a:p>
        </p:txBody>
      </p:sp>
      <p:pic>
        <p:nvPicPr>
          <p:cNvPr id="14" name="Picture 13">
            <a:extLst>
              <a:ext uri="{FF2B5EF4-FFF2-40B4-BE49-F238E27FC236}">
                <a16:creationId xmlns:a16="http://schemas.microsoft.com/office/drawing/2014/main" id="{F6BB7296-FC8B-61F3-31D6-BC0909BB035A}"/>
              </a:ext>
            </a:extLst>
          </p:cNvPr>
          <p:cNvPicPr>
            <a:picLocks noChangeAspect="1"/>
          </p:cNvPicPr>
          <p:nvPr/>
        </p:nvPicPr>
        <p:blipFill>
          <a:blip r:embed="rId3"/>
          <a:stretch>
            <a:fillRect/>
          </a:stretch>
        </p:blipFill>
        <p:spPr>
          <a:xfrm>
            <a:off x="3064994" y="2921000"/>
            <a:ext cx="6045200" cy="3937000"/>
          </a:xfrm>
          <a:prstGeom prst="rect">
            <a:avLst/>
          </a:prstGeom>
          <a:ln>
            <a:solidFill>
              <a:schemeClr val="tx1"/>
            </a:solidFill>
          </a:ln>
        </p:spPr>
      </p:pic>
      <p:cxnSp>
        <p:nvCxnSpPr>
          <p:cNvPr id="13" name="Straight Connector 12">
            <a:extLst>
              <a:ext uri="{FF2B5EF4-FFF2-40B4-BE49-F238E27FC236}">
                <a16:creationId xmlns:a16="http://schemas.microsoft.com/office/drawing/2014/main" id="{D3C722A2-A78A-C207-74A1-9403A831896F}"/>
              </a:ext>
            </a:extLst>
          </p:cNvPr>
          <p:cNvCxnSpPr/>
          <p:nvPr/>
        </p:nvCxnSpPr>
        <p:spPr>
          <a:xfrm>
            <a:off x="6130010" y="5638800"/>
            <a:ext cx="2895600"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Rectangle 6">
            <a:extLst>
              <a:ext uri="{FF2B5EF4-FFF2-40B4-BE49-F238E27FC236}">
                <a16:creationId xmlns:a16="http://schemas.microsoft.com/office/drawing/2014/main" id="{616993C3-CA05-A64B-6DC3-171D0EEFA2DE}"/>
              </a:ext>
            </a:extLst>
          </p:cNvPr>
          <p:cNvSpPr/>
          <p:nvPr/>
        </p:nvSpPr>
        <p:spPr>
          <a:xfrm>
            <a:off x="533400" y="2383780"/>
            <a:ext cx="6477000" cy="457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Elbow Connector 2">
            <a:extLst>
              <a:ext uri="{FF2B5EF4-FFF2-40B4-BE49-F238E27FC236}">
                <a16:creationId xmlns:a16="http://schemas.microsoft.com/office/drawing/2014/main" id="{4D06DC42-80C8-4758-898A-0AB620B19CB1}"/>
              </a:ext>
            </a:extLst>
          </p:cNvPr>
          <p:cNvCxnSpPr>
            <a:cxnSpLocks/>
          </p:cNvCxnSpPr>
          <p:nvPr/>
        </p:nvCxnSpPr>
        <p:spPr>
          <a:xfrm>
            <a:off x="4114800" y="838200"/>
            <a:ext cx="3886200" cy="2133600"/>
          </a:xfrm>
          <a:prstGeom prst="bentConnector3">
            <a:avLst>
              <a:gd name="adj1" fmla="val 99979"/>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5978833"/>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ppt_y</p:attrName>
                                        </p:attrNameLst>
                                      </p:cBhvr>
                                      <p:tavLst>
                                        <p:tav tm="0">
                                          <p:val>
                                            <p:strVal val="#ppt_y+#ppt_h*1.125000"/>
                                          </p:val>
                                        </p:tav>
                                        <p:tav tm="100000">
                                          <p:val>
                                            <p:strVal val="#ppt_y"/>
                                          </p:val>
                                        </p:tav>
                                      </p:tavLst>
                                    </p:anim>
                                    <p:animEffect transition="in" filter="wipe(up)">
                                      <p:cBhvr>
                                        <p:cTn id="8" dur="500"/>
                                        <p:tgtEl>
                                          <p:spTgt spid="14"/>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up)">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p:tgtEl>
                                          <p:spTgt spid="13"/>
                                        </p:tgtEl>
                                        <p:attrNameLst>
                                          <p:attrName>ppt_y</p:attrName>
                                        </p:attrNameLst>
                                      </p:cBhvr>
                                      <p:tavLst>
                                        <p:tav tm="0">
                                          <p:val>
                                            <p:strVal val="#ppt_y+#ppt_h*1.125000"/>
                                          </p:val>
                                        </p:tav>
                                        <p:tav tm="100000">
                                          <p:val>
                                            <p:strVal val="#ppt_y"/>
                                          </p:val>
                                        </p:tav>
                                      </p:tavLst>
                                    </p:anim>
                                    <p:animEffect transition="in" filter="wipe(up)">
                                      <p:cBhvr>
                                        <p:cTn id="20" dur="500"/>
                                        <p:tgtEl>
                                          <p:spTgt spid="13"/>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p:tgtEl>
                                          <p:spTgt spid="11"/>
                                        </p:tgtEl>
                                        <p:attrNameLst>
                                          <p:attrName>ppt_y</p:attrName>
                                        </p:attrNameLst>
                                      </p:cBhvr>
                                      <p:tavLst>
                                        <p:tav tm="0">
                                          <p:val>
                                            <p:strVal val="#ppt_y+#ppt_h*1.125000"/>
                                          </p:val>
                                        </p:tav>
                                        <p:tav tm="100000">
                                          <p:val>
                                            <p:strVal val="#ppt_y"/>
                                          </p:val>
                                        </p:tav>
                                      </p:tavLst>
                                    </p:anim>
                                    <p:animEffect transition="in" filter="wipe(up)">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C6BBB2D-AA59-440B-B1C6-A1FF4DC50496}"/>
              </a:ext>
            </a:extLst>
          </p:cNvPr>
          <p:cNvSpPr>
            <a:spLocks noGrp="1"/>
          </p:cNvSpPr>
          <p:nvPr>
            <p:ph idx="1"/>
          </p:nvPr>
        </p:nvSpPr>
        <p:spPr>
          <a:xfrm>
            <a:off x="457200" y="908720"/>
            <a:ext cx="8229600" cy="5339680"/>
          </a:xfrm>
        </p:spPr>
        <p:txBody>
          <a:bodyPr>
            <a:normAutofit lnSpcReduction="10000"/>
          </a:bodyPr>
          <a:lstStyle/>
          <a:p>
            <a:pPr algn="l">
              <a:buFont typeface="+mj-lt"/>
              <a:buAutoNum type="arabicPeriod"/>
            </a:pPr>
            <a:r>
              <a:rPr lang="zh-CN" altLang="en-US" sz="2800" i="0" dirty="0">
                <a:effectLst/>
                <a:latin typeface="-apple-system"/>
              </a:rPr>
              <a:t>父类的</a:t>
            </a:r>
            <a:r>
              <a:rPr lang="en-US" altLang="zh-CN" sz="2800" i="0" dirty="0">
                <a:effectLst/>
                <a:latin typeface="-apple-system"/>
              </a:rPr>
              <a:t>protected</a:t>
            </a:r>
            <a:r>
              <a:rPr lang="zh-CN" altLang="en-US" sz="2800" i="0" dirty="0">
                <a:effectLst/>
                <a:latin typeface="-apple-system"/>
              </a:rPr>
              <a:t>成员是</a:t>
            </a:r>
            <a:r>
              <a:rPr lang="zh-CN" altLang="en-US" sz="2800" i="0" dirty="0">
                <a:solidFill>
                  <a:srgbClr val="FF0000"/>
                </a:solidFill>
                <a:effectLst/>
                <a:latin typeface="-apple-system"/>
              </a:rPr>
              <a:t>包内可见的，并且对子类可见；</a:t>
            </a:r>
            <a:endParaRPr lang="en-US" altLang="zh-CN" sz="2800" dirty="0">
              <a:solidFill>
                <a:srgbClr val="FF0000"/>
              </a:solidFill>
              <a:latin typeface="-apple-system"/>
            </a:endParaRPr>
          </a:p>
          <a:p>
            <a:pPr algn="l">
              <a:buFont typeface="+mj-lt"/>
              <a:buAutoNum type="arabicPeriod"/>
            </a:pPr>
            <a:r>
              <a:rPr lang="zh-CN" altLang="en-US" sz="2800" i="0" dirty="0">
                <a:effectLst/>
                <a:latin typeface="-apple-system"/>
              </a:rPr>
              <a:t>若子类与父类不在同一包中，那么在子类中，</a:t>
            </a:r>
            <a:r>
              <a:rPr lang="zh-CN" altLang="en-US" sz="2800" i="0" dirty="0">
                <a:solidFill>
                  <a:srgbClr val="FF0000"/>
                </a:solidFill>
                <a:effectLst/>
                <a:latin typeface="-apple-system"/>
              </a:rPr>
              <a:t>子类实例可以访问其从父类继承而来的</a:t>
            </a:r>
            <a:r>
              <a:rPr lang="en-US" altLang="zh-CN" sz="2800" i="0" dirty="0">
                <a:solidFill>
                  <a:srgbClr val="FF0000"/>
                </a:solidFill>
                <a:effectLst/>
                <a:latin typeface="-apple-system"/>
              </a:rPr>
              <a:t>protected</a:t>
            </a:r>
            <a:r>
              <a:rPr lang="zh-CN" altLang="en-US" sz="2800" i="0" dirty="0">
                <a:solidFill>
                  <a:srgbClr val="FF0000"/>
                </a:solidFill>
                <a:effectLst/>
                <a:latin typeface="-apple-system"/>
              </a:rPr>
              <a:t>方法，而不能访问父类实例的</a:t>
            </a:r>
            <a:r>
              <a:rPr lang="en-US" altLang="zh-CN" sz="2800" i="0" dirty="0">
                <a:solidFill>
                  <a:srgbClr val="FF0000"/>
                </a:solidFill>
                <a:effectLst/>
                <a:latin typeface="-apple-system"/>
              </a:rPr>
              <a:t>protected</a:t>
            </a:r>
            <a:r>
              <a:rPr lang="zh-CN" altLang="en-US" sz="2800" i="0" dirty="0">
                <a:solidFill>
                  <a:srgbClr val="FF0000"/>
                </a:solidFill>
                <a:effectLst/>
                <a:latin typeface="-apple-system"/>
              </a:rPr>
              <a:t>方法。</a:t>
            </a:r>
            <a:endParaRPr lang="en-SG" altLang="zh-CN" sz="2800" i="0" dirty="0">
              <a:solidFill>
                <a:srgbClr val="FF0000"/>
              </a:solidFill>
              <a:effectLst/>
              <a:latin typeface="-apple-system"/>
            </a:endParaRPr>
          </a:p>
          <a:p>
            <a:pPr>
              <a:buFont typeface="+mj-lt"/>
              <a:buAutoNum type="arabicPeriod"/>
            </a:pPr>
            <a:r>
              <a:rPr lang="zh-CN" altLang="en-US" sz="2800" dirty="0">
                <a:solidFill>
                  <a:srgbClr val="4D4D4D"/>
                </a:solidFill>
                <a:latin typeface="-apple-system"/>
              </a:rPr>
              <a:t>不同包下，</a:t>
            </a:r>
            <a:r>
              <a:rPr lang="zh-CN" altLang="en-US" sz="2800" dirty="0">
                <a:solidFill>
                  <a:srgbClr val="FF0000"/>
                </a:solidFill>
                <a:latin typeface="-apple-system"/>
              </a:rPr>
              <a:t>在子类中不能通过另一个子类引用访问共同基类的 </a:t>
            </a:r>
            <a:r>
              <a:rPr lang="en-US" altLang="zh-CN" sz="2800" dirty="0">
                <a:solidFill>
                  <a:srgbClr val="FF0000"/>
                </a:solidFill>
                <a:latin typeface="-apple-system"/>
              </a:rPr>
              <a:t>protected </a:t>
            </a:r>
            <a:r>
              <a:rPr lang="zh-CN" altLang="en-US" sz="2800" dirty="0">
                <a:solidFill>
                  <a:srgbClr val="FF0000"/>
                </a:solidFill>
                <a:latin typeface="-apple-system"/>
              </a:rPr>
              <a:t>方法</a:t>
            </a:r>
            <a:endParaRPr lang="en-US" altLang="zh-CN" sz="2800" dirty="0">
              <a:solidFill>
                <a:srgbClr val="FF0000"/>
              </a:solidFill>
              <a:latin typeface="-apple-system"/>
            </a:endParaRPr>
          </a:p>
          <a:p>
            <a:pPr algn="l">
              <a:buFont typeface="+mj-lt"/>
              <a:buAutoNum type="arabicPeriod"/>
            </a:pPr>
            <a:r>
              <a:rPr lang="zh-CN" altLang="en-US" sz="2800" i="0" dirty="0">
                <a:solidFill>
                  <a:srgbClr val="4D4D4D"/>
                </a:solidFill>
                <a:effectLst/>
                <a:latin typeface="-apple-system"/>
              </a:rPr>
              <a:t>对于</a:t>
            </a:r>
            <a:r>
              <a:rPr lang="en-US" altLang="zh-CN" sz="2800" i="0" dirty="0">
                <a:solidFill>
                  <a:srgbClr val="4D4D4D"/>
                </a:solidFill>
                <a:effectLst/>
                <a:latin typeface="-apple-system"/>
              </a:rPr>
              <a:t>protected</a:t>
            </a:r>
            <a:r>
              <a:rPr lang="zh-CN" altLang="en-US" sz="2800" i="0" dirty="0">
                <a:solidFill>
                  <a:srgbClr val="4D4D4D"/>
                </a:solidFill>
                <a:effectLst/>
                <a:latin typeface="-apple-system"/>
              </a:rPr>
              <a:t>修饰的静态变量，</a:t>
            </a:r>
            <a:r>
              <a:rPr lang="zh-CN" altLang="en-US" sz="2800" i="0" dirty="0">
                <a:solidFill>
                  <a:srgbClr val="FF0000"/>
                </a:solidFill>
                <a:effectLst/>
                <a:latin typeface="PingFang SC"/>
              </a:rPr>
              <a:t>无论是否同一个包，在子类中均可直接访问</a:t>
            </a:r>
            <a:endParaRPr lang="en-SG" altLang="zh-CN" sz="2800" i="0" dirty="0">
              <a:solidFill>
                <a:srgbClr val="FF0000"/>
              </a:solidFill>
              <a:effectLst/>
              <a:latin typeface="PingFang SC"/>
            </a:endParaRPr>
          </a:p>
          <a:p>
            <a:pPr>
              <a:buFont typeface="+mj-lt"/>
              <a:buAutoNum type="arabicPeriod"/>
            </a:pPr>
            <a:r>
              <a:rPr lang="zh-CN" altLang="en-US" sz="2800" dirty="0">
                <a:solidFill>
                  <a:srgbClr val="4D4D4D"/>
                </a:solidFill>
                <a:latin typeface="-apple-system"/>
              </a:rPr>
              <a:t>对于</a:t>
            </a:r>
            <a:r>
              <a:rPr lang="en-US" altLang="zh-CN" sz="2800" dirty="0">
                <a:solidFill>
                  <a:srgbClr val="4D4D4D"/>
                </a:solidFill>
                <a:latin typeface="-apple-system"/>
              </a:rPr>
              <a:t>protected</a:t>
            </a:r>
            <a:r>
              <a:rPr lang="zh-CN" altLang="en-US" sz="2800" dirty="0">
                <a:solidFill>
                  <a:srgbClr val="4D4D4D"/>
                </a:solidFill>
                <a:latin typeface="-apple-system"/>
              </a:rPr>
              <a:t>修饰的静态函数，</a:t>
            </a:r>
            <a:r>
              <a:rPr lang="zh-CN" altLang="en-US" sz="2800" dirty="0">
                <a:solidFill>
                  <a:srgbClr val="FF0000"/>
                </a:solidFill>
                <a:latin typeface="-apple-system"/>
              </a:rPr>
              <a:t>无论是否同一个包，在子类中均可直接访问</a:t>
            </a:r>
            <a:r>
              <a:rPr lang="zh-CN" altLang="en-US" sz="2800" dirty="0">
                <a:solidFill>
                  <a:srgbClr val="4D4D4D"/>
                </a:solidFill>
                <a:latin typeface="-apple-system"/>
              </a:rPr>
              <a:t>。在不同包的非子类中则不可访问。</a:t>
            </a:r>
            <a:endParaRPr lang="en-US" altLang="zh-CN" sz="2800" i="0" dirty="0">
              <a:solidFill>
                <a:srgbClr val="FF0000"/>
              </a:solidFill>
              <a:effectLst/>
              <a:latin typeface="PingFang SC"/>
            </a:endParaRPr>
          </a:p>
        </p:txBody>
      </p:sp>
      <p:sp>
        <p:nvSpPr>
          <p:cNvPr id="3" name="标题 2">
            <a:extLst>
              <a:ext uri="{FF2B5EF4-FFF2-40B4-BE49-F238E27FC236}">
                <a16:creationId xmlns:a16="http://schemas.microsoft.com/office/drawing/2014/main" id="{87B87BBB-1961-4DD9-953D-16ACF22A3771}"/>
              </a:ext>
            </a:extLst>
          </p:cNvPr>
          <p:cNvSpPr>
            <a:spLocks noGrp="1"/>
          </p:cNvSpPr>
          <p:nvPr>
            <p:ph type="title"/>
          </p:nvPr>
        </p:nvSpPr>
        <p:spPr/>
        <p:txBody>
          <a:bodyPr/>
          <a:lstStyle/>
          <a:p>
            <a:r>
              <a:rPr lang="en-US" altLang="zh-CN" b="1" i="0" dirty="0">
                <a:effectLst/>
                <a:latin typeface="PingFang SC"/>
              </a:rPr>
              <a:t>Java</a:t>
            </a:r>
            <a:r>
              <a:rPr lang="zh-CN" altLang="en-US" b="1" i="0" dirty="0">
                <a:effectLst/>
                <a:latin typeface="PingFang SC"/>
              </a:rPr>
              <a:t>中的</a:t>
            </a:r>
            <a:r>
              <a:rPr lang="en-US" altLang="zh-CN" b="1" i="0" dirty="0">
                <a:effectLst/>
                <a:latin typeface="PingFang SC"/>
              </a:rPr>
              <a:t>protected</a:t>
            </a:r>
            <a:r>
              <a:rPr lang="zh-CN" altLang="en-US" b="1" i="0" dirty="0">
                <a:effectLst/>
                <a:latin typeface="PingFang SC"/>
              </a:rPr>
              <a:t>修饰符</a:t>
            </a:r>
            <a:endParaRPr lang="zh-CN" altLang="en-US" dirty="0"/>
          </a:p>
        </p:txBody>
      </p:sp>
    </p:spTree>
    <p:extLst>
      <p:ext uri="{BB962C8B-B14F-4D97-AF65-F5344CB8AC3E}">
        <p14:creationId xmlns:p14="http://schemas.microsoft.com/office/powerpoint/2010/main" val="718475784"/>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 calcmode="lin" valueType="num">
                                      <p:cBhvr additive="base">
                                        <p:cTn id="7" dur="10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8" dur="1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004F910-0D23-4BDE-1581-F45C564BB9CE}"/>
              </a:ext>
            </a:extLst>
          </p:cNvPr>
          <p:cNvSpPr>
            <a:spLocks noGrp="1"/>
          </p:cNvSpPr>
          <p:nvPr>
            <p:ph type="title"/>
          </p:nvPr>
        </p:nvSpPr>
        <p:spPr>
          <a:xfrm>
            <a:off x="107504" y="44624"/>
            <a:ext cx="8640960" cy="634082"/>
          </a:xfrm>
        </p:spPr>
        <p:txBody>
          <a:bodyPr/>
          <a:lstStyle/>
          <a:p>
            <a:r>
              <a:rPr lang="zh-CN" altLang="en-US" dirty="0"/>
              <a:t>父类中</a:t>
            </a:r>
            <a:r>
              <a:rPr lang="en-US" altLang="zh-CN" dirty="0"/>
              <a:t>protected</a:t>
            </a:r>
            <a:r>
              <a:rPr lang="zh-CN" altLang="en-US" dirty="0"/>
              <a:t>静态函数</a:t>
            </a:r>
            <a:endParaRPr lang="en-US" dirty="0"/>
          </a:p>
        </p:txBody>
      </p:sp>
      <p:pic>
        <p:nvPicPr>
          <p:cNvPr id="2" name="Picture 1">
            <a:extLst>
              <a:ext uri="{FF2B5EF4-FFF2-40B4-BE49-F238E27FC236}">
                <a16:creationId xmlns:a16="http://schemas.microsoft.com/office/drawing/2014/main" id="{4333A573-2C58-F1F7-84EF-001E0B691BDE}"/>
              </a:ext>
            </a:extLst>
          </p:cNvPr>
          <p:cNvPicPr>
            <a:picLocks noChangeAspect="1"/>
          </p:cNvPicPr>
          <p:nvPr/>
        </p:nvPicPr>
        <p:blipFill>
          <a:blip r:embed="rId2"/>
          <a:stretch>
            <a:fillRect/>
          </a:stretch>
        </p:blipFill>
        <p:spPr>
          <a:xfrm>
            <a:off x="107504" y="1187450"/>
            <a:ext cx="8888097" cy="4483100"/>
          </a:xfrm>
          <a:prstGeom prst="rect">
            <a:avLst/>
          </a:prstGeom>
        </p:spPr>
      </p:pic>
      <p:sp>
        <p:nvSpPr>
          <p:cNvPr id="3" name="Rectangle 2">
            <a:extLst>
              <a:ext uri="{FF2B5EF4-FFF2-40B4-BE49-F238E27FC236}">
                <a16:creationId xmlns:a16="http://schemas.microsoft.com/office/drawing/2014/main" id="{5612EBE1-00C4-82E9-9076-B1586284A947}"/>
              </a:ext>
            </a:extLst>
          </p:cNvPr>
          <p:cNvSpPr/>
          <p:nvPr/>
        </p:nvSpPr>
        <p:spPr>
          <a:xfrm>
            <a:off x="761999" y="4114800"/>
            <a:ext cx="8233601" cy="15557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1527616"/>
      </p:ext>
    </p:extLst>
  </p:cSld>
  <p:clrMapOvr>
    <a:masterClrMapping/>
  </p:clrMapOvr>
  <p:transition spd="med">
    <p:pull dir="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A8B17C8-27C5-A997-A44C-3256DA61F9DF}"/>
              </a:ext>
            </a:extLst>
          </p:cNvPr>
          <p:cNvSpPr>
            <a:spLocks noGrp="1"/>
          </p:cNvSpPr>
          <p:nvPr>
            <p:ph type="title"/>
          </p:nvPr>
        </p:nvSpPr>
        <p:spPr>
          <a:xfrm>
            <a:off x="107504" y="44624"/>
            <a:ext cx="8640960" cy="634082"/>
          </a:xfrm>
        </p:spPr>
        <p:txBody>
          <a:bodyPr/>
          <a:lstStyle/>
          <a:p>
            <a:pPr algn="l"/>
            <a:r>
              <a:rPr lang="zh-CN" altLang="en-US" sz="2800" i="0" dirty="0">
                <a:solidFill>
                  <a:srgbClr val="FF0000"/>
                </a:solidFill>
                <a:effectLst/>
                <a:latin typeface="PingFang SC"/>
              </a:rPr>
              <a:t>子类均可直接访问父类静态成员函数</a:t>
            </a:r>
            <a:endParaRPr lang="en-SG" altLang="zh-CN" sz="2800" i="0" dirty="0">
              <a:solidFill>
                <a:srgbClr val="FF0000"/>
              </a:solidFill>
              <a:effectLst/>
              <a:latin typeface="PingFang SC"/>
            </a:endParaRPr>
          </a:p>
        </p:txBody>
      </p:sp>
      <p:pic>
        <p:nvPicPr>
          <p:cNvPr id="4" name="Picture 3">
            <a:extLst>
              <a:ext uri="{FF2B5EF4-FFF2-40B4-BE49-F238E27FC236}">
                <a16:creationId xmlns:a16="http://schemas.microsoft.com/office/drawing/2014/main" id="{10896E5C-8106-822F-F71C-CF65CDB6081A}"/>
              </a:ext>
            </a:extLst>
          </p:cNvPr>
          <p:cNvPicPr>
            <a:picLocks noChangeAspect="1"/>
          </p:cNvPicPr>
          <p:nvPr/>
        </p:nvPicPr>
        <p:blipFill>
          <a:blip r:embed="rId2"/>
          <a:stretch>
            <a:fillRect/>
          </a:stretch>
        </p:blipFill>
        <p:spPr>
          <a:xfrm>
            <a:off x="381000" y="914400"/>
            <a:ext cx="8500678" cy="4419600"/>
          </a:xfrm>
          <a:prstGeom prst="rect">
            <a:avLst/>
          </a:prstGeom>
        </p:spPr>
      </p:pic>
      <p:cxnSp>
        <p:nvCxnSpPr>
          <p:cNvPr id="6" name="Straight Connector 5">
            <a:extLst>
              <a:ext uri="{FF2B5EF4-FFF2-40B4-BE49-F238E27FC236}">
                <a16:creationId xmlns:a16="http://schemas.microsoft.com/office/drawing/2014/main" id="{3D3B12D7-B361-1383-7941-80CA5B1EA3CE}"/>
              </a:ext>
            </a:extLst>
          </p:cNvPr>
          <p:cNvCxnSpPr/>
          <p:nvPr/>
        </p:nvCxnSpPr>
        <p:spPr>
          <a:xfrm>
            <a:off x="3124200" y="4876800"/>
            <a:ext cx="2895600"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Multiply 6">
            <a:extLst>
              <a:ext uri="{FF2B5EF4-FFF2-40B4-BE49-F238E27FC236}">
                <a16:creationId xmlns:a16="http://schemas.microsoft.com/office/drawing/2014/main" id="{48AD8100-1DDA-6093-8B54-3BC306C7E929}"/>
              </a:ext>
            </a:extLst>
          </p:cNvPr>
          <p:cNvSpPr/>
          <p:nvPr/>
        </p:nvSpPr>
        <p:spPr>
          <a:xfrm>
            <a:off x="6025243" y="4495800"/>
            <a:ext cx="533400" cy="533400"/>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9582342"/>
      </p:ext>
    </p:extLst>
  </p:cSld>
  <p:clrMapOvr>
    <a:masterClrMapping/>
  </p:clrMapOvr>
  <p:transition spd="med">
    <p:pull dir="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436192B-77B5-490F-B0B0-8513D28A4FA6}"/>
              </a:ext>
            </a:extLst>
          </p:cNvPr>
          <p:cNvSpPr>
            <a:spLocks noGrp="1"/>
          </p:cNvSpPr>
          <p:nvPr>
            <p:ph type="title"/>
          </p:nvPr>
        </p:nvSpPr>
        <p:spPr/>
        <p:txBody>
          <a:bodyPr>
            <a:normAutofit/>
          </a:bodyPr>
          <a:lstStyle/>
          <a:p>
            <a:r>
              <a:rPr lang="zh-CN" altLang="en-US" b="1" i="0" dirty="0">
                <a:solidFill>
                  <a:srgbClr val="4F4F4F"/>
                </a:solidFill>
                <a:effectLst/>
                <a:latin typeface="PingFang SC"/>
              </a:rPr>
              <a:t>在不同包下，非子类不可访问</a:t>
            </a:r>
            <a:endParaRPr lang="zh-CN" altLang="en-US" dirty="0"/>
          </a:p>
        </p:txBody>
      </p:sp>
      <p:pic>
        <p:nvPicPr>
          <p:cNvPr id="2" name="Picture 1">
            <a:extLst>
              <a:ext uri="{FF2B5EF4-FFF2-40B4-BE49-F238E27FC236}">
                <a16:creationId xmlns:a16="http://schemas.microsoft.com/office/drawing/2014/main" id="{2400617E-A528-0B3D-C9B0-C04EF4B1562E}"/>
              </a:ext>
            </a:extLst>
          </p:cNvPr>
          <p:cNvPicPr>
            <a:picLocks noChangeAspect="1"/>
          </p:cNvPicPr>
          <p:nvPr/>
        </p:nvPicPr>
        <p:blipFill>
          <a:blip r:embed="rId2"/>
          <a:stretch>
            <a:fillRect/>
          </a:stretch>
        </p:blipFill>
        <p:spPr>
          <a:xfrm>
            <a:off x="457200" y="914400"/>
            <a:ext cx="7825154" cy="4572000"/>
          </a:xfrm>
          <a:prstGeom prst="rect">
            <a:avLst/>
          </a:prstGeom>
        </p:spPr>
      </p:pic>
      <p:cxnSp>
        <p:nvCxnSpPr>
          <p:cNvPr id="4" name="Straight Connector 3">
            <a:extLst>
              <a:ext uri="{FF2B5EF4-FFF2-40B4-BE49-F238E27FC236}">
                <a16:creationId xmlns:a16="http://schemas.microsoft.com/office/drawing/2014/main" id="{A7E528CB-2B88-C3BE-15C7-4C85B9E465AC}"/>
              </a:ext>
            </a:extLst>
          </p:cNvPr>
          <p:cNvCxnSpPr/>
          <p:nvPr/>
        </p:nvCxnSpPr>
        <p:spPr>
          <a:xfrm>
            <a:off x="3048000" y="4191000"/>
            <a:ext cx="2895600"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Multiply 5">
            <a:extLst>
              <a:ext uri="{FF2B5EF4-FFF2-40B4-BE49-F238E27FC236}">
                <a16:creationId xmlns:a16="http://schemas.microsoft.com/office/drawing/2014/main" id="{D7E4A32B-2AB6-C763-D77A-3D4FD1737069}"/>
              </a:ext>
            </a:extLst>
          </p:cNvPr>
          <p:cNvSpPr/>
          <p:nvPr/>
        </p:nvSpPr>
        <p:spPr>
          <a:xfrm>
            <a:off x="5949043" y="3810000"/>
            <a:ext cx="533400" cy="533400"/>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5A4B9CA-E14A-F3A8-C2BB-FBC21DABB973}"/>
              </a:ext>
            </a:extLst>
          </p:cNvPr>
          <p:cNvCxnSpPr/>
          <p:nvPr/>
        </p:nvCxnSpPr>
        <p:spPr>
          <a:xfrm>
            <a:off x="3194958" y="4648200"/>
            <a:ext cx="2895600"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Multiply 7">
            <a:extLst>
              <a:ext uri="{FF2B5EF4-FFF2-40B4-BE49-F238E27FC236}">
                <a16:creationId xmlns:a16="http://schemas.microsoft.com/office/drawing/2014/main" id="{6F28D795-DB19-4228-40CD-872A83C5FF4B}"/>
              </a:ext>
            </a:extLst>
          </p:cNvPr>
          <p:cNvSpPr/>
          <p:nvPr/>
        </p:nvSpPr>
        <p:spPr>
          <a:xfrm>
            <a:off x="6096001" y="4267200"/>
            <a:ext cx="533400" cy="533400"/>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2B5926F-9BFE-42FA-9E2C-60D476B332DC}"/>
              </a:ext>
            </a:extLst>
          </p:cNvPr>
          <p:cNvSpPr/>
          <p:nvPr/>
        </p:nvSpPr>
        <p:spPr>
          <a:xfrm>
            <a:off x="2514600" y="1981200"/>
            <a:ext cx="2057400" cy="76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1308415"/>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up)">
                                      <p:cBhvr>
                                        <p:cTn id="8" dur="500"/>
                                        <p:tgtEl>
                                          <p:spTgt spid="6"/>
                                        </p:tgtEl>
                                      </p:cBhvr>
                                    </p:animEffect>
                                  </p:childTnLst>
                                </p:cTn>
                              </p:par>
                              <p:par>
                                <p:cTn id="9" presetID="1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p:tgtEl>
                                          <p:spTgt spid="4"/>
                                        </p:tgtEl>
                                        <p:attrNameLst>
                                          <p:attrName>ppt_y</p:attrName>
                                        </p:attrNameLst>
                                      </p:cBhvr>
                                      <p:tavLst>
                                        <p:tav tm="0">
                                          <p:val>
                                            <p:strVal val="#ppt_y+#ppt_h*1.125000"/>
                                          </p:val>
                                        </p:tav>
                                        <p:tav tm="100000">
                                          <p:val>
                                            <p:strVal val="#ppt_y"/>
                                          </p:val>
                                        </p:tav>
                                      </p:tavLst>
                                    </p:anim>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p:tgtEl>
                                          <p:spTgt spid="8"/>
                                        </p:tgtEl>
                                        <p:attrNameLst>
                                          <p:attrName>ppt_y</p:attrName>
                                        </p:attrNameLst>
                                      </p:cBhvr>
                                      <p:tavLst>
                                        <p:tav tm="0">
                                          <p:val>
                                            <p:strVal val="#ppt_y+#ppt_h*1.125000"/>
                                          </p:val>
                                        </p:tav>
                                        <p:tav tm="100000">
                                          <p:val>
                                            <p:strVal val="#ppt_y"/>
                                          </p:val>
                                        </p:tav>
                                      </p:tavLst>
                                    </p:anim>
                                    <p:animEffect transition="in" filter="wipe(up)">
                                      <p:cBhvr>
                                        <p:cTn id="18" dur="500"/>
                                        <p:tgtEl>
                                          <p:spTgt spid="8"/>
                                        </p:tgtEl>
                                      </p:cBhvr>
                                    </p:animEffect>
                                  </p:childTnLst>
                                </p:cTn>
                              </p:par>
                              <p:par>
                                <p:cTn id="19" presetID="12" presetClass="entr" presetSubtype="4"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p:tgtEl>
                                          <p:spTgt spid="7"/>
                                        </p:tgtEl>
                                        <p:attrNameLst>
                                          <p:attrName>ppt_y</p:attrName>
                                        </p:attrNameLst>
                                      </p:cBhvr>
                                      <p:tavLst>
                                        <p:tav tm="0">
                                          <p:val>
                                            <p:strVal val="#ppt_y+#ppt_h*1.125000"/>
                                          </p:val>
                                        </p:tav>
                                        <p:tav tm="100000">
                                          <p:val>
                                            <p:strVal val="#ppt_y"/>
                                          </p:val>
                                        </p:tav>
                                      </p:tavLst>
                                    </p:anim>
                                    <p:animEffect transition="in" filter="wipe(up)">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zh-CN" sz="2800" dirty="0"/>
              <a:t>Java</a:t>
            </a:r>
            <a:r>
              <a:rPr lang="zh-CN" altLang="en-US" sz="2800" dirty="0"/>
              <a:t>中，类可以是</a:t>
            </a:r>
            <a:r>
              <a:rPr lang="en-US" altLang="zh-CN" sz="2800" b="1" dirty="0">
                <a:solidFill>
                  <a:srgbClr val="C00000"/>
                </a:solidFill>
                <a:effectLst>
                  <a:outerShdw blurRad="38100" dist="38100" dir="2700000" algn="tl">
                    <a:srgbClr val="000000">
                      <a:alpha val="43137"/>
                    </a:srgbClr>
                  </a:outerShdw>
                </a:effectLst>
              </a:rPr>
              <a:t>public</a:t>
            </a:r>
            <a:r>
              <a:rPr lang="zh-CN" altLang="en-US" sz="2800" b="1" dirty="0">
                <a:solidFill>
                  <a:srgbClr val="C00000"/>
                </a:solidFill>
                <a:effectLst>
                  <a:outerShdw blurRad="38100" dist="38100" dir="2700000" algn="tl">
                    <a:srgbClr val="000000">
                      <a:alpha val="43137"/>
                    </a:srgbClr>
                  </a:outerShdw>
                </a:effectLst>
              </a:rPr>
              <a:t>和默认访问级别</a:t>
            </a:r>
            <a:endParaRPr lang="en-US" altLang="zh-CN" sz="2800" b="1" dirty="0">
              <a:solidFill>
                <a:srgbClr val="C00000"/>
              </a:solidFill>
              <a:effectLst>
                <a:outerShdw blurRad="38100" dist="38100" dir="2700000" algn="tl">
                  <a:srgbClr val="000000">
                    <a:alpha val="43137"/>
                  </a:srgbClr>
                </a:outerShdw>
              </a:effectLst>
            </a:endParaRPr>
          </a:p>
          <a:p>
            <a:endParaRPr lang="en-US" altLang="zh-CN" sz="2800" dirty="0"/>
          </a:p>
          <a:p>
            <a:pPr lvl="1"/>
            <a:r>
              <a:rPr lang="en-US" altLang="zh-CN" dirty="0"/>
              <a:t>public</a:t>
            </a:r>
            <a:r>
              <a:rPr lang="zh-CN" altLang="en-US" dirty="0"/>
              <a:t>级别的类可以被所有其他类继承。</a:t>
            </a:r>
            <a:endParaRPr lang="en-US" altLang="zh-CN" dirty="0"/>
          </a:p>
          <a:p>
            <a:pPr lvl="1"/>
            <a:endParaRPr lang="en-US" altLang="zh-CN" dirty="0"/>
          </a:p>
          <a:p>
            <a:pPr lvl="1"/>
            <a:r>
              <a:rPr lang="zh-CN" altLang="en-US" dirty="0"/>
              <a:t>默认级别的类只能被同一个包中的类继承。</a:t>
            </a:r>
            <a:r>
              <a:rPr lang="en-US" altLang="zh-CN" dirty="0"/>
              <a:t> </a:t>
            </a:r>
          </a:p>
          <a:p>
            <a:endParaRPr lang="zh-CN" altLang="en-US" dirty="0"/>
          </a:p>
        </p:txBody>
      </p:sp>
      <p:sp>
        <p:nvSpPr>
          <p:cNvPr id="3" name="Title 2"/>
          <p:cNvSpPr>
            <a:spLocks noGrp="1"/>
          </p:cNvSpPr>
          <p:nvPr>
            <p:ph type="title"/>
          </p:nvPr>
        </p:nvSpPr>
        <p:spPr/>
        <p:txBody>
          <a:bodyPr/>
          <a:lstStyle/>
          <a:p>
            <a:r>
              <a:rPr lang="zh-CN" altLang="en-SG" dirty="0"/>
              <a:t>继承</a:t>
            </a:r>
            <a:r>
              <a:rPr lang="zh-CN" altLang="en-US" dirty="0"/>
              <a:t>中</a:t>
            </a:r>
            <a:r>
              <a:rPr lang="en-US" altLang="zh-CN" dirty="0"/>
              <a:t>public</a:t>
            </a:r>
            <a:r>
              <a:rPr lang="zh-CN" altLang="en-US" dirty="0"/>
              <a:t>和默认访问级别</a:t>
            </a:r>
          </a:p>
        </p:txBody>
      </p:sp>
    </p:spTree>
    <p:extLst>
      <p:ext uri="{BB962C8B-B14F-4D97-AF65-F5344CB8AC3E}">
        <p14:creationId xmlns:p14="http://schemas.microsoft.com/office/powerpoint/2010/main" val="4201080045"/>
      </p:ext>
    </p:extLst>
  </p:cSld>
  <p:clrMapOvr>
    <a:masterClrMapping/>
  </p:clrMapOvr>
  <p:transition spd="med">
    <p:pull dir="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示例代码</a:t>
            </a:r>
            <a:r>
              <a:rPr lang="en-US" altLang="zh-CN" dirty="0">
                <a:sym typeface="Wingdings" pitchFamily="2" charset="2"/>
              </a:rPr>
              <a:t>(</a:t>
            </a:r>
            <a:r>
              <a:rPr lang="zh-CN" altLang="en-US" dirty="0"/>
              <a:t>默认级别的类只能被同一个包中的类访问</a:t>
            </a:r>
            <a:r>
              <a:rPr lang="en-US" altLang="zh-CN" dirty="0">
                <a:sym typeface="Wingdings" pitchFamily="2" charset="2"/>
              </a:rPr>
              <a:t>)</a:t>
            </a:r>
            <a:endParaRPr lang="zh-CN" altLang="en-US" dirty="0"/>
          </a:p>
        </p:txBody>
      </p:sp>
      <p:grpSp>
        <p:nvGrpSpPr>
          <p:cNvPr id="6" name="Group 5"/>
          <p:cNvGrpSpPr/>
          <p:nvPr/>
        </p:nvGrpSpPr>
        <p:grpSpPr>
          <a:xfrm>
            <a:off x="622647" y="1219200"/>
            <a:ext cx="8292753" cy="4154985"/>
            <a:chOff x="622647" y="1219200"/>
            <a:chExt cx="7635081" cy="2951360"/>
          </a:xfrm>
        </p:grpSpPr>
        <p:sp>
          <p:nvSpPr>
            <p:cNvPr id="4" name="TextBox 3"/>
            <p:cNvSpPr txBox="1"/>
            <p:nvPr/>
          </p:nvSpPr>
          <p:spPr>
            <a:xfrm>
              <a:off x="622647" y="1269559"/>
              <a:ext cx="2448272" cy="1114958"/>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US" altLang="zh-CN" sz="2400" dirty="0">
                  <a:ea typeface="楷体" panose="02010609060101010101" pitchFamily="49" charset="-122"/>
                </a:rPr>
                <a:t>package  mpack1;</a:t>
              </a:r>
            </a:p>
            <a:p>
              <a:pPr>
                <a:defRPr/>
              </a:pPr>
              <a:r>
                <a:rPr lang="en-US" altLang="zh-CN" sz="2400" dirty="0">
                  <a:ea typeface="楷体" panose="02010609060101010101" pitchFamily="49" charset="-122"/>
                </a:rPr>
                <a:t>class Base1{}</a:t>
              </a:r>
            </a:p>
            <a:p>
              <a:pPr>
                <a:defRPr/>
              </a:pPr>
              <a:r>
                <a:rPr lang="en-US" altLang="zh-CN" sz="2400" dirty="0">
                  <a:ea typeface="楷体" panose="02010609060101010101" pitchFamily="49" charset="-122"/>
                </a:rPr>
                <a:t>public class Base2{}</a:t>
              </a:r>
              <a:endParaRPr lang="zh-CN" altLang="en-US" sz="2400" dirty="0">
                <a:ea typeface="楷体" panose="02010609060101010101" pitchFamily="49" charset="-122"/>
              </a:endParaRPr>
            </a:p>
            <a:p>
              <a:pPr>
                <a:defRPr/>
              </a:pPr>
              <a:endParaRPr lang="zh-CN" altLang="en-US" sz="2400" dirty="0">
                <a:ea typeface="楷体" panose="02010609060101010101" pitchFamily="49" charset="-122"/>
              </a:endParaRPr>
            </a:p>
          </p:txBody>
        </p:sp>
        <p:sp>
          <p:nvSpPr>
            <p:cNvPr id="5" name="TextBox 4"/>
            <p:cNvSpPr txBox="1"/>
            <p:nvPr/>
          </p:nvSpPr>
          <p:spPr>
            <a:xfrm>
              <a:off x="3505200" y="1219200"/>
              <a:ext cx="4752528" cy="2951360"/>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US" altLang="zh-CN" sz="2400" dirty="0">
                  <a:ea typeface="楷体" panose="02010609060101010101" pitchFamily="49" charset="-122"/>
                </a:rPr>
                <a:t>package  mpack2;</a:t>
              </a:r>
            </a:p>
            <a:p>
              <a:pPr>
                <a:defRPr/>
              </a:pPr>
              <a:r>
                <a:rPr lang="en-US" altLang="zh-CN" sz="2400" b="1" dirty="0">
                  <a:solidFill>
                    <a:srgbClr val="C00000"/>
                  </a:solidFill>
                  <a:effectLst>
                    <a:outerShdw blurRad="38100" dist="38100" dir="2700000" algn="tl">
                      <a:srgbClr val="000000">
                        <a:alpha val="43137"/>
                      </a:srgbClr>
                    </a:outerShdw>
                  </a:effectLst>
                  <a:ea typeface="楷体" panose="02010609060101010101" pitchFamily="49" charset="-122"/>
                </a:rPr>
                <a:t>class Sub1 extends Base1{}  //</a:t>
              </a:r>
              <a:r>
                <a:rPr lang="zh-CN" altLang="en-US" sz="2400" b="1" dirty="0">
                  <a:solidFill>
                    <a:srgbClr val="C00000"/>
                  </a:solidFill>
                  <a:effectLst>
                    <a:outerShdw blurRad="38100" dist="38100" dir="2700000" algn="tl">
                      <a:srgbClr val="000000">
                        <a:alpha val="43137"/>
                      </a:srgbClr>
                    </a:outerShdw>
                  </a:effectLst>
                  <a:ea typeface="楷体" panose="02010609060101010101" pitchFamily="49" charset="-122"/>
                </a:rPr>
                <a:t>非法</a:t>
              </a:r>
              <a:endParaRPr lang="en-US" altLang="zh-CN" sz="2400" b="1" dirty="0">
                <a:solidFill>
                  <a:srgbClr val="C00000"/>
                </a:solidFill>
                <a:effectLst>
                  <a:outerShdw blurRad="38100" dist="38100" dir="2700000" algn="tl">
                    <a:srgbClr val="000000">
                      <a:alpha val="43137"/>
                    </a:srgbClr>
                  </a:outerShdw>
                </a:effectLst>
                <a:ea typeface="楷体" panose="02010609060101010101" pitchFamily="49" charset="-122"/>
              </a:endParaRPr>
            </a:p>
            <a:p>
              <a:pPr>
                <a:defRPr/>
              </a:pPr>
              <a:r>
                <a:rPr lang="en-US" altLang="zh-CN" sz="2400" dirty="0">
                  <a:ea typeface="楷体" panose="02010609060101010101" pitchFamily="49" charset="-122"/>
                </a:rPr>
                <a:t>class Sub2 extends Base2{}</a:t>
              </a:r>
            </a:p>
            <a:p>
              <a:pPr>
                <a:defRPr/>
              </a:pPr>
              <a:endParaRPr lang="en-US" altLang="zh-CN" sz="2400" dirty="0">
                <a:ea typeface="楷体" panose="02010609060101010101" pitchFamily="49" charset="-122"/>
              </a:endParaRPr>
            </a:p>
            <a:p>
              <a:pPr>
                <a:defRPr/>
              </a:pPr>
              <a:r>
                <a:rPr lang="en-US" altLang="zh-CN" sz="2400" dirty="0">
                  <a:ea typeface="楷体" panose="02010609060101010101" pitchFamily="49" charset="-122"/>
                </a:rPr>
                <a:t>public class Guest{</a:t>
              </a:r>
            </a:p>
            <a:p>
              <a:pPr>
                <a:defRPr/>
              </a:pPr>
              <a:r>
                <a:rPr lang="en-US" altLang="zh-CN" sz="2400" dirty="0">
                  <a:ea typeface="楷体" panose="02010609060101010101" pitchFamily="49" charset="-122"/>
                </a:rPr>
                <a:t>     public void test(){</a:t>
              </a:r>
            </a:p>
            <a:p>
              <a:pPr>
                <a:defRPr/>
              </a:pPr>
              <a:r>
                <a:rPr lang="en-US" altLang="zh-CN" sz="2400" b="1" dirty="0">
                  <a:solidFill>
                    <a:srgbClr val="C00000"/>
                  </a:solidFill>
                  <a:effectLst>
                    <a:outerShdw blurRad="38100" dist="38100" dir="2700000" algn="tl">
                      <a:srgbClr val="000000">
                        <a:alpha val="43137"/>
                      </a:srgbClr>
                    </a:outerShdw>
                  </a:effectLst>
                  <a:ea typeface="楷体" panose="02010609060101010101" pitchFamily="49" charset="-122"/>
                </a:rPr>
                <a:t>          Base1 b1=new Base1(); //</a:t>
              </a:r>
              <a:r>
                <a:rPr lang="zh-CN" altLang="en-US" sz="2400" b="1" dirty="0">
                  <a:solidFill>
                    <a:srgbClr val="C00000"/>
                  </a:solidFill>
                  <a:effectLst>
                    <a:outerShdw blurRad="38100" dist="38100" dir="2700000" algn="tl">
                      <a:srgbClr val="000000">
                        <a:alpha val="43137"/>
                      </a:srgbClr>
                    </a:outerShdw>
                  </a:effectLst>
                  <a:ea typeface="楷体" panose="02010609060101010101" pitchFamily="49" charset="-122"/>
                </a:rPr>
                <a:t>非法</a:t>
              </a:r>
              <a:endParaRPr lang="en-US" altLang="zh-CN" sz="2400" b="1" dirty="0">
                <a:solidFill>
                  <a:srgbClr val="C00000"/>
                </a:solidFill>
                <a:effectLst>
                  <a:outerShdw blurRad="38100" dist="38100" dir="2700000" algn="tl">
                    <a:srgbClr val="000000">
                      <a:alpha val="43137"/>
                    </a:srgbClr>
                  </a:outerShdw>
                </a:effectLst>
                <a:ea typeface="楷体" panose="02010609060101010101" pitchFamily="49" charset="-122"/>
              </a:endParaRPr>
            </a:p>
            <a:p>
              <a:pPr>
                <a:defRPr/>
              </a:pPr>
              <a:r>
                <a:rPr lang="en-US" altLang="zh-CN" sz="2400" dirty="0">
                  <a:ea typeface="楷体" panose="02010609060101010101" pitchFamily="49" charset="-122"/>
                </a:rPr>
                <a:t>          Base2</a:t>
              </a:r>
              <a:r>
                <a:rPr lang="zh-CN" altLang="en-US" sz="2400" dirty="0">
                  <a:ea typeface="楷体" panose="02010609060101010101" pitchFamily="49" charset="-122"/>
                </a:rPr>
                <a:t> </a:t>
              </a:r>
              <a:r>
                <a:rPr lang="en-US" altLang="zh-CN" sz="2400" dirty="0">
                  <a:ea typeface="楷体" panose="02010609060101010101" pitchFamily="49" charset="-122"/>
                </a:rPr>
                <a:t>b2=new Base2(); </a:t>
              </a:r>
            </a:p>
            <a:p>
              <a:pPr>
                <a:defRPr/>
              </a:pPr>
              <a:r>
                <a:rPr lang="en-US" altLang="zh-CN" sz="2400" dirty="0">
                  <a:ea typeface="楷体" panose="02010609060101010101" pitchFamily="49" charset="-122"/>
                </a:rPr>
                <a:t>     }</a:t>
              </a:r>
            </a:p>
            <a:p>
              <a:pPr>
                <a:defRPr/>
              </a:pPr>
              <a:r>
                <a:rPr lang="en-US" altLang="zh-CN" sz="2400" dirty="0">
                  <a:ea typeface="楷体" panose="02010609060101010101" pitchFamily="49" charset="-122"/>
                </a:rPr>
                <a:t>}</a:t>
              </a:r>
              <a:endParaRPr lang="zh-CN" altLang="en-US" sz="2400" dirty="0">
                <a:ea typeface="楷体" panose="02010609060101010101" pitchFamily="49" charset="-122"/>
              </a:endParaRPr>
            </a:p>
            <a:p>
              <a:pPr>
                <a:defRPr/>
              </a:pPr>
              <a:endParaRPr lang="zh-CN" altLang="en-US" sz="2400" dirty="0">
                <a:ea typeface="楷体" panose="02010609060101010101" pitchFamily="49" charset="-122"/>
              </a:endParaRPr>
            </a:p>
          </p:txBody>
        </p:sp>
      </p:grpSp>
      <p:sp>
        <p:nvSpPr>
          <p:cNvPr id="7" name="Rectangle 6"/>
          <p:cNvSpPr/>
          <p:nvPr/>
        </p:nvSpPr>
        <p:spPr>
          <a:xfrm>
            <a:off x="3753498" y="1600200"/>
            <a:ext cx="4780902" cy="3985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
        <p:nvSpPr>
          <p:cNvPr id="8" name="Rectangle 7"/>
          <p:cNvSpPr/>
          <p:nvPr/>
        </p:nvSpPr>
        <p:spPr>
          <a:xfrm>
            <a:off x="3764384" y="2074926"/>
            <a:ext cx="44196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Tree>
    <p:extLst>
      <p:ext uri="{BB962C8B-B14F-4D97-AF65-F5344CB8AC3E}">
        <p14:creationId xmlns:p14="http://schemas.microsoft.com/office/powerpoint/2010/main" val="194394607"/>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54AE59F-ED83-4642-B541-2952A73364C8}"/>
              </a:ext>
            </a:extLst>
          </p:cNvPr>
          <p:cNvSpPr>
            <a:spLocks noGrp="1"/>
          </p:cNvSpPr>
          <p:nvPr>
            <p:ph idx="1"/>
          </p:nvPr>
        </p:nvSpPr>
        <p:spPr>
          <a:xfrm>
            <a:off x="457200" y="908720"/>
            <a:ext cx="8229600" cy="5568280"/>
          </a:xfrm>
        </p:spPr>
        <p:txBody>
          <a:bodyPr>
            <a:normAutofit fontScale="85000" lnSpcReduction="20000"/>
          </a:bodyPr>
          <a:lstStyle/>
          <a:p>
            <a:pPr algn="l">
              <a:buFont typeface="+mj-lt"/>
              <a:buAutoNum type="arabicPeriod"/>
            </a:pPr>
            <a:r>
              <a:rPr lang="zh-CN" altLang="en-US" b="0" i="0" dirty="0">
                <a:solidFill>
                  <a:srgbClr val="4D4D4D"/>
                </a:solidFill>
                <a:effectLst/>
                <a:latin typeface="-apple-system"/>
              </a:rPr>
              <a:t>同一个包中， 子类对象能访问父类的 </a:t>
            </a:r>
            <a:r>
              <a:rPr lang="en-US" altLang="zh-CN" b="0" i="0" dirty="0">
                <a:solidFill>
                  <a:srgbClr val="4D4D4D"/>
                </a:solidFill>
                <a:effectLst/>
                <a:latin typeface="-apple-system"/>
              </a:rPr>
              <a:t>protected </a:t>
            </a:r>
            <a:r>
              <a:rPr lang="zh-CN" altLang="en-US" b="0" i="0" dirty="0">
                <a:solidFill>
                  <a:srgbClr val="4D4D4D"/>
                </a:solidFill>
                <a:effectLst/>
                <a:latin typeface="-apple-system"/>
              </a:rPr>
              <a:t>方法吗？</a:t>
            </a:r>
            <a:endParaRPr lang="en-US" altLang="zh-CN" b="0" i="0" dirty="0">
              <a:solidFill>
                <a:srgbClr val="4D4D4D"/>
              </a:solidFill>
              <a:effectLst/>
              <a:latin typeface="-apple-system"/>
            </a:endParaRPr>
          </a:p>
          <a:p>
            <a:pPr lvl="1">
              <a:buFont typeface="Wingdings" panose="05000000000000000000" pitchFamily="2" charset="2"/>
              <a:buChar char="u"/>
            </a:pPr>
            <a:r>
              <a:rPr lang="zh-CN" altLang="en-US" b="0" i="0" dirty="0">
                <a:solidFill>
                  <a:srgbClr val="4D4D4D"/>
                </a:solidFill>
                <a:effectLst/>
                <a:highlight>
                  <a:srgbClr val="FFFF00"/>
                </a:highlight>
                <a:latin typeface="-apple-system"/>
              </a:rPr>
              <a:t>在同一个包中， 普通类或者子类都可以访问基类的 </a:t>
            </a:r>
            <a:r>
              <a:rPr lang="en-US" altLang="zh-CN" b="0" i="0" dirty="0">
                <a:solidFill>
                  <a:srgbClr val="4D4D4D"/>
                </a:solidFill>
                <a:effectLst/>
                <a:highlight>
                  <a:srgbClr val="FFFF00"/>
                </a:highlight>
                <a:latin typeface="-apple-system"/>
              </a:rPr>
              <a:t>protected </a:t>
            </a:r>
            <a:r>
              <a:rPr lang="zh-CN" altLang="en-US" b="0" i="0" dirty="0">
                <a:solidFill>
                  <a:srgbClr val="4D4D4D"/>
                </a:solidFill>
                <a:effectLst/>
                <a:highlight>
                  <a:srgbClr val="FFFF00"/>
                </a:highlight>
                <a:latin typeface="-apple-system"/>
              </a:rPr>
              <a:t>方法。</a:t>
            </a:r>
          </a:p>
          <a:p>
            <a:pPr algn="l">
              <a:buFont typeface="+mj-lt"/>
              <a:buAutoNum type="arabicPeriod"/>
            </a:pPr>
            <a:r>
              <a:rPr lang="zh-CN" altLang="en-US" b="0" i="0" dirty="0">
                <a:solidFill>
                  <a:srgbClr val="4D4D4D"/>
                </a:solidFill>
                <a:effectLst/>
                <a:latin typeface="-apple-system"/>
              </a:rPr>
              <a:t>不同包下， 在子类中创建该子类对象能访问父类的 </a:t>
            </a:r>
            <a:r>
              <a:rPr lang="en-US" altLang="zh-CN" b="0" i="0" dirty="0">
                <a:solidFill>
                  <a:srgbClr val="4D4D4D"/>
                </a:solidFill>
                <a:effectLst/>
                <a:latin typeface="-apple-system"/>
              </a:rPr>
              <a:t>protected </a:t>
            </a:r>
            <a:r>
              <a:rPr lang="zh-CN" altLang="en-US" b="0" i="0" dirty="0">
                <a:solidFill>
                  <a:srgbClr val="4D4D4D"/>
                </a:solidFill>
                <a:effectLst/>
                <a:latin typeface="-apple-system"/>
              </a:rPr>
              <a:t>方法吗？</a:t>
            </a:r>
            <a:endParaRPr lang="en-SG" altLang="zh-CN" b="0" i="0" dirty="0">
              <a:solidFill>
                <a:srgbClr val="4D4D4D"/>
              </a:solidFill>
              <a:effectLst/>
              <a:latin typeface="-apple-system"/>
            </a:endParaRPr>
          </a:p>
          <a:p>
            <a:pPr lvl="1">
              <a:buFont typeface="Wingdings" panose="05000000000000000000" pitchFamily="2" charset="2"/>
              <a:buChar char="u"/>
            </a:pPr>
            <a:r>
              <a:rPr lang="zh-CN" altLang="en-US" dirty="0">
                <a:solidFill>
                  <a:srgbClr val="4D4D4D"/>
                </a:solidFill>
                <a:highlight>
                  <a:srgbClr val="FFFF00"/>
                </a:highlight>
                <a:latin typeface="-apple-system"/>
              </a:rPr>
              <a:t>可以</a:t>
            </a:r>
          </a:p>
          <a:p>
            <a:pPr algn="l">
              <a:buFont typeface="+mj-lt"/>
              <a:buAutoNum type="arabicPeriod"/>
            </a:pPr>
            <a:r>
              <a:rPr lang="zh-CN" altLang="en-US" b="0" i="0" dirty="0">
                <a:solidFill>
                  <a:srgbClr val="4D4D4D"/>
                </a:solidFill>
                <a:effectLst/>
                <a:latin typeface="-apple-system"/>
              </a:rPr>
              <a:t>不同包下， 在子类中创建父类对象能访问父类的 </a:t>
            </a:r>
            <a:r>
              <a:rPr lang="en-US" altLang="zh-CN" b="0" i="0" dirty="0">
                <a:solidFill>
                  <a:srgbClr val="4D4D4D"/>
                </a:solidFill>
                <a:effectLst/>
                <a:latin typeface="-apple-system"/>
              </a:rPr>
              <a:t>protected </a:t>
            </a:r>
            <a:r>
              <a:rPr lang="zh-CN" altLang="en-US" b="0" i="0" dirty="0">
                <a:solidFill>
                  <a:srgbClr val="4D4D4D"/>
                </a:solidFill>
                <a:effectLst/>
                <a:latin typeface="-apple-system"/>
              </a:rPr>
              <a:t>方法吗？</a:t>
            </a:r>
            <a:endParaRPr lang="en-SG" altLang="zh-CN" b="0" i="0" dirty="0">
              <a:solidFill>
                <a:srgbClr val="4D4D4D"/>
              </a:solidFill>
              <a:effectLst/>
              <a:latin typeface="-apple-system"/>
            </a:endParaRPr>
          </a:p>
          <a:p>
            <a:pPr lvl="1">
              <a:buFont typeface="Wingdings" panose="05000000000000000000" pitchFamily="2" charset="2"/>
              <a:buChar char="u"/>
            </a:pPr>
            <a:r>
              <a:rPr lang="zh-CN" altLang="en-US" dirty="0">
                <a:solidFill>
                  <a:srgbClr val="4D4D4D"/>
                </a:solidFill>
                <a:highlight>
                  <a:srgbClr val="FFFF00"/>
                </a:highlight>
                <a:latin typeface="-apple-system"/>
              </a:rPr>
              <a:t>不可以</a:t>
            </a:r>
          </a:p>
          <a:p>
            <a:pPr algn="l">
              <a:buFont typeface="+mj-lt"/>
              <a:buAutoNum type="arabicPeriod"/>
            </a:pPr>
            <a:r>
              <a:rPr lang="zh-CN" altLang="en-US" b="0" i="0" dirty="0">
                <a:solidFill>
                  <a:srgbClr val="4D4D4D"/>
                </a:solidFill>
                <a:effectLst/>
                <a:latin typeface="-apple-system"/>
              </a:rPr>
              <a:t>不同包下， 在子类中创建另一个子类的对象能访问公共父类的 </a:t>
            </a:r>
            <a:r>
              <a:rPr lang="en-US" altLang="zh-CN" b="0" i="0" dirty="0">
                <a:solidFill>
                  <a:srgbClr val="4D4D4D"/>
                </a:solidFill>
                <a:effectLst/>
                <a:latin typeface="-apple-system"/>
              </a:rPr>
              <a:t>protected </a:t>
            </a:r>
            <a:r>
              <a:rPr lang="zh-CN" altLang="en-US" b="0" i="0" dirty="0">
                <a:solidFill>
                  <a:srgbClr val="4D4D4D"/>
                </a:solidFill>
                <a:effectLst/>
                <a:latin typeface="-apple-system"/>
              </a:rPr>
              <a:t>方法吗？</a:t>
            </a:r>
            <a:endParaRPr lang="en-SG" altLang="zh-CN" b="0" i="0" dirty="0">
              <a:solidFill>
                <a:srgbClr val="4D4D4D"/>
              </a:solidFill>
              <a:effectLst/>
              <a:latin typeface="-apple-system"/>
            </a:endParaRPr>
          </a:p>
          <a:p>
            <a:pPr lvl="1">
              <a:buFont typeface="Wingdings" panose="05000000000000000000" pitchFamily="2" charset="2"/>
              <a:buChar char="u"/>
            </a:pPr>
            <a:r>
              <a:rPr lang="zh-CN" altLang="en-US" dirty="0">
                <a:solidFill>
                  <a:srgbClr val="4D4D4D"/>
                </a:solidFill>
                <a:highlight>
                  <a:srgbClr val="FFFF00"/>
                </a:highlight>
                <a:latin typeface="-apple-system"/>
              </a:rPr>
              <a:t>不可以</a:t>
            </a:r>
            <a:endParaRPr lang="zh-CN" altLang="en-US" b="0" i="0" dirty="0">
              <a:solidFill>
                <a:srgbClr val="4D4D4D"/>
              </a:solidFill>
              <a:effectLst/>
              <a:latin typeface="-apple-system"/>
            </a:endParaRPr>
          </a:p>
          <a:p>
            <a:pPr>
              <a:buFont typeface="+mj-lt"/>
              <a:buAutoNum type="arabicPeriod"/>
            </a:pPr>
            <a:r>
              <a:rPr lang="zh-CN" altLang="en-US" dirty="0">
                <a:solidFill>
                  <a:srgbClr val="4D4D4D"/>
                </a:solidFill>
                <a:latin typeface="-apple-system"/>
              </a:rPr>
              <a:t>不同包下，子类能访问父</a:t>
            </a:r>
            <a:r>
              <a:rPr lang="zh-CN" altLang="en-US" b="0" i="0" dirty="0">
                <a:solidFill>
                  <a:srgbClr val="4D4D4D"/>
                </a:solidFill>
                <a:effectLst/>
                <a:latin typeface="-apple-system"/>
              </a:rPr>
              <a:t>类 的</a:t>
            </a:r>
            <a:r>
              <a:rPr lang="en-US" altLang="zh-CN" b="0" i="0" dirty="0">
                <a:solidFill>
                  <a:srgbClr val="4D4D4D"/>
                </a:solidFill>
                <a:effectLst/>
                <a:latin typeface="-apple-system"/>
              </a:rPr>
              <a:t>protected </a:t>
            </a:r>
            <a:r>
              <a:rPr lang="zh-CN" altLang="en-US" b="0" i="0" dirty="0">
                <a:solidFill>
                  <a:srgbClr val="4D4D4D"/>
                </a:solidFill>
                <a:effectLst/>
                <a:latin typeface="-apple-system"/>
              </a:rPr>
              <a:t>静态方法吗？</a:t>
            </a:r>
          </a:p>
          <a:p>
            <a:pPr lvl="1">
              <a:buFont typeface="Wingdings" panose="05000000000000000000" pitchFamily="2" charset="2"/>
              <a:buChar char="u"/>
            </a:pPr>
            <a:r>
              <a:rPr lang="zh-CN" altLang="en-US" dirty="0">
                <a:solidFill>
                  <a:srgbClr val="4D4D4D"/>
                </a:solidFill>
                <a:highlight>
                  <a:srgbClr val="FFFF00"/>
                </a:highlight>
                <a:latin typeface="-apple-system"/>
              </a:rPr>
              <a:t>可以</a:t>
            </a:r>
          </a:p>
          <a:p>
            <a:pPr marL="0" indent="0">
              <a:buNone/>
            </a:pPr>
            <a:endParaRPr lang="zh-CN" altLang="en-US" dirty="0"/>
          </a:p>
        </p:txBody>
      </p:sp>
      <p:sp>
        <p:nvSpPr>
          <p:cNvPr id="3" name="标题 2">
            <a:extLst>
              <a:ext uri="{FF2B5EF4-FFF2-40B4-BE49-F238E27FC236}">
                <a16:creationId xmlns:a16="http://schemas.microsoft.com/office/drawing/2014/main" id="{1E87BA3D-522B-4EDC-939B-03E8AF88385B}"/>
              </a:ext>
            </a:extLst>
          </p:cNvPr>
          <p:cNvSpPr>
            <a:spLocks noGrp="1"/>
          </p:cNvSpPr>
          <p:nvPr>
            <p:ph type="title"/>
          </p:nvPr>
        </p:nvSpPr>
        <p:spPr/>
        <p:txBody>
          <a:bodyPr/>
          <a:lstStyle/>
          <a:p>
            <a:r>
              <a:rPr lang="en-US" altLang="zh-CN" dirty="0"/>
              <a:t>Quiz</a:t>
            </a:r>
            <a:endParaRPr lang="zh-CN" altLang="en-US" dirty="0"/>
          </a:p>
        </p:txBody>
      </p:sp>
    </p:spTree>
    <p:extLst>
      <p:ext uri="{BB962C8B-B14F-4D97-AF65-F5344CB8AC3E}">
        <p14:creationId xmlns:p14="http://schemas.microsoft.com/office/powerpoint/2010/main" val="755780939"/>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p:tgtEl>
                                          <p:spTgt spid="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p:tgtEl>
                                          <p:spTgt spid="2">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2">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p:tgtEl>
                                          <p:spTgt spid="2">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2">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p:tgtEl>
                                          <p:spTgt spid="2">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2">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p:tgtEl>
                                          <p:spTgt spid="2">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2">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p:tgtEl>
                                          <p:spTgt spid="2">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2">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nodeType="clickEffect">
                                  <p:stCondLst>
                                    <p:cond delay="0"/>
                                  </p:stCondLst>
                                  <p:childTnLst>
                                    <p:set>
                                      <p:cBhvr>
                                        <p:cTn id="60" dur="1" fill="hold">
                                          <p:stCondLst>
                                            <p:cond delay="0"/>
                                          </p:stCondLst>
                                        </p:cTn>
                                        <p:tgtEl>
                                          <p:spTgt spid="2">
                                            <p:txEl>
                                              <p:pRg st="9" end="9"/>
                                            </p:txEl>
                                          </p:spTgt>
                                        </p:tgtEl>
                                        <p:attrNameLst>
                                          <p:attrName>style.visibility</p:attrName>
                                        </p:attrNameLst>
                                      </p:cBhvr>
                                      <p:to>
                                        <p:strVal val="visible"/>
                                      </p:to>
                                    </p:set>
                                    <p:anim calcmode="lin" valueType="num">
                                      <p:cBhvr additive="base">
                                        <p:cTn id="61" dur="500"/>
                                        <p:tgtEl>
                                          <p:spTgt spid="2">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将基类数据成员定义成</a:t>
            </a:r>
            <a:r>
              <a:rPr lang="en-US" altLang="zh-CN" dirty="0"/>
              <a:t>private</a:t>
            </a:r>
          </a:p>
          <a:p>
            <a:pPr lvl="1"/>
            <a:r>
              <a:rPr lang="zh-CN" altLang="en-US" sz="3200" dirty="0"/>
              <a:t>派生类中通过相应的访问函数进行访问</a:t>
            </a:r>
          </a:p>
          <a:p>
            <a:pPr lvl="1"/>
            <a:r>
              <a:rPr lang="zh-CN" altLang="en-US" sz="3200" dirty="0"/>
              <a:t>优点：保持基类的封装性</a:t>
            </a:r>
          </a:p>
          <a:p>
            <a:pPr lvl="1"/>
            <a:r>
              <a:rPr lang="zh-CN" altLang="en-US" sz="3200" dirty="0"/>
              <a:t>缺点：降低了访问效率</a:t>
            </a:r>
          </a:p>
          <a:p>
            <a:endParaRPr lang="zh-CN" altLang="en-US" dirty="0"/>
          </a:p>
        </p:txBody>
      </p:sp>
      <p:sp>
        <p:nvSpPr>
          <p:cNvPr id="3" name="Title 2"/>
          <p:cNvSpPr>
            <a:spLocks noGrp="1"/>
          </p:cNvSpPr>
          <p:nvPr>
            <p:ph type="title"/>
          </p:nvPr>
        </p:nvSpPr>
        <p:spPr/>
        <p:txBody>
          <a:bodyPr>
            <a:normAutofit/>
          </a:bodyPr>
          <a:lstStyle/>
          <a:p>
            <a:r>
              <a:rPr lang="zh-CN" altLang="en-US" dirty="0"/>
              <a:t>继承中的数据保护原则</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69</a:t>
            </a:fld>
            <a:endParaRPr lang="en-US" altLang="zh-CN"/>
          </a:p>
        </p:txBody>
      </p:sp>
    </p:spTree>
    <p:extLst>
      <p:ext uri="{BB962C8B-B14F-4D97-AF65-F5344CB8AC3E}">
        <p14:creationId xmlns:p14="http://schemas.microsoft.com/office/powerpoint/2010/main" val="73107254"/>
      </p:ext>
    </p:extLst>
  </p:cSld>
  <p:clrMapOvr>
    <a:masterClrMapping/>
  </p:clrMapOvr>
  <p:transition spd="med">
    <p:pull dir="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229600" cy="5034880"/>
          </a:xfrm>
        </p:spPr>
        <p:txBody>
          <a:bodyPr>
            <a:normAutofit fontScale="92500" lnSpcReduction="20000"/>
          </a:bodyPr>
          <a:lstStyle/>
          <a:p>
            <a:pPr>
              <a:lnSpc>
                <a:spcPct val="120000"/>
              </a:lnSpc>
            </a:pPr>
            <a:r>
              <a:rPr lang="zh-CN" altLang="en-US" dirty="0"/>
              <a:t>保护成员会破坏基类的封装性</a:t>
            </a:r>
          </a:p>
          <a:p>
            <a:pPr lvl="1">
              <a:lnSpc>
                <a:spcPct val="120000"/>
              </a:lnSpc>
            </a:pPr>
            <a:r>
              <a:rPr lang="zh-CN" altLang="en-US" sz="3200" dirty="0"/>
              <a:t>派生类可以直接访问和修改</a:t>
            </a:r>
          </a:p>
          <a:p>
            <a:pPr>
              <a:lnSpc>
                <a:spcPct val="120000"/>
              </a:lnSpc>
            </a:pPr>
            <a:r>
              <a:rPr lang="zh-CN" altLang="en-US" dirty="0"/>
              <a:t>关于保护成员的使用</a:t>
            </a:r>
          </a:p>
          <a:p>
            <a:pPr lvl="1">
              <a:lnSpc>
                <a:spcPct val="120000"/>
              </a:lnSpc>
            </a:pPr>
            <a:r>
              <a:rPr lang="zh-CN" altLang="en-US" sz="3200" dirty="0"/>
              <a:t>如果基类仅向其派生类提供服务，而不对其他客户提供该服务，使用</a:t>
            </a:r>
            <a:r>
              <a:rPr lang="en-US" altLang="zh-CN" sz="3200" dirty="0"/>
              <a:t>protected</a:t>
            </a:r>
            <a:r>
              <a:rPr lang="zh-CN" altLang="en-US" sz="3200" dirty="0"/>
              <a:t>成员访问说明符是合适的</a:t>
            </a:r>
            <a:endParaRPr lang="en-US" altLang="zh-CN" sz="3200" dirty="0"/>
          </a:p>
          <a:p>
            <a:pPr lvl="1">
              <a:lnSpc>
                <a:spcPct val="120000"/>
              </a:lnSpc>
            </a:pPr>
            <a:r>
              <a:rPr lang="zh-CN" altLang="en-US" sz="3200" dirty="0"/>
              <a:t>例如</a:t>
            </a:r>
            <a:r>
              <a:rPr lang="en-US" altLang="zh-CN" sz="3200" dirty="0"/>
              <a:t>Owner</a:t>
            </a:r>
            <a:r>
              <a:rPr lang="zh-CN" altLang="en-US" sz="3200" dirty="0"/>
              <a:t>和</a:t>
            </a:r>
            <a:r>
              <a:rPr lang="en-US" altLang="zh-CN" sz="3200" dirty="0"/>
              <a:t>Son</a:t>
            </a:r>
            <a:r>
              <a:rPr lang="zh-CN" altLang="en-US" sz="3200" dirty="0"/>
              <a:t>、</a:t>
            </a:r>
            <a:r>
              <a:rPr lang="en-US" altLang="zh-CN" sz="3200" dirty="0"/>
              <a:t>Wife</a:t>
            </a:r>
            <a:r>
              <a:rPr lang="zh-CN" altLang="en-US" sz="3200" dirty="0"/>
              <a:t>、</a:t>
            </a:r>
            <a:r>
              <a:rPr lang="en-US" altLang="zh-CN" sz="3200" dirty="0"/>
              <a:t>Daughter</a:t>
            </a:r>
            <a:r>
              <a:rPr lang="zh-CN" altLang="en-US" sz="3200" dirty="0"/>
              <a:t>是父子关系，</a:t>
            </a:r>
            <a:r>
              <a:rPr lang="en-US" altLang="zh-CN" sz="3200" dirty="0"/>
              <a:t>Owner</a:t>
            </a:r>
            <a:r>
              <a:rPr lang="zh-CN" altLang="en-US" sz="3200" dirty="0"/>
              <a:t>的车和房产可以被子类直接访问，但是不对其他类开放，那么车和房产可以声明为</a:t>
            </a:r>
            <a:r>
              <a:rPr lang="en-US" altLang="zh-CN" sz="3200" dirty="0"/>
              <a:t>protected</a:t>
            </a:r>
            <a:r>
              <a:rPr lang="zh-CN" altLang="en-US" sz="3200" dirty="0"/>
              <a:t>的权限。</a:t>
            </a:r>
            <a:endParaRPr lang="zh-CN" altLang="en-US" dirty="0"/>
          </a:p>
        </p:txBody>
      </p:sp>
      <p:sp>
        <p:nvSpPr>
          <p:cNvPr id="3" name="Title 2"/>
          <p:cNvSpPr>
            <a:spLocks noGrp="1"/>
          </p:cNvSpPr>
          <p:nvPr>
            <p:ph type="title"/>
          </p:nvPr>
        </p:nvSpPr>
        <p:spPr/>
        <p:txBody>
          <a:bodyPr/>
          <a:lstStyle/>
          <a:p>
            <a:r>
              <a:rPr lang="zh-CN" altLang="en-US" dirty="0"/>
              <a:t>继承中的数据保护原则</a:t>
            </a:r>
          </a:p>
        </p:txBody>
      </p:sp>
      <p:sp>
        <p:nvSpPr>
          <p:cNvPr id="4" name="Date Placeholder 3"/>
          <p:cNvSpPr>
            <a:spLocks noGrp="1"/>
          </p:cNvSpPr>
          <p:nvPr>
            <p:ph type="dt" sz="half" idx="10"/>
          </p:nvPr>
        </p:nvSpPr>
        <p:spPr/>
        <p:txBody>
          <a:bodyPr/>
          <a:lstStyle/>
          <a:p>
            <a:pPr>
              <a:defRPr/>
            </a:pPr>
            <a:fld id="{DF63C269-5649-440A-86EB-7C5E6D37F300}"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70</a:t>
            </a:fld>
            <a:endParaRPr lang="en-US" altLang="zh-CN"/>
          </a:p>
        </p:txBody>
      </p:sp>
    </p:spTree>
    <p:extLst>
      <p:ext uri="{BB962C8B-B14F-4D97-AF65-F5344CB8AC3E}">
        <p14:creationId xmlns:p14="http://schemas.microsoft.com/office/powerpoint/2010/main" val="1100239848"/>
      </p:ext>
    </p:extLst>
  </p:cSld>
  <p:clrMapOvr>
    <a:masterClrMapping/>
  </p:clrMapOvr>
  <p:transition spd="med">
    <p:pull dir="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Date Placeholder 1"/>
          <p:cNvSpPr>
            <a:spLocks noGrp="1"/>
          </p:cNvSpPr>
          <p:nvPr>
            <p:ph type="dt"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fld id="{8D1655AF-D672-419E-A4E0-A243F3CD2DFC}" type="datetime1">
              <a:rPr lang="zh-CN" altLang="en-US" smtClean="0">
                <a:solidFill>
                  <a:srgbClr val="898989"/>
                </a:solidFill>
                <a:ea typeface="楷体" panose="02010609060101010101" pitchFamily="49" charset="-122"/>
              </a:rPr>
              <a:t>2024/10/17</a:t>
            </a:fld>
            <a:endParaRPr lang="en-US" altLang="zh-CN" dirty="0">
              <a:solidFill>
                <a:srgbClr val="898989"/>
              </a:solidFill>
              <a:ea typeface="楷体" panose="02010609060101010101" pitchFamily="49" charset="-122"/>
            </a:endParaRPr>
          </a:p>
        </p:txBody>
      </p:sp>
      <p:sp>
        <p:nvSpPr>
          <p:cNvPr id="3" name="Footer Placeholder 2"/>
          <p:cNvSpPr>
            <a:spLocks noGrp="1"/>
          </p:cNvSpPr>
          <p:nvPr>
            <p:ph type="ftr" sz="quarter" idx="4294967295"/>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fontAlgn="base">
              <a:spcBef>
                <a:spcPct val="0"/>
              </a:spcBef>
              <a:spcAft>
                <a:spcPct val="0"/>
              </a:spcAft>
              <a:defRPr>
                <a:solidFill>
                  <a:schemeClr val="tx1"/>
                </a:solidFill>
                <a:latin typeface="Times New Roman" pitchFamily="18" charset="0"/>
              </a:defRPr>
            </a:lvl6pPr>
            <a:lvl7pPr marL="2971800" indent="-228600" fontAlgn="base">
              <a:spcBef>
                <a:spcPct val="0"/>
              </a:spcBef>
              <a:spcAft>
                <a:spcPct val="0"/>
              </a:spcAft>
              <a:defRPr>
                <a:solidFill>
                  <a:schemeClr val="tx1"/>
                </a:solidFill>
                <a:latin typeface="Times New Roman" pitchFamily="18" charset="0"/>
              </a:defRPr>
            </a:lvl7pPr>
            <a:lvl8pPr marL="3429000" indent="-228600" fontAlgn="base">
              <a:spcBef>
                <a:spcPct val="0"/>
              </a:spcBef>
              <a:spcAft>
                <a:spcPct val="0"/>
              </a:spcAft>
              <a:defRPr>
                <a:solidFill>
                  <a:schemeClr val="tx1"/>
                </a:solidFill>
                <a:latin typeface="Times New Roman" pitchFamily="18" charset="0"/>
              </a:defRPr>
            </a:lvl8pPr>
            <a:lvl9pPr marL="3886200" indent="-228600" fontAlgn="base">
              <a:spcBef>
                <a:spcPct val="0"/>
              </a:spcBef>
              <a:spcAft>
                <a:spcPct val="0"/>
              </a:spcAft>
              <a:defRPr>
                <a:solidFill>
                  <a:schemeClr val="tx1"/>
                </a:solidFill>
                <a:latin typeface="Times New Roman" pitchFamily="18" charset="0"/>
              </a:defRPr>
            </a:lvl9pPr>
          </a:lstStyle>
          <a:p>
            <a:pPr>
              <a:defRPr/>
            </a:pPr>
            <a:r>
              <a:rPr lang="en-US" altLang="zh-CN" dirty="0">
                <a:solidFill>
                  <a:srgbClr val="898989"/>
                </a:solidFill>
                <a:ea typeface="楷体" panose="02010609060101010101" pitchFamily="49" charset="-122"/>
              </a:rPr>
              <a:t>Xiang Gao</a:t>
            </a:r>
          </a:p>
        </p:txBody>
      </p:sp>
      <p:sp>
        <p:nvSpPr>
          <p:cNvPr id="4" name="Slide Number Placeholder 3"/>
          <p:cNvSpPr>
            <a:spLocks noGrp="1"/>
          </p:cNvSpPr>
          <p:nvPr>
            <p:ph type="sldNum" sz="quarter" idx="4294967295"/>
          </p:nvPr>
        </p:nvSpPr>
        <p:spPr/>
        <p:txBody>
          <a:bodyPr/>
          <a:lstStyle/>
          <a:p>
            <a:pPr>
              <a:defRPr/>
            </a:pPr>
            <a:fld id="{B2E7A4B3-B9C0-4828-83B2-0D3BECF0A283}" type="slidenum">
              <a:rPr lang="uk-UA"/>
              <a:pPr>
                <a:defRPr/>
              </a:pPr>
              <a:t>71</a:t>
            </a:fld>
            <a:endParaRPr lang="uk-UA"/>
          </a:p>
        </p:txBody>
      </p:sp>
      <p:sp>
        <p:nvSpPr>
          <p:cNvPr id="5" name="Title 4"/>
          <p:cNvSpPr>
            <a:spLocks noGrp="1"/>
          </p:cNvSpPr>
          <p:nvPr>
            <p:ph type="title"/>
          </p:nvPr>
        </p:nvSpPr>
        <p:spPr>
          <a:xfrm>
            <a:off x="0" y="2766218"/>
            <a:ext cx="9144000" cy="1325563"/>
          </a:xfrm>
        </p:spPr>
        <p:txBody>
          <a:bodyPr rtlCol="0">
            <a:normAutofit/>
          </a:bodyPr>
          <a:lstStyle/>
          <a:p>
            <a:r>
              <a:rPr lang="zh-CN" altLang="en-US" dirty="0">
                <a:latin typeface="PingFang SC"/>
              </a:rPr>
              <a:t>向上转型（重写与覆盖）</a:t>
            </a:r>
            <a:endParaRPr lang="zh-CN" altLang="en-US" b="1" i="0" dirty="0">
              <a:effectLst/>
              <a:latin typeface="PingFang SC"/>
            </a:endParaRPr>
          </a:p>
        </p:txBody>
      </p:sp>
      <p:sp>
        <p:nvSpPr>
          <p:cNvPr id="6" name="Text Placeholder 5"/>
          <p:cNvSpPr>
            <a:spLocks noGrp="1"/>
          </p:cNvSpPr>
          <p:nvPr>
            <p:ph type="body" sz="quarter" idx="13"/>
          </p:nvPr>
        </p:nvSpPr>
        <p:spPr>
          <a:xfrm>
            <a:off x="1905000" y="4851400"/>
            <a:ext cx="5334000" cy="365125"/>
          </a:xfrm>
        </p:spPr>
        <p:txBody>
          <a:bodyPr rtlCol="0">
            <a:normAutofit fontScale="92500" lnSpcReduction="10000"/>
          </a:bodyPr>
          <a:lstStyle/>
          <a:p>
            <a:pPr fontAlgn="auto">
              <a:spcAft>
                <a:spcPts val="0"/>
              </a:spcAft>
              <a:defRPr/>
            </a:pPr>
            <a:endParaRPr lang="zh-CN" altLang="en-US"/>
          </a:p>
        </p:txBody>
      </p:sp>
    </p:spTree>
    <p:extLst>
      <p:ext uri="{BB962C8B-B14F-4D97-AF65-F5344CB8AC3E}">
        <p14:creationId xmlns:p14="http://schemas.microsoft.com/office/powerpoint/2010/main" val="41917070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zh-CN" altLang="en-US" dirty="0"/>
              <a:t>将子类转换成父类，在继承关系上面是向上移动的，所以一般称之为向上转型或者向上映射。</a:t>
            </a:r>
            <a:endParaRPr lang="en-US" altLang="zh-CN" dirty="0"/>
          </a:p>
          <a:p>
            <a:r>
              <a:rPr lang="zh-CN" altLang="en-US" dirty="0"/>
              <a:t>由于向上转型是从一个叫专用类型向较通用类型转换，所以它总是安全的</a:t>
            </a:r>
          </a:p>
        </p:txBody>
      </p:sp>
      <p:sp>
        <p:nvSpPr>
          <p:cNvPr id="3" name="Title 2"/>
          <p:cNvSpPr>
            <a:spLocks noGrp="1"/>
          </p:cNvSpPr>
          <p:nvPr>
            <p:ph type="title"/>
          </p:nvPr>
        </p:nvSpPr>
        <p:spPr/>
        <p:txBody>
          <a:bodyPr/>
          <a:lstStyle/>
          <a:p>
            <a:r>
              <a:rPr lang="zh-CN" altLang="en-US" dirty="0"/>
              <a:t>向上转型</a:t>
            </a:r>
            <a:r>
              <a:rPr lang="en-US" altLang="zh-CN" dirty="0"/>
              <a:t>(</a:t>
            </a:r>
            <a:r>
              <a:rPr lang="en-US" altLang="zh-CN" dirty="0" err="1"/>
              <a:t>upcasting</a:t>
            </a:r>
            <a:r>
              <a:rPr lang="en-US" altLang="zh-CN" dirty="0"/>
              <a:t>)</a:t>
            </a:r>
            <a:endParaRPr lang="zh-CN" altLang="en-US" dirty="0"/>
          </a:p>
        </p:txBody>
      </p:sp>
      <p:sp>
        <p:nvSpPr>
          <p:cNvPr id="4" name="Date Placeholder 3"/>
          <p:cNvSpPr>
            <a:spLocks noGrp="1"/>
          </p:cNvSpPr>
          <p:nvPr>
            <p:ph type="dt" sz="half" idx="10"/>
          </p:nvPr>
        </p:nvSpPr>
        <p:spPr/>
        <p:txBody>
          <a:bodyPr/>
          <a:lstStyle/>
          <a:p>
            <a:pPr>
              <a:defRPr/>
            </a:pPr>
            <a:fld id="{074C73E5-3D8C-42DC-8A66-EC8A9518ADB5}"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72</a:t>
            </a:fld>
            <a:endParaRPr lang="en-US" altLang="zh-CN"/>
          </a:p>
        </p:txBody>
      </p:sp>
    </p:spTree>
    <p:extLst>
      <p:ext uri="{BB962C8B-B14F-4D97-AF65-F5344CB8AC3E}">
        <p14:creationId xmlns:p14="http://schemas.microsoft.com/office/powerpoint/2010/main" val="3986055803"/>
      </p:ext>
    </p:extLst>
  </p:cSld>
  <p:clrMapOvr>
    <a:masterClrMapping/>
  </p:clrMapOvr>
  <p:transition spd="med">
    <p:pull dir="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向上转型</a:t>
            </a:r>
            <a:r>
              <a:rPr lang="en-US" altLang="zh-CN" dirty="0"/>
              <a:t>(upcasting)</a:t>
            </a:r>
            <a:endParaRPr lang="zh-CN" altLang="en-US" dirty="0"/>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73</a:t>
            </a:fld>
            <a:endParaRPr lang="en-US" altLang="zh-CN"/>
          </a:p>
        </p:txBody>
      </p:sp>
      <p:pic>
        <p:nvPicPr>
          <p:cNvPr id="8" name="Picture 7">
            <a:extLst>
              <a:ext uri="{FF2B5EF4-FFF2-40B4-BE49-F238E27FC236}">
                <a16:creationId xmlns:a16="http://schemas.microsoft.com/office/drawing/2014/main" id="{630EBD78-3982-7613-3906-EEBB50D65F30}"/>
              </a:ext>
            </a:extLst>
          </p:cNvPr>
          <p:cNvPicPr>
            <a:picLocks noChangeAspect="1"/>
          </p:cNvPicPr>
          <p:nvPr/>
        </p:nvPicPr>
        <p:blipFill>
          <a:blip r:embed="rId2"/>
          <a:stretch>
            <a:fillRect/>
          </a:stretch>
        </p:blipFill>
        <p:spPr>
          <a:xfrm>
            <a:off x="1511300" y="777681"/>
            <a:ext cx="5816600" cy="5935793"/>
          </a:xfrm>
          <a:prstGeom prst="rect">
            <a:avLst/>
          </a:prstGeom>
        </p:spPr>
      </p:pic>
      <p:sp>
        <p:nvSpPr>
          <p:cNvPr id="7" name="Rectangle 6"/>
          <p:cNvSpPr/>
          <p:nvPr/>
        </p:nvSpPr>
        <p:spPr>
          <a:xfrm>
            <a:off x="2209800" y="5486400"/>
            <a:ext cx="3276600" cy="3651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cxnSp>
        <p:nvCxnSpPr>
          <p:cNvPr id="10" name="Straight Arrow Connector 9">
            <a:extLst>
              <a:ext uri="{FF2B5EF4-FFF2-40B4-BE49-F238E27FC236}">
                <a16:creationId xmlns:a16="http://schemas.microsoft.com/office/drawing/2014/main" id="{D1E45E4B-2B1F-1552-8B5F-9751B6383666}"/>
              </a:ext>
            </a:extLst>
          </p:cNvPr>
          <p:cNvCxnSpPr>
            <a:cxnSpLocks/>
          </p:cNvCxnSpPr>
          <p:nvPr/>
        </p:nvCxnSpPr>
        <p:spPr>
          <a:xfrm flipH="1">
            <a:off x="5486400" y="5668962"/>
            <a:ext cx="106680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3B75608-A522-A6BD-81FA-83095718BC76}"/>
              </a:ext>
            </a:extLst>
          </p:cNvPr>
          <p:cNvSpPr txBox="1"/>
          <p:nvPr/>
        </p:nvSpPr>
        <p:spPr>
          <a:xfrm>
            <a:off x="6623921" y="5438129"/>
            <a:ext cx="1415772" cy="461665"/>
          </a:xfrm>
          <a:prstGeom prst="rect">
            <a:avLst/>
          </a:prstGeom>
          <a:noFill/>
        </p:spPr>
        <p:txBody>
          <a:bodyPr wrap="none" rtlCol="0">
            <a:spAutoFit/>
          </a:bodyPr>
          <a:lstStyle/>
          <a:p>
            <a:r>
              <a:rPr lang="zh-CN" altLang="en-US" sz="2400" dirty="0">
                <a:solidFill>
                  <a:srgbClr val="FF0000"/>
                </a:solidFill>
                <a:ea typeface="楷体" panose="02010609060101010101" pitchFamily="49" charset="-122"/>
              </a:rPr>
              <a:t>向上转型</a:t>
            </a:r>
            <a:endParaRPr lang="en-US" sz="2400" dirty="0">
              <a:solidFill>
                <a:srgbClr val="FF0000"/>
              </a:solidFill>
            </a:endParaRPr>
          </a:p>
        </p:txBody>
      </p:sp>
    </p:spTree>
    <p:extLst>
      <p:ext uri="{BB962C8B-B14F-4D97-AF65-F5344CB8AC3E}">
        <p14:creationId xmlns:p14="http://schemas.microsoft.com/office/powerpoint/2010/main" val="319433171"/>
      </p:ext>
    </p:extLst>
  </p:cSld>
  <p:clrMapOvr>
    <a:masterClrMapping/>
  </p:clrMapOvr>
  <p:transition spd="med">
    <p:pull dir="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只能调用父类中定义的属性和方法，对于子类中的方法和属性它就望尘莫及了，必须</a:t>
            </a:r>
            <a:r>
              <a:rPr lang="zh-CN" altLang="en-US" b="1" dirty="0">
                <a:solidFill>
                  <a:srgbClr val="C00000"/>
                </a:solidFill>
              </a:rPr>
              <a:t>强制转成子类类型</a:t>
            </a:r>
            <a:endParaRPr lang="en-US" altLang="zh-CN" b="1" dirty="0">
              <a:solidFill>
                <a:srgbClr val="C00000"/>
              </a:solidFill>
            </a:endParaRPr>
          </a:p>
          <a:p>
            <a:r>
              <a:rPr lang="zh-CN" altLang="en-US" dirty="0"/>
              <a:t>这就是为什么编译器在“未曾明确表示转型”或者“未曾指定特殊标记”的情况下，仍然允许向上转型的原因。</a:t>
            </a:r>
          </a:p>
          <a:p>
            <a:endParaRPr lang="zh-CN" altLang="en-US" dirty="0"/>
          </a:p>
        </p:txBody>
      </p:sp>
      <p:sp>
        <p:nvSpPr>
          <p:cNvPr id="3" name="Title 2"/>
          <p:cNvSpPr>
            <a:spLocks noGrp="1"/>
          </p:cNvSpPr>
          <p:nvPr>
            <p:ph type="title"/>
          </p:nvPr>
        </p:nvSpPr>
        <p:spPr/>
        <p:txBody>
          <a:bodyPr/>
          <a:lstStyle/>
          <a:p>
            <a:r>
              <a:rPr lang="zh-CN" altLang="en-US" dirty="0"/>
              <a:t>向上转型的缺憾：</a:t>
            </a:r>
          </a:p>
        </p:txBody>
      </p:sp>
      <p:sp>
        <p:nvSpPr>
          <p:cNvPr id="4" name="Date Placeholder 3"/>
          <p:cNvSpPr>
            <a:spLocks noGrp="1"/>
          </p:cNvSpPr>
          <p:nvPr>
            <p:ph type="dt" sz="half" idx="10"/>
          </p:nvPr>
        </p:nvSpPr>
        <p:spPr/>
        <p:txBody>
          <a:bodyPr/>
          <a:lstStyle/>
          <a:p>
            <a:pPr>
              <a:defRPr/>
            </a:pPr>
            <a:fld id="{0D81A068-5367-4A76-BDB1-5137BFA1EA65}"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74</a:t>
            </a:fld>
            <a:endParaRPr lang="en-US" altLang="zh-CN"/>
          </a:p>
        </p:txBody>
      </p:sp>
    </p:spTree>
    <p:extLst>
      <p:ext uri="{BB962C8B-B14F-4D97-AF65-F5344CB8AC3E}">
        <p14:creationId xmlns:p14="http://schemas.microsoft.com/office/powerpoint/2010/main" val="565126809"/>
      </p:ext>
    </p:extLst>
  </p:cSld>
  <p:clrMapOvr>
    <a:masterClrMapping/>
  </p:clrMapOvr>
  <p:transition spd="med">
    <p:pull dir="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向上转型的缺憾：</a:t>
            </a:r>
          </a:p>
        </p:txBody>
      </p:sp>
      <p:sp>
        <p:nvSpPr>
          <p:cNvPr id="4" name="Date Placeholder 3"/>
          <p:cNvSpPr>
            <a:spLocks noGrp="1"/>
          </p:cNvSpPr>
          <p:nvPr>
            <p:ph type="dt" sz="half" idx="10"/>
          </p:nvPr>
        </p:nvSpPr>
        <p:spPr/>
        <p:txBody>
          <a:bodyPr/>
          <a:lstStyle/>
          <a:p>
            <a:pPr>
              <a:defRPr/>
            </a:pPr>
            <a:fld id="{0D81A068-5367-4A76-BDB1-5137BFA1EA65}"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75</a:t>
            </a:fld>
            <a:endParaRPr lang="en-US" altLang="zh-CN"/>
          </a:p>
        </p:txBody>
      </p:sp>
      <p:pic>
        <p:nvPicPr>
          <p:cNvPr id="9" name="Picture 8">
            <a:extLst>
              <a:ext uri="{FF2B5EF4-FFF2-40B4-BE49-F238E27FC236}">
                <a16:creationId xmlns:a16="http://schemas.microsoft.com/office/drawing/2014/main" id="{32461706-ED28-9EBF-C474-A8F5E6C2E52D}"/>
              </a:ext>
            </a:extLst>
          </p:cNvPr>
          <p:cNvPicPr>
            <a:picLocks noChangeAspect="1"/>
          </p:cNvPicPr>
          <p:nvPr/>
        </p:nvPicPr>
        <p:blipFill>
          <a:blip r:embed="rId2"/>
          <a:stretch>
            <a:fillRect/>
          </a:stretch>
        </p:blipFill>
        <p:spPr>
          <a:xfrm>
            <a:off x="1174750" y="625475"/>
            <a:ext cx="6794500" cy="6096000"/>
          </a:xfrm>
          <a:prstGeom prst="rect">
            <a:avLst/>
          </a:prstGeom>
        </p:spPr>
      </p:pic>
      <p:cxnSp>
        <p:nvCxnSpPr>
          <p:cNvPr id="10" name="Straight Connector 9">
            <a:extLst>
              <a:ext uri="{FF2B5EF4-FFF2-40B4-BE49-F238E27FC236}">
                <a16:creationId xmlns:a16="http://schemas.microsoft.com/office/drawing/2014/main" id="{42FE5FFA-E09C-CCDB-F364-60F44EB48667}"/>
              </a:ext>
            </a:extLst>
          </p:cNvPr>
          <p:cNvCxnSpPr/>
          <p:nvPr/>
        </p:nvCxnSpPr>
        <p:spPr>
          <a:xfrm>
            <a:off x="1860550" y="6356350"/>
            <a:ext cx="2895600"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Multiply 10">
            <a:extLst>
              <a:ext uri="{FF2B5EF4-FFF2-40B4-BE49-F238E27FC236}">
                <a16:creationId xmlns:a16="http://schemas.microsoft.com/office/drawing/2014/main" id="{5BED19E1-2778-B7CF-190E-211EC96CD618}"/>
              </a:ext>
            </a:extLst>
          </p:cNvPr>
          <p:cNvSpPr/>
          <p:nvPr/>
        </p:nvSpPr>
        <p:spPr>
          <a:xfrm>
            <a:off x="4761593" y="5975350"/>
            <a:ext cx="533400" cy="533400"/>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DCD6734-529C-145D-BEA2-C6585A295301}"/>
              </a:ext>
            </a:extLst>
          </p:cNvPr>
          <p:cNvSpPr txBox="1"/>
          <p:nvPr/>
        </p:nvSpPr>
        <p:spPr>
          <a:xfrm>
            <a:off x="5612457" y="5432824"/>
            <a:ext cx="3547872" cy="830997"/>
          </a:xfrm>
          <a:prstGeom prst="rect">
            <a:avLst/>
          </a:prstGeom>
          <a:noFill/>
        </p:spPr>
        <p:txBody>
          <a:bodyPr wrap="square" rtlCol="0">
            <a:spAutoFit/>
          </a:bodyPr>
          <a:lstStyle/>
          <a:p>
            <a:pPr algn="ctr"/>
            <a:r>
              <a:rPr lang="en-US" sz="2400" dirty="0" err="1">
                <a:solidFill>
                  <a:srgbClr val="FF0000"/>
                </a:solidFill>
              </a:rPr>
              <a:t>printName</a:t>
            </a:r>
            <a:r>
              <a:rPr lang="zh-CN" altLang="en-US" sz="2400" dirty="0">
                <a:solidFill>
                  <a:srgbClr val="FF0000"/>
                </a:solidFill>
                <a:ea typeface="楷体" panose="02010609060101010101" pitchFamily="49" charset="-122"/>
              </a:rPr>
              <a:t> </a:t>
            </a:r>
            <a:r>
              <a:rPr lang="en-US" altLang="zh-CN" sz="2400" dirty="0">
                <a:solidFill>
                  <a:srgbClr val="FF0000"/>
                </a:solidFill>
                <a:ea typeface="楷体" panose="02010609060101010101" pitchFamily="49" charset="-122"/>
              </a:rPr>
              <a:t>is not defined in parent class</a:t>
            </a:r>
            <a:endParaRPr lang="en-US" sz="2400" dirty="0">
              <a:solidFill>
                <a:srgbClr val="FF0000"/>
              </a:solidFill>
            </a:endParaRPr>
          </a:p>
        </p:txBody>
      </p:sp>
    </p:spTree>
    <p:extLst>
      <p:ext uri="{BB962C8B-B14F-4D97-AF65-F5344CB8AC3E}">
        <p14:creationId xmlns:p14="http://schemas.microsoft.com/office/powerpoint/2010/main" val="796276070"/>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ppt_y</p:attrName>
                                        </p:attrNameLst>
                                      </p:cBhvr>
                                      <p:tavLst>
                                        <p:tav tm="0">
                                          <p:val>
                                            <p:strVal val="#ppt_y+#ppt_h*1.125000"/>
                                          </p:val>
                                        </p:tav>
                                        <p:tav tm="100000">
                                          <p:val>
                                            <p:strVal val="#ppt_y"/>
                                          </p:val>
                                        </p:tav>
                                      </p:tavLst>
                                    </p:anim>
                                    <p:animEffect transition="in" filter="wipe(up)">
                                      <p:cBhvr>
                                        <p:cTn id="8" dur="500"/>
                                        <p:tgtEl>
                                          <p:spTgt spid="11"/>
                                        </p:tgtEl>
                                      </p:cBhvr>
                                    </p:animEffect>
                                  </p:childTnLst>
                                </p:cTn>
                              </p:par>
                              <p:par>
                                <p:cTn id="9" presetID="1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p:tgtEl>
                                          <p:spTgt spid="10"/>
                                        </p:tgtEl>
                                        <p:attrNameLst>
                                          <p:attrName>ppt_y</p:attrName>
                                        </p:attrNameLst>
                                      </p:cBhvr>
                                      <p:tavLst>
                                        <p:tav tm="0">
                                          <p:val>
                                            <p:strVal val="#ppt_y+#ppt_h*1.125000"/>
                                          </p:val>
                                        </p:tav>
                                        <p:tav tm="100000">
                                          <p:val>
                                            <p:strVal val="#ppt_y"/>
                                          </p:val>
                                        </p:tav>
                                      </p:tavLst>
                                    </p:anim>
                                    <p:animEffect transition="in" filter="wipe(up)">
                                      <p:cBhvr>
                                        <p:cTn id="12" dur="500"/>
                                        <p:tgtEl>
                                          <p:spTgt spid="10"/>
                                        </p:tgtEl>
                                      </p:cBhvr>
                                    </p:animEffect>
                                  </p:childTnLst>
                                </p:cTn>
                              </p:par>
                              <p:par>
                                <p:cTn id="13" presetID="12" presetClass="entr" presetSubtype="4" fill="hold"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 calcmode="lin" valueType="num">
                                      <p:cBhvr additive="base">
                                        <p:cTn id="15" dur="500"/>
                                        <p:tgtEl>
                                          <p:spTgt spid="12">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812800" indent="-812800">
              <a:buFont typeface="Arial" pitchFamily="34" charset="0"/>
              <a:buAutoNum type="ea1JpnChsDbPeriod"/>
            </a:pPr>
            <a:r>
              <a:rPr lang="zh-CN" altLang="en-US" dirty="0">
                <a:latin typeface="楷体" panose="02010609060101010101" pitchFamily="49" charset="-122"/>
              </a:rPr>
              <a:t>变量隐藏：在子类对父类的继承中，如果子类的成员变量和父类的成员变量同名，此时称为子类隐藏（</a:t>
            </a:r>
            <a:r>
              <a:rPr lang="en-US" altLang="zh-CN" dirty="0">
                <a:latin typeface="楷体" panose="02010609060101010101" pitchFamily="49" charset="-122"/>
              </a:rPr>
              <a:t>override</a:t>
            </a:r>
            <a:r>
              <a:rPr lang="zh-CN" altLang="en-US" dirty="0">
                <a:latin typeface="楷体" panose="02010609060101010101" pitchFamily="49" charset="-122"/>
              </a:rPr>
              <a:t>）了父类的成员变量。</a:t>
            </a:r>
          </a:p>
          <a:p>
            <a:pPr marL="812800" indent="-812800">
              <a:buFont typeface="Arial" pitchFamily="34" charset="0"/>
              <a:buAutoNum type="ea1JpnChsDbPeriod"/>
            </a:pPr>
            <a:endParaRPr lang="zh-CN" altLang="en-US" dirty="0">
              <a:latin typeface="楷体" panose="02010609060101010101" pitchFamily="49" charset="-122"/>
            </a:endParaRPr>
          </a:p>
          <a:p>
            <a:pPr marL="812800" indent="-812800">
              <a:buFont typeface="Arial" pitchFamily="34" charset="0"/>
              <a:buAutoNum type="ea1JpnChsDbPeriod"/>
            </a:pPr>
            <a:r>
              <a:rPr lang="zh-CN" altLang="en-US" dirty="0">
                <a:latin typeface="楷体" panose="02010609060101010101" pitchFamily="49" charset="-122"/>
              </a:rPr>
              <a:t>子类若要引用父类的同名变量。要用</a:t>
            </a:r>
            <a:r>
              <a:rPr lang="en-US" altLang="zh-CN" dirty="0">
                <a:latin typeface="楷体" panose="02010609060101010101" pitchFamily="49" charset="-122"/>
              </a:rPr>
              <a:t>super</a:t>
            </a:r>
            <a:r>
              <a:rPr lang="zh-CN" altLang="en-US" dirty="0">
                <a:latin typeface="楷体" panose="02010609060101010101" pitchFamily="49" charset="-122"/>
              </a:rPr>
              <a:t>关键字做前缀加圆点操作符引用</a:t>
            </a:r>
            <a:r>
              <a:rPr lang="en-US" altLang="zh-CN" dirty="0">
                <a:latin typeface="楷体" panose="02010609060101010101" pitchFamily="49" charset="-122"/>
              </a:rPr>
              <a:t>,</a:t>
            </a:r>
            <a:r>
              <a:rPr lang="zh-CN" altLang="en-US" dirty="0">
                <a:latin typeface="楷体" panose="02010609060101010101" pitchFamily="49" charset="-122"/>
              </a:rPr>
              <a:t>即</a:t>
            </a:r>
            <a:r>
              <a:rPr lang="en-US" altLang="zh-CN" dirty="0">
                <a:solidFill>
                  <a:srgbClr val="E00438"/>
                </a:solidFill>
                <a:latin typeface="楷体" panose="02010609060101010101" pitchFamily="49" charset="-122"/>
              </a:rPr>
              <a:t>super.</a:t>
            </a:r>
            <a:r>
              <a:rPr lang="zh-CN" altLang="en-US" dirty="0">
                <a:solidFill>
                  <a:srgbClr val="E00438"/>
                </a:solidFill>
                <a:latin typeface="楷体" panose="02010609060101010101" pitchFamily="49" charset="-122"/>
              </a:rPr>
              <a:t>变量名</a:t>
            </a:r>
          </a:p>
          <a:p>
            <a:endParaRPr lang="zh-CN" altLang="en-US" dirty="0"/>
          </a:p>
        </p:txBody>
      </p:sp>
      <p:sp>
        <p:nvSpPr>
          <p:cNvPr id="3" name="Title 2"/>
          <p:cNvSpPr>
            <a:spLocks noGrp="1"/>
          </p:cNvSpPr>
          <p:nvPr>
            <p:ph type="title"/>
          </p:nvPr>
        </p:nvSpPr>
        <p:spPr/>
        <p:txBody>
          <a:bodyPr/>
          <a:lstStyle/>
          <a:p>
            <a:r>
              <a:rPr lang="zh-CN" altLang="en-US" dirty="0"/>
              <a:t>变量隐藏</a:t>
            </a:r>
          </a:p>
        </p:txBody>
      </p:sp>
      <p:sp>
        <p:nvSpPr>
          <p:cNvPr id="4" name="Date Placeholder 3"/>
          <p:cNvSpPr>
            <a:spLocks noGrp="1"/>
          </p:cNvSpPr>
          <p:nvPr>
            <p:ph type="dt" sz="half" idx="10"/>
          </p:nvPr>
        </p:nvSpPr>
        <p:spPr/>
        <p:txBody>
          <a:bodyPr/>
          <a:lstStyle/>
          <a:p>
            <a:pPr>
              <a:defRPr/>
            </a:pPr>
            <a:fld id="{D8CB4DEA-EFC4-4AD5-81C1-EE0D62A30AF1}"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76</a:t>
            </a:fld>
            <a:endParaRPr lang="en-US" altLang="zh-CN"/>
          </a:p>
        </p:txBody>
      </p:sp>
    </p:spTree>
    <p:extLst>
      <p:ext uri="{BB962C8B-B14F-4D97-AF65-F5344CB8AC3E}">
        <p14:creationId xmlns:p14="http://schemas.microsoft.com/office/powerpoint/2010/main" val="2812345496"/>
      </p:ext>
    </p:extLst>
  </p:cSld>
  <p:clrMapOvr>
    <a:masterClrMapping/>
  </p:clrMapOvr>
  <p:transition spd="med">
    <p:pull dir="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5F78CF-D4CA-1C89-57B4-A1920B52361E}"/>
              </a:ext>
            </a:extLst>
          </p:cNvPr>
          <p:cNvSpPr>
            <a:spLocks noGrp="1"/>
          </p:cNvSpPr>
          <p:nvPr>
            <p:ph type="title"/>
          </p:nvPr>
        </p:nvSpPr>
        <p:spPr/>
        <p:txBody>
          <a:bodyPr/>
          <a:lstStyle/>
          <a:p>
            <a:r>
              <a:rPr lang="zh-CN" altLang="en-US" dirty="0"/>
              <a:t>变量隐藏</a:t>
            </a:r>
            <a:endParaRPr lang="en-US" dirty="0"/>
          </a:p>
        </p:txBody>
      </p:sp>
      <p:sp>
        <p:nvSpPr>
          <p:cNvPr id="4" name="Date Placeholder 3">
            <a:extLst>
              <a:ext uri="{FF2B5EF4-FFF2-40B4-BE49-F238E27FC236}">
                <a16:creationId xmlns:a16="http://schemas.microsoft.com/office/drawing/2014/main" id="{BE0A0250-78E3-0526-5D49-490F7FE54F47}"/>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A3FB720-0470-7676-0A79-5C7E1921D4DC}"/>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6EA8A0A4-24BF-44C7-89BB-07D724B25809}"/>
              </a:ext>
            </a:extLst>
          </p:cNvPr>
          <p:cNvSpPr>
            <a:spLocks noGrp="1"/>
          </p:cNvSpPr>
          <p:nvPr>
            <p:ph type="sldNum" sz="quarter" idx="12"/>
          </p:nvPr>
        </p:nvSpPr>
        <p:spPr/>
        <p:txBody>
          <a:bodyPr/>
          <a:lstStyle/>
          <a:p>
            <a:pPr>
              <a:defRPr/>
            </a:pPr>
            <a:fld id="{F7C8A414-E22E-4DF8-8FC5-FF8056582F45}" type="slidenum">
              <a:rPr lang="en-US" altLang="zh-CN" smtClean="0"/>
              <a:pPr>
                <a:defRPr/>
              </a:pPr>
              <a:t>77</a:t>
            </a:fld>
            <a:endParaRPr lang="en-US" altLang="zh-CN"/>
          </a:p>
        </p:txBody>
      </p:sp>
      <p:pic>
        <p:nvPicPr>
          <p:cNvPr id="7" name="Picture 6">
            <a:extLst>
              <a:ext uri="{FF2B5EF4-FFF2-40B4-BE49-F238E27FC236}">
                <a16:creationId xmlns:a16="http://schemas.microsoft.com/office/drawing/2014/main" id="{52941C53-A96F-8093-F550-05FC8F211314}"/>
              </a:ext>
            </a:extLst>
          </p:cNvPr>
          <p:cNvPicPr>
            <a:picLocks noChangeAspect="1"/>
          </p:cNvPicPr>
          <p:nvPr/>
        </p:nvPicPr>
        <p:blipFill>
          <a:blip r:embed="rId2"/>
          <a:stretch>
            <a:fillRect/>
          </a:stretch>
        </p:blipFill>
        <p:spPr>
          <a:xfrm>
            <a:off x="1371600" y="2821420"/>
            <a:ext cx="5816600" cy="3503180"/>
          </a:xfrm>
          <a:prstGeom prst="rect">
            <a:avLst/>
          </a:prstGeom>
        </p:spPr>
      </p:pic>
      <p:pic>
        <p:nvPicPr>
          <p:cNvPr id="8" name="Picture 7">
            <a:extLst>
              <a:ext uri="{FF2B5EF4-FFF2-40B4-BE49-F238E27FC236}">
                <a16:creationId xmlns:a16="http://schemas.microsoft.com/office/drawing/2014/main" id="{D87B9473-6D65-59E3-7C44-331F35441E68}"/>
              </a:ext>
            </a:extLst>
          </p:cNvPr>
          <p:cNvPicPr>
            <a:picLocks noChangeAspect="1"/>
          </p:cNvPicPr>
          <p:nvPr/>
        </p:nvPicPr>
        <p:blipFill>
          <a:blip r:embed="rId3"/>
          <a:stretch>
            <a:fillRect/>
          </a:stretch>
        </p:blipFill>
        <p:spPr>
          <a:xfrm>
            <a:off x="1149349" y="695035"/>
            <a:ext cx="6394955" cy="1388052"/>
          </a:xfrm>
          <a:prstGeom prst="rect">
            <a:avLst/>
          </a:prstGeom>
        </p:spPr>
      </p:pic>
    </p:spTree>
    <p:extLst>
      <p:ext uri="{BB962C8B-B14F-4D97-AF65-F5344CB8AC3E}">
        <p14:creationId xmlns:p14="http://schemas.microsoft.com/office/powerpoint/2010/main" val="1265921928"/>
      </p:ext>
    </p:extLst>
  </p:cSld>
  <p:clrMapOvr>
    <a:masterClrMapping/>
  </p:clrMapOvr>
  <p:transition spd="med">
    <p:pull dir="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5F78CF-D4CA-1C89-57B4-A1920B52361E}"/>
              </a:ext>
            </a:extLst>
          </p:cNvPr>
          <p:cNvSpPr>
            <a:spLocks noGrp="1"/>
          </p:cNvSpPr>
          <p:nvPr>
            <p:ph type="title"/>
          </p:nvPr>
        </p:nvSpPr>
        <p:spPr/>
        <p:txBody>
          <a:bodyPr/>
          <a:lstStyle/>
          <a:p>
            <a:r>
              <a:rPr lang="zh-CN" altLang="en-US" dirty="0"/>
              <a:t>变量隐藏</a:t>
            </a:r>
            <a:endParaRPr lang="en-US" dirty="0"/>
          </a:p>
        </p:txBody>
      </p:sp>
      <p:sp>
        <p:nvSpPr>
          <p:cNvPr id="4" name="Date Placeholder 3">
            <a:extLst>
              <a:ext uri="{FF2B5EF4-FFF2-40B4-BE49-F238E27FC236}">
                <a16:creationId xmlns:a16="http://schemas.microsoft.com/office/drawing/2014/main" id="{BE0A0250-78E3-0526-5D49-490F7FE54F47}"/>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7A3FB720-0470-7676-0A79-5C7E1921D4DC}"/>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6EA8A0A4-24BF-44C7-89BB-07D724B25809}"/>
              </a:ext>
            </a:extLst>
          </p:cNvPr>
          <p:cNvSpPr>
            <a:spLocks noGrp="1"/>
          </p:cNvSpPr>
          <p:nvPr>
            <p:ph type="sldNum" sz="quarter" idx="12"/>
          </p:nvPr>
        </p:nvSpPr>
        <p:spPr/>
        <p:txBody>
          <a:bodyPr/>
          <a:lstStyle/>
          <a:p>
            <a:pPr>
              <a:defRPr/>
            </a:pPr>
            <a:fld id="{F7C8A414-E22E-4DF8-8FC5-FF8056582F45}" type="slidenum">
              <a:rPr lang="en-US" altLang="zh-CN" smtClean="0"/>
              <a:pPr>
                <a:defRPr/>
              </a:pPr>
              <a:t>78</a:t>
            </a:fld>
            <a:endParaRPr lang="en-US" altLang="zh-CN"/>
          </a:p>
        </p:txBody>
      </p:sp>
      <p:sp>
        <p:nvSpPr>
          <p:cNvPr id="10" name="Rounded Rectangle 9">
            <a:extLst>
              <a:ext uri="{FF2B5EF4-FFF2-40B4-BE49-F238E27FC236}">
                <a16:creationId xmlns:a16="http://schemas.microsoft.com/office/drawing/2014/main" id="{CE80CEAF-C8C7-E78E-EC82-8DA6196965FD}"/>
              </a:ext>
            </a:extLst>
          </p:cNvPr>
          <p:cNvSpPr/>
          <p:nvPr/>
        </p:nvSpPr>
        <p:spPr>
          <a:xfrm>
            <a:off x="3113314" y="4634813"/>
            <a:ext cx="2819400" cy="172153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rPr>
              <a:t>Lion</a:t>
            </a:r>
          </a:p>
          <a:p>
            <a:r>
              <a:rPr lang="en-US" sz="3200" dirty="0">
                <a:solidFill>
                  <a:schemeClr val="tx1"/>
                </a:solidFill>
              </a:rPr>
              <a:t>Animal</a:t>
            </a:r>
          </a:p>
          <a:p>
            <a:r>
              <a:rPr lang="en-US" sz="3200" dirty="0">
                <a:solidFill>
                  <a:schemeClr val="tx1"/>
                </a:solidFill>
              </a:rPr>
              <a:t>Animal</a:t>
            </a:r>
          </a:p>
        </p:txBody>
      </p:sp>
      <p:pic>
        <p:nvPicPr>
          <p:cNvPr id="11" name="Picture 10">
            <a:extLst>
              <a:ext uri="{FF2B5EF4-FFF2-40B4-BE49-F238E27FC236}">
                <a16:creationId xmlns:a16="http://schemas.microsoft.com/office/drawing/2014/main" id="{B16ED62D-6D24-8AAE-F949-584D5BAE058D}"/>
              </a:ext>
            </a:extLst>
          </p:cNvPr>
          <p:cNvPicPr>
            <a:picLocks noChangeAspect="1"/>
          </p:cNvPicPr>
          <p:nvPr/>
        </p:nvPicPr>
        <p:blipFill>
          <a:blip r:embed="rId2"/>
          <a:stretch>
            <a:fillRect/>
          </a:stretch>
        </p:blipFill>
        <p:spPr>
          <a:xfrm>
            <a:off x="419100" y="916214"/>
            <a:ext cx="8039100" cy="3328820"/>
          </a:xfrm>
          <a:prstGeom prst="rect">
            <a:avLst/>
          </a:prstGeom>
        </p:spPr>
      </p:pic>
    </p:spTree>
    <p:extLst>
      <p:ext uri="{BB962C8B-B14F-4D97-AF65-F5344CB8AC3E}">
        <p14:creationId xmlns:p14="http://schemas.microsoft.com/office/powerpoint/2010/main" val="3308639487"/>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8CD4AAB-8B64-4824-8295-7FB8DC1E53AE}"/>
              </a:ext>
            </a:extLst>
          </p:cNvPr>
          <p:cNvSpPr>
            <a:spLocks noGrp="1"/>
          </p:cNvSpPr>
          <p:nvPr>
            <p:ph idx="1"/>
          </p:nvPr>
        </p:nvSpPr>
        <p:spPr/>
        <p:txBody>
          <a:bodyPr>
            <a:normAutofit fontScale="92500" lnSpcReduction="10000"/>
          </a:bodyPr>
          <a:lstStyle/>
          <a:p>
            <a:r>
              <a:rPr lang="zh-CN" altLang="en-US" b="0" i="0" dirty="0">
                <a:solidFill>
                  <a:srgbClr val="333333"/>
                </a:solidFill>
                <a:effectLst/>
                <a:latin typeface="PingFang SC"/>
              </a:rPr>
              <a:t>覆盖就是子类的方法跟父类的方法具有完全一样的签名</a:t>
            </a:r>
            <a:r>
              <a:rPr lang="zh-CN" altLang="en-US" dirty="0">
                <a:solidFill>
                  <a:srgbClr val="333333"/>
                </a:solidFill>
                <a:latin typeface="PingFang SC"/>
              </a:rPr>
              <a:t>（</a:t>
            </a:r>
            <a:r>
              <a:rPr lang="zh-CN" altLang="en-US" dirty="0">
                <a:latin typeface="楷体" panose="02010609060101010101" pitchFamily="49" charset="-122"/>
              </a:rPr>
              <a:t>它们的名称、参数以及返回类型完全相同</a:t>
            </a:r>
            <a:r>
              <a:rPr lang="zh-CN" altLang="en-US" b="0" i="0" dirty="0">
                <a:solidFill>
                  <a:srgbClr val="333333"/>
                </a:solidFill>
                <a:effectLst/>
                <a:latin typeface="PingFang SC"/>
              </a:rPr>
              <a:t>）</a:t>
            </a:r>
            <a:endParaRPr lang="en-US" altLang="zh-CN" b="0" i="0" dirty="0">
              <a:solidFill>
                <a:srgbClr val="333333"/>
              </a:solidFill>
              <a:effectLst/>
              <a:latin typeface="PingFang SC"/>
            </a:endParaRPr>
          </a:p>
          <a:p>
            <a:pPr marL="0" indent="0">
              <a:buNone/>
            </a:pPr>
            <a:endParaRPr lang="zh-CN" altLang="en-US" dirty="0">
              <a:solidFill>
                <a:srgbClr val="FF0000"/>
              </a:solidFill>
              <a:latin typeface="楷体" panose="02010609060101010101" pitchFamily="49" charset="-122"/>
            </a:endParaRPr>
          </a:p>
          <a:p>
            <a:r>
              <a:rPr lang="zh-CN" altLang="en-US" dirty="0">
                <a:solidFill>
                  <a:srgbClr val="333333"/>
                </a:solidFill>
                <a:latin typeface="PingFang SC"/>
              </a:rPr>
              <a:t>私有方法、</a:t>
            </a:r>
            <a:r>
              <a:rPr lang="zh-CN" altLang="en-US" b="0" i="0" dirty="0">
                <a:solidFill>
                  <a:srgbClr val="333333"/>
                </a:solidFill>
                <a:effectLst/>
                <a:latin typeface="PingFang SC"/>
              </a:rPr>
              <a:t>静态方法不能被覆盖，如果在子类出现了同签名的方法，就是方法</a:t>
            </a:r>
            <a:r>
              <a:rPr lang="zh-CN" altLang="en-US" b="0" i="0" dirty="0">
                <a:solidFill>
                  <a:srgbClr val="FF0000"/>
                </a:solidFill>
                <a:effectLst/>
                <a:latin typeface="PingFang SC"/>
              </a:rPr>
              <a:t>隐藏</a:t>
            </a:r>
            <a:endParaRPr lang="en-US" altLang="zh-CN" b="0" i="0" dirty="0">
              <a:solidFill>
                <a:srgbClr val="FF0000"/>
              </a:solidFill>
              <a:effectLst/>
              <a:latin typeface="PingFang SC"/>
            </a:endParaRPr>
          </a:p>
          <a:p>
            <a:endParaRPr lang="en-US" altLang="zh-CN" b="0" i="0" dirty="0">
              <a:solidFill>
                <a:srgbClr val="333333"/>
              </a:solidFill>
              <a:effectLst/>
              <a:latin typeface="PingFang SC"/>
            </a:endParaRPr>
          </a:p>
          <a:p>
            <a:r>
              <a:rPr lang="zh-CN" altLang="en-US" b="0" i="0" dirty="0">
                <a:effectLst/>
                <a:latin typeface="-apple-system"/>
              </a:rPr>
              <a:t>用</a:t>
            </a:r>
            <a:r>
              <a:rPr lang="en-US" altLang="zh-CN" b="0" i="0" dirty="0" err="1">
                <a:effectLst/>
                <a:latin typeface="-apple-system"/>
              </a:rPr>
              <a:t>fianl</a:t>
            </a:r>
            <a:r>
              <a:rPr lang="zh-CN" altLang="en-US" b="0" i="0" dirty="0">
                <a:effectLst/>
                <a:latin typeface="-apple-system"/>
              </a:rPr>
              <a:t>声明的成员方法是最终方法，最终方法不能被子类覆盖（</a:t>
            </a:r>
            <a:r>
              <a:rPr lang="zh-CN" altLang="en-US" dirty="0">
                <a:latin typeface="-apple-system"/>
              </a:rPr>
              <a:t>重写）</a:t>
            </a:r>
            <a:endParaRPr lang="zh-CN" altLang="en-US" b="0" i="0" dirty="0">
              <a:effectLst/>
              <a:latin typeface="-apple-system"/>
            </a:endParaRPr>
          </a:p>
        </p:txBody>
      </p:sp>
      <p:sp>
        <p:nvSpPr>
          <p:cNvPr id="3" name="标题 2">
            <a:extLst>
              <a:ext uri="{FF2B5EF4-FFF2-40B4-BE49-F238E27FC236}">
                <a16:creationId xmlns:a16="http://schemas.microsoft.com/office/drawing/2014/main" id="{700781AE-5238-4A68-A8E2-77C5D2FF8F0A}"/>
              </a:ext>
            </a:extLst>
          </p:cNvPr>
          <p:cNvSpPr>
            <a:spLocks noGrp="1"/>
          </p:cNvSpPr>
          <p:nvPr>
            <p:ph type="title"/>
          </p:nvPr>
        </p:nvSpPr>
        <p:spPr/>
        <p:txBody>
          <a:bodyPr/>
          <a:lstStyle/>
          <a:p>
            <a:r>
              <a:rPr lang="zh-CN" altLang="en-US" dirty="0"/>
              <a:t>方法隐藏（重写）和方法覆盖</a:t>
            </a:r>
          </a:p>
        </p:txBody>
      </p:sp>
      <p:sp>
        <p:nvSpPr>
          <p:cNvPr id="4" name="日期占位符 3">
            <a:extLst>
              <a:ext uri="{FF2B5EF4-FFF2-40B4-BE49-F238E27FC236}">
                <a16:creationId xmlns:a16="http://schemas.microsoft.com/office/drawing/2014/main" id="{C7FD3D48-887B-4CBD-B566-A0B262169C2B}"/>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页脚占位符 4">
            <a:extLst>
              <a:ext uri="{FF2B5EF4-FFF2-40B4-BE49-F238E27FC236}">
                <a16:creationId xmlns:a16="http://schemas.microsoft.com/office/drawing/2014/main" id="{A72A74BE-AAC7-4E5C-8252-69A12AF1716A}"/>
              </a:ext>
            </a:extLst>
          </p:cNvPr>
          <p:cNvSpPr>
            <a:spLocks noGrp="1"/>
          </p:cNvSpPr>
          <p:nvPr>
            <p:ph type="ftr" sz="quarter" idx="11"/>
          </p:nvPr>
        </p:nvSpPr>
        <p:spPr/>
        <p:txBody>
          <a:bodyPr/>
          <a:lstStyle/>
          <a:p>
            <a:pPr>
              <a:defRPr/>
            </a:pPr>
            <a:r>
              <a:rPr lang="en-US" altLang="zh-CN" dirty="0"/>
              <a:t>Xiang Gao</a:t>
            </a:r>
          </a:p>
        </p:txBody>
      </p:sp>
      <p:sp>
        <p:nvSpPr>
          <p:cNvPr id="6" name="灯片编号占位符 5">
            <a:extLst>
              <a:ext uri="{FF2B5EF4-FFF2-40B4-BE49-F238E27FC236}">
                <a16:creationId xmlns:a16="http://schemas.microsoft.com/office/drawing/2014/main" id="{47351672-B46A-4D19-80ED-FC04D3575A16}"/>
              </a:ext>
            </a:extLst>
          </p:cNvPr>
          <p:cNvSpPr>
            <a:spLocks noGrp="1"/>
          </p:cNvSpPr>
          <p:nvPr>
            <p:ph type="sldNum" sz="quarter" idx="12"/>
          </p:nvPr>
        </p:nvSpPr>
        <p:spPr/>
        <p:txBody>
          <a:bodyPr/>
          <a:lstStyle/>
          <a:p>
            <a:pPr>
              <a:defRPr/>
            </a:pPr>
            <a:fld id="{F7C8A414-E22E-4DF8-8FC5-FF8056582F45}" type="slidenum">
              <a:rPr lang="en-US" altLang="zh-CN" smtClean="0"/>
              <a:pPr>
                <a:defRPr/>
              </a:pPr>
              <a:t>79</a:t>
            </a:fld>
            <a:endParaRPr lang="en-US" altLang="zh-CN"/>
          </a:p>
        </p:txBody>
      </p:sp>
    </p:spTree>
    <p:extLst>
      <p:ext uri="{BB962C8B-B14F-4D97-AF65-F5344CB8AC3E}">
        <p14:creationId xmlns:p14="http://schemas.microsoft.com/office/powerpoint/2010/main" val="3614749779"/>
      </p:ext>
    </p:extLst>
  </p:cSld>
  <p:clrMapOvr>
    <a:masterClrMapping/>
  </p:clrMapOvr>
  <p:transition spd="med">
    <p:pull dir="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8CD4AAB-8B64-4824-8295-7FB8DC1E53AE}"/>
              </a:ext>
            </a:extLst>
          </p:cNvPr>
          <p:cNvSpPr>
            <a:spLocks noGrp="1"/>
          </p:cNvSpPr>
          <p:nvPr>
            <p:ph idx="1"/>
          </p:nvPr>
        </p:nvSpPr>
        <p:spPr/>
        <p:txBody>
          <a:bodyPr>
            <a:normAutofit/>
          </a:bodyPr>
          <a:lstStyle/>
          <a:p>
            <a:pPr>
              <a:lnSpc>
                <a:spcPct val="90000"/>
              </a:lnSpc>
            </a:pPr>
            <a:r>
              <a:rPr lang="ja-JP" altLang="en-US" sz="3000" b="1">
                <a:solidFill>
                  <a:srgbClr val="333333"/>
                </a:solidFill>
                <a:latin typeface="KaiTi" panose="02010609060101010101" pitchFamily="49" charset="-122"/>
                <a:ea typeface="KaiTi" panose="02010609060101010101" pitchFamily="49" charset="-122"/>
              </a:rPr>
              <a:t>覆盖</a:t>
            </a:r>
            <a:r>
              <a:rPr lang="ja-JP" altLang="en-US" sz="3000">
                <a:solidFill>
                  <a:srgbClr val="333333"/>
                </a:solidFill>
                <a:latin typeface="KaiTi" panose="02010609060101010101" pitchFamily="49" charset="-122"/>
                <a:ea typeface="KaiTi" panose="02010609060101010101" pitchFamily="49" charset="-122"/>
              </a:rPr>
              <a:t>：调用的总是</a:t>
            </a:r>
            <a:r>
              <a:rPr lang="ja-JP" altLang="en-US" sz="3000">
                <a:solidFill>
                  <a:srgbClr val="FF0000"/>
                </a:solidFill>
                <a:latin typeface="KaiTi" panose="02010609060101010101" pitchFamily="49" charset="-122"/>
                <a:ea typeface="KaiTi" panose="02010609060101010101" pitchFamily="49" charset="-122"/>
              </a:rPr>
              <a:t>实例化对象</a:t>
            </a:r>
            <a:r>
              <a:rPr lang="ja-JP" altLang="en-US" sz="3000">
                <a:solidFill>
                  <a:srgbClr val="333333"/>
                </a:solidFill>
                <a:latin typeface="KaiTi" panose="02010609060101010101" pitchFamily="49" charset="-122"/>
                <a:ea typeface="KaiTi" panose="02010609060101010101" pitchFamily="49" charset="-122"/>
              </a:rPr>
              <a:t>的同名方法；</a:t>
            </a:r>
            <a:endParaRPr lang="en-SG" altLang="ja-JP" sz="3000" dirty="0">
              <a:solidFill>
                <a:srgbClr val="333333"/>
              </a:solidFill>
              <a:latin typeface="KaiTi" panose="02010609060101010101" pitchFamily="49" charset="-122"/>
              <a:ea typeface="KaiTi" panose="02010609060101010101" pitchFamily="49" charset="-122"/>
            </a:endParaRPr>
          </a:p>
          <a:p>
            <a:pPr>
              <a:lnSpc>
                <a:spcPct val="90000"/>
              </a:lnSpc>
            </a:pPr>
            <a:endParaRPr lang="ja-JP" altLang="en-US" sz="3000">
              <a:solidFill>
                <a:srgbClr val="333333"/>
              </a:solidFill>
              <a:latin typeface="KaiTi" panose="02010609060101010101" pitchFamily="49" charset="-122"/>
              <a:ea typeface="KaiTi" panose="02010609060101010101" pitchFamily="49" charset="-122"/>
            </a:endParaRPr>
          </a:p>
          <a:p>
            <a:pPr>
              <a:lnSpc>
                <a:spcPct val="90000"/>
              </a:lnSpc>
            </a:pPr>
            <a:r>
              <a:rPr lang="ja-JP" altLang="en-US" sz="3000" b="1">
                <a:solidFill>
                  <a:srgbClr val="333333"/>
                </a:solidFill>
                <a:latin typeface="KaiTi" panose="02010609060101010101" pitchFamily="49" charset="-122"/>
                <a:ea typeface="KaiTi" panose="02010609060101010101" pitchFamily="49" charset="-122"/>
              </a:rPr>
              <a:t>隐藏</a:t>
            </a:r>
            <a:r>
              <a:rPr lang="ja-JP" altLang="en-US" sz="3000">
                <a:solidFill>
                  <a:srgbClr val="333333"/>
                </a:solidFill>
                <a:latin typeface="KaiTi" panose="02010609060101010101" pitchFamily="49" charset="-122"/>
                <a:ea typeface="KaiTi" panose="02010609060101010101" pitchFamily="49" charset="-122"/>
              </a:rPr>
              <a:t>：调用的总是</a:t>
            </a:r>
            <a:r>
              <a:rPr lang="ja-JP" altLang="en-US" sz="3000">
                <a:solidFill>
                  <a:srgbClr val="FF0000"/>
                </a:solidFill>
                <a:latin typeface="KaiTi" panose="02010609060101010101" pitchFamily="49" charset="-122"/>
                <a:ea typeface="KaiTi" panose="02010609060101010101" pitchFamily="49" charset="-122"/>
              </a:rPr>
              <a:t>引用的类型</a:t>
            </a:r>
            <a:r>
              <a:rPr lang="ja-JP" altLang="en-US" sz="3000">
                <a:solidFill>
                  <a:srgbClr val="333333"/>
                </a:solidFill>
                <a:latin typeface="KaiTi" panose="02010609060101010101" pitchFamily="49" charset="-122"/>
                <a:ea typeface="KaiTi" panose="02010609060101010101" pitchFamily="49" charset="-122"/>
              </a:rPr>
              <a:t>的同名方法或同名变量；</a:t>
            </a:r>
          </a:p>
        </p:txBody>
      </p:sp>
      <p:sp>
        <p:nvSpPr>
          <p:cNvPr id="3" name="标题 2">
            <a:extLst>
              <a:ext uri="{FF2B5EF4-FFF2-40B4-BE49-F238E27FC236}">
                <a16:creationId xmlns:a16="http://schemas.microsoft.com/office/drawing/2014/main" id="{700781AE-5238-4A68-A8E2-77C5D2FF8F0A}"/>
              </a:ext>
            </a:extLst>
          </p:cNvPr>
          <p:cNvSpPr>
            <a:spLocks noGrp="1"/>
          </p:cNvSpPr>
          <p:nvPr>
            <p:ph type="title"/>
          </p:nvPr>
        </p:nvSpPr>
        <p:spPr/>
        <p:txBody>
          <a:bodyPr/>
          <a:lstStyle/>
          <a:p>
            <a:r>
              <a:rPr lang="zh-CN" altLang="en-US" dirty="0"/>
              <a:t>方法隐藏（重写）和方法覆盖</a:t>
            </a:r>
          </a:p>
        </p:txBody>
      </p:sp>
      <p:sp>
        <p:nvSpPr>
          <p:cNvPr id="4" name="日期占位符 3">
            <a:extLst>
              <a:ext uri="{FF2B5EF4-FFF2-40B4-BE49-F238E27FC236}">
                <a16:creationId xmlns:a16="http://schemas.microsoft.com/office/drawing/2014/main" id="{C7FD3D48-887B-4CBD-B566-A0B262169C2B}"/>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页脚占位符 4">
            <a:extLst>
              <a:ext uri="{FF2B5EF4-FFF2-40B4-BE49-F238E27FC236}">
                <a16:creationId xmlns:a16="http://schemas.microsoft.com/office/drawing/2014/main" id="{A72A74BE-AAC7-4E5C-8252-69A12AF1716A}"/>
              </a:ext>
            </a:extLst>
          </p:cNvPr>
          <p:cNvSpPr>
            <a:spLocks noGrp="1"/>
          </p:cNvSpPr>
          <p:nvPr>
            <p:ph type="ftr" sz="quarter" idx="11"/>
          </p:nvPr>
        </p:nvSpPr>
        <p:spPr/>
        <p:txBody>
          <a:bodyPr/>
          <a:lstStyle/>
          <a:p>
            <a:pPr>
              <a:defRPr/>
            </a:pPr>
            <a:r>
              <a:rPr lang="en-US" altLang="zh-CN" dirty="0"/>
              <a:t>Xiang Gao</a:t>
            </a:r>
          </a:p>
        </p:txBody>
      </p:sp>
      <p:sp>
        <p:nvSpPr>
          <p:cNvPr id="6" name="灯片编号占位符 5">
            <a:extLst>
              <a:ext uri="{FF2B5EF4-FFF2-40B4-BE49-F238E27FC236}">
                <a16:creationId xmlns:a16="http://schemas.microsoft.com/office/drawing/2014/main" id="{47351672-B46A-4D19-80ED-FC04D3575A16}"/>
              </a:ext>
            </a:extLst>
          </p:cNvPr>
          <p:cNvSpPr>
            <a:spLocks noGrp="1"/>
          </p:cNvSpPr>
          <p:nvPr>
            <p:ph type="sldNum" sz="quarter" idx="12"/>
          </p:nvPr>
        </p:nvSpPr>
        <p:spPr/>
        <p:txBody>
          <a:bodyPr/>
          <a:lstStyle/>
          <a:p>
            <a:pPr>
              <a:defRPr/>
            </a:pPr>
            <a:fld id="{F7C8A414-E22E-4DF8-8FC5-FF8056582F45}" type="slidenum">
              <a:rPr lang="en-US" altLang="zh-CN" smtClean="0"/>
              <a:pPr>
                <a:defRPr/>
              </a:pPr>
              <a:t>80</a:t>
            </a:fld>
            <a:endParaRPr lang="en-US" altLang="zh-CN"/>
          </a:p>
        </p:txBody>
      </p:sp>
    </p:spTree>
    <p:extLst>
      <p:ext uri="{BB962C8B-B14F-4D97-AF65-F5344CB8AC3E}">
        <p14:creationId xmlns:p14="http://schemas.microsoft.com/office/powerpoint/2010/main" val="1564410765"/>
      </p:ext>
    </p:extLst>
  </p:cSld>
  <p:clrMapOvr>
    <a:masterClrMapping/>
  </p:clrMapOvr>
  <p:transition spd="med">
    <p:pull dir="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EF70743-4296-42E1-84F3-8FD625BEB623}"/>
              </a:ext>
            </a:extLst>
          </p:cNvPr>
          <p:cNvSpPr>
            <a:spLocks noGrp="1"/>
          </p:cNvSpPr>
          <p:nvPr>
            <p:ph idx="1"/>
          </p:nvPr>
        </p:nvSpPr>
        <p:spPr/>
        <p:txBody>
          <a:bodyPr/>
          <a:lstStyle/>
          <a:p>
            <a:endParaRPr lang="zh-CN" altLang="en-US"/>
          </a:p>
        </p:txBody>
      </p:sp>
      <p:sp>
        <p:nvSpPr>
          <p:cNvPr id="3" name="标题 2">
            <a:extLst>
              <a:ext uri="{FF2B5EF4-FFF2-40B4-BE49-F238E27FC236}">
                <a16:creationId xmlns:a16="http://schemas.microsoft.com/office/drawing/2014/main" id="{A6913484-7C89-4465-8BDE-3A4DD1A1847F}"/>
              </a:ext>
            </a:extLst>
          </p:cNvPr>
          <p:cNvSpPr>
            <a:spLocks noGrp="1"/>
          </p:cNvSpPr>
          <p:nvPr>
            <p:ph type="title"/>
          </p:nvPr>
        </p:nvSpPr>
        <p:spPr/>
        <p:txBody>
          <a:bodyPr/>
          <a:lstStyle/>
          <a:p>
            <a:endParaRPr lang="zh-CN" altLang="en-US"/>
          </a:p>
        </p:txBody>
      </p:sp>
      <p:sp>
        <p:nvSpPr>
          <p:cNvPr id="4" name="日期占位符 3">
            <a:extLst>
              <a:ext uri="{FF2B5EF4-FFF2-40B4-BE49-F238E27FC236}">
                <a16:creationId xmlns:a16="http://schemas.microsoft.com/office/drawing/2014/main" id="{90D9957C-777B-40C6-9491-2AD46F768CD8}"/>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页脚占位符 4">
            <a:extLst>
              <a:ext uri="{FF2B5EF4-FFF2-40B4-BE49-F238E27FC236}">
                <a16:creationId xmlns:a16="http://schemas.microsoft.com/office/drawing/2014/main" id="{29CB98E1-5AE2-48A6-8E04-1855155D0A61}"/>
              </a:ext>
            </a:extLst>
          </p:cNvPr>
          <p:cNvSpPr>
            <a:spLocks noGrp="1"/>
          </p:cNvSpPr>
          <p:nvPr>
            <p:ph type="ftr" sz="quarter" idx="11"/>
          </p:nvPr>
        </p:nvSpPr>
        <p:spPr/>
        <p:txBody>
          <a:bodyPr/>
          <a:lstStyle/>
          <a:p>
            <a:pPr>
              <a:defRPr/>
            </a:pPr>
            <a:r>
              <a:rPr lang="en-US" altLang="zh-CN" dirty="0"/>
              <a:t>Xiang Gao</a:t>
            </a:r>
          </a:p>
        </p:txBody>
      </p:sp>
      <p:sp>
        <p:nvSpPr>
          <p:cNvPr id="6" name="灯片编号占位符 5">
            <a:extLst>
              <a:ext uri="{FF2B5EF4-FFF2-40B4-BE49-F238E27FC236}">
                <a16:creationId xmlns:a16="http://schemas.microsoft.com/office/drawing/2014/main" id="{752319A0-5AA7-4A32-8F78-BDC510CE21D9}"/>
              </a:ext>
            </a:extLst>
          </p:cNvPr>
          <p:cNvSpPr>
            <a:spLocks noGrp="1"/>
          </p:cNvSpPr>
          <p:nvPr>
            <p:ph type="sldNum" sz="quarter" idx="12"/>
          </p:nvPr>
        </p:nvSpPr>
        <p:spPr/>
        <p:txBody>
          <a:bodyPr/>
          <a:lstStyle/>
          <a:p>
            <a:pPr>
              <a:defRPr/>
            </a:pPr>
            <a:fld id="{F7C8A414-E22E-4DF8-8FC5-FF8056582F45}" type="slidenum">
              <a:rPr lang="en-US" altLang="zh-CN" smtClean="0"/>
              <a:pPr>
                <a:defRPr/>
              </a:pPr>
              <a:t>81</a:t>
            </a:fld>
            <a:endParaRPr lang="en-US" altLang="zh-CN"/>
          </a:p>
        </p:txBody>
      </p:sp>
      <p:pic>
        <p:nvPicPr>
          <p:cNvPr id="8" name="图片 7">
            <a:extLst>
              <a:ext uri="{FF2B5EF4-FFF2-40B4-BE49-F238E27FC236}">
                <a16:creationId xmlns:a16="http://schemas.microsoft.com/office/drawing/2014/main" id="{8B22A436-4078-46ED-BAF8-D6866ACD34C5}"/>
              </a:ext>
            </a:extLst>
          </p:cNvPr>
          <p:cNvPicPr>
            <a:picLocks noChangeAspect="1"/>
          </p:cNvPicPr>
          <p:nvPr/>
        </p:nvPicPr>
        <p:blipFill>
          <a:blip r:embed="rId3"/>
          <a:stretch>
            <a:fillRect/>
          </a:stretch>
        </p:blipFill>
        <p:spPr>
          <a:xfrm>
            <a:off x="228600" y="145057"/>
            <a:ext cx="8807896" cy="6510271"/>
          </a:xfrm>
          <a:prstGeom prst="rect">
            <a:avLst/>
          </a:prstGeom>
          <a:ln>
            <a:solidFill>
              <a:srgbClr val="FF0000"/>
            </a:solidFill>
          </a:ln>
        </p:spPr>
      </p:pic>
      <p:sp>
        <p:nvSpPr>
          <p:cNvPr id="9" name="矩形 8">
            <a:extLst>
              <a:ext uri="{FF2B5EF4-FFF2-40B4-BE49-F238E27FC236}">
                <a16:creationId xmlns:a16="http://schemas.microsoft.com/office/drawing/2014/main" id="{265D0369-C603-421A-952E-C258DDF87873}"/>
              </a:ext>
            </a:extLst>
          </p:cNvPr>
          <p:cNvSpPr/>
          <p:nvPr/>
        </p:nvSpPr>
        <p:spPr>
          <a:xfrm>
            <a:off x="685800" y="908720"/>
            <a:ext cx="8122096" cy="16820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
        <p:nvSpPr>
          <p:cNvPr id="10" name="矩形 9">
            <a:extLst>
              <a:ext uri="{FF2B5EF4-FFF2-40B4-BE49-F238E27FC236}">
                <a16:creationId xmlns:a16="http://schemas.microsoft.com/office/drawing/2014/main" id="{ED30D64E-999B-4B61-B378-0B561B5C2BD1}"/>
              </a:ext>
            </a:extLst>
          </p:cNvPr>
          <p:cNvSpPr/>
          <p:nvPr/>
        </p:nvSpPr>
        <p:spPr>
          <a:xfrm>
            <a:off x="762000" y="3124200"/>
            <a:ext cx="8045896" cy="16820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
        <p:nvSpPr>
          <p:cNvPr id="11" name="矩形 10">
            <a:extLst>
              <a:ext uri="{FF2B5EF4-FFF2-40B4-BE49-F238E27FC236}">
                <a16:creationId xmlns:a16="http://schemas.microsoft.com/office/drawing/2014/main" id="{E2B3A3A1-5F7F-40D7-A2EC-51F3FFAB6C7F}"/>
              </a:ext>
            </a:extLst>
          </p:cNvPr>
          <p:cNvSpPr/>
          <p:nvPr/>
        </p:nvSpPr>
        <p:spPr>
          <a:xfrm>
            <a:off x="990600" y="5638800"/>
            <a:ext cx="4495800"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
        <p:nvSpPr>
          <p:cNvPr id="14" name="文本框 13">
            <a:extLst>
              <a:ext uri="{FF2B5EF4-FFF2-40B4-BE49-F238E27FC236}">
                <a16:creationId xmlns:a16="http://schemas.microsoft.com/office/drawing/2014/main" id="{5F28A597-FB1F-4B49-86EA-FD2B784C635C}"/>
              </a:ext>
            </a:extLst>
          </p:cNvPr>
          <p:cNvSpPr txBox="1"/>
          <p:nvPr/>
        </p:nvSpPr>
        <p:spPr>
          <a:xfrm>
            <a:off x="4687005" y="196242"/>
            <a:ext cx="4182555" cy="646331"/>
          </a:xfrm>
          <a:prstGeom prst="rect">
            <a:avLst/>
          </a:prstGeom>
          <a:solidFill>
            <a:schemeClr val="tx1"/>
          </a:solidFill>
          <a:ln>
            <a:solidFill>
              <a:schemeClr val="tx1"/>
            </a:solidFill>
          </a:ln>
        </p:spPr>
        <p:txBody>
          <a:bodyPr wrap="none" rtlCol="0">
            <a:spAutoFit/>
          </a:bodyPr>
          <a:lstStyle/>
          <a:p>
            <a:pPr algn="l"/>
            <a:r>
              <a:rPr lang="en-US" altLang="zh-CN" sz="1800" dirty="0">
                <a:solidFill>
                  <a:schemeClr val="bg1"/>
                </a:solidFill>
                <a:latin typeface="Courier New" panose="02070309020205020404" pitchFamily="49" charset="0"/>
                <a:ea typeface="楷体" panose="02010609060101010101" pitchFamily="49" charset="-122"/>
              </a:rPr>
              <a:t>The hide method in Planet.</a:t>
            </a:r>
          </a:p>
          <a:p>
            <a:pPr algn="l"/>
            <a:r>
              <a:rPr lang="en-US" altLang="zh-CN" sz="1800" dirty="0">
                <a:solidFill>
                  <a:schemeClr val="bg1"/>
                </a:solidFill>
                <a:latin typeface="Courier New" panose="02070309020205020404" pitchFamily="49" charset="0"/>
                <a:ea typeface="楷体" panose="02010609060101010101" pitchFamily="49" charset="-122"/>
              </a:rPr>
              <a:t>The override method in Earth.</a:t>
            </a:r>
            <a:endParaRPr lang="zh-CN" altLang="en-US" dirty="0">
              <a:solidFill>
                <a:schemeClr val="bg1"/>
              </a:solidFill>
              <a:ea typeface="楷体" panose="02010609060101010101" pitchFamily="49" charset="-122"/>
            </a:endParaRPr>
          </a:p>
        </p:txBody>
      </p:sp>
      <p:sp>
        <p:nvSpPr>
          <p:cNvPr id="7" name="文本框 6">
            <a:extLst>
              <a:ext uri="{FF2B5EF4-FFF2-40B4-BE49-F238E27FC236}">
                <a16:creationId xmlns:a16="http://schemas.microsoft.com/office/drawing/2014/main" id="{221BBBFD-62FF-4021-A811-FE3D96F598FA}"/>
              </a:ext>
            </a:extLst>
          </p:cNvPr>
          <p:cNvSpPr txBox="1"/>
          <p:nvPr/>
        </p:nvSpPr>
        <p:spPr>
          <a:xfrm>
            <a:off x="5791200" y="5486400"/>
            <a:ext cx="184731" cy="369332"/>
          </a:xfrm>
          <a:prstGeom prst="rect">
            <a:avLst/>
          </a:prstGeom>
          <a:noFill/>
        </p:spPr>
        <p:txBody>
          <a:bodyPr wrap="none" rtlCol="0">
            <a:spAutoFit/>
          </a:bodyPr>
          <a:lstStyle/>
          <a:p>
            <a:endParaRPr lang="zh-CN" altLang="en-US" dirty="0">
              <a:ea typeface="楷体" panose="02010609060101010101" pitchFamily="49" charset="-122"/>
            </a:endParaRPr>
          </a:p>
        </p:txBody>
      </p:sp>
    </p:spTree>
    <p:extLst>
      <p:ext uri="{BB962C8B-B14F-4D97-AF65-F5344CB8AC3E}">
        <p14:creationId xmlns:p14="http://schemas.microsoft.com/office/powerpoint/2010/main" val="744723025"/>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heel(1)">
                                      <p:cBhvr>
                                        <p:cTn id="10" dur="2000"/>
                                        <p:tgtEl>
                                          <p:spTgt spid="10"/>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20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heel(1)">
                                      <p:cBhvr>
                                        <p:cTn id="18"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55EF007-6F59-4A66-8781-5D8700524BB7}"/>
              </a:ext>
            </a:extLst>
          </p:cNvPr>
          <p:cNvSpPr>
            <a:spLocks noGrp="1"/>
          </p:cNvSpPr>
          <p:nvPr>
            <p:ph idx="1"/>
          </p:nvPr>
        </p:nvSpPr>
        <p:spPr/>
        <p:txBody>
          <a:bodyPr/>
          <a:lstStyle/>
          <a:p>
            <a:endParaRPr lang="zh-CN" altLang="en-US" dirty="0"/>
          </a:p>
        </p:txBody>
      </p:sp>
      <p:sp>
        <p:nvSpPr>
          <p:cNvPr id="3" name="标题 2">
            <a:extLst>
              <a:ext uri="{FF2B5EF4-FFF2-40B4-BE49-F238E27FC236}">
                <a16:creationId xmlns:a16="http://schemas.microsoft.com/office/drawing/2014/main" id="{768A3099-BFBD-4EB7-9599-DCDB0AC2958C}"/>
              </a:ext>
            </a:extLst>
          </p:cNvPr>
          <p:cNvSpPr>
            <a:spLocks noGrp="1"/>
          </p:cNvSpPr>
          <p:nvPr>
            <p:ph type="title"/>
          </p:nvPr>
        </p:nvSpPr>
        <p:spPr/>
        <p:txBody>
          <a:bodyPr/>
          <a:lstStyle/>
          <a:p>
            <a:endParaRPr lang="zh-CN" altLang="en-US"/>
          </a:p>
        </p:txBody>
      </p:sp>
      <p:sp>
        <p:nvSpPr>
          <p:cNvPr id="4" name="日期占位符 3">
            <a:extLst>
              <a:ext uri="{FF2B5EF4-FFF2-40B4-BE49-F238E27FC236}">
                <a16:creationId xmlns:a16="http://schemas.microsoft.com/office/drawing/2014/main" id="{0B5C03B3-5131-474D-9BB0-E2894B51FD8F}"/>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页脚占位符 4">
            <a:extLst>
              <a:ext uri="{FF2B5EF4-FFF2-40B4-BE49-F238E27FC236}">
                <a16:creationId xmlns:a16="http://schemas.microsoft.com/office/drawing/2014/main" id="{93F01AFF-7681-4BB5-8D03-1729F9E2F1ED}"/>
              </a:ext>
            </a:extLst>
          </p:cNvPr>
          <p:cNvSpPr>
            <a:spLocks noGrp="1"/>
          </p:cNvSpPr>
          <p:nvPr>
            <p:ph type="ftr" sz="quarter" idx="11"/>
          </p:nvPr>
        </p:nvSpPr>
        <p:spPr/>
        <p:txBody>
          <a:bodyPr/>
          <a:lstStyle/>
          <a:p>
            <a:pPr>
              <a:defRPr/>
            </a:pPr>
            <a:r>
              <a:rPr lang="en-US" altLang="zh-CN" dirty="0"/>
              <a:t>Xiang Gao</a:t>
            </a:r>
          </a:p>
        </p:txBody>
      </p:sp>
      <p:sp>
        <p:nvSpPr>
          <p:cNvPr id="6" name="灯片编号占位符 5">
            <a:extLst>
              <a:ext uri="{FF2B5EF4-FFF2-40B4-BE49-F238E27FC236}">
                <a16:creationId xmlns:a16="http://schemas.microsoft.com/office/drawing/2014/main" id="{0B639C66-7C16-406D-BBA0-BA6E3CFA78EE}"/>
              </a:ext>
            </a:extLst>
          </p:cNvPr>
          <p:cNvSpPr>
            <a:spLocks noGrp="1"/>
          </p:cNvSpPr>
          <p:nvPr>
            <p:ph type="sldNum" sz="quarter" idx="12"/>
          </p:nvPr>
        </p:nvSpPr>
        <p:spPr/>
        <p:txBody>
          <a:bodyPr/>
          <a:lstStyle/>
          <a:p>
            <a:pPr>
              <a:defRPr/>
            </a:pPr>
            <a:fld id="{F7C8A414-E22E-4DF8-8FC5-FF8056582F45}" type="slidenum">
              <a:rPr lang="en-US" altLang="zh-CN" smtClean="0"/>
              <a:pPr>
                <a:defRPr/>
              </a:pPr>
              <a:t>82</a:t>
            </a:fld>
            <a:endParaRPr lang="en-US" altLang="zh-CN"/>
          </a:p>
        </p:txBody>
      </p:sp>
      <p:pic>
        <p:nvPicPr>
          <p:cNvPr id="8" name="图片 7">
            <a:extLst>
              <a:ext uri="{FF2B5EF4-FFF2-40B4-BE49-F238E27FC236}">
                <a16:creationId xmlns:a16="http://schemas.microsoft.com/office/drawing/2014/main" id="{D2448483-B6BC-4A31-961F-EC220B8DF9F6}"/>
              </a:ext>
            </a:extLst>
          </p:cNvPr>
          <p:cNvPicPr>
            <a:picLocks noChangeAspect="1"/>
          </p:cNvPicPr>
          <p:nvPr/>
        </p:nvPicPr>
        <p:blipFill>
          <a:blip r:embed="rId2"/>
          <a:stretch>
            <a:fillRect/>
          </a:stretch>
        </p:blipFill>
        <p:spPr>
          <a:xfrm>
            <a:off x="107504" y="0"/>
            <a:ext cx="7360096" cy="6858000"/>
          </a:xfrm>
          <a:prstGeom prst="rect">
            <a:avLst/>
          </a:prstGeom>
          <a:solidFill>
            <a:srgbClr val="FF0000"/>
          </a:solidFill>
          <a:ln>
            <a:solidFill>
              <a:srgbClr val="FF0000"/>
            </a:solidFill>
          </a:ln>
        </p:spPr>
      </p:pic>
      <p:sp>
        <p:nvSpPr>
          <p:cNvPr id="10" name="矩形 9">
            <a:extLst>
              <a:ext uri="{FF2B5EF4-FFF2-40B4-BE49-F238E27FC236}">
                <a16:creationId xmlns:a16="http://schemas.microsoft.com/office/drawing/2014/main" id="{790A9E9D-A99C-4EA9-A503-7B7052535042}"/>
              </a:ext>
            </a:extLst>
          </p:cNvPr>
          <p:cNvSpPr/>
          <p:nvPr/>
        </p:nvSpPr>
        <p:spPr>
          <a:xfrm>
            <a:off x="841120" y="1143000"/>
            <a:ext cx="4492880" cy="2352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
        <p:nvSpPr>
          <p:cNvPr id="11" name="矩形 10">
            <a:extLst>
              <a:ext uri="{FF2B5EF4-FFF2-40B4-BE49-F238E27FC236}">
                <a16:creationId xmlns:a16="http://schemas.microsoft.com/office/drawing/2014/main" id="{147739CC-B677-4890-9471-D71DB71FCDEB}"/>
              </a:ext>
            </a:extLst>
          </p:cNvPr>
          <p:cNvSpPr/>
          <p:nvPr/>
        </p:nvSpPr>
        <p:spPr>
          <a:xfrm>
            <a:off x="990600" y="2133600"/>
            <a:ext cx="4492880" cy="2352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
        <p:nvSpPr>
          <p:cNvPr id="13" name="箭头: 右 12">
            <a:extLst>
              <a:ext uri="{FF2B5EF4-FFF2-40B4-BE49-F238E27FC236}">
                <a16:creationId xmlns:a16="http://schemas.microsoft.com/office/drawing/2014/main" id="{4EB1655F-9B37-4470-B635-2E6E5D436CAD}"/>
              </a:ext>
            </a:extLst>
          </p:cNvPr>
          <p:cNvSpPr/>
          <p:nvPr/>
        </p:nvSpPr>
        <p:spPr>
          <a:xfrm>
            <a:off x="5867400" y="5467110"/>
            <a:ext cx="838200" cy="23523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
        <p:nvSpPr>
          <p:cNvPr id="14" name="箭头: 右 13">
            <a:extLst>
              <a:ext uri="{FF2B5EF4-FFF2-40B4-BE49-F238E27FC236}">
                <a16:creationId xmlns:a16="http://schemas.microsoft.com/office/drawing/2014/main" id="{D9A1AD03-1602-4BA4-BC21-8B5AAEFC2B5B}"/>
              </a:ext>
            </a:extLst>
          </p:cNvPr>
          <p:cNvSpPr/>
          <p:nvPr/>
        </p:nvSpPr>
        <p:spPr>
          <a:xfrm>
            <a:off x="5905500" y="6394162"/>
            <a:ext cx="838200" cy="23523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
        <p:nvSpPr>
          <p:cNvPr id="7" name="Rounded Rectangle 6">
            <a:extLst>
              <a:ext uri="{FF2B5EF4-FFF2-40B4-BE49-F238E27FC236}">
                <a16:creationId xmlns:a16="http://schemas.microsoft.com/office/drawing/2014/main" id="{841784BE-2114-1223-77AE-47B79F764D96}"/>
              </a:ext>
            </a:extLst>
          </p:cNvPr>
          <p:cNvSpPr/>
          <p:nvPr/>
        </p:nvSpPr>
        <p:spPr>
          <a:xfrm>
            <a:off x="6940996" y="4965582"/>
            <a:ext cx="1288604" cy="172153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4 5 6</a:t>
            </a:r>
          </a:p>
          <a:p>
            <a:r>
              <a:rPr lang="en-US" sz="2800" dirty="0">
                <a:solidFill>
                  <a:schemeClr val="tx1"/>
                </a:solidFill>
              </a:rPr>
              <a:t>4</a:t>
            </a:r>
          </a:p>
          <a:p>
            <a:r>
              <a:rPr lang="en-US" sz="2800" dirty="0">
                <a:solidFill>
                  <a:schemeClr val="tx1"/>
                </a:solidFill>
              </a:rPr>
              <a:t>1 2 3</a:t>
            </a:r>
          </a:p>
          <a:p>
            <a:r>
              <a:rPr lang="en-US" sz="2800" dirty="0">
                <a:solidFill>
                  <a:schemeClr val="tx1"/>
                </a:solidFill>
              </a:rPr>
              <a:t>4</a:t>
            </a:r>
          </a:p>
        </p:txBody>
      </p:sp>
      <p:sp>
        <p:nvSpPr>
          <p:cNvPr id="9" name="矩形 9">
            <a:extLst>
              <a:ext uri="{FF2B5EF4-FFF2-40B4-BE49-F238E27FC236}">
                <a16:creationId xmlns:a16="http://schemas.microsoft.com/office/drawing/2014/main" id="{07DBE6B3-F0A9-C863-8D25-38668D8DFA0E}"/>
              </a:ext>
            </a:extLst>
          </p:cNvPr>
          <p:cNvSpPr/>
          <p:nvPr/>
        </p:nvSpPr>
        <p:spPr>
          <a:xfrm>
            <a:off x="833434" y="904300"/>
            <a:ext cx="6172200" cy="2513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
        <p:nvSpPr>
          <p:cNvPr id="15" name="矩形 9">
            <a:extLst>
              <a:ext uri="{FF2B5EF4-FFF2-40B4-BE49-F238E27FC236}">
                <a16:creationId xmlns:a16="http://schemas.microsoft.com/office/drawing/2014/main" id="{82DF2FE9-E311-D3F5-1FCD-8473C7F31CE0}"/>
              </a:ext>
            </a:extLst>
          </p:cNvPr>
          <p:cNvSpPr/>
          <p:nvPr/>
        </p:nvSpPr>
        <p:spPr>
          <a:xfrm>
            <a:off x="990600" y="1892343"/>
            <a:ext cx="6172200" cy="2513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spTree>
    <p:extLst>
      <p:ext uri="{BB962C8B-B14F-4D97-AF65-F5344CB8AC3E}">
        <p14:creationId xmlns:p14="http://schemas.microsoft.com/office/powerpoint/2010/main" val="422049145"/>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p:tgtEl>
                                          <p:spTgt spid="10"/>
                                        </p:tgtEl>
                                        <p:attrNameLst>
                                          <p:attrName>ppt_y</p:attrName>
                                        </p:attrNameLst>
                                      </p:cBhvr>
                                      <p:tavLst>
                                        <p:tav tm="0">
                                          <p:val>
                                            <p:strVal val="#ppt_y+#ppt_h*1.125000"/>
                                          </p:val>
                                        </p:tav>
                                        <p:tav tm="100000">
                                          <p:val>
                                            <p:strVal val="#ppt_y"/>
                                          </p:val>
                                        </p:tav>
                                      </p:tavLst>
                                    </p:anim>
                                    <p:animEffect transition="in" filter="wipe(up)">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anim calcmode="lin" valueType="num">
                                      <p:cBhvr additive="base">
                                        <p:cTn id="25" dur="500"/>
                                        <p:tgtEl>
                                          <p:spTgt spid="7">
                                            <p:txEl>
                                              <p:pRg st="1" end="1"/>
                                            </p:txEl>
                                          </p:spTgt>
                                        </p:tgtEl>
                                        <p:attrNameLst>
                                          <p:attrName>ppt_y</p:attrName>
                                        </p:attrNameLst>
                                      </p:cBhvr>
                                      <p:tavLst>
                                        <p:tav tm="0">
                                          <p:val>
                                            <p:strVal val="#ppt_y+#ppt_h*1.125000"/>
                                          </p:val>
                                        </p:tav>
                                        <p:tav tm="100000">
                                          <p:val>
                                            <p:strVal val="#ppt_y"/>
                                          </p:val>
                                        </p:tav>
                                      </p:tavLst>
                                    </p:anim>
                                    <p:animEffect transition="in" filter="wipe(up)">
                                      <p:cBhvr>
                                        <p:cTn id="26" dur="500"/>
                                        <p:tgtEl>
                                          <p:spTgt spid="7">
                                            <p:txEl>
                                              <p:pRg st="1" end="1"/>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p:tgtEl>
                                          <p:spTgt spid="13"/>
                                        </p:tgtEl>
                                        <p:attrNameLst>
                                          <p:attrName>ppt_y</p:attrName>
                                        </p:attrNameLst>
                                      </p:cBhvr>
                                      <p:tavLst>
                                        <p:tav tm="0">
                                          <p:val>
                                            <p:strVal val="#ppt_y+#ppt_h*1.125000"/>
                                          </p:val>
                                        </p:tav>
                                        <p:tav tm="100000">
                                          <p:val>
                                            <p:strVal val="#ppt_y"/>
                                          </p:val>
                                        </p:tav>
                                      </p:tavLst>
                                    </p:anim>
                                    <p:animEffect transition="in" filter="wipe(up)">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p:tgtEl>
                                          <p:spTgt spid="15"/>
                                        </p:tgtEl>
                                        <p:attrNameLst>
                                          <p:attrName>ppt_y</p:attrName>
                                        </p:attrNameLst>
                                      </p:cBhvr>
                                      <p:tavLst>
                                        <p:tav tm="0">
                                          <p:val>
                                            <p:strVal val="#ppt_y+#ppt_h*1.125000"/>
                                          </p:val>
                                        </p:tav>
                                        <p:tav tm="100000">
                                          <p:val>
                                            <p:strVal val="#ppt_y"/>
                                          </p:val>
                                        </p:tav>
                                      </p:tavLst>
                                    </p:anim>
                                    <p:animEffect transition="in" filter="wipe(up)">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7">
                                            <p:txEl>
                                              <p:pRg st="2" end="2"/>
                                            </p:txEl>
                                          </p:spTgt>
                                        </p:tgtEl>
                                        <p:attrNameLst>
                                          <p:attrName>style.visibility</p:attrName>
                                        </p:attrNameLst>
                                      </p:cBhvr>
                                      <p:to>
                                        <p:strVal val="visible"/>
                                      </p:to>
                                    </p:set>
                                    <p:anim calcmode="lin" valueType="num">
                                      <p:cBhvr additive="base">
                                        <p:cTn id="41" dur="500"/>
                                        <p:tgtEl>
                                          <p:spTgt spid="7">
                                            <p:txEl>
                                              <p:pRg st="2" end="2"/>
                                            </p:txEl>
                                          </p:spTgt>
                                        </p:tgtEl>
                                        <p:attrNameLst>
                                          <p:attrName>ppt_y</p:attrName>
                                        </p:attrNameLst>
                                      </p:cBhvr>
                                      <p:tavLst>
                                        <p:tav tm="0">
                                          <p:val>
                                            <p:strVal val="#ppt_y+#ppt_h*1.125000"/>
                                          </p:val>
                                        </p:tav>
                                        <p:tav tm="100000">
                                          <p:val>
                                            <p:strVal val="#ppt_y"/>
                                          </p:val>
                                        </p:tav>
                                      </p:tavLst>
                                    </p:anim>
                                    <p:animEffect transition="in" filter="wipe(up)">
                                      <p:cBhvr>
                                        <p:cTn id="42" dur="500"/>
                                        <p:tgtEl>
                                          <p:spTgt spid="7">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p:tgtEl>
                                          <p:spTgt spid="11"/>
                                        </p:tgtEl>
                                        <p:attrNameLst>
                                          <p:attrName>ppt_y</p:attrName>
                                        </p:attrNameLst>
                                      </p:cBhvr>
                                      <p:tavLst>
                                        <p:tav tm="0">
                                          <p:val>
                                            <p:strVal val="#ppt_y+#ppt_h*1.125000"/>
                                          </p:val>
                                        </p:tav>
                                        <p:tav tm="100000">
                                          <p:val>
                                            <p:strVal val="#ppt_y"/>
                                          </p:val>
                                        </p:tav>
                                      </p:tavLst>
                                    </p:anim>
                                    <p:animEffect transition="in" filter="wipe(up)">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nodeType="clickEffect">
                                  <p:stCondLst>
                                    <p:cond delay="0"/>
                                  </p:stCondLst>
                                  <p:childTnLst>
                                    <p:set>
                                      <p:cBhvr>
                                        <p:cTn id="52" dur="1" fill="hold">
                                          <p:stCondLst>
                                            <p:cond delay="0"/>
                                          </p:stCondLst>
                                        </p:cTn>
                                        <p:tgtEl>
                                          <p:spTgt spid="7">
                                            <p:txEl>
                                              <p:pRg st="3" end="3"/>
                                            </p:txEl>
                                          </p:spTgt>
                                        </p:tgtEl>
                                        <p:attrNameLst>
                                          <p:attrName>style.visibility</p:attrName>
                                        </p:attrNameLst>
                                      </p:cBhvr>
                                      <p:to>
                                        <p:strVal val="visible"/>
                                      </p:to>
                                    </p:set>
                                    <p:anim calcmode="lin" valueType="num">
                                      <p:cBhvr additive="base">
                                        <p:cTn id="53" dur="500"/>
                                        <p:tgtEl>
                                          <p:spTgt spid="7">
                                            <p:txEl>
                                              <p:pRg st="3" end="3"/>
                                            </p:txEl>
                                          </p:spTgt>
                                        </p:tgtEl>
                                        <p:attrNameLst>
                                          <p:attrName>ppt_y</p:attrName>
                                        </p:attrNameLst>
                                      </p:cBhvr>
                                      <p:tavLst>
                                        <p:tav tm="0">
                                          <p:val>
                                            <p:strVal val="#ppt_y+#ppt_h*1.125000"/>
                                          </p:val>
                                        </p:tav>
                                        <p:tav tm="100000">
                                          <p:val>
                                            <p:strVal val="#ppt_y"/>
                                          </p:val>
                                        </p:tav>
                                      </p:tavLst>
                                    </p:anim>
                                    <p:animEffect transition="in" filter="wipe(up)">
                                      <p:cBhvr>
                                        <p:cTn id="54" dur="500"/>
                                        <p:tgtEl>
                                          <p:spTgt spid="7">
                                            <p:txEl>
                                              <p:pRg st="3" end="3"/>
                                            </p:txEl>
                                          </p:spTgt>
                                        </p:tgtEl>
                                      </p:cBhvr>
                                    </p:animEffect>
                                  </p:childTnLst>
                                </p:cTn>
                              </p:par>
                              <p:par>
                                <p:cTn id="55" presetID="12" presetClass="entr" presetSubtype="4"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p:tgtEl>
                                          <p:spTgt spid="14"/>
                                        </p:tgtEl>
                                        <p:attrNameLst>
                                          <p:attrName>ppt_y</p:attrName>
                                        </p:attrNameLst>
                                      </p:cBhvr>
                                      <p:tavLst>
                                        <p:tav tm="0">
                                          <p:val>
                                            <p:strVal val="#ppt_y+#ppt_h*1.125000"/>
                                          </p:val>
                                        </p:tav>
                                        <p:tav tm="100000">
                                          <p:val>
                                            <p:strVal val="#ppt_y"/>
                                          </p:val>
                                        </p:tav>
                                      </p:tavLst>
                                    </p:anim>
                                    <p:animEffect transition="in" filter="wipe(up)">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9" grpId="0" animBg="1"/>
      <p:bldP spid="1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382000" cy="5263480"/>
          </a:xfrm>
        </p:spPr>
        <p:txBody>
          <a:bodyPr>
            <a:normAutofit fontScale="55000" lnSpcReduction="20000"/>
          </a:bodyPr>
          <a:lstStyle/>
          <a:p>
            <a:r>
              <a:rPr lang="zh-CN" altLang="en-US" sz="4400" dirty="0">
                <a:latin typeface="KaiTi" panose="02010609060101010101" pitchFamily="49" charset="-122"/>
                <a:ea typeface="KaiTi" panose="02010609060101010101" pitchFamily="49" charset="-122"/>
              </a:rPr>
              <a:t>继承的必要性</a:t>
            </a:r>
            <a:endParaRPr lang="en-US" altLang="zh-CN" sz="4400" dirty="0">
              <a:latin typeface="KaiTi" panose="02010609060101010101" pitchFamily="49" charset="-122"/>
              <a:ea typeface="KaiTi" panose="02010609060101010101" pitchFamily="49" charset="-122"/>
            </a:endParaRPr>
          </a:p>
          <a:p>
            <a:r>
              <a:rPr lang="zh-CN" altLang="en-US" sz="4400" dirty="0">
                <a:latin typeface="KaiTi" panose="02010609060101010101" pitchFamily="49" charset="-122"/>
                <a:ea typeface="KaiTi" panose="02010609060101010101" pitchFamily="49" charset="-122"/>
              </a:rPr>
              <a:t>理解继承</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基类与派生类的关系</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单继承、多继承</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继承的层次结构</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子类继承了什么？</a:t>
            </a:r>
            <a:endParaRPr lang="en-US" altLang="zh-CN" sz="4400" dirty="0">
              <a:latin typeface="KaiTi" panose="02010609060101010101" pitchFamily="49" charset="-122"/>
              <a:ea typeface="KaiTi" panose="02010609060101010101" pitchFamily="49" charset="-122"/>
            </a:endParaRPr>
          </a:p>
          <a:p>
            <a:r>
              <a:rPr lang="en-US" altLang="zh-CN" sz="4400" dirty="0">
                <a:latin typeface="KaiTi" panose="02010609060101010101" pitchFamily="49" charset="-122"/>
                <a:ea typeface="KaiTi" panose="02010609060101010101" pitchFamily="49" charset="-122"/>
              </a:rPr>
              <a:t>Java</a:t>
            </a:r>
            <a:r>
              <a:rPr lang="zh-CN" altLang="en-US" sz="4400" dirty="0">
                <a:latin typeface="KaiTi" panose="02010609060101010101" pitchFamily="49" charset="-122"/>
                <a:ea typeface="KaiTi" panose="02010609060101010101" pitchFamily="49" charset="-122"/>
              </a:rPr>
              <a:t>继承（</a:t>
            </a:r>
            <a:r>
              <a:rPr lang="en-US" altLang="zh-CN" sz="4400" dirty="0">
                <a:latin typeface="KaiTi" panose="02010609060101010101" pitchFamily="49" charset="-122"/>
                <a:ea typeface="KaiTi" panose="02010609060101010101" pitchFamily="49" charset="-122"/>
              </a:rPr>
              <a:t>extends</a:t>
            </a:r>
            <a:r>
              <a:rPr lang="zh-CN" altLang="en-US" sz="4400" dirty="0">
                <a:latin typeface="KaiTi" panose="02010609060101010101" pitchFamily="49" charset="-122"/>
                <a:ea typeface="KaiTi" panose="02010609060101010101" pitchFamily="49" charset="-122"/>
              </a:rPr>
              <a:t>）</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子类构造方法</a:t>
            </a:r>
            <a:endParaRPr lang="en-SG"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保护成员的使用</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向上映射</a:t>
            </a:r>
            <a:endParaRPr lang="en-US" altLang="zh-CN" sz="4400" dirty="0">
              <a:latin typeface="KaiTi" panose="02010609060101010101" pitchFamily="49" charset="-122"/>
              <a:ea typeface="KaiTi" panose="02010609060101010101" pitchFamily="49" charset="-122"/>
            </a:endParaRPr>
          </a:p>
          <a:p>
            <a:pPr lvl="1"/>
            <a:r>
              <a:rPr lang="zh-CN" altLang="en-US" sz="4400" dirty="0">
                <a:latin typeface="KaiTi" panose="02010609060101010101" pitchFamily="49" charset="-122"/>
                <a:ea typeface="KaiTi" panose="02010609060101010101" pitchFamily="49" charset="-122"/>
              </a:rPr>
              <a:t>隐藏、覆盖</a:t>
            </a:r>
            <a:endParaRPr lang="en-US" altLang="zh-CN" sz="4400" dirty="0">
              <a:latin typeface="KaiTi" panose="02010609060101010101" pitchFamily="49" charset="-122"/>
              <a:ea typeface="KaiTi" panose="02010609060101010101" pitchFamily="49" charset="-122"/>
            </a:endParaRPr>
          </a:p>
          <a:p>
            <a:r>
              <a:rPr lang="zh-CN" altLang="en-US" sz="4800" dirty="0">
                <a:solidFill>
                  <a:srgbClr val="FF0000"/>
                </a:solidFill>
                <a:latin typeface="KaiTi" panose="02010609060101010101" pitchFamily="49" charset="-122"/>
                <a:ea typeface="KaiTi" panose="02010609060101010101" pitchFamily="49" charset="-122"/>
              </a:rPr>
              <a:t>继承的优缺点、组合与继承</a:t>
            </a:r>
            <a:endParaRPr lang="en-SG" altLang="zh-CN" sz="4800" dirty="0">
              <a:solidFill>
                <a:srgbClr val="FF0000"/>
              </a:solidFill>
              <a:latin typeface="KaiTi" panose="02010609060101010101" pitchFamily="49" charset="-122"/>
              <a:ea typeface="KaiTi" panose="02010609060101010101" pitchFamily="49" charset="-122"/>
            </a:endParaRPr>
          </a:p>
          <a:p>
            <a:r>
              <a:rPr lang="zh-CN" altLang="en-US" sz="4800" dirty="0">
                <a:latin typeface="KaiTi" panose="02010609060101010101" pitchFamily="49" charset="-122"/>
                <a:ea typeface="KaiTi" panose="02010609060101010101" pitchFamily="49" charset="-122"/>
              </a:rPr>
              <a:t>继承的案例</a:t>
            </a:r>
            <a:endParaRPr lang="en-US" altLang="zh-CN" sz="4800" dirty="0">
              <a:latin typeface="KaiTi" panose="02010609060101010101" pitchFamily="49" charset="-122"/>
              <a:ea typeface="KaiTi" panose="02010609060101010101" pitchFamily="49" charset="-122"/>
            </a:endParaRPr>
          </a:p>
        </p:txBody>
      </p:sp>
      <p:sp>
        <p:nvSpPr>
          <p:cNvPr id="3" name="Title 2"/>
          <p:cNvSpPr>
            <a:spLocks noGrp="1"/>
          </p:cNvSpPr>
          <p:nvPr>
            <p:ph type="title"/>
          </p:nvPr>
        </p:nvSpPr>
        <p:spPr/>
        <p:txBody>
          <a:bodyPr/>
          <a:lstStyle/>
          <a:p>
            <a:r>
              <a:rPr lang="zh-CN" altLang="en-US" dirty="0"/>
              <a:t>主要内容</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83</a:t>
            </a:fld>
            <a:endParaRPr lang="en-US" altLang="zh-CN" dirty="0"/>
          </a:p>
        </p:txBody>
      </p:sp>
    </p:spTree>
    <p:extLst>
      <p:ext uri="{BB962C8B-B14F-4D97-AF65-F5344CB8AC3E}">
        <p14:creationId xmlns:p14="http://schemas.microsoft.com/office/powerpoint/2010/main" val="4247196433"/>
      </p:ext>
    </p:extLst>
  </p:cSld>
  <p:clrMapOvr>
    <a:masterClrMapping/>
  </p:clrMapOvr>
  <p:transition spd="med">
    <p:pull dir="r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zh-CN" dirty="0"/>
              <a:t>1</a:t>
            </a:r>
            <a:r>
              <a:rPr lang="zh-CN" altLang="en-US" dirty="0"/>
              <a:t>、</a:t>
            </a:r>
            <a:r>
              <a:rPr kumimoji="1" lang="zh-CN" altLang="en-US" dirty="0"/>
              <a:t>继承带来了哪些好处？</a:t>
            </a:r>
            <a:br>
              <a:rPr lang="en-US" altLang="zh-CN" dirty="0"/>
            </a:br>
            <a:r>
              <a:rPr lang="en-US" altLang="zh-CN" dirty="0"/>
              <a:t>2</a:t>
            </a:r>
            <a:r>
              <a:rPr lang="zh-CN" altLang="en-US" dirty="0"/>
              <a:t>、继承是否破坏了类的封装性？</a:t>
            </a:r>
          </a:p>
        </p:txBody>
      </p:sp>
      <p:sp>
        <p:nvSpPr>
          <p:cNvPr id="3" name="Title 2"/>
          <p:cNvSpPr>
            <a:spLocks noGrp="1"/>
          </p:cNvSpPr>
          <p:nvPr>
            <p:ph type="title"/>
          </p:nvPr>
        </p:nvSpPr>
        <p:spPr/>
        <p:txBody>
          <a:bodyPr/>
          <a:lstStyle/>
          <a:p>
            <a:r>
              <a:rPr lang="zh-CN" altLang="en-US" dirty="0"/>
              <a:t>继承的好处与坏处</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84</a:t>
            </a:fld>
            <a:endParaRPr lang="en-US" altLang="zh-CN"/>
          </a:p>
        </p:txBody>
      </p:sp>
    </p:spTree>
    <p:extLst>
      <p:ext uri="{BB962C8B-B14F-4D97-AF65-F5344CB8AC3E}">
        <p14:creationId xmlns:p14="http://schemas.microsoft.com/office/powerpoint/2010/main" val="2262853901"/>
      </p:ext>
    </p:extLst>
  </p:cSld>
  <p:clrMapOvr>
    <a:masterClrMapping/>
  </p:clrMapOvr>
  <p:transition spd="med">
    <p:pull dir="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812800" indent="-812800">
              <a:lnSpc>
                <a:spcPct val="110000"/>
              </a:lnSpc>
              <a:buFont typeface="+mj-ea"/>
              <a:buAutoNum type="ea1JpnChsDbPeriod"/>
            </a:pPr>
            <a:r>
              <a:rPr kumimoji="1" lang="zh-CN" altLang="en-US" dirty="0">
                <a:latin typeface="微软雅黑" pitchFamily="34" charset="-122"/>
              </a:rPr>
              <a:t>继承</a:t>
            </a:r>
            <a:r>
              <a:rPr lang="zh-CN" altLang="en-US" dirty="0">
                <a:latin typeface="微软雅黑" pitchFamily="34" charset="-122"/>
              </a:rPr>
              <a:t>避免了公用代码的重复开发，减少代码的冗余，</a:t>
            </a:r>
            <a:r>
              <a:rPr lang="zh-CN" altLang="en-US" dirty="0"/>
              <a:t>提高程序的复用性</a:t>
            </a:r>
            <a:r>
              <a:rPr lang="zh-CN" altLang="en-US" dirty="0">
                <a:latin typeface="微软雅黑" pitchFamily="34" charset="-122"/>
              </a:rPr>
              <a:t>；</a:t>
            </a:r>
            <a:endParaRPr lang="en-US" altLang="zh-CN" dirty="0">
              <a:latin typeface="微软雅黑" pitchFamily="34" charset="-122"/>
            </a:endParaRPr>
          </a:p>
          <a:p>
            <a:pPr marL="812800" indent="-812800">
              <a:lnSpc>
                <a:spcPct val="110000"/>
              </a:lnSpc>
              <a:buFont typeface="+mj-ea"/>
              <a:buAutoNum type="ea1JpnChsDbPeriod"/>
            </a:pPr>
            <a:r>
              <a:rPr lang="zh-CN" altLang="en-US" dirty="0"/>
              <a:t>支持向上映射，提高程序的可扩展性；</a:t>
            </a:r>
            <a:endParaRPr kumimoji="1" lang="en-US" altLang="zh-CN" dirty="0">
              <a:latin typeface="微软雅黑" pitchFamily="34" charset="-122"/>
            </a:endParaRPr>
          </a:p>
          <a:p>
            <a:pPr marL="812800" indent="-812800">
              <a:lnSpc>
                <a:spcPct val="110000"/>
              </a:lnSpc>
              <a:buFont typeface="+mj-ea"/>
              <a:buAutoNum type="ea1JpnChsDbPeriod"/>
            </a:pPr>
            <a:r>
              <a:rPr kumimoji="1" lang="zh-CN" altLang="en-US" dirty="0">
                <a:latin typeface="微软雅黑" pitchFamily="34" charset="-122"/>
              </a:rPr>
              <a:t>继承是类实现可重用性和可扩充性的关键持征。在继承关系下类之间组成网状的层次结构。</a:t>
            </a:r>
            <a:endParaRPr kumimoji="1" lang="en-US" altLang="zh-CN" dirty="0">
              <a:latin typeface="微软雅黑" pitchFamily="34" charset="-122"/>
            </a:endParaRPr>
          </a:p>
          <a:p>
            <a:pPr marL="812800" indent="-812800">
              <a:lnSpc>
                <a:spcPct val="110000"/>
              </a:lnSpc>
              <a:buFont typeface="+mj-ea"/>
              <a:buAutoNum type="ea1JpnChsDbPeriod"/>
            </a:pPr>
            <a:r>
              <a:rPr lang="zh-CN" altLang="en-US" dirty="0">
                <a:latin typeface="微软雅黑" pitchFamily="34" charset="-122"/>
              </a:rPr>
              <a:t>通过</a:t>
            </a:r>
            <a:r>
              <a:rPr kumimoji="1" lang="zh-CN" altLang="en-US" dirty="0">
                <a:latin typeface="微软雅黑" pitchFamily="34" charset="-122"/>
              </a:rPr>
              <a:t>继承</a:t>
            </a:r>
            <a:r>
              <a:rPr lang="zh-CN" altLang="en-US" dirty="0">
                <a:latin typeface="微软雅黑" pitchFamily="34" charset="-122"/>
              </a:rPr>
              <a:t>增强一致性，从而减少模块间的接口和界面。</a:t>
            </a:r>
            <a:endParaRPr lang="en-US" altLang="zh-CN" dirty="0">
              <a:latin typeface="微软雅黑" pitchFamily="34" charset="-122"/>
            </a:endParaRPr>
          </a:p>
          <a:p>
            <a:pPr marL="812800" indent="-812800">
              <a:lnSpc>
                <a:spcPct val="110000"/>
              </a:lnSpc>
              <a:buFont typeface="+mj-ea"/>
              <a:buAutoNum type="ea1JpnChsDbPeriod"/>
            </a:pPr>
            <a:r>
              <a:rPr lang="zh-CN" altLang="en-US" b="1" i="1" dirty="0">
                <a:solidFill>
                  <a:srgbClr val="FF0000"/>
                </a:solidFill>
                <a:effectLst>
                  <a:outerShdw blurRad="38100" dist="38100" dir="2700000" algn="tl">
                    <a:srgbClr val="000000">
                      <a:alpha val="43137"/>
                    </a:srgbClr>
                  </a:outerShdw>
                </a:effectLst>
                <a:latin typeface="微软雅黑" pitchFamily="34" charset="-122"/>
              </a:rPr>
              <a:t>通过向上映射，让我们体验到多态的益处。</a:t>
            </a:r>
          </a:p>
          <a:p>
            <a:pPr marL="812800" indent="-812800">
              <a:lnSpc>
                <a:spcPct val="90000"/>
              </a:lnSpc>
              <a:buFont typeface="+mj-ea"/>
              <a:buAutoNum type="ea1JpnChsDbPeriod"/>
            </a:pPr>
            <a:endParaRPr lang="en-US" altLang="zh-CN" dirty="0">
              <a:latin typeface="微软雅黑" pitchFamily="34" charset="-122"/>
            </a:endParaRPr>
          </a:p>
          <a:p>
            <a:endParaRPr lang="zh-CN" altLang="en-US" dirty="0"/>
          </a:p>
        </p:txBody>
      </p:sp>
      <p:sp>
        <p:nvSpPr>
          <p:cNvPr id="3" name="Title 2"/>
          <p:cNvSpPr>
            <a:spLocks noGrp="1"/>
          </p:cNvSpPr>
          <p:nvPr>
            <p:ph type="title"/>
          </p:nvPr>
        </p:nvSpPr>
        <p:spPr/>
        <p:txBody>
          <a:bodyPr/>
          <a:lstStyle/>
          <a:p>
            <a:r>
              <a:rPr kumimoji="1" lang="zh-CN" altLang="en-US" dirty="0"/>
              <a:t>面向对象的三大特征之一：</a:t>
            </a:r>
            <a:r>
              <a:rPr kumimoji="1" lang="zh-CN" altLang="en-US" b="1" i="1" dirty="0">
                <a:solidFill>
                  <a:srgbClr val="FF0000"/>
                </a:solidFill>
                <a:effectLst>
                  <a:outerShdw blurRad="38100" dist="38100" dir="2700000" algn="tl">
                    <a:srgbClr val="000000">
                      <a:alpha val="43137"/>
                    </a:srgbClr>
                  </a:outerShdw>
                </a:effectLst>
              </a:rPr>
              <a:t>继承真的很好！</a:t>
            </a:r>
            <a:endParaRPr lang="zh-CN" altLang="en-US" b="1" i="1"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pPr>
              <a:defRPr/>
            </a:pPr>
            <a:fld id="{AA78C7E2-13EF-4A39-A730-7C909C0CA37C}"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85</a:t>
            </a:fld>
            <a:endParaRPr lang="en-US" altLang="zh-CN" dirty="0"/>
          </a:p>
        </p:txBody>
      </p:sp>
    </p:spTree>
    <p:extLst>
      <p:ext uri="{BB962C8B-B14F-4D97-AF65-F5344CB8AC3E}">
        <p14:creationId xmlns:p14="http://schemas.microsoft.com/office/powerpoint/2010/main" val="1086732671"/>
      </p:ext>
    </p:extLst>
  </p:cSld>
  <p:clrMapOvr>
    <a:masterClrMapping/>
  </p:clrMapOvr>
  <p:transition spd="med">
    <p:pull dir="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305800" cy="5263480"/>
          </a:xfrm>
        </p:spPr>
        <p:txBody>
          <a:bodyPr>
            <a:normAutofit/>
          </a:bodyPr>
          <a:lstStyle/>
          <a:p>
            <a:pPr latinLnBrk="1">
              <a:lnSpc>
                <a:spcPct val="170000"/>
              </a:lnSpc>
            </a:pPr>
            <a:r>
              <a:rPr lang="zh-CN" altLang="en-US" sz="2400" dirty="0">
                <a:latin typeface="楷体" panose="02010609060101010101" pitchFamily="49" charset="-122"/>
              </a:rPr>
              <a:t>是的。继承破坏了封装性，换句话说，子类依赖于父类的实现细节。</a:t>
            </a:r>
            <a:r>
              <a:rPr lang="zh-CN" altLang="en-US" sz="2400" b="1" dirty="0">
                <a:solidFill>
                  <a:srgbClr val="FF0000"/>
                </a:solidFill>
                <a:latin typeface="楷体" panose="02010609060101010101" pitchFamily="49" charset="-122"/>
              </a:rPr>
              <a:t>继承很容易改变父类实现的细节</a:t>
            </a:r>
            <a:r>
              <a:rPr lang="en-US" altLang="zh-CN" sz="2400" b="1" dirty="0">
                <a:solidFill>
                  <a:srgbClr val="FF0000"/>
                </a:solidFill>
                <a:latin typeface="楷体" panose="02010609060101010101" pitchFamily="49" charset="-122"/>
              </a:rPr>
              <a:t>(</a:t>
            </a:r>
            <a:r>
              <a:rPr lang="zh-CN" altLang="en-US" sz="2400" b="1" dirty="0">
                <a:solidFill>
                  <a:srgbClr val="FF0000"/>
                </a:solidFill>
                <a:latin typeface="楷体" panose="02010609060101010101" pitchFamily="49" charset="-122"/>
              </a:rPr>
              <a:t>所以父类中能写成</a:t>
            </a:r>
            <a:r>
              <a:rPr lang="en-US" altLang="zh-CN" sz="2400" b="1" dirty="0">
                <a:solidFill>
                  <a:srgbClr val="FF0000"/>
                </a:solidFill>
                <a:latin typeface="楷体" panose="02010609060101010101" pitchFamily="49" charset="-122"/>
              </a:rPr>
              <a:t>final</a:t>
            </a:r>
            <a:r>
              <a:rPr lang="zh-CN" altLang="en-US" sz="2400" b="1" dirty="0">
                <a:solidFill>
                  <a:srgbClr val="FF0000"/>
                </a:solidFill>
                <a:latin typeface="楷体" panose="02010609060101010101" pitchFamily="49" charset="-122"/>
              </a:rPr>
              <a:t>尽量写成</a:t>
            </a:r>
            <a:r>
              <a:rPr lang="en-US" altLang="zh-CN" sz="2400" b="1" dirty="0">
                <a:solidFill>
                  <a:srgbClr val="FF0000"/>
                </a:solidFill>
                <a:latin typeface="楷体" panose="02010609060101010101" pitchFamily="49" charset="-122"/>
              </a:rPr>
              <a:t>final)</a:t>
            </a:r>
            <a:r>
              <a:rPr lang="zh-CN" altLang="en-US" sz="2400" b="1" dirty="0">
                <a:solidFill>
                  <a:srgbClr val="FF0000"/>
                </a:solidFill>
                <a:latin typeface="楷体" panose="02010609060101010101" pitchFamily="49" charset="-122"/>
              </a:rPr>
              <a:t>，</a:t>
            </a:r>
            <a:r>
              <a:rPr lang="zh-CN" altLang="en-US" sz="2400" dirty="0">
                <a:latin typeface="楷体" panose="02010609060101010101" pitchFamily="49" charset="-122"/>
              </a:rPr>
              <a:t>即使父类整体没有问题，也有可能因为子类细节实现不当，而破坏父类的约束。</a:t>
            </a:r>
            <a:endParaRPr lang="en-US" altLang="zh-CN" sz="2400" dirty="0">
              <a:latin typeface="楷体" panose="02010609060101010101" pitchFamily="49" charset="-122"/>
            </a:endParaRPr>
          </a:p>
          <a:p>
            <a:pPr latinLnBrk="1">
              <a:lnSpc>
                <a:spcPct val="170000"/>
              </a:lnSpc>
            </a:pPr>
            <a:r>
              <a:rPr lang="zh-CN" altLang="en-US" sz="2400" dirty="0">
                <a:latin typeface="楷体" panose="02010609060101010101" pitchFamily="49" charset="-122"/>
              </a:rPr>
              <a:t>其实这是一个平衡关系，不是绝对关系，一定程度的封装和一定程度的继承，可以提高开发效率，继承破坏了封装，但是有时继承是必须的，为了继承牺牲一定的封装是允许的。不能绝对的为了封装，就不去继承。</a:t>
            </a:r>
            <a:endParaRPr lang="zh-CN" altLang="en-US" sz="2400" b="1" dirty="0">
              <a:latin typeface="楷体" panose="02010609060101010101" pitchFamily="49" charset="-122"/>
            </a:endParaRPr>
          </a:p>
          <a:p>
            <a:endParaRPr lang="zh-CN" altLang="en-US" sz="2400" dirty="0"/>
          </a:p>
        </p:txBody>
      </p:sp>
      <p:sp>
        <p:nvSpPr>
          <p:cNvPr id="3" name="Title 2"/>
          <p:cNvSpPr>
            <a:spLocks noGrp="1"/>
          </p:cNvSpPr>
          <p:nvPr>
            <p:ph type="title"/>
          </p:nvPr>
        </p:nvSpPr>
        <p:spPr/>
        <p:txBody>
          <a:bodyPr/>
          <a:lstStyle/>
          <a:p>
            <a:r>
              <a:rPr lang="zh-CN" altLang="en-US" dirty="0"/>
              <a:t>继承是否破坏了类的封装性？</a:t>
            </a:r>
          </a:p>
        </p:txBody>
      </p:sp>
      <p:sp>
        <p:nvSpPr>
          <p:cNvPr id="4" name="Date Placeholder 3"/>
          <p:cNvSpPr>
            <a:spLocks noGrp="1"/>
          </p:cNvSpPr>
          <p:nvPr>
            <p:ph type="dt" sz="half" idx="10"/>
          </p:nvPr>
        </p:nvSpPr>
        <p:spPr/>
        <p:txBody>
          <a:bodyPr/>
          <a:lstStyle/>
          <a:p>
            <a:pPr>
              <a:defRPr/>
            </a:pPr>
            <a:fld id="{C64FB069-6610-410D-A6FD-6E969AE0669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86</a:t>
            </a:fld>
            <a:endParaRPr lang="en-US" altLang="zh-CN" dirty="0"/>
          </a:p>
        </p:txBody>
      </p:sp>
    </p:spTree>
    <p:extLst>
      <p:ext uri="{BB962C8B-B14F-4D97-AF65-F5344CB8AC3E}">
        <p14:creationId xmlns:p14="http://schemas.microsoft.com/office/powerpoint/2010/main" val="1800124093"/>
      </p:ext>
    </p:extLst>
  </p:cSld>
  <p:clrMapOvr>
    <a:masterClrMapping/>
  </p:clrMapOvr>
  <p:transition spd="med">
    <p:pull dir="ru"/>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继承是一种强耦合关系。父类变，子类就必须变。</a:t>
            </a:r>
          </a:p>
          <a:p>
            <a:r>
              <a:rPr lang="zh-CN" altLang="en-US" dirty="0"/>
              <a:t>继承破坏了封装，子类可以重写父类的方法，子类可以直接访问保护成员。</a:t>
            </a:r>
            <a:endParaRPr lang="en-US" altLang="zh-CN" dirty="0"/>
          </a:p>
          <a:p>
            <a:r>
              <a:rPr lang="zh-CN" altLang="en-US" dirty="0"/>
              <a:t>那么到底要不要使用继承呢？</a:t>
            </a:r>
            <a:endParaRPr lang="en-US" altLang="zh-CN" dirty="0"/>
          </a:p>
          <a:p>
            <a:pPr lvl="1"/>
            <a:r>
              <a:rPr lang="en-US" altLang="zh-CN" dirty="0"/>
              <a:t>《Think in java》</a:t>
            </a:r>
            <a:r>
              <a:rPr lang="zh-CN" altLang="en-US" dirty="0"/>
              <a:t>中提供了解决办法：问一问自己是否需要从子类向父类</a:t>
            </a:r>
            <a:r>
              <a:rPr lang="zh-CN" altLang="en-US" b="1" i="1" dirty="0">
                <a:solidFill>
                  <a:srgbClr val="FF0000"/>
                </a:solidFill>
                <a:effectLst>
                  <a:outerShdw blurRad="38100" dist="38100" dir="2700000" algn="tl">
                    <a:srgbClr val="000000">
                      <a:alpha val="43137"/>
                    </a:srgbClr>
                  </a:outerShdw>
                </a:effectLst>
              </a:rPr>
              <a:t>进行向上转型</a:t>
            </a:r>
            <a:r>
              <a:rPr lang="zh-CN" altLang="en-US" dirty="0"/>
              <a:t>。如果必须向上转型，则继承是必要的，但是如果不需要，则应当好好考虑自己是否需要继承。</a:t>
            </a:r>
          </a:p>
          <a:p>
            <a:endParaRPr lang="zh-CN" altLang="en-US" dirty="0"/>
          </a:p>
        </p:txBody>
      </p:sp>
      <p:sp>
        <p:nvSpPr>
          <p:cNvPr id="3" name="Title 2"/>
          <p:cNvSpPr>
            <a:spLocks noGrp="1"/>
          </p:cNvSpPr>
          <p:nvPr>
            <p:ph type="title"/>
          </p:nvPr>
        </p:nvSpPr>
        <p:spPr/>
        <p:txBody>
          <a:bodyPr/>
          <a:lstStyle/>
          <a:p>
            <a:r>
              <a:rPr lang="zh-CN" altLang="en-US" b="1" dirty="0"/>
              <a:t>谨慎继承</a:t>
            </a:r>
            <a:endParaRPr lang="zh-CN" altLang="en-US" dirty="0"/>
          </a:p>
        </p:txBody>
      </p:sp>
      <p:sp>
        <p:nvSpPr>
          <p:cNvPr id="4" name="Date Placeholder 3"/>
          <p:cNvSpPr>
            <a:spLocks noGrp="1"/>
          </p:cNvSpPr>
          <p:nvPr>
            <p:ph type="dt" sz="half" idx="10"/>
          </p:nvPr>
        </p:nvSpPr>
        <p:spPr/>
        <p:txBody>
          <a:bodyPr/>
          <a:lstStyle/>
          <a:p>
            <a:pPr>
              <a:defRPr/>
            </a:pPr>
            <a:fld id="{19875926-D233-48E0-B49E-21964E1E9F28}"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87</a:t>
            </a:fld>
            <a:endParaRPr lang="en-US" altLang="zh-CN"/>
          </a:p>
        </p:txBody>
      </p:sp>
    </p:spTree>
    <p:extLst>
      <p:ext uri="{BB962C8B-B14F-4D97-AF65-F5344CB8AC3E}">
        <p14:creationId xmlns:p14="http://schemas.microsoft.com/office/powerpoint/2010/main" val="2285561346"/>
      </p:ext>
    </p:extLst>
  </p:cSld>
  <p:clrMapOvr>
    <a:masterClrMapping/>
  </p:clrMapOvr>
  <p:transition spd="med">
    <p:pull dir="ru"/>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合理使用继承，谨慎继承</a:t>
            </a:r>
            <a:r>
              <a:rPr lang="zh-CN" altLang="en-US" b="1" dirty="0"/>
              <a:t>，</a:t>
            </a:r>
            <a:r>
              <a:rPr lang="zh-CN" altLang="zh-CN" b="1" dirty="0">
                <a:solidFill>
                  <a:srgbClr val="C00000"/>
                </a:solidFill>
              </a:rPr>
              <a:t>继承树的层次不可太多</a:t>
            </a:r>
            <a:endParaRPr lang="en-US" altLang="zh-CN" b="1" dirty="0">
              <a:solidFill>
                <a:srgbClr val="C00000"/>
              </a:solidFill>
            </a:endParaRPr>
          </a:p>
          <a:p>
            <a:r>
              <a:rPr lang="zh-CN" altLang="en-US" dirty="0"/>
              <a:t>继承是一种提高程序代码的可重用性、以及提高系统的可扩展性的有效手段</a:t>
            </a:r>
            <a:endParaRPr lang="en-US" altLang="zh-CN" dirty="0"/>
          </a:p>
          <a:p>
            <a:r>
              <a:rPr lang="zh-CN" altLang="en-US" dirty="0"/>
              <a:t>但是，如果继承树非常复杂、或者随便扩展本来不是专门为继承而设计的类，反而会削弱系统的可扩展性和可维护性</a:t>
            </a:r>
            <a:endParaRPr lang="en-US" altLang="zh-CN" dirty="0"/>
          </a:p>
          <a:p>
            <a:endParaRPr lang="en-US" altLang="zh-CN" b="1" dirty="0"/>
          </a:p>
          <a:p>
            <a:endParaRPr lang="en-US" altLang="zh-CN" b="1" dirty="0"/>
          </a:p>
          <a:p>
            <a:endParaRPr lang="zh-CN" altLang="en-US" dirty="0"/>
          </a:p>
          <a:p>
            <a:endParaRPr lang="zh-CN" altLang="en-US" dirty="0"/>
          </a:p>
        </p:txBody>
      </p:sp>
      <p:sp>
        <p:nvSpPr>
          <p:cNvPr id="3" name="Title 2"/>
          <p:cNvSpPr>
            <a:spLocks noGrp="1"/>
          </p:cNvSpPr>
          <p:nvPr>
            <p:ph type="title"/>
          </p:nvPr>
        </p:nvSpPr>
        <p:spPr/>
        <p:txBody>
          <a:bodyPr/>
          <a:lstStyle/>
          <a:p>
            <a:r>
              <a:rPr lang="zh-CN" altLang="en-US" dirty="0"/>
              <a:t>继承的使用原则</a:t>
            </a:r>
          </a:p>
        </p:txBody>
      </p:sp>
      <p:sp>
        <p:nvSpPr>
          <p:cNvPr id="4" name="Date Placeholder 3"/>
          <p:cNvSpPr>
            <a:spLocks noGrp="1"/>
          </p:cNvSpPr>
          <p:nvPr>
            <p:ph type="dt" sz="half" idx="10"/>
          </p:nvPr>
        </p:nvSpPr>
        <p:spPr/>
        <p:txBody>
          <a:bodyPr/>
          <a:lstStyle/>
          <a:p>
            <a:pPr>
              <a:defRPr/>
            </a:pPr>
            <a:fld id="{95CB3233-E8F4-46FE-AFDC-5F9E020479E7}"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88</a:t>
            </a:fld>
            <a:endParaRPr lang="en-US" altLang="zh-CN" dirty="0"/>
          </a:p>
        </p:txBody>
      </p:sp>
    </p:spTree>
    <p:extLst>
      <p:ext uri="{BB962C8B-B14F-4D97-AF65-F5344CB8AC3E}">
        <p14:creationId xmlns:p14="http://schemas.microsoft.com/office/powerpoint/2010/main" val="3831090494"/>
      </p:ext>
    </p:extLst>
  </p:cSld>
  <p:clrMapOvr>
    <a:masterClrMapping/>
  </p:clrMapOvr>
  <p:transition spd="med">
    <p:pull dir="ru"/>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0F1FDD-A22A-D6BD-313B-D8BBD7F4569A}"/>
              </a:ext>
            </a:extLst>
          </p:cNvPr>
          <p:cNvSpPr>
            <a:spLocks noGrp="1"/>
          </p:cNvSpPr>
          <p:nvPr>
            <p:ph type="title"/>
          </p:nvPr>
        </p:nvSpPr>
        <p:spPr/>
        <p:txBody>
          <a:bodyPr/>
          <a:lstStyle/>
          <a:p>
            <a:r>
              <a:rPr lang="en-US" dirty="0" err="1"/>
              <a:t>多继承的</a:t>
            </a:r>
            <a:r>
              <a:rPr lang="ja-JP" altLang="en-US"/>
              <a:t>钻石问题</a:t>
            </a:r>
            <a:endParaRPr lang="en-US" dirty="0"/>
          </a:p>
        </p:txBody>
      </p:sp>
      <p:sp>
        <p:nvSpPr>
          <p:cNvPr id="4" name="Date Placeholder 3">
            <a:extLst>
              <a:ext uri="{FF2B5EF4-FFF2-40B4-BE49-F238E27FC236}">
                <a16:creationId xmlns:a16="http://schemas.microsoft.com/office/drawing/2014/main" id="{7B90725E-8E5B-C450-B542-10346103D60B}"/>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0E4DF914-5798-F951-78B9-952520E382B7}"/>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1E368253-BA44-83C9-E291-103BBFA70BDF}"/>
              </a:ext>
            </a:extLst>
          </p:cNvPr>
          <p:cNvSpPr>
            <a:spLocks noGrp="1"/>
          </p:cNvSpPr>
          <p:nvPr>
            <p:ph type="sldNum" sz="quarter" idx="12"/>
          </p:nvPr>
        </p:nvSpPr>
        <p:spPr/>
        <p:txBody>
          <a:bodyPr/>
          <a:lstStyle/>
          <a:p>
            <a:pPr>
              <a:defRPr/>
            </a:pPr>
            <a:fld id="{F7C8A414-E22E-4DF8-8FC5-FF8056582F45}" type="slidenum">
              <a:rPr lang="en-US" altLang="zh-CN" smtClean="0"/>
              <a:pPr>
                <a:defRPr/>
              </a:pPr>
              <a:t>89</a:t>
            </a:fld>
            <a:endParaRPr lang="en-US" altLang="zh-CN"/>
          </a:p>
        </p:txBody>
      </p:sp>
      <p:sp>
        <p:nvSpPr>
          <p:cNvPr id="9" name="Rounded Rectangle 8">
            <a:extLst>
              <a:ext uri="{FF2B5EF4-FFF2-40B4-BE49-F238E27FC236}">
                <a16:creationId xmlns:a16="http://schemas.microsoft.com/office/drawing/2014/main" id="{3DDB341F-1479-5A8D-7891-883268D4D920}"/>
              </a:ext>
            </a:extLst>
          </p:cNvPr>
          <p:cNvSpPr/>
          <p:nvPr/>
        </p:nvSpPr>
        <p:spPr>
          <a:xfrm>
            <a:off x="2521456" y="762000"/>
            <a:ext cx="1676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Class</a:t>
            </a:r>
            <a:r>
              <a:rPr lang="zh-CN" altLang="en-US" sz="2800" dirty="0">
                <a:ea typeface="楷体" panose="02010609060101010101" pitchFamily="49" charset="-122"/>
              </a:rPr>
              <a:t> </a:t>
            </a:r>
            <a:r>
              <a:rPr lang="en-US" altLang="zh-CN" sz="2800" dirty="0">
                <a:ea typeface="楷体" panose="02010609060101010101" pitchFamily="49" charset="-122"/>
              </a:rPr>
              <a:t>A</a:t>
            </a:r>
            <a:endParaRPr lang="en-US" sz="2800" dirty="0"/>
          </a:p>
        </p:txBody>
      </p:sp>
      <p:sp>
        <p:nvSpPr>
          <p:cNvPr id="10" name="Rounded Rectangle 9">
            <a:extLst>
              <a:ext uri="{FF2B5EF4-FFF2-40B4-BE49-F238E27FC236}">
                <a16:creationId xmlns:a16="http://schemas.microsoft.com/office/drawing/2014/main" id="{627A2A56-0B77-3C8B-FF0E-A489DA4EB21A}"/>
              </a:ext>
            </a:extLst>
          </p:cNvPr>
          <p:cNvSpPr/>
          <p:nvPr/>
        </p:nvSpPr>
        <p:spPr>
          <a:xfrm>
            <a:off x="4800600" y="786384"/>
            <a:ext cx="1676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Class</a:t>
            </a:r>
            <a:r>
              <a:rPr lang="zh-CN" altLang="en-US" sz="2800" dirty="0">
                <a:ea typeface="楷体" panose="02010609060101010101" pitchFamily="49" charset="-122"/>
              </a:rPr>
              <a:t> </a:t>
            </a:r>
            <a:r>
              <a:rPr lang="en-US" altLang="zh-CN" sz="2800" dirty="0">
                <a:ea typeface="楷体" panose="02010609060101010101" pitchFamily="49" charset="-122"/>
              </a:rPr>
              <a:t>B</a:t>
            </a:r>
            <a:endParaRPr lang="en-US" sz="2800" dirty="0"/>
          </a:p>
        </p:txBody>
      </p:sp>
      <p:sp>
        <p:nvSpPr>
          <p:cNvPr id="11" name="Rounded Rectangle 10">
            <a:extLst>
              <a:ext uri="{FF2B5EF4-FFF2-40B4-BE49-F238E27FC236}">
                <a16:creationId xmlns:a16="http://schemas.microsoft.com/office/drawing/2014/main" id="{60FC160D-7CE2-65AC-B896-654C05C03744}"/>
              </a:ext>
            </a:extLst>
          </p:cNvPr>
          <p:cNvSpPr/>
          <p:nvPr/>
        </p:nvSpPr>
        <p:spPr>
          <a:xfrm>
            <a:off x="3609592" y="2115448"/>
            <a:ext cx="1676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Class</a:t>
            </a:r>
            <a:r>
              <a:rPr lang="zh-CN" altLang="en-US" sz="2800" dirty="0">
                <a:ea typeface="楷体" panose="02010609060101010101" pitchFamily="49" charset="-122"/>
              </a:rPr>
              <a:t> </a:t>
            </a:r>
            <a:r>
              <a:rPr lang="en-US" altLang="zh-CN" sz="2800" dirty="0">
                <a:ea typeface="楷体" panose="02010609060101010101" pitchFamily="49" charset="-122"/>
              </a:rPr>
              <a:t>C</a:t>
            </a:r>
            <a:endParaRPr lang="en-US" sz="2800" dirty="0"/>
          </a:p>
        </p:txBody>
      </p:sp>
      <p:cxnSp>
        <p:nvCxnSpPr>
          <p:cNvPr id="13" name="Straight Arrow Connector 12">
            <a:extLst>
              <a:ext uri="{FF2B5EF4-FFF2-40B4-BE49-F238E27FC236}">
                <a16:creationId xmlns:a16="http://schemas.microsoft.com/office/drawing/2014/main" id="{5C56D706-B2A5-5FF1-E0CF-3143A35FE864}"/>
              </a:ext>
            </a:extLst>
          </p:cNvPr>
          <p:cNvCxnSpPr>
            <a:stCxn id="9" idx="2"/>
            <a:endCxn id="11" idx="0"/>
          </p:cNvCxnSpPr>
          <p:nvPr/>
        </p:nvCxnSpPr>
        <p:spPr>
          <a:xfrm>
            <a:off x="3359656" y="1371600"/>
            <a:ext cx="1088136" cy="743848"/>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48CD4A4-7020-FDE2-59BC-F0EAE15AA17F}"/>
              </a:ext>
            </a:extLst>
          </p:cNvPr>
          <p:cNvCxnSpPr>
            <a:cxnSpLocks/>
            <a:stCxn id="10" idx="2"/>
            <a:endCxn id="11" idx="0"/>
          </p:cNvCxnSpPr>
          <p:nvPr/>
        </p:nvCxnSpPr>
        <p:spPr>
          <a:xfrm flipH="1">
            <a:off x="4447792" y="1395984"/>
            <a:ext cx="1191008" cy="719464"/>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BAA1C49D-8D72-5F41-BABF-0DA1045BFA6F}"/>
              </a:ext>
            </a:extLst>
          </p:cNvPr>
          <p:cNvPicPr>
            <a:picLocks noChangeAspect="1"/>
          </p:cNvPicPr>
          <p:nvPr/>
        </p:nvPicPr>
        <p:blipFill>
          <a:blip r:embed="rId2"/>
          <a:stretch>
            <a:fillRect/>
          </a:stretch>
        </p:blipFill>
        <p:spPr>
          <a:xfrm>
            <a:off x="921256" y="2759041"/>
            <a:ext cx="6553200" cy="3670326"/>
          </a:xfrm>
          <a:prstGeom prst="rect">
            <a:avLst/>
          </a:prstGeom>
        </p:spPr>
      </p:pic>
    </p:spTree>
    <p:extLst>
      <p:ext uri="{BB962C8B-B14F-4D97-AF65-F5344CB8AC3E}">
        <p14:creationId xmlns:p14="http://schemas.microsoft.com/office/powerpoint/2010/main" val="1806491815"/>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p:tgtEl>
                                          <p:spTgt spid="20"/>
                                        </p:tgtEl>
                                        <p:attrNameLst>
                                          <p:attrName>ppt_y</p:attrName>
                                        </p:attrNameLst>
                                      </p:cBhvr>
                                      <p:tavLst>
                                        <p:tav tm="0">
                                          <p:val>
                                            <p:strVal val="#ppt_y+#ppt_h*1.125000"/>
                                          </p:val>
                                        </p:tav>
                                        <p:tav tm="100000">
                                          <p:val>
                                            <p:strVal val="#ppt_y"/>
                                          </p:val>
                                        </p:tav>
                                      </p:tavLst>
                                    </p:anim>
                                    <p:animEffect transition="in" filter="wipe(up)">
                                      <p:cBhvr>
                                        <p:cTn id="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0F1FDD-A22A-D6BD-313B-D8BBD7F4569A}"/>
              </a:ext>
            </a:extLst>
          </p:cNvPr>
          <p:cNvSpPr>
            <a:spLocks noGrp="1"/>
          </p:cNvSpPr>
          <p:nvPr>
            <p:ph type="title"/>
          </p:nvPr>
        </p:nvSpPr>
        <p:spPr/>
        <p:txBody>
          <a:bodyPr/>
          <a:lstStyle/>
          <a:p>
            <a:r>
              <a:rPr lang="en-US" dirty="0" err="1"/>
              <a:t>多继承的</a:t>
            </a:r>
            <a:r>
              <a:rPr lang="ja-JP" altLang="en-US"/>
              <a:t>钻石问题</a:t>
            </a:r>
            <a:endParaRPr lang="en-US" dirty="0"/>
          </a:p>
        </p:txBody>
      </p:sp>
      <p:sp>
        <p:nvSpPr>
          <p:cNvPr id="4" name="Date Placeholder 3">
            <a:extLst>
              <a:ext uri="{FF2B5EF4-FFF2-40B4-BE49-F238E27FC236}">
                <a16:creationId xmlns:a16="http://schemas.microsoft.com/office/drawing/2014/main" id="{7B90725E-8E5B-C450-B542-10346103D60B}"/>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0E4DF914-5798-F951-78B9-952520E382B7}"/>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1E368253-BA44-83C9-E291-103BBFA70BDF}"/>
              </a:ext>
            </a:extLst>
          </p:cNvPr>
          <p:cNvSpPr>
            <a:spLocks noGrp="1"/>
          </p:cNvSpPr>
          <p:nvPr>
            <p:ph type="sldNum" sz="quarter" idx="12"/>
          </p:nvPr>
        </p:nvSpPr>
        <p:spPr/>
        <p:txBody>
          <a:bodyPr/>
          <a:lstStyle/>
          <a:p>
            <a:pPr>
              <a:defRPr/>
            </a:pPr>
            <a:fld id="{F7C8A414-E22E-4DF8-8FC5-FF8056582F45}" type="slidenum">
              <a:rPr lang="en-US" altLang="zh-CN" smtClean="0"/>
              <a:pPr>
                <a:defRPr/>
              </a:pPr>
              <a:t>90</a:t>
            </a:fld>
            <a:endParaRPr lang="en-US" altLang="zh-CN"/>
          </a:p>
        </p:txBody>
      </p:sp>
      <p:pic>
        <p:nvPicPr>
          <p:cNvPr id="2" name="Picture 1">
            <a:extLst>
              <a:ext uri="{FF2B5EF4-FFF2-40B4-BE49-F238E27FC236}">
                <a16:creationId xmlns:a16="http://schemas.microsoft.com/office/drawing/2014/main" id="{9C504FFD-8FF5-D69B-2F95-BDCF02B8E162}"/>
              </a:ext>
            </a:extLst>
          </p:cNvPr>
          <p:cNvPicPr>
            <a:picLocks noChangeAspect="1"/>
          </p:cNvPicPr>
          <p:nvPr/>
        </p:nvPicPr>
        <p:blipFill>
          <a:blip r:embed="rId2"/>
          <a:stretch>
            <a:fillRect/>
          </a:stretch>
        </p:blipFill>
        <p:spPr>
          <a:xfrm>
            <a:off x="1295400" y="747035"/>
            <a:ext cx="6356350" cy="5609315"/>
          </a:xfrm>
          <a:prstGeom prst="rect">
            <a:avLst/>
          </a:prstGeom>
        </p:spPr>
      </p:pic>
      <p:sp>
        <p:nvSpPr>
          <p:cNvPr id="7" name="Rectangle 6">
            <a:extLst>
              <a:ext uri="{FF2B5EF4-FFF2-40B4-BE49-F238E27FC236}">
                <a16:creationId xmlns:a16="http://schemas.microsoft.com/office/drawing/2014/main" id="{5C8CFA7D-E72F-39B9-E414-2CAF75BC3928}"/>
              </a:ext>
            </a:extLst>
          </p:cNvPr>
          <p:cNvSpPr/>
          <p:nvPr/>
        </p:nvSpPr>
        <p:spPr>
          <a:xfrm>
            <a:off x="2009563" y="5410200"/>
            <a:ext cx="3276600" cy="3651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楷体" panose="02010609060101010101" pitchFamily="49" charset="-122"/>
            </a:endParaRPr>
          </a:p>
        </p:txBody>
      </p:sp>
      <p:cxnSp>
        <p:nvCxnSpPr>
          <p:cNvPr id="8" name="Straight Arrow Connector 7">
            <a:extLst>
              <a:ext uri="{FF2B5EF4-FFF2-40B4-BE49-F238E27FC236}">
                <a16:creationId xmlns:a16="http://schemas.microsoft.com/office/drawing/2014/main" id="{1F7745E1-3526-62B5-2FDA-D4851B768959}"/>
              </a:ext>
            </a:extLst>
          </p:cNvPr>
          <p:cNvCxnSpPr>
            <a:cxnSpLocks/>
          </p:cNvCxnSpPr>
          <p:nvPr/>
        </p:nvCxnSpPr>
        <p:spPr>
          <a:xfrm flipH="1">
            <a:off x="5286163" y="5592762"/>
            <a:ext cx="106680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1CDD67C-FC68-43B8-4E4B-4D6934CCE4DC}"/>
              </a:ext>
            </a:extLst>
          </p:cNvPr>
          <p:cNvSpPr txBox="1"/>
          <p:nvPr/>
        </p:nvSpPr>
        <p:spPr>
          <a:xfrm>
            <a:off x="6423684" y="5361929"/>
            <a:ext cx="800219" cy="461665"/>
          </a:xfrm>
          <a:prstGeom prst="rect">
            <a:avLst/>
          </a:prstGeom>
          <a:noFill/>
        </p:spPr>
        <p:txBody>
          <a:bodyPr wrap="none" rtlCol="0">
            <a:spAutoFit/>
          </a:bodyPr>
          <a:lstStyle/>
          <a:p>
            <a:r>
              <a:rPr lang="zh-CN" altLang="en-US" sz="2400" dirty="0">
                <a:solidFill>
                  <a:srgbClr val="FF0000"/>
                </a:solidFill>
                <a:ea typeface="楷体" panose="02010609060101010101" pitchFamily="49" charset="-122"/>
              </a:rPr>
              <a:t>歧义</a:t>
            </a:r>
            <a:endParaRPr lang="en-US" sz="2400" dirty="0">
              <a:solidFill>
                <a:srgbClr val="FF0000"/>
              </a:solidFill>
            </a:endParaRPr>
          </a:p>
        </p:txBody>
      </p:sp>
    </p:spTree>
    <p:extLst>
      <p:ext uri="{BB962C8B-B14F-4D97-AF65-F5344CB8AC3E}">
        <p14:creationId xmlns:p14="http://schemas.microsoft.com/office/powerpoint/2010/main" val="1614882147"/>
      </p:ext>
    </p:extLst>
  </p:cSld>
  <p:clrMapOvr>
    <a:masterClrMapping/>
  </p:clrMapOvr>
  <p:transition spd="med">
    <p:pull dir="ru"/>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EC8B19-31CF-100E-D793-830643B3CE72}"/>
              </a:ext>
            </a:extLst>
          </p:cNvPr>
          <p:cNvSpPr>
            <a:spLocks noGrp="1"/>
          </p:cNvSpPr>
          <p:nvPr>
            <p:ph type="title"/>
          </p:nvPr>
        </p:nvSpPr>
        <p:spPr/>
        <p:txBody>
          <a:bodyPr/>
          <a:lstStyle/>
          <a:p>
            <a:r>
              <a:rPr lang="en-US" dirty="0" err="1"/>
              <a:t>组合</a:t>
            </a:r>
            <a:r>
              <a:rPr lang="zh-CN" altLang="en-US" dirty="0"/>
              <a:t>（</a:t>
            </a:r>
            <a:r>
              <a:rPr lang="en-US" altLang="zh-CN" dirty="0"/>
              <a:t>has a</a:t>
            </a:r>
            <a:r>
              <a:rPr lang="zh-CN" altLang="en-US" dirty="0"/>
              <a:t>）</a:t>
            </a:r>
            <a:endParaRPr lang="en-US" dirty="0"/>
          </a:p>
        </p:txBody>
      </p:sp>
      <p:sp>
        <p:nvSpPr>
          <p:cNvPr id="4" name="Date Placeholder 3">
            <a:extLst>
              <a:ext uri="{FF2B5EF4-FFF2-40B4-BE49-F238E27FC236}">
                <a16:creationId xmlns:a16="http://schemas.microsoft.com/office/drawing/2014/main" id="{F866C9BA-5435-EF3A-BFBD-171421826267}"/>
              </a:ext>
            </a:extLst>
          </p:cNvPr>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a:extLst>
              <a:ext uri="{FF2B5EF4-FFF2-40B4-BE49-F238E27FC236}">
                <a16:creationId xmlns:a16="http://schemas.microsoft.com/office/drawing/2014/main" id="{4E1434C5-CC2E-BBE3-B48C-5E83E3F9A7EA}"/>
              </a:ext>
            </a:extLst>
          </p:cNvPr>
          <p:cNvSpPr>
            <a:spLocks noGrp="1"/>
          </p:cNvSpPr>
          <p:nvPr>
            <p:ph type="ftr" sz="quarter" idx="11"/>
          </p:nvPr>
        </p:nvSpPr>
        <p:spPr/>
        <p:txBody>
          <a:bodyPr/>
          <a:lstStyle/>
          <a:p>
            <a:pPr>
              <a:defRPr/>
            </a:pPr>
            <a:r>
              <a:rPr lang="en-US" altLang="zh-CN"/>
              <a:t>Xiang Gao</a:t>
            </a:r>
            <a:endParaRPr lang="en-US" altLang="zh-CN" dirty="0"/>
          </a:p>
        </p:txBody>
      </p:sp>
      <p:sp>
        <p:nvSpPr>
          <p:cNvPr id="6" name="Slide Number Placeholder 5">
            <a:extLst>
              <a:ext uri="{FF2B5EF4-FFF2-40B4-BE49-F238E27FC236}">
                <a16:creationId xmlns:a16="http://schemas.microsoft.com/office/drawing/2014/main" id="{E8786C17-D81B-CBFC-22FF-6DDDEE4F6F32}"/>
              </a:ext>
            </a:extLst>
          </p:cNvPr>
          <p:cNvSpPr>
            <a:spLocks noGrp="1"/>
          </p:cNvSpPr>
          <p:nvPr>
            <p:ph type="sldNum" sz="quarter" idx="12"/>
          </p:nvPr>
        </p:nvSpPr>
        <p:spPr/>
        <p:txBody>
          <a:bodyPr/>
          <a:lstStyle/>
          <a:p>
            <a:pPr>
              <a:defRPr/>
            </a:pPr>
            <a:fld id="{F7C8A414-E22E-4DF8-8FC5-FF8056582F45}" type="slidenum">
              <a:rPr lang="en-US" altLang="zh-CN" smtClean="0"/>
              <a:pPr>
                <a:defRPr/>
              </a:pPr>
              <a:t>91</a:t>
            </a:fld>
            <a:endParaRPr lang="en-US" altLang="zh-CN"/>
          </a:p>
        </p:txBody>
      </p:sp>
      <p:pic>
        <p:nvPicPr>
          <p:cNvPr id="7" name="Picture 6">
            <a:extLst>
              <a:ext uri="{FF2B5EF4-FFF2-40B4-BE49-F238E27FC236}">
                <a16:creationId xmlns:a16="http://schemas.microsoft.com/office/drawing/2014/main" id="{06F1DFF4-4457-E144-D7E4-BBD232047510}"/>
              </a:ext>
            </a:extLst>
          </p:cNvPr>
          <p:cNvPicPr>
            <a:picLocks noChangeAspect="1"/>
          </p:cNvPicPr>
          <p:nvPr/>
        </p:nvPicPr>
        <p:blipFill>
          <a:blip r:embed="rId2"/>
          <a:stretch>
            <a:fillRect/>
          </a:stretch>
        </p:blipFill>
        <p:spPr>
          <a:xfrm>
            <a:off x="228600" y="745146"/>
            <a:ext cx="4540250" cy="5821198"/>
          </a:xfrm>
          <a:prstGeom prst="rect">
            <a:avLst/>
          </a:prstGeom>
        </p:spPr>
      </p:pic>
      <p:sp>
        <p:nvSpPr>
          <p:cNvPr id="8" name="TextBox 7">
            <a:extLst>
              <a:ext uri="{FF2B5EF4-FFF2-40B4-BE49-F238E27FC236}">
                <a16:creationId xmlns:a16="http://schemas.microsoft.com/office/drawing/2014/main" id="{280923A6-0217-F870-BD34-666E6059600D}"/>
              </a:ext>
            </a:extLst>
          </p:cNvPr>
          <p:cNvSpPr txBox="1"/>
          <p:nvPr/>
        </p:nvSpPr>
        <p:spPr>
          <a:xfrm>
            <a:off x="4768850" y="1143000"/>
            <a:ext cx="4255768" cy="38693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800" dirty="0" err="1">
                <a:latin typeface="KaiTi" panose="02010609060101010101" pitchFamily="49" charset="-122"/>
                <a:ea typeface="KaiTi" panose="02010609060101010101" pitchFamily="49" charset="-122"/>
              </a:rPr>
              <a:t>组合能解决钻石问题</a:t>
            </a:r>
            <a:endParaRPr lang="en-US" sz="2800" dirty="0">
              <a:latin typeface="KaiTi" panose="02010609060101010101" pitchFamily="49" charset="-122"/>
              <a:ea typeface="KaiTi" panose="02010609060101010101" pitchFamily="49" charset="-122"/>
            </a:endParaRPr>
          </a:p>
          <a:p>
            <a:pPr marL="285750" indent="-285750">
              <a:lnSpc>
                <a:spcPct val="150000"/>
              </a:lnSpc>
              <a:buFont typeface="Arial" panose="020B0604020202020204" pitchFamily="34" charset="0"/>
              <a:buChar char="•"/>
            </a:pPr>
            <a:r>
              <a:rPr lang="en-US" sz="2800" dirty="0" err="1">
                <a:latin typeface="KaiTi" panose="02010609060101010101" pitchFamily="49" charset="-122"/>
                <a:ea typeface="KaiTi" panose="02010609060101010101" pitchFamily="49" charset="-122"/>
              </a:rPr>
              <a:t>组合不会破坏类的封装</a:t>
            </a:r>
            <a:endParaRPr lang="en-US" sz="2800" dirty="0">
              <a:latin typeface="KaiTi" panose="02010609060101010101" pitchFamily="49" charset="-122"/>
              <a:ea typeface="KaiTi" panose="02010609060101010101" pitchFamily="49" charset="-122"/>
            </a:endParaRPr>
          </a:p>
          <a:p>
            <a:pPr marL="285750" indent="-285750">
              <a:lnSpc>
                <a:spcPct val="150000"/>
              </a:lnSpc>
              <a:buFont typeface="Arial" panose="020B0604020202020204" pitchFamily="34" charset="0"/>
              <a:buChar char="•"/>
            </a:pPr>
            <a:r>
              <a:rPr lang="en-US" sz="2800" dirty="0" err="1">
                <a:latin typeface="KaiTi" panose="02010609060101010101" pitchFamily="49" charset="-122"/>
                <a:ea typeface="KaiTi" panose="02010609060101010101" pitchFamily="49" charset="-122"/>
              </a:rPr>
              <a:t>组合能精确控制父类子类变量方法的访问权限</a:t>
            </a:r>
            <a:endParaRPr lang="en-US" sz="2800" dirty="0">
              <a:latin typeface="KaiTi" panose="02010609060101010101" pitchFamily="49" charset="-122"/>
              <a:ea typeface="KaiTi" panose="02010609060101010101" pitchFamily="49" charset="-122"/>
            </a:endParaRPr>
          </a:p>
          <a:p>
            <a:pPr marL="285750" indent="-285750">
              <a:lnSpc>
                <a:spcPct val="150000"/>
              </a:lnSpc>
              <a:buFont typeface="Arial" panose="020B0604020202020204" pitchFamily="34" charset="0"/>
              <a:buChar char="•"/>
            </a:pPr>
            <a:r>
              <a:rPr lang="en-US" sz="2800" dirty="0" err="1">
                <a:solidFill>
                  <a:srgbClr val="FF0000"/>
                </a:solidFill>
                <a:latin typeface="KaiTi" panose="02010609060101010101" pitchFamily="49" charset="-122"/>
                <a:ea typeface="KaiTi" panose="02010609060101010101" pitchFamily="49" charset="-122"/>
              </a:rPr>
              <a:t>组合会创建更多的对象</a:t>
            </a:r>
            <a:r>
              <a:rPr lang="zh-CN" altLang="en-US" sz="2800" dirty="0">
                <a:solidFill>
                  <a:srgbClr val="FF0000"/>
                </a:solidFill>
                <a:latin typeface="KaiTi" panose="02010609060101010101" pitchFamily="49" charset="-122"/>
                <a:ea typeface="KaiTi" panose="02010609060101010101" pitchFamily="49" charset="-122"/>
              </a:rPr>
              <a:t>，占用内存</a:t>
            </a:r>
            <a:endParaRPr lang="en-US" sz="2800" dirty="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40506304"/>
      </p:ext>
    </p:extLst>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p:tgtEl>
                                          <p:spTgt spid="8">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8">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p:tgtEl>
                                          <p:spTgt spid="8">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908720"/>
            <a:ext cx="8640960" cy="5447630"/>
          </a:xfrm>
        </p:spPr>
        <p:txBody>
          <a:bodyPr>
            <a:normAutofit/>
          </a:bodyPr>
          <a:lstStyle/>
          <a:p>
            <a:r>
              <a:rPr lang="zh-CN" altLang="en-US" dirty="0"/>
              <a:t>基类与派生类的关系？</a:t>
            </a:r>
            <a:r>
              <a:rPr lang="en-US" altLang="zh-CN" dirty="0"/>
              <a:t>is a</a:t>
            </a:r>
          </a:p>
          <a:p>
            <a:r>
              <a:rPr lang="zh-CN" altLang="en-US" dirty="0"/>
              <a:t>如何继承一个类？ </a:t>
            </a:r>
            <a:r>
              <a:rPr lang="en-US" altLang="zh-CN" dirty="0"/>
              <a:t>Extends</a:t>
            </a:r>
          </a:p>
          <a:p>
            <a:r>
              <a:rPr lang="zh-CN" altLang="en-US" dirty="0"/>
              <a:t>子类构造方法及子类对象的构建（</a:t>
            </a:r>
            <a:r>
              <a:rPr lang="en-US" altLang="zh-CN" dirty="0"/>
              <a:t>super</a:t>
            </a:r>
            <a:r>
              <a:rPr lang="zh-CN" altLang="en-US" dirty="0"/>
              <a:t>，</a:t>
            </a:r>
            <a:r>
              <a:rPr lang="en-US" altLang="zh-CN" dirty="0"/>
              <a:t>this</a:t>
            </a:r>
            <a:r>
              <a:rPr lang="zh-CN" altLang="en-US" dirty="0"/>
              <a:t>）</a:t>
            </a:r>
          </a:p>
          <a:p>
            <a:r>
              <a:rPr lang="zh-CN" altLang="en-US" dirty="0"/>
              <a:t>继承中保护成员的使用（</a:t>
            </a:r>
            <a:r>
              <a:rPr lang="en-US" altLang="zh-CN" dirty="0"/>
              <a:t>protected</a:t>
            </a:r>
            <a:r>
              <a:rPr lang="zh-CN" altLang="en-US" dirty="0"/>
              <a:t>）</a:t>
            </a:r>
            <a:endParaRPr lang="en-US" altLang="zh-CN" dirty="0"/>
          </a:p>
          <a:p>
            <a:r>
              <a:rPr lang="zh-CN" altLang="en-US" dirty="0"/>
              <a:t>向上映射</a:t>
            </a:r>
            <a:endParaRPr lang="en-US" altLang="zh-CN" dirty="0"/>
          </a:p>
          <a:p>
            <a:r>
              <a:rPr lang="zh-CN" altLang="en-US" dirty="0"/>
              <a:t>变量、方法的隐藏与覆盖</a:t>
            </a:r>
            <a:endParaRPr lang="en-SG" altLang="zh-CN" dirty="0"/>
          </a:p>
          <a:p>
            <a:r>
              <a:rPr lang="zh-CN" altLang="en-US" dirty="0"/>
              <a:t>继承有什么好处、缺点？</a:t>
            </a:r>
            <a:endParaRPr lang="en-US" altLang="zh-CN" dirty="0"/>
          </a:p>
          <a:p>
            <a:r>
              <a:rPr lang="zh-CN" altLang="en-US" dirty="0"/>
              <a:t>什么是单继承？什么是多继承？</a:t>
            </a:r>
            <a:r>
              <a:rPr lang="en-US" altLang="zh-CN" dirty="0"/>
              <a:t>Java</a:t>
            </a:r>
            <a:r>
              <a:rPr lang="zh-CN" altLang="en-US" dirty="0"/>
              <a:t>关于继承是如何定义的？</a:t>
            </a:r>
            <a:endParaRPr lang="en-SG" altLang="zh-CN" dirty="0"/>
          </a:p>
        </p:txBody>
      </p:sp>
      <p:sp>
        <p:nvSpPr>
          <p:cNvPr id="3" name="Title 2"/>
          <p:cNvSpPr>
            <a:spLocks noGrp="1"/>
          </p:cNvSpPr>
          <p:nvPr>
            <p:ph type="title"/>
          </p:nvPr>
        </p:nvSpPr>
        <p:spPr/>
        <p:txBody>
          <a:bodyPr/>
          <a:lstStyle/>
          <a:p>
            <a:r>
              <a:rPr lang="zh-CN" altLang="en-US" dirty="0"/>
              <a:t>小结</a:t>
            </a:r>
          </a:p>
        </p:txBody>
      </p:sp>
      <p:sp>
        <p:nvSpPr>
          <p:cNvPr id="4" name="Date Placeholder 3"/>
          <p:cNvSpPr>
            <a:spLocks noGrp="1"/>
          </p:cNvSpPr>
          <p:nvPr>
            <p:ph type="dt" sz="half" idx="10"/>
          </p:nvPr>
        </p:nvSpPr>
        <p:spPr/>
        <p:txBody>
          <a:bodyPr/>
          <a:lstStyle/>
          <a:p>
            <a:pPr>
              <a:defRPr/>
            </a:pPr>
            <a:fld id="{0A2225CD-78D2-4B53-92C5-68EA37F34EDD}" type="datetime1">
              <a:rPr lang="zh-CN" altLang="en-US" smtClean="0"/>
              <a:t>2024/10/17</a:t>
            </a:fld>
            <a:endParaRPr lang="en-US" altLang="zh-CN"/>
          </a:p>
        </p:txBody>
      </p:sp>
      <p:sp>
        <p:nvSpPr>
          <p:cNvPr id="5" name="Footer Placeholder 4"/>
          <p:cNvSpPr>
            <a:spLocks noGrp="1"/>
          </p:cNvSpPr>
          <p:nvPr>
            <p:ph type="ftr" sz="quarter" idx="11"/>
          </p:nvPr>
        </p:nvSpPr>
        <p:spPr/>
        <p:txBody>
          <a:bodyPr/>
          <a:lstStyle/>
          <a:p>
            <a:pPr>
              <a:defRPr/>
            </a:pPr>
            <a:r>
              <a:rPr lang="en-US" altLang="zh-CN" dirty="0"/>
              <a:t>Xiang Gao</a:t>
            </a:r>
          </a:p>
        </p:txBody>
      </p:sp>
      <p:sp>
        <p:nvSpPr>
          <p:cNvPr id="6" name="Slide Number Placeholder 5"/>
          <p:cNvSpPr>
            <a:spLocks noGrp="1"/>
          </p:cNvSpPr>
          <p:nvPr>
            <p:ph type="sldNum" sz="quarter" idx="12"/>
          </p:nvPr>
        </p:nvSpPr>
        <p:spPr/>
        <p:txBody>
          <a:bodyPr/>
          <a:lstStyle/>
          <a:p>
            <a:pPr>
              <a:defRPr/>
            </a:pPr>
            <a:fld id="{F7C8A414-E22E-4DF8-8FC5-FF8056582F45}" type="slidenum">
              <a:rPr lang="en-US" altLang="zh-CN" smtClean="0"/>
              <a:pPr>
                <a:defRPr/>
              </a:pPr>
              <a:t>92</a:t>
            </a:fld>
            <a:endParaRPr lang="en-US" altLang="zh-CN"/>
          </a:p>
        </p:txBody>
      </p:sp>
    </p:spTree>
    <p:extLst>
      <p:ext uri="{BB962C8B-B14F-4D97-AF65-F5344CB8AC3E}">
        <p14:creationId xmlns:p14="http://schemas.microsoft.com/office/powerpoint/2010/main" val="4264183205"/>
      </p:ext>
    </p:extLst>
  </p:cSld>
  <p:clrMapOvr>
    <a:masterClrMapping/>
  </p:clrMapOvr>
  <p:transition spd="med">
    <p:pull dir="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5943</TotalTime>
  <Words>4842</Words>
  <Application>Microsoft Office PowerPoint</Application>
  <PresentationFormat>全屏显示(4:3)</PresentationFormat>
  <Paragraphs>730</Paragraphs>
  <Slides>92</Slides>
  <Notes>14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92</vt:i4>
      </vt:variant>
    </vt:vector>
  </HeadingPairs>
  <TitlesOfParts>
    <vt:vector size="107" baseType="lpstr">
      <vt:lpstr>-apple-system</vt:lpstr>
      <vt:lpstr>Menlo</vt:lpstr>
      <vt:lpstr>Microsoft JhengHei</vt:lpstr>
      <vt:lpstr>PingFang SC</vt:lpstr>
      <vt:lpstr>楷体</vt:lpstr>
      <vt:lpstr>楷体</vt:lpstr>
      <vt:lpstr>微软雅黑</vt:lpstr>
      <vt:lpstr>Arial</vt:lpstr>
      <vt:lpstr>Arial Narrow</vt:lpstr>
      <vt:lpstr>Calibri</vt:lpstr>
      <vt:lpstr>Courier New</vt:lpstr>
      <vt:lpstr>Franklin Gothic Book</vt:lpstr>
      <vt:lpstr>Times New Roman</vt:lpstr>
      <vt:lpstr>Wingdings</vt:lpstr>
      <vt:lpstr>Office Theme</vt:lpstr>
      <vt:lpstr>Lesson5 面向对象的三大特称之二：继承(inheritance)</vt:lpstr>
      <vt:lpstr>主要内容</vt:lpstr>
      <vt:lpstr>继承的必要性</vt:lpstr>
      <vt:lpstr>思考：</vt:lpstr>
      <vt:lpstr>Answer 1</vt:lpstr>
      <vt:lpstr>Answer 2</vt:lpstr>
      <vt:lpstr>解决方案的利弊</vt:lpstr>
      <vt:lpstr>用继承解决上述问题</vt:lpstr>
      <vt:lpstr>用继承解决上述问题</vt:lpstr>
      <vt:lpstr>为什么使用继承？</vt:lpstr>
      <vt:lpstr>主要内容</vt:lpstr>
      <vt:lpstr>继承是一种“is-a” 的关系</vt:lpstr>
      <vt:lpstr>继承是一种“is-a” 的关系</vt:lpstr>
      <vt:lpstr>细说继承</vt:lpstr>
      <vt:lpstr>继承原有类的数据成员和成员函数</vt:lpstr>
      <vt:lpstr>类的继承</vt:lpstr>
      <vt:lpstr>基类和派生类的关系</vt:lpstr>
      <vt:lpstr>继承层次结构-示例1</vt:lpstr>
      <vt:lpstr>继承的层次结构-示例2</vt:lpstr>
      <vt:lpstr>继承的层次结构-示例3</vt:lpstr>
      <vt:lpstr>问答题：请确认各类之间的关系</vt:lpstr>
      <vt:lpstr>子类从父类那里继承了什么？</vt:lpstr>
      <vt:lpstr>继承的进一步理解</vt:lpstr>
      <vt:lpstr>主要内容</vt:lpstr>
      <vt:lpstr>Java继承</vt:lpstr>
      <vt:lpstr>this关键字</vt:lpstr>
      <vt:lpstr>This调用构造函数</vt:lpstr>
      <vt:lpstr>super关键字</vt:lpstr>
      <vt:lpstr>super的用法</vt:lpstr>
      <vt:lpstr>this引用与super引用的对比</vt:lpstr>
      <vt:lpstr>this引用与super引用的对比</vt:lpstr>
      <vt:lpstr>Java继承的三个重点</vt:lpstr>
      <vt:lpstr>子类构造函数：</vt:lpstr>
      <vt:lpstr>无参子类构造函数</vt:lpstr>
      <vt:lpstr>无参子类构造函数</vt:lpstr>
      <vt:lpstr>无参子类构造函数</vt:lpstr>
      <vt:lpstr>无参子类构造函数</vt:lpstr>
      <vt:lpstr>无参子类构造函数</vt:lpstr>
      <vt:lpstr>子类构造函数：</vt:lpstr>
      <vt:lpstr>有参子类构造函数</vt:lpstr>
      <vt:lpstr>子类构造函数：</vt:lpstr>
      <vt:lpstr>有参子类构造函数</vt:lpstr>
      <vt:lpstr>子类对象的生成（构建） </vt:lpstr>
      <vt:lpstr>子类对象的生成(构造函数的调用顺序)</vt:lpstr>
      <vt:lpstr>子类对象的创建-父类对象</vt:lpstr>
      <vt:lpstr>子类对象的创建</vt:lpstr>
      <vt:lpstr>子类对象的创建</vt:lpstr>
      <vt:lpstr>子类对象的创建</vt:lpstr>
      <vt:lpstr>保护成员的使用</vt:lpstr>
      <vt:lpstr>继承中的访问权限</vt:lpstr>
      <vt:lpstr>继承中的访问权限</vt:lpstr>
      <vt:lpstr>Java中的protected修饰符</vt:lpstr>
      <vt:lpstr>父类中protected成员函数</vt:lpstr>
      <vt:lpstr>在子类中通过该子类引用可以访问其 protected 方法</vt:lpstr>
      <vt:lpstr>不同包下，在子类中通过该子类引用可以访问其 protected 方法</vt:lpstr>
      <vt:lpstr>不同包下，在子类中通过父类引用不可以访问其 protected方法</vt:lpstr>
      <vt:lpstr>Java中的protected修饰符</vt:lpstr>
      <vt:lpstr>PowerPoint 演示文稿</vt:lpstr>
      <vt:lpstr>Java中的protected修饰符</vt:lpstr>
      <vt:lpstr>继承中的静态变量</vt:lpstr>
      <vt:lpstr>继承中的静态变量</vt:lpstr>
      <vt:lpstr>Java中的protected修饰符</vt:lpstr>
      <vt:lpstr>父类中protected静态函数</vt:lpstr>
      <vt:lpstr>子类均可直接访问父类静态成员函数</vt:lpstr>
      <vt:lpstr>在不同包下，非子类不可访问</vt:lpstr>
      <vt:lpstr>继承中public和默认访问级别</vt:lpstr>
      <vt:lpstr>示例代码(默认级别的类只能被同一个包中的类访问)</vt:lpstr>
      <vt:lpstr>Quiz</vt:lpstr>
      <vt:lpstr>继承中的数据保护原则</vt:lpstr>
      <vt:lpstr>继承中的数据保护原则</vt:lpstr>
      <vt:lpstr>向上转型（重写与覆盖）</vt:lpstr>
      <vt:lpstr>向上转型(upcasting)</vt:lpstr>
      <vt:lpstr>向上转型(upcasting)</vt:lpstr>
      <vt:lpstr>向上转型的缺憾：</vt:lpstr>
      <vt:lpstr>向上转型的缺憾：</vt:lpstr>
      <vt:lpstr>变量隐藏</vt:lpstr>
      <vt:lpstr>变量隐藏</vt:lpstr>
      <vt:lpstr>变量隐藏</vt:lpstr>
      <vt:lpstr>方法隐藏（重写）和方法覆盖</vt:lpstr>
      <vt:lpstr>方法隐藏（重写）和方法覆盖</vt:lpstr>
      <vt:lpstr>PowerPoint 演示文稿</vt:lpstr>
      <vt:lpstr>PowerPoint 演示文稿</vt:lpstr>
      <vt:lpstr>主要内容</vt:lpstr>
      <vt:lpstr>继承的好处与坏处</vt:lpstr>
      <vt:lpstr>面向对象的三大特征之一：继承真的很好！</vt:lpstr>
      <vt:lpstr>继承是否破坏了类的封装性？</vt:lpstr>
      <vt:lpstr>谨慎继承</vt:lpstr>
      <vt:lpstr>继承的使用原则</vt:lpstr>
      <vt:lpstr>多继承的钻石问题</vt:lpstr>
      <vt:lpstr>多继承的钻石问题</vt:lpstr>
      <vt:lpstr>组合（has a）</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继承(inheritance)</dc:title>
  <dc:creator>dell</dc:creator>
  <cp:lastModifiedBy>Xiang Gao</cp:lastModifiedBy>
  <cp:revision>635</cp:revision>
  <dcterms:created xsi:type="dcterms:W3CDTF">2006-08-16T00:00:00Z</dcterms:created>
  <dcterms:modified xsi:type="dcterms:W3CDTF">2024-10-17T03:24:41Z</dcterms:modified>
</cp:coreProperties>
</file>