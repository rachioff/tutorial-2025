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8"/>
  </p:notesMasterIdLst>
  <p:handoutMasterIdLst>
    <p:handoutMasterId r:id="rId89"/>
  </p:handoutMasterIdLst>
  <p:sldIdLst>
    <p:sldId id="454" r:id="rId2"/>
    <p:sldId id="883" r:id="rId3"/>
    <p:sldId id="833" r:id="rId4"/>
    <p:sldId id="832" r:id="rId5"/>
    <p:sldId id="834" r:id="rId6"/>
    <p:sldId id="949" r:id="rId7"/>
    <p:sldId id="950" r:id="rId8"/>
    <p:sldId id="951" r:id="rId9"/>
    <p:sldId id="952" r:id="rId10"/>
    <p:sldId id="953" r:id="rId11"/>
    <p:sldId id="954" r:id="rId12"/>
    <p:sldId id="955" r:id="rId13"/>
    <p:sldId id="962" r:id="rId14"/>
    <p:sldId id="885" r:id="rId15"/>
    <p:sldId id="902" r:id="rId16"/>
    <p:sldId id="963" r:id="rId17"/>
    <p:sldId id="903" r:id="rId18"/>
    <p:sldId id="896" r:id="rId19"/>
    <p:sldId id="897" r:id="rId20"/>
    <p:sldId id="898" r:id="rId21"/>
    <p:sldId id="899" r:id="rId22"/>
    <p:sldId id="884" r:id="rId23"/>
    <p:sldId id="904" r:id="rId24"/>
    <p:sldId id="905" r:id="rId25"/>
    <p:sldId id="891" r:id="rId26"/>
    <p:sldId id="847" r:id="rId27"/>
    <p:sldId id="907" r:id="rId28"/>
    <p:sldId id="961" r:id="rId29"/>
    <p:sldId id="906" r:id="rId30"/>
    <p:sldId id="841" r:id="rId31"/>
    <p:sldId id="959" r:id="rId32"/>
    <p:sldId id="842" r:id="rId33"/>
    <p:sldId id="933" r:id="rId34"/>
    <p:sldId id="936" r:id="rId35"/>
    <p:sldId id="937" r:id="rId36"/>
    <p:sldId id="938" r:id="rId37"/>
    <p:sldId id="934" r:id="rId38"/>
    <p:sldId id="960" r:id="rId39"/>
    <p:sldId id="935" r:id="rId40"/>
    <p:sldId id="957" r:id="rId41"/>
    <p:sldId id="958" r:id="rId42"/>
    <p:sldId id="939" r:id="rId43"/>
    <p:sldId id="940" r:id="rId44"/>
    <p:sldId id="941" r:id="rId45"/>
    <p:sldId id="942" r:id="rId46"/>
    <p:sldId id="943" r:id="rId47"/>
    <p:sldId id="945" r:id="rId48"/>
    <p:sldId id="894" r:id="rId49"/>
    <p:sldId id="946" r:id="rId50"/>
    <p:sldId id="909" r:id="rId51"/>
    <p:sldId id="910" r:id="rId52"/>
    <p:sldId id="911" r:id="rId53"/>
    <p:sldId id="912" r:id="rId54"/>
    <p:sldId id="913" r:id="rId55"/>
    <p:sldId id="914" r:id="rId56"/>
    <p:sldId id="915" r:id="rId57"/>
    <p:sldId id="916" r:id="rId58"/>
    <p:sldId id="917" r:id="rId59"/>
    <p:sldId id="918" r:id="rId60"/>
    <p:sldId id="919" r:id="rId61"/>
    <p:sldId id="920" r:id="rId62"/>
    <p:sldId id="921" r:id="rId63"/>
    <p:sldId id="922" r:id="rId64"/>
    <p:sldId id="923" r:id="rId65"/>
    <p:sldId id="924" r:id="rId66"/>
    <p:sldId id="925" r:id="rId67"/>
    <p:sldId id="932" r:id="rId68"/>
    <p:sldId id="964" r:id="rId69"/>
    <p:sldId id="965" r:id="rId70"/>
    <p:sldId id="966" r:id="rId71"/>
    <p:sldId id="967" r:id="rId72"/>
    <p:sldId id="968" r:id="rId73"/>
    <p:sldId id="871" r:id="rId74"/>
    <p:sldId id="872" r:id="rId75"/>
    <p:sldId id="873" r:id="rId76"/>
    <p:sldId id="874" r:id="rId77"/>
    <p:sldId id="875" r:id="rId78"/>
    <p:sldId id="876" r:id="rId79"/>
    <p:sldId id="877" r:id="rId80"/>
    <p:sldId id="878" r:id="rId81"/>
    <p:sldId id="879" r:id="rId82"/>
    <p:sldId id="853" r:id="rId83"/>
    <p:sldId id="854" r:id="rId84"/>
    <p:sldId id="855" r:id="rId85"/>
    <p:sldId id="856" r:id="rId86"/>
    <p:sldId id="970" r:id="rId8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10" autoAdjust="0"/>
    <p:restoredTop sz="97438" autoAdjust="0"/>
  </p:normalViewPr>
  <p:slideViewPr>
    <p:cSldViewPr>
      <p:cViewPr varScale="1">
        <p:scale>
          <a:sx n="162" d="100"/>
          <a:sy n="162" d="100"/>
        </p:scale>
        <p:origin x="1680" y="1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7098"/>
    </p:cViewPr>
  </p:sorterViewPr>
  <p:notesViewPr>
    <p:cSldViewPr>
      <p:cViewPr varScale="1">
        <p:scale>
          <a:sx n="123" d="100"/>
          <a:sy n="123" d="100"/>
        </p:scale>
        <p:origin x="497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C26A3-8F7E-431A-8074-886EEE17A60A}" type="datetimeFigureOut">
              <a:rPr lang="en-US" smtClean="0">
                <a:ea typeface="楷体" panose="02010609060101010101" pitchFamily="49" charset="-122"/>
              </a:rPr>
              <a:t>9/18/2025</a:t>
            </a:fld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0CA1A-C604-4552-B80F-FD67808AA636}" type="slidenum">
              <a:rPr lang="en-US" smtClean="0">
                <a:ea typeface="楷体" panose="02010609060101010101" pitchFamily="49" charset="-122"/>
              </a:rPr>
              <a:t>‹#›</a:t>
            </a:fld>
            <a:endParaRPr lang="en-US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2773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680D0D6D-3905-4A2C-87FB-2EC2F19391CF}" type="datetimeFigureOut">
              <a:rPr lang="zh-CN" altLang="en-US" smtClean="0"/>
              <a:pPr>
                <a:defRPr/>
              </a:pPr>
              <a:t>2025/9/18</a:t>
            </a:fld>
            <a:endParaRPr lang="zh-CN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noProof="0" dirty="0"/>
              <a:t>Click to edit Master text styles</a:t>
            </a:r>
          </a:p>
          <a:p>
            <a:pPr lvl="1"/>
            <a:r>
              <a:rPr lang="en-US" altLang="zh-CN" noProof="0" dirty="0"/>
              <a:t>Second level</a:t>
            </a:r>
          </a:p>
          <a:p>
            <a:pPr lvl="2"/>
            <a:r>
              <a:rPr lang="en-US" altLang="zh-CN" noProof="0" dirty="0"/>
              <a:t>Third level</a:t>
            </a:r>
          </a:p>
          <a:p>
            <a:pPr lvl="3"/>
            <a:r>
              <a:rPr lang="en-US" altLang="zh-CN" noProof="0" dirty="0"/>
              <a:t>Fourth level</a:t>
            </a:r>
          </a:p>
          <a:p>
            <a:pPr lvl="4"/>
            <a:r>
              <a:rPr lang="en-US" altLang="zh-CN" noProof="0" dirty="0"/>
              <a:t>Fifth level</a:t>
            </a:r>
            <a:endParaRPr lang="zh-CN" alt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D17A33A3-4F6A-4FE7-BBA6-FA8C4E80F8F7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64590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楷体" panose="02010609060101010101" pitchFamily="49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楷体" panose="02010609060101010101" pitchFamily="49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楷体" panose="02010609060101010101" pitchFamily="49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楷体" panose="02010609060101010101" pitchFamily="49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楷体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BCAFEA2-A1DB-4CE7-8267-155BF8867B3A}" type="slidenum">
              <a:rPr lang="zh-CN" alt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zh-CN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幻灯片图像占位符 677889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0" name="文本占位符 677890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>
                <a:latin typeface="Arial" charset="0"/>
              </a:rPr>
              <a:t>重载方法必须满足以下条件：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zh-CN" altLang="en-US" dirty="0">
                <a:latin typeface="Arial" charset="0"/>
              </a:rPr>
              <a:t>方法名相同。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zh-CN" altLang="en-US" dirty="0">
                <a:latin typeface="Arial" charset="0"/>
              </a:rPr>
              <a:t>方法的参数类型、个数、顺序至少有一项不相同。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zh-CN" altLang="en-US" dirty="0">
                <a:latin typeface="Arial" charset="0"/>
              </a:rPr>
              <a:t> 方法的返回类型可以不相同。</a:t>
            </a:r>
          </a:p>
          <a:p>
            <a:pPr lvl="1" eaLnBrk="1" hangingPunct="1">
              <a:buFont typeface="Wingdings" pitchFamily="2" charset="2"/>
              <a:buChar char="q"/>
            </a:pPr>
            <a:r>
              <a:rPr lang="zh-CN" altLang="en-US" dirty="0">
                <a:latin typeface="Arial" charset="0"/>
              </a:rPr>
              <a:t> 方法的修饰符可以不相同。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Arial" charset="0"/>
              </a:rPr>
              <a:t>调用重载方法时，</a:t>
            </a:r>
            <a:r>
              <a:rPr lang="en-US" altLang="zh-CN" dirty="0">
                <a:latin typeface="Arial" charset="0"/>
              </a:rPr>
              <a:t>Java </a:t>
            </a:r>
            <a:r>
              <a:rPr lang="zh-CN" altLang="en-US" dirty="0">
                <a:latin typeface="Arial" charset="0"/>
              </a:rPr>
              <a:t>使用参数的类型和数量决定实际调用重载方法的哪个版本。 </a:t>
            </a:r>
          </a:p>
          <a:p>
            <a:pPr lvl="1" eaLnBrk="1" hangingPunct="1">
              <a:buFont typeface="Wingdings" pitchFamily="2" charset="2"/>
              <a:buChar char="q"/>
            </a:pPr>
            <a:endParaRPr lang="zh-CN" altLang="en-US" dirty="0">
              <a:latin typeface="Arial" charset="0"/>
            </a:endParaRPr>
          </a:p>
          <a:p>
            <a:pPr eaLnBrk="1" hangingPunct="1"/>
            <a:endParaRPr lang="zh-CN" altLang="en-US" dirty="0">
              <a:latin typeface="Arial" charset="0"/>
            </a:endParaRPr>
          </a:p>
        </p:txBody>
      </p:sp>
      <p:sp>
        <p:nvSpPr>
          <p:cNvPr id="94211" name="灯片编号占位符 1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6DC4D2A8-0A54-4059-94D6-B3145DFF6E4D}" type="slidenum">
              <a:rPr lang="en-US" altLang="zh-CN" smtClean="0">
                <a:latin typeface="Arial" charset="0"/>
              </a:rPr>
              <a:pPr/>
              <a:t>43</a:t>
            </a:fld>
            <a:endParaRPr lang="zh-CN" altLang="zh-CN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987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7A33A3-4F6A-4FE7-BBA6-FA8C4E80F8F7}" type="slidenum">
              <a:rPr lang="zh-CN" altLang="en-US" smtClean="0"/>
              <a:pPr>
                <a:defRPr/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715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39483-8077-458F-A7FB-DB443F539DB9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243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703F44-AF30-4E97-A9FF-CD945648A2EF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27CF3-285B-4AFD-AEF8-AE021158C8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41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5E414-A30F-4A90-BE9A-2E033A2A60F0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A55FF-2DFB-4920-8692-5DEF49E81F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82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F5A79-EFDA-40D7-95AE-4C1B9C151CA9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E9D66-A9FB-44ED-944F-7986EB8A5F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655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28F2B-67D4-43FE-8861-7B1161F9F86A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838A9-20AC-4FFE-8188-EB45DA790B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3142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03FB7-9EA7-4DC4-B3A9-6BE5136C8EBC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84888C-55FF-438E-B09A-1EA4C0391D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059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904A1A-C7DD-42B3-86A1-710464DA81AE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88E63-700F-4AA0-A93B-ECB0FCC378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31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CE1C0-F848-4462-89F5-28A093E0C209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6760C-ACD4-4052-9063-D1B1AC2118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9654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8E1EF-713F-420D-AC1C-E0EC9F83A5A9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1774C-C606-43BD-BE4B-B2EA0C9AD7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013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F080B-BB6E-4636-AA8D-9393307E7BF6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F2B79-4E70-4C02-A496-E90D63EF48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515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7"/>
          <p:cNvCxnSpPr/>
          <p:nvPr/>
        </p:nvCxnSpPr>
        <p:spPr>
          <a:xfrm>
            <a:off x="0" y="692150"/>
            <a:ext cx="9144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613" y="6372225"/>
            <a:ext cx="19573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08721"/>
            <a:ext cx="8229600" cy="4525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07504" y="44625"/>
            <a:ext cx="8640960" cy="634082"/>
          </a:xfrm>
        </p:spPr>
        <p:txBody>
          <a:bodyPr/>
          <a:lstStyle>
            <a:lvl1pPr algn="l">
              <a:defRPr sz="280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 anchor="t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AFB43D99-7B20-4072-B4F0-963A41F81435}" type="datetime1">
              <a:rPr lang="zh-CN" altLang="en-US" smtClean="0"/>
              <a:pPr>
                <a:defRPr/>
              </a:pPr>
              <a:t>2025/9/18</a:t>
            </a:fld>
            <a:endParaRPr lang="en-US" altLang="zh-CN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633413" cy="365125"/>
          </a:xfr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1733960"/>
      </p:ext>
    </p:extLst>
  </p:cSld>
  <p:clrMapOvr>
    <a:masterClrMapping/>
  </p:clrMapOvr>
  <p:transition spd="med"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2216150"/>
            <a:ext cx="8334375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hape 153"/>
          <p:cNvSpPr txBox="1">
            <a:spLocks/>
          </p:cNvSpPr>
          <p:nvPr/>
        </p:nvSpPr>
        <p:spPr>
          <a:xfrm>
            <a:off x="1409700" y="3074988"/>
            <a:ext cx="6324600" cy="1041400"/>
          </a:xfrm>
          <a:prstGeom prst="rect">
            <a:avLst/>
          </a:prstGeom>
        </p:spPr>
        <p:txBody>
          <a:bodyPr lIns="91425" tIns="91425" rIns="91425" bIns="91425" anchor="b"/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endParaRPr lang="zh-CN" altLang="zh-CN" sz="4800" dirty="0">
              <a:solidFill>
                <a:schemeClr val="bg1"/>
              </a:solidFill>
              <a:latin typeface="Calibri Light" pitchFamily="34" charset="0"/>
              <a:ea typeface="楷体" panose="02010609060101010101" pitchFamily="49" charset="-122"/>
              <a:sym typeface="Calibri Light" pitchFamily="34" charset="0"/>
            </a:endParaRPr>
          </a:p>
        </p:txBody>
      </p:sp>
      <p:pic>
        <p:nvPicPr>
          <p:cNvPr id="6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613" y="6354763"/>
            <a:ext cx="19573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101600" y="5191125"/>
            <a:ext cx="1295400" cy="1524000"/>
            <a:chOff x="3627" y="2688"/>
            <a:chExt cx="1174" cy="977"/>
          </a:xfrm>
        </p:grpSpPr>
        <p:grpSp>
          <p:nvGrpSpPr>
            <p:cNvPr id="8" name="Group 10"/>
            <p:cNvGrpSpPr>
              <a:grpSpLocks/>
            </p:cNvGrpSpPr>
            <p:nvPr/>
          </p:nvGrpSpPr>
          <p:grpSpPr bwMode="auto">
            <a:xfrm>
              <a:off x="4137" y="2688"/>
              <a:ext cx="664" cy="970"/>
              <a:chOff x="4137" y="2688"/>
              <a:chExt cx="664" cy="970"/>
            </a:xfrm>
          </p:grpSpPr>
          <p:sp>
            <p:nvSpPr>
              <p:cNvPr id="40" name="Freeform 8"/>
              <p:cNvSpPr>
                <a:spLocks/>
              </p:cNvSpPr>
              <p:nvPr/>
            </p:nvSpPr>
            <p:spPr bwMode="auto">
              <a:xfrm>
                <a:off x="4430" y="3093"/>
                <a:ext cx="371" cy="553"/>
              </a:xfrm>
              <a:custGeom>
                <a:avLst/>
                <a:gdLst>
                  <a:gd name="T0" fmla="*/ 0 w 371"/>
                  <a:gd name="T1" fmla="*/ 260 h 553"/>
                  <a:gd name="T2" fmla="*/ 105 w 371"/>
                  <a:gd name="T3" fmla="*/ 205 h 553"/>
                  <a:gd name="T4" fmla="*/ 222 w 371"/>
                  <a:gd name="T5" fmla="*/ 11 h 553"/>
                  <a:gd name="T6" fmla="*/ 226 w 371"/>
                  <a:gd name="T7" fmla="*/ 8 h 553"/>
                  <a:gd name="T8" fmla="*/ 235 w 371"/>
                  <a:gd name="T9" fmla="*/ 3 h 553"/>
                  <a:gd name="T10" fmla="*/ 244 w 371"/>
                  <a:gd name="T11" fmla="*/ 2 h 553"/>
                  <a:gd name="T12" fmla="*/ 256 w 371"/>
                  <a:gd name="T13" fmla="*/ 0 h 553"/>
                  <a:gd name="T14" fmla="*/ 267 w 371"/>
                  <a:gd name="T15" fmla="*/ 2 h 553"/>
                  <a:gd name="T16" fmla="*/ 278 w 371"/>
                  <a:gd name="T17" fmla="*/ 5 h 553"/>
                  <a:gd name="T18" fmla="*/ 291 w 371"/>
                  <a:gd name="T19" fmla="*/ 11 h 553"/>
                  <a:gd name="T20" fmla="*/ 307 w 371"/>
                  <a:gd name="T21" fmla="*/ 19 h 553"/>
                  <a:gd name="T22" fmla="*/ 320 w 371"/>
                  <a:gd name="T23" fmla="*/ 27 h 553"/>
                  <a:gd name="T24" fmla="*/ 332 w 371"/>
                  <a:gd name="T25" fmla="*/ 35 h 553"/>
                  <a:gd name="T26" fmla="*/ 340 w 371"/>
                  <a:gd name="T27" fmla="*/ 42 h 553"/>
                  <a:gd name="T28" fmla="*/ 348 w 371"/>
                  <a:gd name="T29" fmla="*/ 52 h 553"/>
                  <a:gd name="T30" fmla="*/ 358 w 371"/>
                  <a:gd name="T31" fmla="*/ 65 h 553"/>
                  <a:gd name="T32" fmla="*/ 363 w 371"/>
                  <a:gd name="T33" fmla="*/ 75 h 553"/>
                  <a:gd name="T34" fmla="*/ 368 w 371"/>
                  <a:gd name="T35" fmla="*/ 89 h 553"/>
                  <a:gd name="T36" fmla="*/ 370 w 371"/>
                  <a:gd name="T37" fmla="*/ 105 h 553"/>
                  <a:gd name="T38" fmla="*/ 370 w 371"/>
                  <a:gd name="T39" fmla="*/ 129 h 553"/>
                  <a:gd name="T40" fmla="*/ 366 w 371"/>
                  <a:gd name="T41" fmla="*/ 156 h 553"/>
                  <a:gd name="T42" fmla="*/ 361 w 371"/>
                  <a:gd name="T43" fmla="*/ 182 h 553"/>
                  <a:gd name="T44" fmla="*/ 351 w 371"/>
                  <a:gd name="T45" fmla="*/ 213 h 553"/>
                  <a:gd name="T46" fmla="*/ 341 w 371"/>
                  <a:gd name="T47" fmla="*/ 238 h 553"/>
                  <a:gd name="T48" fmla="*/ 333 w 371"/>
                  <a:gd name="T49" fmla="*/ 255 h 553"/>
                  <a:gd name="T50" fmla="*/ 320 w 371"/>
                  <a:gd name="T51" fmla="*/ 274 h 553"/>
                  <a:gd name="T52" fmla="*/ 309 w 371"/>
                  <a:gd name="T53" fmla="*/ 287 h 553"/>
                  <a:gd name="T54" fmla="*/ 298 w 371"/>
                  <a:gd name="T55" fmla="*/ 301 h 553"/>
                  <a:gd name="T56" fmla="*/ 286 w 371"/>
                  <a:gd name="T57" fmla="*/ 316 h 553"/>
                  <a:gd name="T58" fmla="*/ 274 w 371"/>
                  <a:gd name="T59" fmla="*/ 324 h 553"/>
                  <a:gd name="T60" fmla="*/ 44 w 371"/>
                  <a:gd name="T61" fmla="*/ 308 h 553"/>
                  <a:gd name="T62" fmla="*/ 34 w 371"/>
                  <a:gd name="T63" fmla="*/ 328 h 553"/>
                  <a:gd name="T64" fmla="*/ 34 w 371"/>
                  <a:gd name="T65" fmla="*/ 473 h 553"/>
                  <a:gd name="T66" fmla="*/ 36 w 371"/>
                  <a:gd name="T67" fmla="*/ 487 h 553"/>
                  <a:gd name="T68" fmla="*/ 38 w 371"/>
                  <a:gd name="T69" fmla="*/ 496 h 553"/>
                  <a:gd name="T70" fmla="*/ 43 w 371"/>
                  <a:gd name="T71" fmla="*/ 505 h 553"/>
                  <a:gd name="T72" fmla="*/ 48 w 371"/>
                  <a:gd name="T73" fmla="*/ 512 h 553"/>
                  <a:gd name="T74" fmla="*/ 56 w 371"/>
                  <a:gd name="T75" fmla="*/ 518 h 553"/>
                  <a:gd name="T76" fmla="*/ 64 w 371"/>
                  <a:gd name="T77" fmla="*/ 522 h 553"/>
                  <a:gd name="T78" fmla="*/ 72 w 371"/>
                  <a:gd name="T79" fmla="*/ 524 h 553"/>
                  <a:gd name="T80" fmla="*/ 81 w 371"/>
                  <a:gd name="T81" fmla="*/ 526 h 553"/>
                  <a:gd name="T82" fmla="*/ 331 w 371"/>
                  <a:gd name="T83" fmla="*/ 525 h 553"/>
                  <a:gd name="T84" fmla="*/ 332 w 371"/>
                  <a:gd name="T85" fmla="*/ 552 h 553"/>
                  <a:gd name="T86" fmla="*/ 75 w 371"/>
                  <a:gd name="T87" fmla="*/ 551 h 553"/>
                  <a:gd name="T88" fmla="*/ 61 w 371"/>
                  <a:gd name="T89" fmla="*/ 550 h 553"/>
                  <a:gd name="T90" fmla="*/ 52 w 371"/>
                  <a:gd name="T91" fmla="*/ 549 h 553"/>
                  <a:gd name="T92" fmla="*/ 42 w 371"/>
                  <a:gd name="T93" fmla="*/ 547 h 553"/>
                  <a:gd name="T94" fmla="*/ 34 w 371"/>
                  <a:gd name="T95" fmla="*/ 543 h 553"/>
                  <a:gd name="T96" fmla="*/ 26 w 371"/>
                  <a:gd name="T97" fmla="*/ 537 h 553"/>
                  <a:gd name="T98" fmla="*/ 18 w 371"/>
                  <a:gd name="T99" fmla="*/ 527 h 553"/>
                  <a:gd name="T100" fmla="*/ 12 w 371"/>
                  <a:gd name="T101" fmla="*/ 518 h 553"/>
                  <a:gd name="T102" fmla="*/ 7 w 371"/>
                  <a:gd name="T103" fmla="*/ 508 h 553"/>
                  <a:gd name="T104" fmla="*/ 4 w 371"/>
                  <a:gd name="T105" fmla="*/ 497 h 553"/>
                  <a:gd name="T106" fmla="*/ 1 w 371"/>
                  <a:gd name="T107" fmla="*/ 485 h 553"/>
                  <a:gd name="T108" fmla="*/ 0 w 371"/>
                  <a:gd name="T109" fmla="*/ 470 h 553"/>
                  <a:gd name="T110" fmla="*/ 0 w 371"/>
                  <a:gd name="T111" fmla="*/ 260 h 553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371" h="553">
                    <a:moveTo>
                      <a:pt x="0" y="260"/>
                    </a:moveTo>
                    <a:lnTo>
                      <a:pt x="105" y="205"/>
                    </a:lnTo>
                    <a:lnTo>
                      <a:pt x="222" y="11"/>
                    </a:lnTo>
                    <a:lnTo>
                      <a:pt x="226" y="8"/>
                    </a:lnTo>
                    <a:lnTo>
                      <a:pt x="235" y="3"/>
                    </a:lnTo>
                    <a:lnTo>
                      <a:pt x="244" y="2"/>
                    </a:lnTo>
                    <a:lnTo>
                      <a:pt x="256" y="0"/>
                    </a:lnTo>
                    <a:lnTo>
                      <a:pt x="267" y="2"/>
                    </a:lnTo>
                    <a:lnTo>
                      <a:pt x="278" y="5"/>
                    </a:lnTo>
                    <a:lnTo>
                      <a:pt x="291" y="11"/>
                    </a:lnTo>
                    <a:lnTo>
                      <a:pt x="307" y="19"/>
                    </a:lnTo>
                    <a:lnTo>
                      <a:pt x="320" y="27"/>
                    </a:lnTo>
                    <a:lnTo>
                      <a:pt x="332" y="35"/>
                    </a:lnTo>
                    <a:lnTo>
                      <a:pt x="340" y="42"/>
                    </a:lnTo>
                    <a:lnTo>
                      <a:pt x="348" y="52"/>
                    </a:lnTo>
                    <a:lnTo>
                      <a:pt x="358" y="65"/>
                    </a:lnTo>
                    <a:lnTo>
                      <a:pt x="363" y="75"/>
                    </a:lnTo>
                    <a:lnTo>
                      <a:pt x="368" y="89"/>
                    </a:lnTo>
                    <a:lnTo>
                      <a:pt x="370" y="105"/>
                    </a:lnTo>
                    <a:lnTo>
                      <a:pt x="370" y="129"/>
                    </a:lnTo>
                    <a:lnTo>
                      <a:pt x="366" y="156"/>
                    </a:lnTo>
                    <a:lnTo>
                      <a:pt x="361" y="182"/>
                    </a:lnTo>
                    <a:lnTo>
                      <a:pt x="351" y="213"/>
                    </a:lnTo>
                    <a:lnTo>
                      <a:pt x="341" y="238"/>
                    </a:lnTo>
                    <a:lnTo>
                      <a:pt x="333" y="255"/>
                    </a:lnTo>
                    <a:lnTo>
                      <a:pt x="320" y="274"/>
                    </a:lnTo>
                    <a:lnTo>
                      <a:pt x="309" y="287"/>
                    </a:lnTo>
                    <a:lnTo>
                      <a:pt x="298" y="301"/>
                    </a:lnTo>
                    <a:lnTo>
                      <a:pt x="286" y="316"/>
                    </a:lnTo>
                    <a:lnTo>
                      <a:pt x="274" y="324"/>
                    </a:lnTo>
                    <a:lnTo>
                      <a:pt x="44" y="308"/>
                    </a:lnTo>
                    <a:lnTo>
                      <a:pt x="34" y="328"/>
                    </a:lnTo>
                    <a:lnTo>
                      <a:pt x="34" y="473"/>
                    </a:lnTo>
                    <a:lnTo>
                      <a:pt x="36" y="487"/>
                    </a:lnTo>
                    <a:lnTo>
                      <a:pt x="38" y="496"/>
                    </a:lnTo>
                    <a:lnTo>
                      <a:pt x="43" y="505"/>
                    </a:lnTo>
                    <a:lnTo>
                      <a:pt x="48" y="512"/>
                    </a:lnTo>
                    <a:lnTo>
                      <a:pt x="56" y="518"/>
                    </a:lnTo>
                    <a:lnTo>
                      <a:pt x="64" y="522"/>
                    </a:lnTo>
                    <a:lnTo>
                      <a:pt x="72" y="524"/>
                    </a:lnTo>
                    <a:lnTo>
                      <a:pt x="81" y="526"/>
                    </a:lnTo>
                    <a:lnTo>
                      <a:pt x="331" y="525"/>
                    </a:lnTo>
                    <a:lnTo>
                      <a:pt x="332" y="552"/>
                    </a:lnTo>
                    <a:lnTo>
                      <a:pt x="75" y="551"/>
                    </a:lnTo>
                    <a:lnTo>
                      <a:pt x="61" y="550"/>
                    </a:lnTo>
                    <a:lnTo>
                      <a:pt x="52" y="549"/>
                    </a:lnTo>
                    <a:lnTo>
                      <a:pt x="42" y="547"/>
                    </a:lnTo>
                    <a:lnTo>
                      <a:pt x="34" y="543"/>
                    </a:lnTo>
                    <a:lnTo>
                      <a:pt x="26" y="537"/>
                    </a:lnTo>
                    <a:lnTo>
                      <a:pt x="18" y="527"/>
                    </a:lnTo>
                    <a:lnTo>
                      <a:pt x="12" y="518"/>
                    </a:lnTo>
                    <a:lnTo>
                      <a:pt x="7" y="508"/>
                    </a:lnTo>
                    <a:lnTo>
                      <a:pt x="4" y="497"/>
                    </a:lnTo>
                    <a:lnTo>
                      <a:pt x="1" y="485"/>
                    </a:lnTo>
                    <a:lnTo>
                      <a:pt x="0" y="470"/>
                    </a:lnTo>
                    <a:lnTo>
                      <a:pt x="0" y="260"/>
                    </a:lnTo>
                  </a:path>
                </a:pathLst>
              </a:custGeom>
              <a:solidFill>
                <a:srgbClr val="000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楷体" panose="02010609060101010101" pitchFamily="49" charset="-122"/>
                </a:endParaRPr>
              </a:p>
            </p:txBody>
          </p:sp>
          <p:grpSp>
            <p:nvGrpSpPr>
              <p:cNvPr id="41" name="Group 9"/>
              <p:cNvGrpSpPr>
                <a:grpSpLocks/>
              </p:cNvGrpSpPr>
              <p:nvPr/>
            </p:nvGrpSpPr>
            <p:grpSpPr bwMode="auto">
              <a:xfrm>
                <a:off x="4137" y="2688"/>
                <a:ext cx="583" cy="970"/>
                <a:chOff x="4137" y="2688"/>
                <a:chExt cx="583" cy="970"/>
              </a:xfrm>
            </p:grpSpPr>
            <p:sp>
              <p:nvSpPr>
                <p:cNvPr id="42" name="Freeform 10"/>
                <p:cNvSpPr>
                  <a:spLocks/>
                </p:cNvSpPr>
                <p:nvPr/>
              </p:nvSpPr>
              <p:spPr bwMode="auto">
                <a:xfrm>
                  <a:off x="4137" y="2688"/>
                  <a:ext cx="583" cy="970"/>
                </a:xfrm>
                <a:custGeom>
                  <a:avLst/>
                  <a:gdLst>
                    <a:gd name="T0" fmla="*/ 527 w 583"/>
                    <a:gd name="T1" fmla="*/ 120 h 970"/>
                    <a:gd name="T2" fmla="*/ 479 w 583"/>
                    <a:gd name="T3" fmla="*/ 112 h 970"/>
                    <a:gd name="T4" fmla="*/ 480 w 583"/>
                    <a:gd name="T5" fmla="*/ 100 h 970"/>
                    <a:gd name="T6" fmla="*/ 428 w 583"/>
                    <a:gd name="T7" fmla="*/ 117 h 970"/>
                    <a:gd name="T8" fmla="*/ 430 w 583"/>
                    <a:gd name="T9" fmla="*/ 89 h 970"/>
                    <a:gd name="T10" fmla="*/ 448 w 583"/>
                    <a:gd name="T11" fmla="*/ 41 h 970"/>
                    <a:gd name="T12" fmla="*/ 402 w 583"/>
                    <a:gd name="T13" fmla="*/ 79 h 970"/>
                    <a:gd name="T14" fmla="*/ 406 w 583"/>
                    <a:gd name="T15" fmla="*/ 38 h 970"/>
                    <a:gd name="T16" fmla="*/ 391 w 583"/>
                    <a:gd name="T17" fmla="*/ 38 h 970"/>
                    <a:gd name="T18" fmla="*/ 373 w 583"/>
                    <a:gd name="T19" fmla="*/ 41 h 970"/>
                    <a:gd name="T20" fmla="*/ 349 w 583"/>
                    <a:gd name="T21" fmla="*/ 65 h 970"/>
                    <a:gd name="T22" fmla="*/ 330 w 583"/>
                    <a:gd name="T23" fmla="*/ 42 h 970"/>
                    <a:gd name="T24" fmla="*/ 310 w 583"/>
                    <a:gd name="T25" fmla="*/ 63 h 970"/>
                    <a:gd name="T26" fmla="*/ 284 w 583"/>
                    <a:gd name="T27" fmla="*/ 19 h 970"/>
                    <a:gd name="T28" fmla="*/ 267 w 583"/>
                    <a:gd name="T29" fmla="*/ 57 h 970"/>
                    <a:gd name="T30" fmla="*/ 259 w 583"/>
                    <a:gd name="T31" fmla="*/ 82 h 970"/>
                    <a:gd name="T32" fmla="*/ 230 w 583"/>
                    <a:gd name="T33" fmla="*/ 28 h 970"/>
                    <a:gd name="T34" fmla="*/ 237 w 583"/>
                    <a:gd name="T35" fmla="*/ 77 h 970"/>
                    <a:gd name="T36" fmla="*/ 218 w 583"/>
                    <a:gd name="T37" fmla="*/ 116 h 970"/>
                    <a:gd name="T38" fmla="*/ 177 w 583"/>
                    <a:gd name="T39" fmla="*/ 156 h 970"/>
                    <a:gd name="T40" fmla="*/ 127 w 583"/>
                    <a:gd name="T41" fmla="*/ 215 h 970"/>
                    <a:gd name="T42" fmla="*/ 110 w 583"/>
                    <a:gd name="T43" fmla="*/ 246 h 970"/>
                    <a:gd name="T44" fmla="*/ 121 w 583"/>
                    <a:gd name="T45" fmla="*/ 260 h 970"/>
                    <a:gd name="T46" fmla="*/ 156 w 583"/>
                    <a:gd name="T47" fmla="*/ 266 h 970"/>
                    <a:gd name="T48" fmla="*/ 152 w 583"/>
                    <a:gd name="T49" fmla="*/ 369 h 970"/>
                    <a:gd name="T50" fmla="*/ 164 w 583"/>
                    <a:gd name="T51" fmla="*/ 385 h 970"/>
                    <a:gd name="T52" fmla="*/ 192 w 583"/>
                    <a:gd name="T53" fmla="*/ 391 h 970"/>
                    <a:gd name="T54" fmla="*/ 239 w 583"/>
                    <a:gd name="T55" fmla="*/ 377 h 970"/>
                    <a:gd name="T56" fmla="*/ 210 w 583"/>
                    <a:gd name="T57" fmla="*/ 533 h 970"/>
                    <a:gd name="T58" fmla="*/ 218 w 583"/>
                    <a:gd name="T59" fmla="*/ 556 h 970"/>
                    <a:gd name="T60" fmla="*/ 245 w 583"/>
                    <a:gd name="T61" fmla="*/ 567 h 970"/>
                    <a:gd name="T62" fmla="*/ 282 w 583"/>
                    <a:gd name="T63" fmla="*/ 564 h 970"/>
                    <a:gd name="T64" fmla="*/ 213 w 583"/>
                    <a:gd name="T65" fmla="*/ 646 h 970"/>
                    <a:gd name="T66" fmla="*/ 196 w 583"/>
                    <a:gd name="T67" fmla="*/ 776 h 970"/>
                    <a:gd name="T68" fmla="*/ 173 w 583"/>
                    <a:gd name="T69" fmla="*/ 865 h 970"/>
                    <a:gd name="T70" fmla="*/ 148 w 583"/>
                    <a:gd name="T71" fmla="*/ 884 h 970"/>
                    <a:gd name="T72" fmla="*/ 52 w 583"/>
                    <a:gd name="T73" fmla="*/ 917 h 970"/>
                    <a:gd name="T74" fmla="*/ 6 w 583"/>
                    <a:gd name="T75" fmla="*/ 942 h 970"/>
                    <a:gd name="T76" fmla="*/ 0 w 583"/>
                    <a:gd name="T77" fmla="*/ 961 h 970"/>
                    <a:gd name="T78" fmla="*/ 106 w 583"/>
                    <a:gd name="T79" fmla="*/ 965 h 970"/>
                    <a:gd name="T80" fmla="*/ 190 w 583"/>
                    <a:gd name="T81" fmla="*/ 965 h 970"/>
                    <a:gd name="T82" fmla="*/ 269 w 583"/>
                    <a:gd name="T83" fmla="*/ 964 h 970"/>
                    <a:gd name="T84" fmla="*/ 307 w 583"/>
                    <a:gd name="T85" fmla="*/ 957 h 970"/>
                    <a:gd name="T86" fmla="*/ 305 w 583"/>
                    <a:gd name="T87" fmla="*/ 773 h 970"/>
                    <a:gd name="T88" fmla="*/ 313 w 583"/>
                    <a:gd name="T89" fmla="*/ 696 h 970"/>
                    <a:gd name="T90" fmla="*/ 387 w 583"/>
                    <a:gd name="T91" fmla="*/ 681 h 970"/>
                    <a:gd name="T92" fmla="*/ 474 w 583"/>
                    <a:gd name="T93" fmla="*/ 683 h 970"/>
                    <a:gd name="T94" fmla="*/ 536 w 583"/>
                    <a:gd name="T95" fmla="*/ 678 h 970"/>
                    <a:gd name="T96" fmla="*/ 562 w 583"/>
                    <a:gd name="T97" fmla="*/ 650 h 970"/>
                    <a:gd name="T98" fmla="*/ 577 w 583"/>
                    <a:gd name="T99" fmla="*/ 605 h 970"/>
                    <a:gd name="T100" fmla="*/ 580 w 583"/>
                    <a:gd name="T101" fmla="*/ 550 h 970"/>
                    <a:gd name="T102" fmla="*/ 562 w 583"/>
                    <a:gd name="T103" fmla="*/ 493 h 970"/>
                    <a:gd name="T104" fmla="*/ 528 w 583"/>
                    <a:gd name="T105" fmla="*/ 428 h 970"/>
                    <a:gd name="T106" fmla="*/ 496 w 583"/>
                    <a:gd name="T107" fmla="*/ 370 h 970"/>
                    <a:gd name="T108" fmla="*/ 463 w 583"/>
                    <a:gd name="T109" fmla="*/ 294 h 970"/>
                    <a:gd name="T110" fmla="*/ 452 w 583"/>
                    <a:gd name="T111" fmla="*/ 238 h 970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0" t="0" r="r" b="b"/>
                  <a:pathLst>
                    <a:path w="583" h="970">
                      <a:moveTo>
                        <a:pt x="464" y="142"/>
                      </a:moveTo>
                      <a:lnTo>
                        <a:pt x="494" y="126"/>
                      </a:lnTo>
                      <a:lnTo>
                        <a:pt x="527" y="120"/>
                      </a:lnTo>
                      <a:lnTo>
                        <a:pt x="490" y="121"/>
                      </a:lnTo>
                      <a:lnTo>
                        <a:pt x="461" y="135"/>
                      </a:lnTo>
                      <a:lnTo>
                        <a:pt x="479" y="112"/>
                      </a:lnTo>
                      <a:lnTo>
                        <a:pt x="457" y="122"/>
                      </a:lnTo>
                      <a:lnTo>
                        <a:pt x="447" y="121"/>
                      </a:lnTo>
                      <a:lnTo>
                        <a:pt x="480" y="100"/>
                      </a:lnTo>
                      <a:lnTo>
                        <a:pt x="498" y="74"/>
                      </a:lnTo>
                      <a:lnTo>
                        <a:pt x="472" y="97"/>
                      </a:lnTo>
                      <a:lnTo>
                        <a:pt x="428" y="117"/>
                      </a:lnTo>
                      <a:lnTo>
                        <a:pt x="434" y="98"/>
                      </a:lnTo>
                      <a:lnTo>
                        <a:pt x="458" y="67"/>
                      </a:lnTo>
                      <a:lnTo>
                        <a:pt x="430" y="89"/>
                      </a:lnTo>
                      <a:lnTo>
                        <a:pt x="465" y="41"/>
                      </a:lnTo>
                      <a:lnTo>
                        <a:pt x="480" y="6"/>
                      </a:lnTo>
                      <a:lnTo>
                        <a:pt x="448" y="41"/>
                      </a:lnTo>
                      <a:lnTo>
                        <a:pt x="407" y="97"/>
                      </a:lnTo>
                      <a:lnTo>
                        <a:pt x="437" y="40"/>
                      </a:lnTo>
                      <a:lnTo>
                        <a:pt x="402" y="79"/>
                      </a:lnTo>
                      <a:lnTo>
                        <a:pt x="396" y="80"/>
                      </a:lnTo>
                      <a:lnTo>
                        <a:pt x="420" y="24"/>
                      </a:lnTo>
                      <a:lnTo>
                        <a:pt x="406" y="38"/>
                      </a:lnTo>
                      <a:lnTo>
                        <a:pt x="386" y="71"/>
                      </a:lnTo>
                      <a:lnTo>
                        <a:pt x="401" y="26"/>
                      </a:lnTo>
                      <a:lnTo>
                        <a:pt x="391" y="38"/>
                      </a:lnTo>
                      <a:lnTo>
                        <a:pt x="392" y="0"/>
                      </a:lnTo>
                      <a:lnTo>
                        <a:pt x="376" y="52"/>
                      </a:lnTo>
                      <a:lnTo>
                        <a:pt x="373" y="41"/>
                      </a:lnTo>
                      <a:lnTo>
                        <a:pt x="363" y="59"/>
                      </a:lnTo>
                      <a:lnTo>
                        <a:pt x="374" y="3"/>
                      </a:lnTo>
                      <a:lnTo>
                        <a:pt x="349" y="65"/>
                      </a:lnTo>
                      <a:lnTo>
                        <a:pt x="336" y="66"/>
                      </a:lnTo>
                      <a:lnTo>
                        <a:pt x="345" y="12"/>
                      </a:lnTo>
                      <a:lnTo>
                        <a:pt x="330" y="42"/>
                      </a:lnTo>
                      <a:lnTo>
                        <a:pt x="318" y="65"/>
                      </a:lnTo>
                      <a:lnTo>
                        <a:pt x="319" y="45"/>
                      </a:lnTo>
                      <a:lnTo>
                        <a:pt x="310" y="63"/>
                      </a:lnTo>
                      <a:lnTo>
                        <a:pt x="312" y="16"/>
                      </a:lnTo>
                      <a:lnTo>
                        <a:pt x="294" y="79"/>
                      </a:lnTo>
                      <a:lnTo>
                        <a:pt x="284" y="19"/>
                      </a:lnTo>
                      <a:lnTo>
                        <a:pt x="282" y="59"/>
                      </a:lnTo>
                      <a:lnTo>
                        <a:pt x="276" y="79"/>
                      </a:lnTo>
                      <a:lnTo>
                        <a:pt x="267" y="57"/>
                      </a:lnTo>
                      <a:lnTo>
                        <a:pt x="257" y="27"/>
                      </a:lnTo>
                      <a:lnTo>
                        <a:pt x="261" y="61"/>
                      </a:lnTo>
                      <a:lnTo>
                        <a:pt x="259" y="82"/>
                      </a:lnTo>
                      <a:lnTo>
                        <a:pt x="248" y="31"/>
                      </a:lnTo>
                      <a:lnTo>
                        <a:pt x="246" y="69"/>
                      </a:lnTo>
                      <a:lnTo>
                        <a:pt x="230" y="28"/>
                      </a:lnTo>
                      <a:lnTo>
                        <a:pt x="210" y="11"/>
                      </a:lnTo>
                      <a:lnTo>
                        <a:pt x="225" y="36"/>
                      </a:lnTo>
                      <a:lnTo>
                        <a:pt x="237" y="77"/>
                      </a:lnTo>
                      <a:lnTo>
                        <a:pt x="237" y="101"/>
                      </a:lnTo>
                      <a:lnTo>
                        <a:pt x="229" y="107"/>
                      </a:lnTo>
                      <a:lnTo>
                        <a:pt x="218" y="116"/>
                      </a:lnTo>
                      <a:lnTo>
                        <a:pt x="207" y="127"/>
                      </a:lnTo>
                      <a:lnTo>
                        <a:pt x="192" y="141"/>
                      </a:lnTo>
                      <a:lnTo>
                        <a:pt x="177" y="156"/>
                      </a:lnTo>
                      <a:lnTo>
                        <a:pt x="159" y="176"/>
                      </a:lnTo>
                      <a:lnTo>
                        <a:pt x="142" y="198"/>
                      </a:lnTo>
                      <a:lnTo>
                        <a:pt x="127" y="215"/>
                      </a:lnTo>
                      <a:lnTo>
                        <a:pt x="115" y="231"/>
                      </a:lnTo>
                      <a:lnTo>
                        <a:pt x="112" y="238"/>
                      </a:lnTo>
                      <a:lnTo>
                        <a:pt x="110" y="246"/>
                      </a:lnTo>
                      <a:lnTo>
                        <a:pt x="113" y="253"/>
                      </a:lnTo>
                      <a:lnTo>
                        <a:pt x="115" y="257"/>
                      </a:lnTo>
                      <a:lnTo>
                        <a:pt x="121" y="260"/>
                      </a:lnTo>
                      <a:lnTo>
                        <a:pt x="129" y="262"/>
                      </a:lnTo>
                      <a:lnTo>
                        <a:pt x="146" y="264"/>
                      </a:lnTo>
                      <a:lnTo>
                        <a:pt x="156" y="266"/>
                      </a:lnTo>
                      <a:lnTo>
                        <a:pt x="156" y="300"/>
                      </a:lnTo>
                      <a:lnTo>
                        <a:pt x="150" y="355"/>
                      </a:lnTo>
                      <a:lnTo>
                        <a:pt x="152" y="369"/>
                      </a:lnTo>
                      <a:lnTo>
                        <a:pt x="154" y="376"/>
                      </a:lnTo>
                      <a:lnTo>
                        <a:pt x="157" y="381"/>
                      </a:lnTo>
                      <a:lnTo>
                        <a:pt x="164" y="385"/>
                      </a:lnTo>
                      <a:lnTo>
                        <a:pt x="171" y="388"/>
                      </a:lnTo>
                      <a:lnTo>
                        <a:pt x="180" y="391"/>
                      </a:lnTo>
                      <a:lnTo>
                        <a:pt x="192" y="391"/>
                      </a:lnTo>
                      <a:lnTo>
                        <a:pt x="210" y="388"/>
                      </a:lnTo>
                      <a:lnTo>
                        <a:pt x="226" y="383"/>
                      </a:lnTo>
                      <a:lnTo>
                        <a:pt x="239" y="377"/>
                      </a:lnTo>
                      <a:lnTo>
                        <a:pt x="230" y="433"/>
                      </a:lnTo>
                      <a:lnTo>
                        <a:pt x="219" y="488"/>
                      </a:lnTo>
                      <a:lnTo>
                        <a:pt x="210" y="533"/>
                      </a:lnTo>
                      <a:lnTo>
                        <a:pt x="212" y="543"/>
                      </a:lnTo>
                      <a:lnTo>
                        <a:pt x="214" y="550"/>
                      </a:lnTo>
                      <a:lnTo>
                        <a:pt x="218" y="556"/>
                      </a:lnTo>
                      <a:lnTo>
                        <a:pt x="223" y="560"/>
                      </a:lnTo>
                      <a:lnTo>
                        <a:pt x="228" y="564"/>
                      </a:lnTo>
                      <a:lnTo>
                        <a:pt x="245" y="567"/>
                      </a:lnTo>
                      <a:lnTo>
                        <a:pt x="264" y="570"/>
                      </a:lnTo>
                      <a:lnTo>
                        <a:pt x="272" y="568"/>
                      </a:lnTo>
                      <a:lnTo>
                        <a:pt x="282" y="564"/>
                      </a:lnTo>
                      <a:lnTo>
                        <a:pt x="275" y="602"/>
                      </a:lnTo>
                      <a:lnTo>
                        <a:pt x="228" y="634"/>
                      </a:lnTo>
                      <a:lnTo>
                        <a:pt x="213" y="646"/>
                      </a:lnTo>
                      <a:lnTo>
                        <a:pt x="213" y="672"/>
                      </a:lnTo>
                      <a:lnTo>
                        <a:pt x="204" y="733"/>
                      </a:lnTo>
                      <a:lnTo>
                        <a:pt x="196" y="776"/>
                      </a:lnTo>
                      <a:lnTo>
                        <a:pt x="188" y="829"/>
                      </a:lnTo>
                      <a:lnTo>
                        <a:pt x="183" y="846"/>
                      </a:lnTo>
                      <a:lnTo>
                        <a:pt x="173" y="865"/>
                      </a:lnTo>
                      <a:lnTo>
                        <a:pt x="167" y="870"/>
                      </a:lnTo>
                      <a:lnTo>
                        <a:pt x="157" y="878"/>
                      </a:lnTo>
                      <a:lnTo>
                        <a:pt x="148" y="884"/>
                      </a:lnTo>
                      <a:lnTo>
                        <a:pt x="125" y="893"/>
                      </a:lnTo>
                      <a:lnTo>
                        <a:pt x="91" y="903"/>
                      </a:lnTo>
                      <a:lnTo>
                        <a:pt x="52" y="917"/>
                      </a:lnTo>
                      <a:lnTo>
                        <a:pt x="15" y="931"/>
                      </a:lnTo>
                      <a:lnTo>
                        <a:pt x="9" y="937"/>
                      </a:lnTo>
                      <a:lnTo>
                        <a:pt x="6" y="942"/>
                      </a:lnTo>
                      <a:lnTo>
                        <a:pt x="2" y="949"/>
                      </a:lnTo>
                      <a:lnTo>
                        <a:pt x="0" y="955"/>
                      </a:lnTo>
                      <a:lnTo>
                        <a:pt x="0" y="961"/>
                      </a:lnTo>
                      <a:lnTo>
                        <a:pt x="25" y="966"/>
                      </a:lnTo>
                      <a:lnTo>
                        <a:pt x="71" y="969"/>
                      </a:lnTo>
                      <a:lnTo>
                        <a:pt x="106" y="965"/>
                      </a:lnTo>
                      <a:lnTo>
                        <a:pt x="142" y="959"/>
                      </a:lnTo>
                      <a:lnTo>
                        <a:pt x="159" y="961"/>
                      </a:lnTo>
                      <a:lnTo>
                        <a:pt x="190" y="965"/>
                      </a:lnTo>
                      <a:lnTo>
                        <a:pt x="219" y="966"/>
                      </a:lnTo>
                      <a:lnTo>
                        <a:pt x="239" y="966"/>
                      </a:lnTo>
                      <a:lnTo>
                        <a:pt x="269" y="964"/>
                      </a:lnTo>
                      <a:lnTo>
                        <a:pt x="300" y="964"/>
                      </a:lnTo>
                      <a:lnTo>
                        <a:pt x="305" y="961"/>
                      </a:lnTo>
                      <a:lnTo>
                        <a:pt x="307" y="957"/>
                      </a:lnTo>
                      <a:lnTo>
                        <a:pt x="306" y="912"/>
                      </a:lnTo>
                      <a:lnTo>
                        <a:pt x="303" y="830"/>
                      </a:lnTo>
                      <a:lnTo>
                        <a:pt x="305" y="773"/>
                      </a:lnTo>
                      <a:lnTo>
                        <a:pt x="308" y="721"/>
                      </a:lnTo>
                      <a:lnTo>
                        <a:pt x="310" y="707"/>
                      </a:lnTo>
                      <a:lnTo>
                        <a:pt x="313" y="696"/>
                      </a:lnTo>
                      <a:lnTo>
                        <a:pt x="317" y="689"/>
                      </a:lnTo>
                      <a:lnTo>
                        <a:pt x="321" y="685"/>
                      </a:lnTo>
                      <a:lnTo>
                        <a:pt x="387" y="681"/>
                      </a:lnTo>
                      <a:lnTo>
                        <a:pt x="414" y="682"/>
                      </a:lnTo>
                      <a:lnTo>
                        <a:pt x="439" y="685"/>
                      </a:lnTo>
                      <a:lnTo>
                        <a:pt x="474" y="683"/>
                      </a:lnTo>
                      <a:lnTo>
                        <a:pt x="502" y="682"/>
                      </a:lnTo>
                      <a:lnTo>
                        <a:pt x="524" y="680"/>
                      </a:lnTo>
                      <a:lnTo>
                        <a:pt x="536" y="678"/>
                      </a:lnTo>
                      <a:lnTo>
                        <a:pt x="548" y="674"/>
                      </a:lnTo>
                      <a:lnTo>
                        <a:pt x="554" y="662"/>
                      </a:lnTo>
                      <a:lnTo>
                        <a:pt x="562" y="650"/>
                      </a:lnTo>
                      <a:lnTo>
                        <a:pt x="568" y="633"/>
                      </a:lnTo>
                      <a:lnTo>
                        <a:pt x="573" y="619"/>
                      </a:lnTo>
                      <a:lnTo>
                        <a:pt x="577" y="605"/>
                      </a:lnTo>
                      <a:lnTo>
                        <a:pt x="581" y="587"/>
                      </a:lnTo>
                      <a:lnTo>
                        <a:pt x="582" y="570"/>
                      </a:lnTo>
                      <a:lnTo>
                        <a:pt x="580" y="550"/>
                      </a:lnTo>
                      <a:lnTo>
                        <a:pt x="576" y="533"/>
                      </a:lnTo>
                      <a:lnTo>
                        <a:pt x="570" y="515"/>
                      </a:lnTo>
                      <a:lnTo>
                        <a:pt x="562" y="493"/>
                      </a:lnTo>
                      <a:lnTo>
                        <a:pt x="553" y="475"/>
                      </a:lnTo>
                      <a:lnTo>
                        <a:pt x="540" y="450"/>
                      </a:lnTo>
                      <a:lnTo>
                        <a:pt x="528" y="428"/>
                      </a:lnTo>
                      <a:lnTo>
                        <a:pt x="518" y="410"/>
                      </a:lnTo>
                      <a:lnTo>
                        <a:pt x="509" y="393"/>
                      </a:lnTo>
                      <a:lnTo>
                        <a:pt x="496" y="370"/>
                      </a:lnTo>
                      <a:lnTo>
                        <a:pt x="485" y="347"/>
                      </a:lnTo>
                      <a:lnTo>
                        <a:pt x="474" y="324"/>
                      </a:lnTo>
                      <a:lnTo>
                        <a:pt x="463" y="294"/>
                      </a:lnTo>
                      <a:lnTo>
                        <a:pt x="456" y="273"/>
                      </a:lnTo>
                      <a:lnTo>
                        <a:pt x="453" y="256"/>
                      </a:lnTo>
                      <a:lnTo>
                        <a:pt x="452" y="238"/>
                      </a:lnTo>
                      <a:lnTo>
                        <a:pt x="464" y="142"/>
                      </a:lnTo>
                    </a:path>
                  </a:pathLst>
                </a:custGeom>
                <a:solidFill>
                  <a:srgbClr val="DFD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ea typeface="楷体" panose="02010609060101010101" pitchFamily="49" charset="-122"/>
                  </a:endParaRPr>
                </a:p>
              </p:txBody>
            </p:sp>
            <p:grpSp>
              <p:nvGrpSpPr>
                <p:cNvPr id="43" name="Group 11"/>
                <p:cNvGrpSpPr>
                  <a:grpSpLocks/>
                </p:cNvGrpSpPr>
                <p:nvPr/>
              </p:nvGrpSpPr>
              <p:grpSpPr bwMode="auto">
                <a:xfrm>
                  <a:off x="4365" y="2834"/>
                  <a:ext cx="213" cy="420"/>
                  <a:chOff x="4365" y="2834"/>
                  <a:chExt cx="213" cy="420"/>
                </a:xfrm>
              </p:grpSpPr>
              <p:sp>
                <p:nvSpPr>
                  <p:cNvPr id="44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834"/>
                    <a:ext cx="1" cy="60"/>
                  </a:xfrm>
                  <a:prstGeom prst="ellipse">
                    <a:avLst/>
                  </a:prstGeom>
                  <a:solidFill>
                    <a:srgbClr val="DFDF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dirty="0">
                      <a:ea typeface="楷体" panose="02010609060101010101" pitchFamily="49" charset="-122"/>
                    </a:endParaRPr>
                  </a:p>
                </p:txBody>
              </p:sp>
              <p:grpSp>
                <p:nvGrpSpPr>
                  <p:cNvPr id="45" name="Group 13"/>
                  <p:cNvGrpSpPr>
                    <a:grpSpLocks/>
                  </p:cNvGrpSpPr>
                  <p:nvPr/>
                </p:nvGrpSpPr>
                <p:grpSpPr bwMode="auto">
                  <a:xfrm>
                    <a:off x="4365" y="2966"/>
                    <a:ext cx="213" cy="288"/>
                    <a:chOff x="4365" y="2966"/>
                    <a:chExt cx="213" cy="288"/>
                  </a:xfrm>
                </p:grpSpPr>
                <p:sp>
                  <p:nvSpPr>
                    <p:cNvPr id="46" name="Freeform 14"/>
                    <p:cNvSpPr>
                      <a:spLocks/>
                    </p:cNvSpPr>
                    <p:nvPr/>
                  </p:nvSpPr>
                  <p:spPr bwMode="auto">
                    <a:xfrm>
                      <a:off x="4365" y="2966"/>
                      <a:ext cx="182" cy="207"/>
                    </a:xfrm>
                    <a:custGeom>
                      <a:avLst/>
                      <a:gdLst>
                        <a:gd name="T0" fmla="*/ 12 w 182"/>
                        <a:gd name="T1" fmla="*/ 98 h 207"/>
                        <a:gd name="T2" fmla="*/ 7 w 182"/>
                        <a:gd name="T3" fmla="*/ 85 h 207"/>
                        <a:gd name="T4" fmla="*/ 2 w 182"/>
                        <a:gd name="T5" fmla="*/ 67 h 207"/>
                        <a:gd name="T6" fmla="*/ 0 w 182"/>
                        <a:gd name="T7" fmla="*/ 53 h 207"/>
                        <a:gd name="T8" fmla="*/ 1 w 182"/>
                        <a:gd name="T9" fmla="*/ 40 h 207"/>
                        <a:gd name="T10" fmla="*/ 2 w 182"/>
                        <a:gd name="T11" fmla="*/ 26 h 207"/>
                        <a:gd name="T12" fmla="*/ 4 w 182"/>
                        <a:gd name="T13" fmla="*/ 24 h 207"/>
                        <a:gd name="T14" fmla="*/ 7 w 182"/>
                        <a:gd name="T15" fmla="*/ 23 h 207"/>
                        <a:gd name="T16" fmla="*/ 11 w 182"/>
                        <a:gd name="T17" fmla="*/ 24 h 207"/>
                        <a:gd name="T18" fmla="*/ 19 w 182"/>
                        <a:gd name="T19" fmla="*/ 27 h 207"/>
                        <a:gd name="T20" fmla="*/ 29 w 182"/>
                        <a:gd name="T21" fmla="*/ 31 h 207"/>
                        <a:gd name="T22" fmla="*/ 36 w 182"/>
                        <a:gd name="T23" fmla="*/ 31 h 207"/>
                        <a:gd name="T24" fmla="*/ 44 w 182"/>
                        <a:gd name="T25" fmla="*/ 31 h 207"/>
                        <a:gd name="T26" fmla="*/ 56 w 182"/>
                        <a:gd name="T27" fmla="*/ 21 h 207"/>
                        <a:gd name="T28" fmla="*/ 69 w 182"/>
                        <a:gd name="T29" fmla="*/ 11 h 207"/>
                        <a:gd name="T30" fmla="*/ 79 w 182"/>
                        <a:gd name="T31" fmla="*/ 1 h 207"/>
                        <a:gd name="T32" fmla="*/ 82 w 182"/>
                        <a:gd name="T33" fmla="*/ 0 h 207"/>
                        <a:gd name="T34" fmla="*/ 87 w 182"/>
                        <a:gd name="T35" fmla="*/ 1 h 207"/>
                        <a:gd name="T36" fmla="*/ 96 w 182"/>
                        <a:gd name="T37" fmla="*/ 8 h 207"/>
                        <a:gd name="T38" fmla="*/ 104 w 182"/>
                        <a:gd name="T39" fmla="*/ 15 h 207"/>
                        <a:gd name="T40" fmla="*/ 112 w 182"/>
                        <a:gd name="T41" fmla="*/ 18 h 207"/>
                        <a:gd name="T42" fmla="*/ 121 w 182"/>
                        <a:gd name="T43" fmla="*/ 21 h 207"/>
                        <a:gd name="T44" fmla="*/ 130 w 182"/>
                        <a:gd name="T45" fmla="*/ 16 h 207"/>
                        <a:gd name="T46" fmla="*/ 137 w 182"/>
                        <a:gd name="T47" fmla="*/ 14 h 207"/>
                        <a:gd name="T48" fmla="*/ 145 w 182"/>
                        <a:gd name="T49" fmla="*/ 16 h 207"/>
                        <a:gd name="T50" fmla="*/ 149 w 182"/>
                        <a:gd name="T51" fmla="*/ 17 h 207"/>
                        <a:gd name="T52" fmla="*/ 154 w 182"/>
                        <a:gd name="T53" fmla="*/ 21 h 207"/>
                        <a:gd name="T54" fmla="*/ 159 w 182"/>
                        <a:gd name="T55" fmla="*/ 26 h 207"/>
                        <a:gd name="T56" fmla="*/ 161 w 182"/>
                        <a:gd name="T57" fmla="*/ 31 h 207"/>
                        <a:gd name="T58" fmla="*/ 164 w 182"/>
                        <a:gd name="T59" fmla="*/ 40 h 207"/>
                        <a:gd name="T60" fmla="*/ 171 w 182"/>
                        <a:gd name="T61" fmla="*/ 41 h 207"/>
                        <a:gd name="T62" fmla="*/ 176 w 182"/>
                        <a:gd name="T63" fmla="*/ 43 h 207"/>
                        <a:gd name="T64" fmla="*/ 179 w 182"/>
                        <a:gd name="T65" fmla="*/ 45 h 207"/>
                        <a:gd name="T66" fmla="*/ 181 w 182"/>
                        <a:gd name="T67" fmla="*/ 47 h 207"/>
                        <a:gd name="T68" fmla="*/ 179 w 182"/>
                        <a:gd name="T69" fmla="*/ 52 h 207"/>
                        <a:gd name="T70" fmla="*/ 174 w 182"/>
                        <a:gd name="T71" fmla="*/ 70 h 207"/>
                        <a:gd name="T72" fmla="*/ 165 w 182"/>
                        <a:gd name="T73" fmla="*/ 88 h 207"/>
                        <a:gd name="T74" fmla="*/ 151 w 182"/>
                        <a:gd name="T75" fmla="*/ 111 h 207"/>
                        <a:gd name="T76" fmla="*/ 132 w 182"/>
                        <a:gd name="T77" fmla="*/ 131 h 207"/>
                        <a:gd name="T78" fmla="*/ 118 w 182"/>
                        <a:gd name="T79" fmla="*/ 151 h 207"/>
                        <a:gd name="T80" fmla="*/ 104 w 182"/>
                        <a:gd name="T81" fmla="*/ 171 h 207"/>
                        <a:gd name="T82" fmla="*/ 91 w 182"/>
                        <a:gd name="T83" fmla="*/ 184 h 207"/>
                        <a:gd name="T84" fmla="*/ 72 w 182"/>
                        <a:gd name="T85" fmla="*/ 206 h 207"/>
                        <a:gd name="T86" fmla="*/ 89 w 182"/>
                        <a:gd name="T87" fmla="*/ 187 h 207"/>
                        <a:gd name="T88" fmla="*/ 99 w 182"/>
                        <a:gd name="T89" fmla="*/ 180 h 207"/>
                        <a:gd name="T90" fmla="*/ 109 w 182"/>
                        <a:gd name="T91" fmla="*/ 173 h 207"/>
                        <a:gd name="T92" fmla="*/ 118 w 182"/>
                        <a:gd name="T93" fmla="*/ 168 h 207"/>
                        <a:gd name="T94" fmla="*/ 130 w 182"/>
                        <a:gd name="T95" fmla="*/ 166 h 207"/>
                        <a:gd name="T96" fmla="*/ 141 w 182"/>
                        <a:gd name="T97" fmla="*/ 163 h 207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</a:gdLst>
                      <a:ahLst/>
                      <a:cxnLst>
                        <a:cxn ang="T98">
                          <a:pos x="T0" y="T1"/>
                        </a:cxn>
                        <a:cxn ang="T99">
                          <a:pos x="T2" y="T3"/>
                        </a:cxn>
                        <a:cxn ang="T100">
                          <a:pos x="T4" y="T5"/>
                        </a:cxn>
                        <a:cxn ang="T101">
                          <a:pos x="T6" y="T7"/>
                        </a:cxn>
                        <a:cxn ang="T102">
                          <a:pos x="T8" y="T9"/>
                        </a:cxn>
                        <a:cxn ang="T103">
                          <a:pos x="T10" y="T11"/>
                        </a:cxn>
                        <a:cxn ang="T104">
                          <a:pos x="T12" y="T13"/>
                        </a:cxn>
                        <a:cxn ang="T105">
                          <a:pos x="T14" y="T15"/>
                        </a:cxn>
                        <a:cxn ang="T106">
                          <a:pos x="T16" y="T17"/>
                        </a:cxn>
                        <a:cxn ang="T107">
                          <a:pos x="T18" y="T19"/>
                        </a:cxn>
                        <a:cxn ang="T108">
                          <a:pos x="T20" y="T21"/>
                        </a:cxn>
                        <a:cxn ang="T109">
                          <a:pos x="T22" y="T23"/>
                        </a:cxn>
                        <a:cxn ang="T110">
                          <a:pos x="T24" y="T25"/>
                        </a:cxn>
                        <a:cxn ang="T111">
                          <a:pos x="T26" y="T27"/>
                        </a:cxn>
                        <a:cxn ang="T112">
                          <a:pos x="T28" y="T29"/>
                        </a:cxn>
                        <a:cxn ang="T113">
                          <a:pos x="T30" y="T31"/>
                        </a:cxn>
                        <a:cxn ang="T114">
                          <a:pos x="T32" y="T33"/>
                        </a:cxn>
                        <a:cxn ang="T115">
                          <a:pos x="T34" y="T35"/>
                        </a:cxn>
                        <a:cxn ang="T116">
                          <a:pos x="T36" y="T37"/>
                        </a:cxn>
                        <a:cxn ang="T117">
                          <a:pos x="T38" y="T39"/>
                        </a:cxn>
                        <a:cxn ang="T118">
                          <a:pos x="T40" y="T41"/>
                        </a:cxn>
                        <a:cxn ang="T119">
                          <a:pos x="T42" y="T43"/>
                        </a:cxn>
                        <a:cxn ang="T120">
                          <a:pos x="T44" y="T45"/>
                        </a:cxn>
                        <a:cxn ang="T121">
                          <a:pos x="T46" y="T47"/>
                        </a:cxn>
                        <a:cxn ang="T122">
                          <a:pos x="T48" y="T49"/>
                        </a:cxn>
                        <a:cxn ang="T123">
                          <a:pos x="T50" y="T51"/>
                        </a:cxn>
                        <a:cxn ang="T124">
                          <a:pos x="T52" y="T53"/>
                        </a:cxn>
                        <a:cxn ang="T125">
                          <a:pos x="T54" y="T55"/>
                        </a:cxn>
                        <a:cxn ang="T126">
                          <a:pos x="T56" y="T57"/>
                        </a:cxn>
                        <a:cxn ang="T127">
                          <a:pos x="T58" y="T59"/>
                        </a:cxn>
                        <a:cxn ang="T128">
                          <a:pos x="T60" y="T61"/>
                        </a:cxn>
                        <a:cxn ang="T129">
                          <a:pos x="T62" y="T63"/>
                        </a:cxn>
                        <a:cxn ang="T130">
                          <a:pos x="T64" y="T65"/>
                        </a:cxn>
                        <a:cxn ang="T131">
                          <a:pos x="T66" y="T67"/>
                        </a:cxn>
                        <a:cxn ang="T132">
                          <a:pos x="T68" y="T69"/>
                        </a:cxn>
                        <a:cxn ang="T133">
                          <a:pos x="T70" y="T71"/>
                        </a:cxn>
                        <a:cxn ang="T134">
                          <a:pos x="T72" y="T73"/>
                        </a:cxn>
                        <a:cxn ang="T135">
                          <a:pos x="T74" y="T75"/>
                        </a:cxn>
                        <a:cxn ang="T136">
                          <a:pos x="T76" y="T77"/>
                        </a:cxn>
                        <a:cxn ang="T137">
                          <a:pos x="T78" y="T79"/>
                        </a:cxn>
                        <a:cxn ang="T138">
                          <a:pos x="T80" y="T81"/>
                        </a:cxn>
                        <a:cxn ang="T139">
                          <a:pos x="T82" y="T83"/>
                        </a:cxn>
                        <a:cxn ang="T140">
                          <a:pos x="T84" y="T85"/>
                        </a:cxn>
                        <a:cxn ang="T141">
                          <a:pos x="T86" y="T87"/>
                        </a:cxn>
                        <a:cxn ang="T142">
                          <a:pos x="T88" y="T89"/>
                        </a:cxn>
                        <a:cxn ang="T143">
                          <a:pos x="T90" y="T91"/>
                        </a:cxn>
                        <a:cxn ang="T144">
                          <a:pos x="T92" y="T93"/>
                        </a:cxn>
                        <a:cxn ang="T145">
                          <a:pos x="T94" y="T95"/>
                        </a:cxn>
                        <a:cxn ang="T146">
                          <a:pos x="T96" y="T97"/>
                        </a:cxn>
                      </a:cxnLst>
                      <a:rect l="0" t="0" r="r" b="b"/>
                      <a:pathLst>
                        <a:path w="182" h="207">
                          <a:moveTo>
                            <a:pt x="12" y="98"/>
                          </a:moveTo>
                          <a:lnTo>
                            <a:pt x="7" y="85"/>
                          </a:lnTo>
                          <a:lnTo>
                            <a:pt x="2" y="67"/>
                          </a:lnTo>
                          <a:lnTo>
                            <a:pt x="0" y="53"/>
                          </a:lnTo>
                          <a:lnTo>
                            <a:pt x="1" y="40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7" y="23"/>
                          </a:lnTo>
                          <a:lnTo>
                            <a:pt x="11" y="24"/>
                          </a:lnTo>
                          <a:lnTo>
                            <a:pt x="19" y="27"/>
                          </a:lnTo>
                          <a:lnTo>
                            <a:pt x="29" y="31"/>
                          </a:lnTo>
                          <a:lnTo>
                            <a:pt x="36" y="31"/>
                          </a:lnTo>
                          <a:lnTo>
                            <a:pt x="44" y="31"/>
                          </a:lnTo>
                          <a:lnTo>
                            <a:pt x="56" y="21"/>
                          </a:lnTo>
                          <a:lnTo>
                            <a:pt x="69" y="11"/>
                          </a:lnTo>
                          <a:lnTo>
                            <a:pt x="79" y="1"/>
                          </a:lnTo>
                          <a:lnTo>
                            <a:pt x="82" y="0"/>
                          </a:lnTo>
                          <a:lnTo>
                            <a:pt x="87" y="1"/>
                          </a:lnTo>
                          <a:lnTo>
                            <a:pt x="96" y="8"/>
                          </a:lnTo>
                          <a:lnTo>
                            <a:pt x="104" y="15"/>
                          </a:lnTo>
                          <a:lnTo>
                            <a:pt x="112" y="18"/>
                          </a:lnTo>
                          <a:lnTo>
                            <a:pt x="121" y="21"/>
                          </a:lnTo>
                          <a:lnTo>
                            <a:pt x="130" y="16"/>
                          </a:lnTo>
                          <a:lnTo>
                            <a:pt x="137" y="14"/>
                          </a:lnTo>
                          <a:lnTo>
                            <a:pt x="145" y="16"/>
                          </a:lnTo>
                          <a:lnTo>
                            <a:pt x="149" y="17"/>
                          </a:lnTo>
                          <a:lnTo>
                            <a:pt x="154" y="21"/>
                          </a:lnTo>
                          <a:lnTo>
                            <a:pt x="159" y="26"/>
                          </a:lnTo>
                          <a:lnTo>
                            <a:pt x="161" y="31"/>
                          </a:lnTo>
                          <a:lnTo>
                            <a:pt x="164" y="40"/>
                          </a:lnTo>
                          <a:lnTo>
                            <a:pt x="171" y="41"/>
                          </a:lnTo>
                          <a:lnTo>
                            <a:pt x="176" y="43"/>
                          </a:lnTo>
                          <a:lnTo>
                            <a:pt x="179" y="45"/>
                          </a:lnTo>
                          <a:lnTo>
                            <a:pt x="181" y="47"/>
                          </a:lnTo>
                          <a:lnTo>
                            <a:pt x="179" y="52"/>
                          </a:lnTo>
                          <a:lnTo>
                            <a:pt x="174" y="70"/>
                          </a:lnTo>
                          <a:lnTo>
                            <a:pt x="165" y="88"/>
                          </a:lnTo>
                          <a:lnTo>
                            <a:pt x="151" y="111"/>
                          </a:lnTo>
                          <a:lnTo>
                            <a:pt x="132" y="131"/>
                          </a:lnTo>
                          <a:lnTo>
                            <a:pt x="118" y="151"/>
                          </a:lnTo>
                          <a:lnTo>
                            <a:pt x="104" y="171"/>
                          </a:lnTo>
                          <a:lnTo>
                            <a:pt x="91" y="184"/>
                          </a:lnTo>
                          <a:lnTo>
                            <a:pt x="72" y="206"/>
                          </a:lnTo>
                          <a:lnTo>
                            <a:pt x="89" y="187"/>
                          </a:lnTo>
                          <a:lnTo>
                            <a:pt x="99" y="180"/>
                          </a:lnTo>
                          <a:lnTo>
                            <a:pt x="109" y="173"/>
                          </a:lnTo>
                          <a:lnTo>
                            <a:pt x="118" y="168"/>
                          </a:lnTo>
                          <a:lnTo>
                            <a:pt x="130" y="166"/>
                          </a:lnTo>
                          <a:lnTo>
                            <a:pt x="141" y="16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dirty="0">
                        <a:ea typeface="楷体" panose="02010609060101010101" pitchFamily="49" charset="-122"/>
                      </a:endParaRPr>
                    </a:p>
                  </p:txBody>
                </p:sp>
                <p:sp>
                  <p:nvSpPr>
                    <p:cNvPr id="47" name="Freeform 15"/>
                    <p:cNvSpPr>
                      <a:spLocks/>
                    </p:cNvSpPr>
                    <p:nvPr/>
                  </p:nvSpPr>
                  <p:spPr bwMode="auto">
                    <a:xfrm>
                      <a:off x="4418" y="3149"/>
                      <a:ext cx="160" cy="105"/>
                    </a:xfrm>
                    <a:custGeom>
                      <a:avLst/>
                      <a:gdLst>
                        <a:gd name="T0" fmla="*/ 159 w 160"/>
                        <a:gd name="T1" fmla="*/ 0 h 105"/>
                        <a:gd name="T2" fmla="*/ 154 w 160"/>
                        <a:gd name="T3" fmla="*/ 10 h 105"/>
                        <a:gd name="T4" fmla="*/ 149 w 160"/>
                        <a:gd name="T5" fmla="*/ 17 h 105"/>
                        <a:gd name="T6" fmla="*/ 129 w 160"/>
                        <a:gd name="T7" fmla="*/ 28 h 105"/>
                        <a:gd name="T8" fmla="*/ 101 w 160"/>
                        <a:gd name="T9" fmla="*/ 42 h 105"/>
                        <a:gd name="T10" fmla="*/ 78 w 160"/>
                        <a:gd name="T11" fmla="*/ 54 h 105"/>
                        <a:gd name="T12" fmla="*/ 61 w 160"/>
                        <a:gd name="T13" fmla="*/ 65 h 105"/>
                        <a:gd name="T14" fmla="*/ 40 w 160"/>
                        <a:gd name="T15" fmla="*/ 78 h 105"/>
                        <a:gd name="T16" fmla="*/ 18 w 160"/>
                        <a:gd name="T17" fmla="*/ 92 h 105"/>
                        <a:gd name="T18" fmla="*/ 0 w 160"/>
                        <a:gd name="T19" fmla="*/ 104 h 105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0" t="0" r="r" b="b"/>
                      <a:pathLst>
                        <a:path w="160" h="105">
                          <a:moveTo>
                            <a:pt x="159" y="0"/>
                          </a:moveTo>
                          <a:lnTo>
                            <a:pt x="154" y="10"/>
                          </a:lnTo>
                          <a:lnTo>
                            <a:pt x="149" y="17"/>
                          </a:lnTo>
                          <a:lnTo>
                            <a:pt x="129" y="28"/>
                          </a:lnTo>
                          <a:lnTo>
                            <a:pt x="101" y="42"/>
                          </a:lnTo>
                          <a:lnTo>
                            <a:pt x="78" y="54"/>
                          </a:lnTo>
                          <a:lnTo>
                            <a:pt x="61" y="65"/>
                          </a:lnTo>
                          <a:lnTo>
                            <a:pt x="40" y="78"/>
                          </a:lnTo>
                          <a:lnTo>
                            <a:pt x="18" y="92"/>
                          </a:lnTo>
                          <a:lnTo>
                            <a:pt x="0" y="104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dirty="0">
                        <a:ea typeface="楷体" panose="02010609060101010101" pitchFamily="49" charset="-122"/>
                      </a:endParaRPr>
                    </a:p>
                  </p:txBody>
                </p:sp>
              </p:grpSp>
            </p:grpSp>
          </p:grpSp>
        </p:grpSp>
        <p:grpSp>
          <p:nvGrpSpPr>
            <p:cNvPr id="9" name="Group 16"/>
            <p:cNvGrpSpPr>
              <a:grpSpLocks/>
            </p:cNvGrpSpPr>
            <p:nvPr/>
          </p:nvGrpSpPr>
          <p:grpSpPr bwMode="auto">
            <a:xfrm>
              <a:off x="3627" y="2773"/>
              <a:ext cx="784" cy="892"/>
              <a:chOff x="3627" y="2773"/>
              <a:chExt cx="784" cy="892"/>
            </a:xfrm>
          </p:grpSpPr>
          <p:sp>
            <p:nvSpPr>
              <p:cNvPr id="10" name="Freeform 17"/>
              <p:cNvSpPr>
                <a:spLocks/>
              </p:cNvSpPr>
              <p:nvPr/>
            </p:nvSpPr>
            <p:spPr bwMode="auto">
              <a:xfrm>
                <a:off x="3815" y="3197"/>
                <a:ext cx="596" cy="468"/>
              </a:xfrm>
              <a:custGeom>
                <a:avLst/>
                <a:gdLst>
                  <a:gd name="T0" fmla="*/ 0 w 596"/>
                  <a:gd name="T1" fmla="*/ 466 h 468"/>
                  <a:gd name="T2" fmla="*/ 0 w 596"/>
                  <a:gd name="T3" fmla="*/ 226 h 468"/>
                  <a:gd name="T4" fmla="*/ 8 w 596"/>
                  <a:gd name="T5" fmla="*/ 34 h 468"/>
                  <a:gd name="T6" fmla="*/ 300 w 596"/>
                  <a:gd name="T7" fmla="*/ 0 h 468"/>
                  <a:gd name="T8" fmla="*/ 535 w 596"/>
                  <a:gd name="T9" fmla="*/ 38 h 468"/>
                  <a:gd name="T10" fmla="*/ 538 w 596"/>
                  <a:gd name="T11" fmla="*/ 43 h 468"/>
                  <a:gd name="T12" fmla="*/ 540 w 596"/>
                  <a:gd name="T13" fmla="*/ 47 h 468"/>
                  <a:gd name="T14" fmla="*/ 545 w 596"/>
                  <a:gd name="T15" fmla="*/ 52 h 468"/>
                  <a:gd name="T16" fmla="*/ 550 w 596"/>
                  <a:gd name="T17" fmla="*/ 55 h 468"/>
                  <a:gd name="T18" fmla="*/ 560 w 596"/>
                  <a:gd name="T19" fmla="*/ 57 h 468"/>
                  <a:gd name="T20" fmla="*/ 570 w 596"/>
                  <a:gd name="T21" fmla="*/ 59 h 468"/>
                  <a:gd name="T22" fmla="*/ 577 w 596"/>
                  <a:gd name="T23" fmla="*/ 59 h 468"/>
                  <a:gd name="T24" fmla="*/ 586 w 596"/>
                  <a:gd name="T25" fmla="*/ 60 h 468"/>
                  <a:gd name="T26" fmla="*/ 589 w 596"/>
                  <a:gd name="T27" fmla="*/ 60 h 468"/>
                  <a:gd name="T28" fmla="*/ 595 w 596"/>
                  <a:gd name="T29" fmla="*/ 226 h 468"/>
                  <a:gd name="T30" fmla="*/ 595 w 596"/>
                  <a:gd name="T31" fmla="*/ 463 h 468"/>
                  <a:gd name="T32" fmla="*/ 546 w 596"/>
                  <a:gd name="T33" fmla="*/ 463 h 468"/>
                  <a:gd name="T34" fmla="*/ 540 w 596"/>
                  <a:gd name="T35" fmla="*/ 125 h 468"/>
                  <a:gd name="T36" fmla="*/ 55 w 596"/>
                  <a:gd name="T37" fmla="*/ 125 h 468"/>
                  <a:gd name="T38" fmla="*/ 50 w 596"/>
                  <a:gd name="T39" fmla="*/ 467 h 468"/>
                  <a:gd name="T40" fmla="*/ 0 w 596"/>
                  <a:gd name="T41" fmla="*/ 466 h 46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596" h="468">
                    <a:moveTo>
                      <a:pt x="0" y="466"/>
                    </a:moveTo>
                    <a:lnTo>
                      <a:pt x="0" y="226"/>
                    </a:lnTo>
                    <a:lnTo>
                      <a:pt x="8" y="34"/>
                    </a:lnTo>
                    <a:lnTo>
                      <a:pt x="300" y="0"/>
                    </a:lnTo>
                    <a:lnTo>
                      <a:pt x="535" y="38"/>
                    </a:lnTo>
                    <a:lnTo>
                      <a:pt x="538" y="43"/>
                    </a:lnTo>
                    <a:lnTo>
                      <a:pt x="540" y="47"/>
                    </a:lnTo>
                    <a:lnTo>
                      <a:pt x="545" y="52"/>
                    </a:lnTo>
                    <a:lnTo>
                      <a:pt x="550" y="55"/>
                    </a:lnTo>
                    <a:lnTo>
                      <a:pt x="560" y="57"/>
                    </a:lnTo>
                    <a:lnTo>
                      <a:pt x="570" y="59"/>
                    </a:lnTo>
                    <a:lnTo>
                      <a:pt x="577" y="59"/>
                    </a:lnTo>
                    <a:lnTo>
                      <a:pt x="586" y="60"/>
                    </a:lnTo>
                    <a:lnTo>
                      <a:pt x="589" y="60"/>
                    </a:lnTo>
                    <a:lnTo>
                      <a:pt x="595" y="226"/>
                    </a:lnTo>
                    <a:lnTo>
                      <a:pt x="595" y="463"/>
                    </a:lnTo>
                    <a:lnTo>
                      <a:pt x="546" y="463"/>
                    </a:lnTo>
                    <a:lnTo>
                      <a:pt x="540" y="125"/>
                    </a:lnTo>
                    <a:lnTo>
                      <a:pt x="55" y="125"/>
                    </a:lnTo>
                    <a:lnTo>
                      <a:pt x="50" y="467"/>
                    </a:lnTo>
                    <a:lnTo>
                      <a:pt x="0" y="466"/>
                    </a:lnTo>
                  </a:path>
                </a:pathLst>
              </a:custGeom>
              <a:solidFill>
                <a:srgbClr val="000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>
                  <a:ea typeface="楷体" panose="02010609060101010101" pitchFamily="49" charset="-122"/>
                </a:endParaRPr>
              </a:p>
            </p:txBody>
          </p:sp>
          <p:grpSp>
            <p:nvGrpSpPr>
              <p:cNvPr id="11" name="Group 18"/>
              <p:cNvGrpSpPr>
                <a:grpSpLocks/>
              </p:cNvGrpSpPr>
              <p:nvPr/>
            </p:nvGrpSpPr>
            <p:grpSpPr bwMode="auto">
              <a:xfrm>
                <a:off x="3627" y="2773"/>
                <a:ext cx="712" cy="697"/>
                <a:chOff x="3627" y="2773"/>
                <a:chExt cx="712" cy="697"/>
              </a:xfrm>
            </p:grpSpPr>
            <p:grpSp>
              <p:nvGrpSpPr>
                <p:cNvPr id="12" name="Group 19"/>
                <p:cNvGrpSpPr>
                  <a:grpSpLocks/>
                </p:cNvGrpSpPr>
                <p:nvPr/>
              </p:nvGrpSpPr>
              <p:grpSpPr bwMode="auto">
                <a:xfrm>
                  <a:off x="4088" y="3185"/>
                  <a:ext cx="251" cy="151"/>
                  <a:chOff x="4088" y="3185"/>
                  <a:chExt cx="251" cy="151"/>
                </a:xfrm>
              </p:grpSpPr>
              <p:grpSp>
                <p:nvGrpSpPr>
                  <p:cNvPr id="22" name="Group 20"/>
                  <p:cNvGrpSpPr>
                    <a:grpSpLocks/>
                  </p:cNvGrpSpPr>
                  <p:nvPr/>
                </p:nvGrpSpPr>
                <p:grpSpPr bwMode="auto">
                  <a:xfrm>
                    <a:off x="4088" y="3185"/>
                    <a:ext cx="251" cy="151"/>
                    <a:chOff x="4088" y="3185"/>
                    <a:chExt cx="251" cy="151"/>
                  </a:xfrm>
                </p:grpSpPr>
                <p:sp>
                  <p:nvSpPr>
                    <p:cNvPr id="37" name="Freeform 21"/>
                    <p:cNvSpPr>
                      <a:spLocks/>
                    </p:cNvSpPr>
                    <p:nvPr/>
                  </p:nvSpPr>
                  <p:spPr bwMode="auto">
                    <a:xfrm>
                      <a:off x="4088" y="3185"/>
                      <a:ext cx="248" cy="126"/>
                    </a:xfrm>
                    <a:custGeom>
                      <a:avLst/>
                      <a:gdLst>
                        <a:gd name="T0" fmla="*/ 247 w 248"/>
                        <a:gd name="T1" fmla="*/ 28 h 126"/>
                        <a:gd name="T2" fmla="*/ 133 w 248"/>
                        <a:gd name="T3" fmla="*/ 0 h 126"/>
                        <a:gd name="T4" fmla="*/ 0 w 248"/>
                        <a:gd name="T5" fmla="*/ 90 h 126"/>
                        <a:gd name="T6" fmla="*/ 117 w 248"/>
                        <a:gd name="T7" fmla="*/ 125 h 126"/>
                        <a:gd name="T8" fmla="*/ 179 w 248"/>
                        <a:gd name="T9" fmla="*/ 74 h 126"/>
                        <a:gd name="T10" fmla="*/ 199 w 248"/>
                        <a:gd name="T11" fmla="*/ 59 h 126"/>
                        <a:gd name="T12" fmla="*/ 247 w 248"/>
                        <a:gd name="T13" fmla="*/ 28 h 12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0" t="0" r="r" b="b"/>
                      <a:pathLst>
                        <a:path w="248" h="126">
                          <a:moveTo>
                            <a:pt x="247" y="28"/>
                          </a:moveTo>
                          <a:lnTo>
                            <a:pt x="133" y="0"/>
                          </a:lnTo>
                          <a:lnTo>
                            <a:pt x="0" y="90"/>
                          </a:lnTo>
                          <a:lnTo>
                            <a:pt x="117" y="125"/>
                          </a:lnTo>
                          <a:lnTo>
                            <a:pt x="179" y="74"/>
                          </a:lnTo>
                          <a:lnTo>
                            <a:pt x="199" y="59"/>
                          </a:lnTo>
                          <a:lnTo>
                            <a:pt x="247" y="28"/>
                          </a:lnTo>
                        </a:path>
                      </a:pathLst>
                    </a:custGeom>
                    <a:solidFill>
                      <a:srgbClr val="C0C0C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dirty="0">
                        <a:ea typeface="楷体" panose="02010609060101010101" pitchFamily="49" charset="-122"/>
                      </a:endParaRPr>
                    </a:p>
                  </p:txBody>
                </p:sp>
                <p:sp>
                  <p:nvSpPr>
                    <p:cNvPr id="38" name="Freeform 22"/>
                    <p:cNvSpPr>
                      <a:spLocks/>
                    </p:cNvSpPr>
                    <p:nvPr/>
                  </p:nvSpPr>
                  <p:spPr bwMode="auto">
                    <a:xfrm>
                      <a:off x="4088" y="3275"/>
                      <a:ext cx="123" cy="61"/>
                    </a:xfrm>
                    <a:custGeom>
                      <a:avLst/>
                      <a:gdLst>
                        <a:gd name="T0" fmla="*/ 116 w 123"/>
                        <a:gd name="T1" fmla="*/ 35 h 61"/>
                        <a:gd name="T2" fmla="*/ 0 w 123"/>
                        <a:gd name="T3" fmla="*/ 0 h 61"/>
                        <a:gd name="T4" fmla="*/ 0 w 123"/>
                        <a:gd name="T5" fmla="*/ 16 h 61"/>
                        <a:gd name="T6" fmla="*/ 122 w 123"/>
                        <a:gd name="T7" fmla="*/ 60 h 61"/>
                        <a:gd name="T8" fmla="*/ 116 w 123"/>
                        <a:gd name="T9" fmla="*/ 35 h 6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123" h="61">
                          <a:moveTo>
                            <a:pt x="116" y="35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122" y="60"/>
                          </a:lnTo>
                          <a:lnTo>
                            <a:pt x="116" y="35"/>
                          </a:lnTo>
                        </a:path>
                      </a:pathLst>
                    </a:custGeom>
                    <a:solidFill>
                      <a:srgbClr val="C0C0C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dirty="0">
                        <a:ea typeface="楷体" panose="02010609060101010101" pitchFamily="49" charset="-122"/>
                      </a:endParaRPr>
                    </a:p>
                  </p:txBody>
                </p:sp>
                <p:sp>
                  <p:nvSpPr>
                    <p:cNvPr id="39" name="Freeform 23"/>
                    <p:cNvSpPr>
                      <a:spLocks/>
                    </p:cNvSpPr>
                    <p:nvPr/>
                  </p:nvSpPr>
                  <p:spPr bwMode="auto">
                    <a:xfrm>
                      <a:off x="4205" y="3212"/>
                      <a:ext cx="134" cy="124"/>
                    </a:xfrm>
                    <a:custGeom>
                      <a:avLst/>
                      <a:gdLst>
                        <a:gd name="T0" fmla="*/ 77 w 134"/>
                        <a:gd name="T1" fmla="*/ 35 h 124"/>
                        <a:gd name="T2" fmla="*/ 33 w 134"/>
                        <a:gd name="T3" fmla="*/ 69 h 124"/>
                        <a:gd name="T4" fmla="*/ 0 w 134"/>
                        <a:gd name="T5" fmla="*/ 97 h 124"/>
                        <a:gd name="T6" fmla="*/ 6 w 134"/>
                        <a:gd name="T7" fmla="*/ 123 h 124"/>
                        <a:gd name="T8" fmla="*/ 52 w 134"/>
                        <a:gd name="T9" fmla="*/ 87 h 124"/>
                        <a:gd name="T10" fmla="*/ 94 w 134"/>
                        <a:gd name="T11" fmla="*/ 55 h 124"/>
                        <a:gd name="T12" fmla="*/ 133 w 134"/>
                        <a:gd name="T13" fmla="*/ 26 h 124"/>
                        <a:gd name="T14" fmla="*/ 130 w 134"/>
                        <a:gd name="T15" fmla="*/ 0 h 124"/>
                        <a:gd name="T16" fmla="*/ 106 w 134"/>
                        <a:gd name="T17" fmla="*/ 16 h 124"/>
                        <a:gd name="T18" fmla="*/ 77 w 134"/>
                        <a:gd name="T19" fmla="*/ 35 h 124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</a:gdLst>
                      <a:ahLst/>
                      <a:cxnLst>
                        <a:cxn ang="T20">
                          <a:pos x="T0" y="T1"/>
                        </a:cxn>
                        <a:cxn ang="T21">
                          <a:pos x="T2" y="T3"/>
                        </a:cxn>
                        <a:cxn ang="T22">
                          <a:pos x="T4" y="T5"/>
                        </a:cxn>
                        <a:cxn ang="T23">
                          <a:pos x="T6" y="T7"/>
                        </a:cxn>
                        <a:cxn ang="T24">
                          <a:pos x="T8" y="T9"/>
                        </a:cxn>
                        <a:cxn ang="T25">
                          <a:pos x="T10" y="T11"/>
                        </a:cxn>
                        <a:cxn ang="T26">
                          <a:pos x="T12" y="T13"/>
                        </a:cxn>
                        <a:cxn ang="T27">
                          <a:pos x="T14" y="T15"/>
                        </a:cxn>
                        <a:cxn ang="T28">
                          <a:pos x="T16" y="T17"/>
                        </a:cxn>
                        <a:cxn ang="T29">
                          <a:pos x="T18" y="T19"/>
                        </a:cxn>
                      </a:cxnLst>
                      <a:rect l="0" t="0" r="r" b="b"/>
                      <a:pathLst>
                        <a:path w="134" h="124">
                          <a:moveTo>
                            <a:pt x="77" y="35"/>
                          </a:moveTo>
                          <a:lnTo>
                            <a:pt x="33" y="69"/>
                          </a:lnTo>
                          <a:lnTo>
                            <a:pt x="0" y="97"/>
                          </a:lnTo>
                          <a:lnTo>
                            <a:pt x="6" y="123"/>
                          </a:lnTo>
                          <a:lnTo>
                            <a:pt x="52" y="87"/>
                          </a:lnTo>
                          <a:lnTo>
                            <a:pt x="94" y="55"/>
                          </a:lnTo>
                          <a:lnTo>
                            <a:pt x="133" y="26"/>
                          </a:lnTo>
                          <a:lnTo>
                            <a:pt x="130" y="0"/>
                          </a:lnTo>
                          <a:lnTo>
                            <a:pt x="106" y="16"/>
                          </a:lnTo>
                          <a:lnTo>
                            <a:pt x="77" y="35"/>
                          </a:lnTo>
                        </a:path>
                      </a:pathLst>
                    </a:custGeom>
                    <a:solidFill>
                      <a:srgbClr val="C0C0C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dirty="0">
                        <a:ea typeface="楷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3" name="Group 24"/>
                  <p:cNvGrpSpPr>
                    <a:grpSpLocks/>
                  </p:cNvGrpSpPr>
                  <p:nvPr/>
                </p:nvGrpSpPr>
                <p:grpSpPr bwMode="auto">
                  <a:xfrm>
                    <a:off x="4133" y="3201"/>
                    <a:ext cx="171" cy="94"/>
                    <a:chOff x="4133" y="3201"/>
                    <a:chExt cx="171" cy="94"/>
                  </a:xfrm>
                </p:grpSpPr>
                <p:grpSp>
                  <p:nvGrpSpPr>
                    <p:cNvPr id="24" name="Group 2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40" y="3211"/>
                      <a:ext cx="149" cy="80"/>
                      <a:chOff x="4140" y="3211"/>
                      <a:chExt cx="149" cy="80"/>
                    </a:xfrm>
                  </p:grpSpPr>
                  <p:sp>
                    <p:nvSpPr>
                      <p:cNvPr id="34" name="Freeform 2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140" y="3211"/>
                        <a:ext cx="89" cy="67"/>
                      </a:xfrm>
                      <a:custGeom>
                        <a:avLst/>
                        <a:gdLst>
                          <a:gd name="T0" fmla="*/ 88 w 89"/>
                          <a:gd name="T1" fmla="*/ 0 h 67"/>
                          <a:gd name="T2" fmla="*/ 54 w 89"/>
                          <a:gd name="T3" fmla="*/ 28 h 67"/>
                          <a:gd name="T4" fmla="*/ 0 w 89"/>
                          <a:gd name="T5" fmla="*/ 66 h 67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89" h="67">
                            <a:moveTo>
                              <a:pt x="88" y="0"/>
                            </a:moveTo>
                            <a:lnTo>
                              <a:pt x="54" y="2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noFill/>
                      <a:ln w="12700" cap="rnd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35" name="Freeform 2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171" y="3216"/>
                        <a:ext cx="85" cy="66"/>
                      </a:xfrm>
                      <a:custGeom>
                        <a:avLst/>
                        <a:gdLst>
                          <a:gd name="T0" fmla="*/ 84 w 85"/>
                          <a:gd name="T1" fmla="*/ 0 h 66"/>
                          <a:gd name="T2" fmla="*/ 38 w 85"/>
                          <a:gd name="T3" fmla="*/ 36 h 66"/>
                          <a:gd name="T4" fmla="*/ 0 w 85"/>
                          <a:gd name="T5" fmla="*/ 65 h 66"/>
                          <a:gd name="T6" fmla="*/ 0 60000 65536"/>
                          <a:gd name="T7" fmla="*/ 0 60000 65536"/>
                          <a:gd name="T8" fmla="*/ 0 60000 6553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0" t="0" r="r" b="b"/>
                        <a:pathLst>
                          <a:path w="85" h="66">
                            <a:moveTo>
                              <a:pt x="84" y="0"/>
                            </a:moveTo>
                            <a:lnTo>
                              <a:pt x="38" y="36"/>
                            </a:lnTo>
                            <a:lnTo>
                              <a:pt x="0" y="65"/>
                            </a:lnTo>
                          </a:path>
                        </a:pathLst>
                      </a:custGeom>
                      <a:noFill/>
                      <a:ln w="12700" cap="rnd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36" name="Freeform 2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187" y="3224"/>
                        <a:ext cx="102" cy="67"/>
                      </a:xfrm>
                      <a:custGeom>
                        <a:avLst/>
                        <a:gdLst>
                          <a:gd name="T0" fmla="*/ 101 w 102"/>
                          <a:gd name="T1" fmla="*/ 0 h 67"/>
                          <a:gd name="T2" fmla="*/ 55 w 102"/>
                          <a:gd name="T3" fmla="*/ 25 h 67"/>
                          <a:gd name="T4" fmla="*/ 26 w 102"/>
                          <a:gd name="T5" fmla="*/ 46 h 67"/>
                          <a:gd name="T6" fmla="*/ 0 w 102"/>
                          <a:gd name="T7" fmla="*/ 66 h 67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0" t="0" r="r" b="b"/>
                        <a:pathLst>
                          <a:path w="102" h="67">
                            <a:moveTo>
                              <a:pt x="101" y="0"/>
                            </a:moveTo>
                            <a:lnTo>
                              <a:pt x="55" y="25"/>
                            </a:lnTo>
                            <a:lnTo>
                              <a:pt x="26" y="46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noFill/>
                      <a:ln w="12700" cap="rnd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</p:grpSp>
                <p:grpSp>
                  <p:nvGrpSpPr>
                    <p:cNvPr id="25" name="Group 2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33" y="3201"/>
                      <a:ext cx="171" cy="94"/>
                      <a:chOff x="4133" y="3201"/>
                      <a:chExt cx="171" cy="94"/>
                    </a:xfrm>
                  </p:grpSpPr>
                  <p:sp>
                    <p:nvSpPr>
                      <p:cNvPr id="26" name="Line 30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4220" y="3201"/>
                        <a:ext cx="84" cy="27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27" name="Line 31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4199" y="3218"/>
                        <a:ext cx="77" cy="25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28" name="Line 32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4179" y="3228"/>
                        <a:ext cx="74" cy="2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29" name="Line 33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4165" y="3242"/>
                        <a:ext cx="70" cy="2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31" name="Line 34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4144" y="3250"/>
                        <a:ext cx="70" cy="32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33" name="Line 35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4133" y="3268"/>
                        <a:ext cx="73" cy="27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3" name="Group 36"/>
                <p:cNvGrpSpPr>
                  <a:grpSpLocks/>
                </p:cNvGrpSpPr>
                <p:nvPr/>
              </p:nvGrpSpPr>
              <p:grpSpPr bwMode="auto">
                <a:xfrm>
                  <a:off x="3627" y="2773"/>
                  <a:ext cx="558" cy="697"/>
                  <a:chOff x="3627" y="2773"/>
                  <a:chExt cx="558" cy="697"/>
                </a:xfrm>
              </p:grpSpPr>
              <p:sp>
                <p:nvSpPr>
                  <p:cNvPr id="14" name="Freeform 37"/>
                  <p:cNvSpPr>
                    <a:spLocks/>
                  </p:cNvSpPr>
                  <p:nvPr/>
                </p:nvSpPr>
                <p:spPr bwMode="auto">
                  <a:xfrm>
                    <a:off x="4016" y="3280"/>
                    <a:ext cx="128" cy="74"/>
                  </a:xfrm>
                  <a:custGeom>
                    <a:avLst/>
                    <a:gdLst>
                      <a:gd name="T0" fmla="*/ 127 w 128"/>
                      <a:gd name="T1" fmla="*/ 21 h 74"/>
                      <a:gd name="T2" fmla="*/ 125 w 128"/>
                      <a:gd name="T3" fmla="*/ 35 h 74"/>
                      <a:gd name="T4" fmla="*/ 121 w 128"/>
                      <a:gd name="T5" fmla="*/ 48 h 74"/>
                      <a:gd name="T6" fmla="*/ 113 w 128"/>
                      <a:gd name="T7" fmla="*/ 59 h 74"/>
                      <a:gd name="T8" fmla="*/ 102 w 128"/>
                      <a:gd name="T9" fmla="*/ 67 h 74"/>
                      <a:gd name="T10" fmla="*/ 87 w 128"/>
                      <a:gd name="T11" fmla="*/ 71 h 74"/>
                      <a:gd name="T12" fmla="*/ 73 w 128"/>
                      <a:gd name="T13" fmla="*/ 73 h 74"/>
                      <a:gd name="T14" fmla="*/ 57 w 128"/>
                      <a:gd name="T15" fmla="*/ 70 h 74"/>
                      <a:gd name="T16" fmla="*/ 43 w 128"/>
                      <a:gd name="T17" fmla="*/ 62 h 74"/>
                      <a:gd name="T18" fmla="*/ 32 w 128"/>
                      <a:gd name="T19" fmla="*/ 47 h 74"/>
                      <a:gd name="T20" fmla="*/ 29 w 128"/>
                      <a:gd name="T21" fmla="*/ 33 h 74"/>
                      <a:gd name="T22" fmla="*/ 21 w 128"/>
                      <a:gd name="T23" fmla="*/ 21 h 74"/>
                      <a:gd name="T24" fmla="*/ 12 w 128"/>
                      <a:gd name="T25" fmla="*/ 9 h 74"/>
                      <a:gd name="T26" fmla="*/ 0 w 128"/>
                      <a:gd name="T27" fmla="*/ 0 h 74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0" t="0" r="r" b="b"/>
                    <a:pathLst>
                      <a:path w="128" h="74">
                        <a:moveTo>
                          <a:pt x="127" y="21"/>
                        </a:moveTo>
                        <a:lnTo>
                          <a:pt x="125" y="35"/>
                        </a:lnTo>
                        <a:lnTo>
                          <a:pt x="121" y="48"/>
                        </a:lnTo>
                        <a:lnTo>
                          <a:pt x="113" y="59"/>
                        </a:lnTo>
                        <a:lnTo>
                          <a:pt x="102" y="67"/>
                        </a:lnTo>
                        <a:lnTo>
                          <a:pt x="87" y="71"/>
                        </a:lnTo>
                        <a:lnTo>
                          <a:pt x="73" y="73"/>
                        </a:lnTo>
                        <a:lnTo>
                          <a:pt x="57" y="70"/>
                        </a:lnTo>
                        <a:lnTo>
                          <a:pt x="43" y="62"/>
                        </a:lnTo>
                        <a:lnTo>
                          <a:pt x="32" y="47"/>
                        </a:lnTo>
                        <a:lnTo>
                          <a:pt x="29" y="33"/>
                        </a:lnTo>
                        <a:lnTo>
                          <a:pt x="21" y="21"/>
                        </a:lnTo>
                        <a:lnTo>
                          <a:pt x="12" y="9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ea typeface="楷体" panose="02010609060101010101" pitchFamily="49" charset="-122"/>
                    </a:endParaRPr>
                  </a:p>
                </p:txBody>
              </p:sp>
              <p:grpSp>
                <p:nvGrpSpPr>
                  <p:cNvPr id="15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3627" y="2773"/>
                    <a:ext cx="558" cy="697"/>
                    <a:chOff x="3627" y="2773"/>
                    <a:chExt cx="558" cy="697"/>
                  </a:xfrm>
                </p:grpSpPr>
                <p:grpSp>
                  <p:nvGrpSpPr>
                    <p:cNvPr id="16" name="Group 3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27" y="2773"/>
                      <a:ext cx="558" cy="532"/>
                      <a:chOff x="3627" y="2773"/>
                      <a:chExt cx="558" cy="532"/>
                    </a:xfrm>
                  </p:grpSpPr>
                  <p:sp>
                    <p:nvSpPr>
                      <p:cNvPr id="20" name="Freeform 4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27" y="2773"/>
                        <a:ext cx="558" cy="532"/>
                      </a:xfrm>
                      <a:custGeom>
                        <a:avLst/>
                        <a:gdLst>
                          <a:gd name="T0" fmla="*/ 453 w 558"/>
                          <a:gd name="T1" fmla="*/ 107 h 532"/>
                          <a:gd name="T2" fmla="*/ 440 w 558"/>
                          <a:gd name="T3" fmla="*/ 71 h 532"/>
                          <a:gd name="T4" fmla="*/ 431 w 558"/>
                          <a:gd name="T5" fmla="*/ 48 h 532"/>
                          <a:gd name="T6" fmla="*/ 428 w 558"/>
                          <a:gd name="T7" fmla="*/ 41 h 532"/>
                          <a:gd name="T8" fmla="*/ 423 w 558"/>
                          <a:gd name="T9" fmla="*/ 35 h 532"/>
                          <a:gd name="T10" fmla="*/ 420 w 558"/>
                          <a:gd name="T11" fmla="*/ 32 h 532"/>
                          <a:gd name="T12" fmla="*/ 414 w 558"/>
                          <a:gd name="T13" fmla="*/ 31 h 532"/>
                          <a:gd name="T14" fmla="*/ 344 w 558"/>
                          <a:gd name="T15" fmla="*/ 17 h 532"/>
                          <a:gd name="T16" fmla="*/ 268 w 558"/>
                          <a:gd name="T17" fmla="*/ 5 h 532"/>
                          <a:gd name="T18" fmla="*/ 199 w 558"/>
                          <a:gd name="T19" fmla="*/ 0 h 532"/>
                          <a:gd name="T20" fmla="*/ 161 w 558"/>
                          <a:gd name="T21" fmla="*/ 0 h 532"/>
                          <a:gd name="T22" fmla="*/ 80 w 558"/>
                          <a:gd name="T23" fmla="*/ 4 h 532"/>
                          <a:gd name="T24" fmla="*/ 21 w 558"/>
                          <a:gd name="T25" fmla="*/ 7 h 532"/>
                          <a:gd name="T26" fmla="*/ 12 w 558"/>
                          <a:gd name="T27" fmla="*/ 8 h 532"/>
                          <a:gd name="T28" fmla="*/ 7 w 558"/>
                          <a:gd name="T29" fmla="*/ 10 h 532"/>
                          <a:gd name="T30" fmla="*/ 3 w 558"/>
                          <a:gd name="T31" fmla="*/ 12 h 532"/>
                          <a:gd name="T32" fmla="*/ 1 w 558"/>
                          <a:gd name="T33" fmla="*/ 16 h 532"/>
                          <a:gd name="T34" fmla="*/ 0 w 558"/>
                          <a:gd name="T35" fmla="*/ 21 h 532"/>
                          <a:gd name="T36" fmla="*/ 4 w 558"/>
                          <a:gd name="T37" fmla="*/ 36 h 532"/>
                          <a:gd name="T38" fmla="*/ 15 w 558"/>
                          <a:gd name="T39" fmla="*/ 84 h 532"/>
                          <a:gd name="T40" fmla="*/ 23 w 558"/>
                          <a:gd name="T41" fmla="*/ 119 h 532"/>
                          <a:gd name="T42" fmla="*/ 43 w 558"/>
                          <a:gd name="T43" fmla="*/ 199 h 532"/>
                          <a:gd name="T44" fmla="*/ 55 w 558"/>
                          <a:gd name="T45" fmla="*/ 249 h 532"/>
                          <a:gd name="T46" fmla="*/ 88 w 558"/>
                          <a:gd name="T47" fmla="*/ 365 h 532"/>
                          <a:gd name="T48" fmla="*/ 120 w 558"/>
                          <a:gd name="T49" fmla="*/ 458 h 532"/>
                          <a:gd name="T50" fmla="*/ 126 w 558"/>
                          <a:gd name="T51" fmla="*/ 475 h 532"/>
                          <a:gd name="T52" fmla="*/ 129 w 558"/>
                          <a:gd name="T53" fmla="*/ 486 h 532"/>
                          <a:gd name="T54" fmla="*/ 132 w 558"/>
                          <a:gd name="T55" fmla="*/ 495 h 532"/>
                          <a:gd name="T56" fmla="*/ 137 w 558"/>
                          <a:gd name="T57" fmla="*/ 501 h 532"/>
                          <a:gd name="T58" fmla="*/ 142 w 558"/>
                          <a:gd name="T59" fmla="*/ 507 h 532"/>
                          <a:gd name="T60" fmla="*/ 147 w 558"/>
                          <a:gd name="T61" fmla="*/ 510 h 532"/>
                          <a:gd name="T62" fmla="*/ 158 w 558"/>
                          <a:gd name="T63" fmla="*/ 512 h 532"/>
                          <a:gd name="T64" fmla="*/ 177 w 558"/>
                          <a:gd name="T65" fmla="*/ 514 h 532"/>
                          <a:gd name="T66" fmla="*/ 209 w 558"/>
                          <a:gd name="T67" fmla="*/ 514 h 532"/>
                          <a:gd name="T68" fmla="*/ 236 w 558"/>
                          <a:gd name="T69" fmla="*/ 516 h 532"/>
                          <a:gd name="T70" fmla="*/ 270 w 558"/>
                          <a:gd name="T71" fmla="*/ 522 h 532"/>
                          <a:gd name="T72" fmla="*/ 307 w 558"/>
                          <a:gd name="T73" fmla="*/ 528 h 532"/>
                          <a:gd name="T74" fmla="*/ 332 w 558"/>
                          <a:gd name="T75" fmla="*/ 531 h 532"/>
                          <a:gd name="T76" fmla="*/ 362 w 558"/>
                          <a:gd name="T77" fmla="*/ 531 h 532"/>
                          <a:gd name="T78" fmla="*/ 369 w 558"/>
                          <a:gd name="T79" fmla="*/ 528 h 532"/>
                          <a:gd name="T80" fmla="*/ 540 w 558"/>
                          <a:gd name="T81" fmla="*/ 422 h 532"/>
                          <a:gd name="T82" fmla="*/ 549 w 558"/>
                          <a:gd name="T83" fmla="*/ 415 h 532"/>
                          <a:gd name="T84" fmla="*/ 555 w 558"/>
                          <a:gd name="T85" fmla="*/ 408 h 532"/>
                          <a:gd name="T86" fmla="*/ 557 w 558"/>
                          <a:gd name="T87" fmla="*/ 400 h 532"/>
                          <a:gd name="T88" fmla="*/ 557 w 558"/>
                          <a:gd name="T89" fmla="*/ 390 h 532"/>
                          <a:gd name="T90" fmla="*/ 555 w 558"/>
                          <a:gd name="T91" fmla="*/ 382 h 532"/>
                          <a:gd name="T92" fmla="*/ 506 w 558"/>
                          <a:gd name="T93" fmla="*/ 251 h 532"/>
                          <a:gd name="T94" fmla="*/ 475 w 558"/>
                          <a:gd name="T95" fmla="*/ 168 h 532"/>
                          <a:gd name="T96" fmla="*/ 453 w 558"/>
                          <a:gd name="T97" fmla="*/ 107 h 532"/>
                          <a:gd name="T98" fmla="*/ 0 60000 65536"/>
                          <a:gd name="T99" fmla="*/ 0 60000 65536"/>
                          <a:gd name="T100" fmla="*/ 0 60000 65536"/>
                          <a:gd name="T101" fmla="*/ 0 60000 65536"/>
                          <a:gd name="T102" fmla="*/ 0 60000 65536"/>
                          <a:gd name="T103" fmla="*/ 0 60000 65536"/>
                          <a:gd name="T104" fmla="*/ 0 60000 65536"/>
                          <a:gd name="T105" fmla="*/ 0 60000 65536"/>
                          <a:gd name="T106" fmla="*/ 0 60000 65536"/>
                          <a:gd name="T107" fmla="*/ 0 60000 65536"/>
                          <a:gd name="T108" fmla="*/ 0 60000 65536"/>
                          <a:gd name="T109" fmla="*/ 0 60000 65536"/>
                          <a:gd name="T110" fmla="*/ 0 60000 65536"/>
                          <a:gd name="T111" fmla="*/ 0 60000 65536"/>
                          <a:gd name="T112" fmla="*/ 0 60000 65536"/>
                          <a:gd name="T113" fmla="*/ 0 60000 65536"/>
                          <a:gd name="T114" fmla="*/ 0 60000 65536"/>
                          <a:gd name="T115" fmla="*/ 0 60000 65536"/>
                          <a:gd name="T116" fmla="*/ 0 60000 65536"/>
                          <a:gd name="T117" fmla="*/ 0 60000 65536"/>
                          <a:gd name="T118" fmla="*/ 0 60000 65536"/>
                          <a:gd name="T119" fmla="*/ 0 60000 65536"/>
                          <a:gd name="T120" fmla="*/ 0 60000 65536"/>
                          <a:gd name="T121" fmla="*/ 0 60000 65536"/>
                          <a:gd name="T122" fmla="*/ 0 60000 65536"/>
                          <a:gd name="T123" fmla="*/ 0 60000 65536"/>
                          <a:gd name="T124" fmla="*/ 0 60000 65536"/>
                          <a:gd name="T125" fmla="*/ 0 60000 65536"/>
                          <a:gd name="T126" fmla="*/ 0 60000 65536"/>
                          <a:gd name="T127" fmla="*/ 0 60000 65536"/>
                          <a:gd name="T128" fmla="*/ 0 60000 65536"/>
                          <a:gd name="T129" fmla="*/ 0 60000 65536"/>
                          <a:gd name="T130" fmla="*/ 0 60000 65536"/>
                          <a:gd name="T131" fmla="*/ 0 60000 65536"/>
                          <a:gd name="T132" fmla="*/ 0 60000 65536"/>
                          <a:gd name="T133" fmla="*/ 0 60000 65536"/>
                          <a:gd name="T134" fmla="*/ 0 60000 65536"/>
                          <a:gd name="T135" fmla="*/ 0 60000 65536"/>
                          <a:gd name="T136" fmla="*/ 0 60000 65536"/>
                          <a:gd name="T137" fmla="*/ 0 60000 65536"/>
                          <a:gd name="T138" fmla="*/ 0 60000 65536"/>
                          <a:gd name="T139" fmla="*/ 0 60000 65536"/>
                          <a:gd name="T140" fmla="*/ 0 60000 65536"/>
                          <a:gd name="T141" fmla="*/ 0 60000 65536"/>
                          <a:gd name="T142" fmla="*/ 0 60000 65536"/>
                          <a:gd name="T143" fmla="*/ 0 60000 65536"/>
                          <a:gd name="T144" fmla="*/ 0 60000 65536"/>
                          <a:gd name="T145" fmla="*/ 0 60000 65536"/>
                          <a:gd name="T146" fmla="*/ 0 60000 65536"/>
                        </a:gdLst>
                        <a:ahLst/>
                        <a:cxnLst>
                          <a:cxn ang="T98">
                            <a:pos x="T0" y="T1"/>
                          </a:cxn>
                          <a:cxn ang="T99">
                            <a:pos x="T2" y="T3"/>
                          </a:cxn>
                          <a:cxn ang="T100">
                            <a:pos x="T4" y="T5"/>
                          </a:cxn>
                          <a:cxn ang="T101">
                            <a:pos x="T6" y="T7"/>
                          </a:cxn>
                          <a:cxn ang="T102">
                            <a:pos x="T8" y="T9"/>
                          </a:cxn>
                          <a:cxn ang="T103">
                            <a:pos x="T10" y="T11"/>
                          </a:cxn>
                          <a:cxn ang="T104">
                            <a:pos x="T12" y="T13"/>
                          </a:cxn>
                          <a:cxn ang="T105">
                            <a:pos x="T14" y="T15"/>
                          </a:cxn>
                          <a:cxn ang="T106">
                            <a:pos x="T16" y="T17"/>
                          </a:cxn>
                          <a:cxn ang="T107">
                            <a:pos x="T18" y="T19"/>
                          </a:cxn>
                          <a:cxn ang="T108">
                            <a:pos x="T20" y="T21"/>
                          </a:cxn>
                          <a:cxn ang="T109">
                            <a:pos x="T22" y="T23"/>
                          </a:cxn>
                          <a:cxn ang="T110">
                            <a:pos x="T24" y="T25"/>
                          </a:cxn>
                          <a:cxn ang="T111">
                            <a:pos x="T26" y="T27"/>
                          </a:cxn>
                          <a:cxn ang="T112">
                            <a:pos x="T28" y="T29"/>
                          </a:cxn>
                          <a:cxn ang="T113">
                            <a:pos x="T30" y="T31"/>
                          </a:cxn>
                          <a:cxn ang="T114">
                            <a:pos x="T32" y="T33"/>
                          </a:cxn>
                          <a:cxn ang="T115">
                            <a:pos x="T34" y="T35"/>
                          </a:cxn>
                          <a:cxn ang="T116">
                            <a:pos x="T36" y="T37"/>
                          </a:cxn>
                          <a:cxn ang="T117">
                            <a:pos x="T38" y="T39"/>
                          </a:cxn>
                          <a:cxn ang="T118">
                            <a:pos x="T40" y="T41"/>
                          </a:cxn>
                          <a:cxn ang="T119">
                            <a:pos x="T42" y="T43"/>
                          </a:cxn>
                          <a:cxn ang="T120">
                            <a:pos x="T44" y="T45"/>
                          </a:cxn>
                          <a:cxn ang="T121">
                            <a:pos x="T46" y="T47"/>
                          </a:cxn>
                          <a:cxn ang="T122">
                            <a:pos x="T48" y="T49"/>
                          </a:cxn>
                          <a:cxn ang="T123">
                            <a:pos x="T50" y="T51"/>
                          </a:cxn>
                          <a:cxn ang="T124">
                            <a:pos x="T52" y="T53"/>
                          </a:cxn>
                          <a:cxn ang="T125">
                            <a:pos x="T54" y="T55"/>
                          </a:cxn>
                          <a:cxn ang="T126">
                            <a:pos x="T56" y="T57"/>
                          </a:cxn>
                          <a:cxn ang="T127">
                            <a:pos x="T58" y="T59"/>
                          </a:cxn>
                          <a:cxn ang="T128">
                            <a:pos x="T60" y="T61"/>
                          </a:cxn>
                          <a:cxn ang="T129">
                            <a:pos x="T62" y="T63"/>
                          </a:cxn>
                          <a:cxn ang="T130">
                            <a:pos x="T64" y="T65"/>
                          </a:cxn>
                          <a:cxn ang="T131">
                            <a:pos x="T66" y="T67"/>
                          </a:cxn>
                          <a:cxn ang="T132">
                            <a:pos x="T68" y="T69"/>
                          </a:cxn>
                          <a:cxn ang="T133">
                            <a:pos x="T70" y="T71"/>
                          </a:cxn>
                          <a:cxn ang="T134">
                            <a:pos x="T72" y="T73"/>
                          </a:cxn>
                          <a:cxn ang="T135">
                            <a:pos x="T74" y="T75"/>
                          </a:cxn>
                          <a:cxn ang="T136">
                            <a:pos x="T76" y="T77"/>
                          </a:cxn>
                          <a:cxn ang="T137">
                            <a:pos x="T78" y="T79"/>
                          </a:cxn>
                          <a:cxn ang="T138">
                            <a:pos x="T80" y="T81"/>
                          </a:cxn>
                          <a:cxn ang="T139">
                            <a:pos x="T82" y="T83"/>
                          </a:cxn>
                          <a:cxn ang="T140">
                            <a:pos x="T84" y="T85"/>
                          </a:cxn>
                          <a:cxn ang="T141">
                            <a:pos x="T86" y="T87"/>
                          </a:cxn>
                          <a:cxn ang="T142">
                            <a:pos x="T88" y="T89"/>
                          </a:cxn>
                          <a:cxn ang="T143">
                            <a:pos x="T90" y="T91"/>
                          </a:cxn>
                          <a:cxn ang="T144">
                            <a:pos x="T92" y="T93"/>
                          </a:cxn>
                          <a:cxn ang="T145">
                            <a:pos x="T94" y="T95"/>
                          </a:cxn>
                          <a:cxn ang="T146">
                            <a:pos x="T96" y="T97"/>
                          </a:cxn>
                        </a:cxnLst>
                        <a:rect l="0" t="0" r="r" b="b"/>
                        <a:pathLst>
                          <a:path w="558" h="532">
                            <a:moveTo>
                              <a:pt x="453" y="107"/>
                            </a:moveTo>
                            <a:lnTo>
                              <a:pt x="440" y="71"/>
                            </a:lnTo>
                            <a:lnTo>
                              <a:pt x="431" y="48"/>
                            </a:lnTo>
                            <a:lnTo>
                              <a:pt x="428" y="41"/>
                            </a:lnTo>
                            <a:lnTo>
                              <a:pt x="423" y="35"/>
                            </a:lnTo>
                            <a:lnTo>
                              <a:pt x="420" y="32"/>
                            </a:lnTo>
                            <a:lnTo>
                              <a:pt x="414" y="31"/>
                            </a:lnTo>
                            <a:lnTo>
                              <a:pt x="344" y="17"/>
                            </a:lnTo>
                            <a:lnTo>
                              <a:pt x="268" y="5"/>
                            </a:lnTo>
                            <a:lnTo>
                              <a:pt x="199" y="0"/>
                            </a:lnTo>
                            <a:lnTo>
                              <a:pt x="161" y="0"/>
                            </a:lnTo>
                            <a:lnTo>
                              <a:pt x="80" y="4"/>
                            </a:lnTo>
                            <a:lnTo>
                              <a:pt x="21" y="7"/>
                            </a:lnTo>
                            <a:lnTo>
                              <a:pt x="12" y="8"/>
                            </a:lnTo>
                            <a:lnTo>
                              <a:pt x="7" y="10"/>
                            </a:lnTo>
                            <a:lnTo>
                              <a:pt x="3" y="12"/>
                            </a:lnTo>
                            <a:lnTo>
                              <a:pt x="1" y="16"/>
                            </a:lnTo>
                            <a:lnTo>
                              <a:pt x="0" y="21"/>
                            </a:lnTo>
                            <a:lnTo>
                              <a:pt x="4" y="36"/>
                            </a:lnTo>
                            <a:lnTo>
                              <a:pt x="15" y="84"/>
                            </a:lnTo>
                            <a:lnTo>
                              <a:pt x="23" y="119"/>
                            </a:lnTo>
                            <a:lnTo>
                              <a:pt x="43" y="199"/>
                            </a:lnTo>
                            <a:lnTo>
                              <a:pt x="55" y="249"/>
                            </a:lnTo>
                            <a:lnTo>
                              <a:pt x="88" y="365"/>
                            </a:lnTo>
                            <a:lnTo>
                              <a:pt x="120" y="458"/>
                            </a:lnTo>
                            <a:lnTo>
                              <a:pt x="126" y="475"/>
                            </a:lnTo>
                            <a:lnTo>
                              <a:pt x="129" y="486"/>
                            </a:lnTo>
                            <a:lnTo>
                              <a:pt x="132" y="495"/>
                            </a:lnTo>
                            <a:lnTo>
                              <a:pt x="137" y="501"/>
                            </a:lnTo>
                            <a:lnTo>
                              <a:pt x="142" y="507"/>
                            </a:lnTo>
                            <a:lnTo>
                              <a:pt x="147" y="510"/>
                            </a:lnTo>
                            <a:lnTo>
                              <a:pt x="158" y="512"/>
                            </a:lnTo>
                            <a:lnTo>
                              <a:pt x="177" y="514"/>
                            </a:lnTo>
                            <a:lnTo>
                              <a:pt x="209" y="514"/>
                            </a:lnTo>
                            <a:lnTo>
                              <a:pt x="236" y="516"/>
                            </a:lnTo>
                            <a:lnTo>
                              <a:pt x="270" y="522"/>
                            </a:lnTo>
                            <a:lnTo>
                              <a:pt x="307" y="528"/>
                            </a:lnTo>
                            <a:lnTo>
                              <a:pt x="332" y="531"/>
                            </a:lnTo>
                            <a:lnTo>
                              <a:pt x="362" y="531"/>
                            </a:lnTo>
                            <a:lnTo>
                              <a:pt x="369" y="528"/>
                            </a:lnTo>
                            <a:lnTo>
                              <a:pt x="540" y="422"/>
                            </a:lnTo>
                            <a:lnTo>
                              <a:pt x="549" y="415"/>
                            </a:lnTo>
                            <a:lnTo>
                              <a:pt x="555" y="408"/>
                            </a:lnTo>
                            <a:lnTo>
                              <a:pt x="557" y="400"/>
                            </a:lnTo>
                            <a:lnTo>
                              <a:pt x="557" y="390"/>
                            </a:lnTo>
                            <a:lnTo>
                              <a:pt x="555" y="382"/>
                            </a:lnTo>
                            <a:lnTo>
                              <a:pt x="506" y="251"/>
                            </a:lnTo>
                            <a:lnTo>
                              <a:pt x="475" y="168"/>
                            </a:lnTo>
                            <a:lnTo>
                              <a:pt x="453" y="107"/>
                            </a:lnTo>
                          </a:path>
                        </a:pathLst>
                      </a:custGeom>
                      <a:solidFill>
                        <a:srgbClr val="C0C0C0"/>
                      </a:solidFill>
                      <a:ln w="12700" cap="rnd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21" name="Freeform 4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25" y="2825"/>
                        <a:ext cx="331" cy="406"/>
                      </a:xfrm>
                      <a:custGeom>
                        <a:avLst/>
                        <a:gdLst>
                          <a:gd name="T0" fmla="*/ 255 w 331"/>
                          <a:gd name="T1" fmla="*/ 122 h 406"/>
                          <a:gd name="T2" fmla="*/ 231 w 331"/>
                          <a:gd name="T3" fmla="*/ 63 h 406"/>
                          <a:gd name="T4" fmla="*/ 209 w 331"/>
                          <a:gd name="T5" fmla="*/ 11 h 406"/>
                          <a:gd name="T6" fmla="*/ 206 w 331"/>
                          <a:gd name="T7" fmla="*/ 9 h 406"/>
                          <a:gd name="T8" fmla="*/ 203 w 331"/>
                          <a:gd name="T9" fmla="*/ 8 h 406"/>
                          <a:gd name="T10" fmla="*/ 196 w 331"/>
                          <a:gd name="T11" fmla="*/ 7 h 406"/>
                          <a:gd name="T12" fmla="*/ 101 w 331"/>
                          <a:gd name="T13" fmla="*/ 1 h 406"/>
                          <a:gd name="T14" fmla="*/ 9 w 331"/>
                          <a:gd name="T15" fmla="*/ 0 h 406"/>
                          <a:gd name="T16" fmla="*/ 4 w 331"/>
                          <a:gd name="T17" fmla="*/ 1 h 406"/>
                          <a:gd name="T18" fmla="*/ 2 w 331"/>
                          <a:gd name="T19" fmla="*/ 3 h 406"/>
                          <a:gd name="T20" fmla="*/ 0 w 331"/>
                          <a:gd name="T21" fmla="*/ 8 h 406"/>
                          <a:gd name="T22" fmla="*/ 7 w 331"/>
                          <a:gd name="T23" fmla="*/ 45 h 406"/>
                          <a:gd name="T24" fmla="*/ 21 w 331"/>
                          <a:gd name="T25" fmla="*/ 76 h 406"/>
                          <a:gd name="T26" fmla="*/ 46 w 331"/>
                          <a:gd name="T27" fmla="*/ 135 h 406"/>
                          <a:gd name="T28" fmla="*/ 92 w 331"/>
                          <a:gd name="T29" fmla="*/ 234 h 406"/>
                          <a:gd name="T30" fmla="*/ 134 w 331"/>
                          <a:gd name="T31" fmla="*/ 321 h 406"/>
                          <a:gd name="T32" fmla="*/ 144 w 331"/>
                          <a:gd name="T33" fmla="*/ 353 h 406"/>
                          <a:gd name="T34" fmla="*/ 151 w 331"/>
                          <a:gd name="T35" fmla="*/ 375 h 406"/>
                          <a:gd name="T36" fmla="*/ 157 w 331"/>
                          <a:gd name="T37" fmla="*/ 388 h 406"/>
                          <a:gd name="T38" fmla="*/ 163 w 331"/>
                          <a:gd name="T39" fmla="*/ 397 h 406"/>
                          <a:gd name="T40" fmla="*/ 167 w 331"/>
                          <a:gd name="T41" fmla="*/ 402 h 406"/>
                          <a:gd name="T42" fmla="*/ 171 w 331"/>
                          <a:gd name="T43" fmla="*/ 404 h 406"/>
                          <a:gd name="T44" fmla="*/ 177 w 331"/>
                          <a:gd name="T45" fmla="*/ 405 h 406"/>
                          <a:gd name="T46" fmla="*/ 182 w 331"/>
                          <a:gd name="T47" fmla="*/ 403 h 406"/>
                          <a:gd name="T48" fmla="*/ 191 w 331"/>
                          <a:gd name="T49" fmla="*/ 398 h 406"/>
                          <a:gd name="T50" fmla="*/ 202 w 331"/>
                          <a:gd name="T51" fmla="*/ 392 h 406"/>
                          <a:gd name="T52" fmla="*/ 211 w 331"/>
                          <a:gd name="T53" fmla="*/ 384 h 406"/>
                          <a:gd name="T54" fmla="*/ 222 w 331"/>
                          <a:gd name="T55" fmla="*/ 375 h 406"/>
                          <a:gd name="T56" fmla="*/ 232 w 331"/>
                          <a:gd name="T57" fmla="*/ 368 h 406"/>
                          <a:gd name="T58" fmla="*/ 325 w 331"/>
                          <a:gd name="T59" fmla="*/ 332 h 406"/>
                          <a:gd name="T60" fmla="*/ 328 w 331"/>
                          <a:gd name="T61" fmla="*/ 331 h 406"/>
                          <a:gd name="T62" fmla="*/ 330 w 331"/>
                          <a:gd name="T63" fmla="*/ 327 h 406"/>
                          <a:gd name="T64" fmla="*/ 329 w 331"/>
                          <a:gd name="T65" fmla="*/ 323 h 406"/>
                          <a:gd name="T66" fmla="*/ 327 w 331"/>
                          <a:gd name="T67" fmla="*/ 318 h 406"/>
                          <a:gd name="T68" fmla="*/ 255 w 331"/>
                          <a:gd name="T69" fmla="*/ 122 h 406"/>
                          <a:gd name="T70" fmla="*/ 0 60000 65536"/>
                          <a:gd name="T71" fmla="*/ 0 60000 65536"/>
                          <a:gd name="T72" fmla="*/ 0 60000 65536"/>
                          <a:gd name="T73" fmla="*/ 0 60000 65536"/>
                          <a:gd name="T74" fmla="*/ 0 60000 65536"/>
                          <a:gd name="T75" fmla="*/ 0 60000 65536"/>
                          <a:gd name="T76" fmla="*/ 0 60000 65536"/>
                          <a:gd name="T77" fmla="*/ 0 60000 65536"/>
                          <a:gd name="T78" fmla="*/ 0 60000 65536"/>
                          <a:gd name="T79" fmla="*/ 0 60000 65536"/>
                          <a:gd name="T80" fmla="*/ 0 60000 65536"/>
                          <a:gd name="T81" fmla="*/ 0 60000 65536"/>
                          <a:gd name="T82" fmla="*/ 0 60000 65536"/>
                          <a:gd name="T83" fmla="*/ 0 60000 65536"/>
                          <a:gd name="T84" fmla="*/ 0 60000 65536"/>
                          <a:gd name="T85" fmla="*/ 0 60000 65536"/>
                          <a:gd name="T86" fmla="*/ 0 60000 65536"/>
                          <a:gd name="T87" fmla="*/ 0 60000 65536"/>
                          <a:gd name="T88" fmla="*/ 0 60000 65536"/>
                          <a:gd name="T89" fmla="*/ 0 60000 65536"/>
                          <a:gd name="T90" fmla="*/ 0 60000 65536"/>
                          <a:gd name="T91" fmla="*/ 0 60000 65536"/>
                          <a:gd name="T92" fmla="*/ 0 60000 65536"/>
                          <a:gd name="T93" fmla="*/ 0 60000 65536"/>
                          <a:gd name="T94" fmla="*/ 0 60000 65536"/>
                          <a:gd name="T95" fmla="*/ 0 60000 65536"/>
                          <a:gd name="T96" fmla="*/ 0 60000 65536"/>
                          <a:gd name="T97" fmla="*/ 0 60000 65536"/>
                          <a:gd name="T98" fmla="*/ 0 60000 65536"/>
                          <a:gd name="T99" fmla="*/ 0 60000 65536"/>
                          <a:gd name="T100" fmla="*/ 0 60000 65536"/>
                          <a:gd name="T101" fmla="*/ 0 60000 65536"/>
                          <a:gd name="T102" fmla="*/ 0 60000 65536"/>
                          <a:gd name="T103" fmla="*/ 0 60000 65536"/>
                          <a:gd name="T104" fmla="*/ 0 60000 65536"/>
                        </a:gdLst>
                        <a:ahLst/>
                        <a:cxnLst>
                          <a:cxn ang="T70">
                            <a:pos x="T0" y="T1"/>
                          </a:cxn>
                          <a:cxn ang="T71">
                            <a:pos x="T2" y="T3"/>
                          </a:cxn>
                          <a:cxn ang="T72">
                            <a:pos x="T4" y="T5"/>
                          </a:cxn>
                          <a:cxn ang="T73">
                            <a:pos x="T6" y="T7"/>
                          </a:cxn>
                          <a:cxn ang="T74">
                            <a:pos x="T8" y="T9"/>
                          </a:cxn>
                          <a:cxn ang="T75">
                            <a:pos x="T10" y="T11"/>
                          </a:cxn>
                          <a:cxn ang="T76">
                            <a:pos x="T12" y="T13"/>
                          </a:cxn>
                          <a:cxn ang="T77">
                            <a:pos x="T14" y="T15"/>
                          </a:cxn>
                          <a:cxn ang="T78">
                            <a:pos x="T16" y="T17"/>
                          </a:cxn>
                          <a:cxn ang="T79">
                            <a:pos x="T18" y="T19"/>
                          </a:cxn>
                          <a:cxn ang="T80">
                            <a:pos x="T20" y="T21"/>
                          </a:cxn>
                          <a:cxn ang="T81">
                            <a:pos x="T22" y="T23"/>
                          </a:cxn>
                          <a:cxn ang="T82">
                            <a:pos x="T24" y="T25"/>
                          </a:cxn>
                          <a:cxn ang="T83">
                            <a:pos x="T26" y="T27"/>
                          </a:cxn>
                          <a:cxn ang="T84">
                            <a:pos x="T28" y="T29"/>
                          </a:cxn>
                          <a:cxn ang="T85">
                            <a:pos x="T30" y="T31"/>
                          </a:cxn>
                          <a:cxn ang="T86">
                            <a:pos x="T32" y="T33"/>
                          </a:cxn>
                          <a:cxn ang="T87">
                            <a:pos x="T34" y="T35"/>
                          </a:cxn>
                          <a:cxn ang="T88">
                            <a:pos x="T36" y="T37"/>
                          </a:cxn>
                          <a:cxn ang="T89">
                            <a:pos x="T38" y="T39"/>
                          </a:cxn>
                          <a:cxn ang="T90">
                            <a:pos x="T40" y="T41"/>
                          </a:cxn>
                          <a:cxn ang="T91">
                            <a:pos x="T42" y="T43"/>
                          </a:cxn>
                          <a:cxn ang="T92">
                            <a:pos x="T44" y="T45"/>
                          </a:cxn>
                          <a:cxn ang="T93">
                            <a:pos x="T46" y="T47"/>
                          </a:cxn>
                          <a:cxn ang="T94">
                            <a:pos x="T48" y="T49"/>
                          </a:cxn>
                          <a:cxn ang="T95">
                            <a:pos x="T50" y="T51"/>
                          </a:cxn>
                          <a:cxn ang="T96">
                            <a:pos x="T52" y="T53"/>
                          </a:cxn>
                          <a:cxn ang="T97">
                            <a:pos x="T54" y="T55"/>
                          </a:cxn>
                          <a:cxn ang="T98">
                            <a:pos x="T56" y="T57"/>
                          </a:cxn>
                          <a:cxn ang="T99">
                            <a:pos x="T58" y="T59"/>
                          </a:cxn>
                          <a:cxn ang="T100">
                            <a:pos x="T60" y="T61"/>
                          </a:cxn>
                          <a:cxn ang="T101">
                            <a:pos x="T62" y="T63"/>
                          </a:cxn>
                          <a:cxn ang="T102">
                            <a:pos x="T64" y="T65"/>
                          </a:cxn>
                          <a:cxn ang="T103">
                            <a:pos x="T66" y="T67"/>
                          </a:cxn>
                          <a:cxn ang="T104">
                            <a:pos x="T68" y="T69"/>
                          </a:cxn>
                        </a:cxnLst>
                        <a:rect l="0" t="0" r="r" b="b"/>
                        <a:pathLst>
                          <a:path w="331" h="406">
                            <a:moveTo>
                              <a:pt x="255" y="122"/>
                            </a:moveTo>
                            <a:lnTo>
                              <a:pt x="231" y="63"/>
                            </a:lnTo>
                            <a:lnTo>
                              <a:pt x="209" y="11"/>
                            </a:lnTo>
                            <a:lnTo>
                              <a:pt x="206" y="9"/>
                            </a:lnTo>
                            <a:lnTo>
                              <a:pt x="203" y="8"/>
                            </a:lnTo>
                            <a:lnTo>
                              <a:pt x="196" y="7"/>
                            </a:lnTo>
                            <a:lnTo>
                              <a:pt x="101" y="1"/>
                            </a:lnTo>
                            <a:lnTo>
                              <a:pt x="9" y="0"/>
                            </a:lnTo>
                            <a:lnTo>
                              <a:pt x="4" y="1"/>
                            </a:lnTo>
                            <a:lnTo>
                              <a:pt x="2" y="3"/>
                            </a:lnTo>
                            <a:lnTo>
                              <a:pt x="0" y="8"/>
                            </a:lnTo>
                            <a:lnTo>
                              <a:pt x="7" y="45"/>
                            </a:lnTo>
                            <a:lnTo>
                              <a:pt x="21" y="76"/>
                            </a:lnTo>
                            <a:lnTo>
                              <a:pt x="46" y="135"/>
                            </a:lnTo>
                            <a:lnTo>
                              <a:pt x="92" y="234"/>
                            </a:lnTo>
                            <a:lnTo>
                              <a:pt x="134" y="321"/>
                            </a:lnTo>
                            <a:lnTo>
                              <a:pt x="144" y="353"/>
                            </a:lnTo>
                            <a:lnTo>
                              <a:pt x="151" y="375"/>
                            </a:lnTo>
                            <a:lnTo>
                              <a:pt x="157" y="388"/>
                            </a:lnTo>
                            <a:lnTo>
                              <a:pt x="163" y="397"/>
                            </a:lnTo>
                            <a:lnTo>
                              <a:pt x="167" y="402"/>
                            </a:lnTo>
                            <a:lnTo>
                              <a:pt x="171" y="404"/>
                            </a:lnTo>
                            <a:lnTo>
                              <a:pt x="177" y="405"/>
                            </a:lnTo>
                            <a:lnTo>
                              <a:pt x="182" y="403"/>
                            </a:lnTo>
                            <a:lnTo>
                              <a:pt x="191" y="398"/>
                            </a:lnTo>
                            <a:lnTo>
                              <a:pt x="202" y="392"/>
                            </a:lnTo>
                            <a:lnTo>
                              <a:pt x="211" y="384"/>
                            </a:lnTo>
                            <a:lnTo>
                              <a:pt x="222" y="375"/>
                            </a:lnTo>
                            <a:lnTo>
                              <a:pt x="232" y="368"/>
                            </a:lnTo>
                            <a:lnTo>
                              <a:pt x="325" y="332"/>
                            </a:lnTo>
                            <a:lnTo>
                              <a:pt x="328" y="331"/>
                            </a:lnTo>
                            <a:lnTo>
                              <a:pt x="330" y="327"/>
                            </a:lnTo>
                            <a:lnTo>
                              <a:pt x="329" y="323"/>
                            </a:lnTo>
                            <a:lnTo>
                              <a:pt x="327" y="318"/>
                            </a:lnTo>
                            <a:lnTo>
                              <a:pt x="255" y="122"/>
                            </a:lnTo>
                          </a:path>
                        </a:pathLst>
                      </a:custGeom>
                      <a:solidFill>
                        <a:srgbClr val="005F5F"/>
                      </a:solidFill>
                      <a:ln w="12700" cap="rnd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</p:grpSp>
                <p:grpSp>
                  <p:nvGrpSpPr>
                    <p:cNvPr id="17" name="Group 4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96" y="3243"/>
                      <a:ext cx="86" cy="227"/>
                      <a:chOff x="3696" y="3243"/>
                      <a:chExt cx="86" cy="227"/>
                    </a:xfrm>
                  </p:grpSpPr>
                  <p:sp>
                    <p:nvSpPr>
                      <p:cNvPr id="18" name="Freeform 4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696" y="3249"/>
                        <a:ext cx="82" cy="221"/>
                      </a:xfrm>
                      <a:custGeom>
                        <a:avLst/>
                        <a:gdLst>
                          <a:gd name="T0" fmla="*/ 81 w 82"/>
                          <a:gd name="T1" fmla="*/ 0 h 221"/>
                          <a:gd name="T2" fmla="*/ 78 w 82"/>
                          <a:gd name="T3" fmla="*/ 15 h 221"/>
                          <a:gd name="T4" fmla="*/ 74 w 82"/>
                          <a:gd name="T5" fmla="*/ 26 h 221"/>
                          <a:gd name="T6" fmla="*/ 68 w 82"/>
                          <a:gd name="T7" fmla="*/ 36 h 221"/>
                          <a:gd name="T8" fmla="*/ 57 w 82"/>
                          <a:gd name="T9" fmla="*/ 42 h 221"/>
                          <a:gd name="T10" fmla="*/ 44 w 82"/>
                          <a:gd name="T11" fmla="*/ 47 h 221"/>
                          <a:gd name="T12" fmla="*/ 34 w 82"/>
                          <a:gd name="T13" fmla="*/ 55 h 221"/>
                          <a:gd name="T14" fmla="*/ 25 w 82"/>
                          <a:gd name="T15" fmla="*/ 66 h 221"/>
                          <a:gd name="T16" fmla="*/ 16 w 82"/>
                          <a:gd name="T17" fmla="*/ 84 h 221"/>
                          <a:gd name="T18" fmla="*/ 13 w 82"/>
                          <a:gd name="T19" fmla="*/ 99 h 221"/>
                          <a:gd name="T20" fmla="*/ 16 w 82"/>
                          <a:gd name="T21" fmla="*/ 110 h 221"/>
                          <a:gd name="T22" fmla="*/ 25 w 82"/>
                          <a:gd name="T23" fmla="*/ 120 h 221"/>
                          <a:gd name="T24" fmla="*/ 33 w 82"/>
                          <a:gd name="T25" fmla="*/ 131 h 221"/>
                          <a:gd name="T26" fmla="*/ 38 w 82"/>
                          <a:gd name="T27" fmla="*/ 141 h 221"/>
                          <a:gd name="T28" fmla="*/ 43 w 82"/>
                          <a:gd name="T29" fmla="*/ 154 h 221"/>
                          <a:gd name="T30" fmla="*/ 45 w 82"/>
                          <a:gd name="T31" fmla="*/ 168 h 221"/>
                          <a:gd name="T32" fmla="*/ 40 w 82"/>
                          <a:gd name="T33" fmla="*/ 182 h 221"/>
                          <a:gd name="T34" fmla="*/ 34 w 82"/>
                          <a:gd name="T35" fmla="*/ 191 h 221"/>
                          <a:gd name="T36" fmla="*/ 23 w 82"/>
                          <a:gd name="T37" fmla="*/ 203 h 221"/>
                          <a:gd name="T38" fmla="*/ 13 w 82"/>
                          <a:gd name="T39" fmla="*/ 211 h 221"/>
                          <a:gd name="T40" fmla="*/ 0 w 82"/>
                          <a:gd name="T41" fmla="*/ 220 h 221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60000 65536"/>
                          <a:gd name="T55" fmla="*/ 0 60000 65536"/>
                          <a:gd name="T56" fmla="*/ 0 60000 65536"/>
                          <a:gd name="T57" fmla="*/ 0 60000 65536"/>
                          <a:gd name="T58" fmla="*/ 0 60000 65536"/>
                          <a:gd name="T59" fmla="*/ 0 60000 65536"/>
                          <a:gd name="T60" fmla="*/ 0 60000 65536"/>
                          <a:gd name="T61" fmla="*/ 0 60000 65536"/>
                          <a:gd name="T62" fmla="*/ 0 60000 65536"/>
                        </a:gdLst>
                        <a:ahLst/>
                        <a:cxnLst>
                          <a:cxn ang="T42">
                            <a:pos x="T0" y="T1"/>
                          </a:cxn>
                          <a:cxn ang="T43">
                            <a:pos x="T2" y="T3"/>
                          </a:cxn>
                          <a:cxn ang="T44">
                            <a:pos x="T4" y="T5"/>
                          </a:cxn>
                          <a:cxn ang="T45">
                            <a:pos x="T6" y="T7"/>
                          </a:cxn>
                          <a:cxn ang="T46">
                            <a:pos x="T8" y="T9"/>
                          </a:cxn>
                          <a:cxn ang="T47">
                            <a:pos x="T10" y="T11"/>
                          </a:cxn>
                          <a:cxn ang="T48">
                            <a:pos x="T12" y="T13"/>
                          </a:cxn>
                          <a:cxn ang="T49">
                            <a:pos x="T14" y="T15"/>
                          </a:cxn>
                          <a:cxn ang="T50">
                            <a:pos x="T16" y="T17"/>
                          </a:cxn>
                          <a:cxn ang="T51">
                            <a:pos x="T18" y="T19"/>
                          </a:cxn>
                          <a:cxn ang="T52">
                            <a:pos x="T20" y="T21"/>
                          </a:cxn>
                          <a:cxn ang="T53">
                            <a:pos x="T22" y="T23"/>
                          </a:cxn>
                          <a:cxn ang="T54">
                            <a:pos x="T24" y="T25"/>
                          </a:cxn>
                          <a:cxn ang="T55">
                            <a:pos x="T26" y="T27"/>
                          </a:cxn>
                          <a:cxn ang="T56">
                            <a:pos x="T28" y="T29"/>
                          </a:cxn>
                          <a:cxn ang="T57">
                            <a:pos x="T30" y="T31"/>
                          </a:cxn>
                          <a:cxn ang="T58">
                            <a:pos x="T32" y="T33"/>
                          </a:cxn>
                          <a:cxn ang="T59">
                            <a:pos x="T34" y="T35"/>
                          </a:cxn>
                          <a:cxn ang="T60">
                            <a:pos x="T36" y="T37"/>
                          </a:cxn>
                          <a:cxn ang="T61">
                            <a:pos x="T38" y="T39"/>
                          </a:cxn>
                          <a:cxn ang="T62">
                            <a:pos x="T40" y="T41"/>
                          </a:cxn>
                        </a:cxnLst>
                        <a:rect l="0" t="0" r="r" b="b"/>
                        <a:pathLst>
                          <a:path w="82" h="221">
                            <a:moveTo>
                              <a:pt x="81" y="0"/>
                            </a:moveTo>
                            <a:lnTo>
                              <a:pt x="78" y="15"/>
                            </a:lnTo>
                            <a:lnTo>
                              <a:pt x="74" y="26"/>
                            </a:lnTo>
                            <a:lnTo>
                              <a:pt x="68" y="36"/>
                            </a:lnTo>
                            <a:lnTo>
                              <a:pt x="57" y="42"/>
                            </a:lnTo>
                            <a:lnTo>
                              <a:pt x="44" y="47"/>
                            </a:lnTo>
                            <a:lnTo>
                              <a:pt x="34" y="55"/>
                            </a:lnTo>
                            <a:lnTo>
                              <a:pt x="25" y="66"/>
                            </a:lnTo>
                            <a:lnTo>
                              <a:pt x="16" y="84"/>
                            </a:lnTo>
                            <a:lnTo>
                              <a:pt x="13" y="99"/>
                            </a:lnTo>
                            <a:lnTo>
                              <a:pt x="16" y="110"/>
                            </a:lnTo>
                            <a:lnTo>
                              <a:pt x="25" y="120"/>
                            </a:lnTo>
                            <a:lnTo>
                              <a:pt x="33" y="131"/>
                            </a:lnTo>
                            <a:lnTo>
                              <a:pt x="38" y="141"/>
                            </a:lnTo>
                            <a:lnTo>
                              <a:pt x="43" y="154"/>
                            </a:lnTo>
                            <a:lnTo>
                              <a:pt x="45" y="168"/>
                            </a:lnTo>
                            <a:lnTo>
                              <a:pt x="40" y="182"/>
                            </a:lnTo>
                            <a:lnTo>
                              <a:pt x="34" y="191"/>
                            </a:lnTo>
                            <a:lnTo>
                              <a:pt x="23" y="203"/>
                            </a:lnTo>
                            <a:lnTo>
                              <a:pt x="13" y="211"/>
                            </a:lnTo>
                            <a:lnTo>
                              <a:pt x="0" y="220"/>
                            </a:lnTo>
                          </a:path>
                        </a:pathLst>
                      </a:custGeom>
                      <a:noFill/>
                      <a:ln w="12700" cap="rnd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19" name="Oval 4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80" y="3243"/>
                        <a:ext cx="2" cy="2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dirty="0">
                          <a:ea typeface="楷体" panose="02010609060101010101" pitchFamily="49" charset="-122"/>
                        </a:endParaRPr>
                      </a:p>
                    </p:txBody>
                  </p:sp>
                </p:grpSp>
              </p:grpSp>
            </p:grpSp>
          </p:grpSp>
        </p:grpSp>
      </p:grp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663774" y="2790510"/>
            <a:ext cx="7886700" cy="1325563"/>
          </a:xfrm>
        </p:spPr>
        <p:txBody>
          <a:bodyPr>
            <a:normAutofit/>
          </a:bodyPr>
          <a:lstStyle>
            <a:lvl1pPr algn="ctr">
              <a:defRPr sz="4800" b="1" i="0">
                <a:solidFill>
                  <a:schemeClr val="bg1"/>
                </a:solidFill>
                <a:latin typeface="Microsoft JhengHei" charset="-120"/>
                <a:ea typeface="Microsoft JhengHei" charset="-120"/>
                <a:cs typeface="Microsoft JhengHei" charset="-12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3"/>
          </p:nvPr>
        </p:nvSpPr>
        <p:spPr>
          <a:xfrm>
            <a:off x="1905000" y="4851400"/>
            <a:ext cx="5334000" cy="364808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8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95D79-0065-4BC0-B26A-10F9127F6B7D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0" name="Slide Number Placeholder 4"/>
          <p:cNvSpPr>
            <a:spLocks noGrp="1"/>
          </p:cNvSpPr>
          <p:nvPr>
            <p:ph type="sldNum" sz="quarter" idx="16"/>
          </p:nvPr>
        </p:nvSpPr>
        <p:spPr>
          <a:xfrm>
            <a:off x="6553200" y="6356350"/>
            <a:ext cx="685800" cy="365125"/>
          </a:xfr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A42CFE5-87C8-4BD7-A640-85877F978C38}" type="slidenum">
              <a:rPr lang="uk-UA"/>
              <a:pPr>
                <a:defRPr/>
              </a:pPr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5961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 hasCustomPrompt="1"/>
          </p:nvPr>
        </p:nvSpPr>
        <p:spPr>
          <a:xfrm>
            <a:off x="2822713" y="2710036"/>
            <a:ext cx="4432070" cy="828328"/>
          </a:xfrm>
        </p:spPr>
        <p:txBody>
          <a:bodyPr>
            <a:normAutofit/>
          </a:bodyPr>
          <a:lstStyle>
            <a:lvl1pPr>
              <a:defRPr sz="4800">
                <a:solidFill>
                  <a:srgbClr val="27378D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</p:spTree>
    <p:extLst>
      <p:ext uri="{BB962C8B-B14F-4D97-AF65-F5344CB8AC3E}">
        <p14:creationId xmlns:p14="http://schemas.microsoft.com/office/powerpoint/2010/main" val="743781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C82506C4-9E64-4F94-BF6B-1E7EA5DF9711}" type="datetime1">
              <a:rPr lang="zh-CN" altLang="en-US" smtClean="0"/>
              <a:pPr>
                <a:defRPr/>
              </a:pPr>
              <a:t>2025/9/18</a:t>
            </a:fld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97197197-2882-4A0C-A0B4-965E837CBFB2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楷体" panose="02010609060101010101" pitchFamily="49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tencent.com/act/pro/domain-sales?from=10680" TargetMode="Externa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3"/>
          <p:cNvSpPr>
            <a:spLocks noGrp="1"/>
          </p:cNvSpPr>
          <p:nvPr>
            <p:ph type="title"/>
          </p:nvPr>
        </p:nvSpPr>
        <p:spPr>
          <a:xfrm>
            <a:off x="663575" y="2790825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Microsoft JhengHei" pitchFamily="34" charset="-120"/>
                <a:ea typeface="Microsoft JhengHei" pitchFamily="34" charset="-120"/>
              </a:rPr>
              <a:t>Lession2</a:t>
            </a:r>
            <a:br>
              <a:rPr lang="en-US" altLang="zh-CN" dirty="0">
                <a:latin typeface="Microsoft JhengHei" pitchFamily="34" charset="-120"/>
                <a:ea typeface="Microsoft JhengHei" pitchFamily="34" charset="-120"/>
              </a:rPr>
            </a:br>
            <a:r>
              <a:rPr lang="zh-CN" altLang="zh-CN" dirty="0"/>
              <a:t>认识对象：封装数据为类</a:t>
            </a:r>
            <a:endParaRPr lang="zh-CN" altLang="en-US" dirty="0"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905000" y="4851400"/>
            <a:ext cx="5334000" cy="365125"/>
          </a:xfrm>
        </p:spPr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主讲老师：高祥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18F0C56-9F2E-425F-AE0D-B74E6098329B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AA42CFE5-87C8-4BD7-A640-85877F978C38}" type="slidenum">
              <a:rPr lang="uk-UA" smtClean="0"/>
              <a:pPr>
                <a:defRPr/>
              </a:pPr>
              <a:t>1</a:t>
            </a:fld>
            <a:endParaRPr lang="uk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692696"/>
            <a:ext cx="8676456" cy="576064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</a:rPr>
              <a:t>对象与类的概念</a:t>
            </a:r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</a:rPr>
              <a:t>类</a:t>
            </a:r>
            <a:r>
              <a:rPr lang="zh-CN" altLang="en-US" dirty="0">
                <a:latin typeface="楷体" panose="02010609060101010101" pitchFamily="49" charset="-122"/>
              </a:rPr>
              <a:t>的设计与定义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成员变量定义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成员方法定义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构造函数定义</a:t>
            </a:r>
            <a:endParaRPr lang="en-US" altLang="zh-CN" dirty="0">
              <a:latin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</a:rPr>
              <a:t>类之间的</a:t>
            </a:r>
            <a:r>
              <a:rPr lang="zh-CN" altLang="en-US" dirty="0" smtClean="0">
                <a:latin typeface="楷体" panose="02010609060101010101" pitchFamily="49" charset="-122"/>
              </a:rPr>
              <a:t>关系</a:t>
            </a:r>
            <a:endParaRPr lang="en-US" altLang="zh-CN" dirty="0" smtClean="0">
              <a:latin typeface="楷体" panose="02010609060101010101" pitchFamily="49" charset="-122"/>
            </a:endParaRPr>
          </a:p>
          <a:p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本节主要内容：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5142986"/>
      </p:ext>
    </p:extLst>
  </p:cSld>
  <p:clrMapOvr>
    <a:masterClrMapping/>
  </p:clrMapOvr>
  <p:transition spd="med"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</a:rPr>
              <a:t>类：在软件中，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类，就是一个模板，它定义了一类事物的状态和行为。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</a:rPr>
              <a:t>类是对现实世界的抽象，因此</a:t>
            </a:r>
            <a:r>
              <a:rPr lang="zh-CN" alt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</a:rPr>
              <a:t>类是一种抽象的复合数据类型。</a:t>
            </a:r>
          </a:p>
          <a:p>
            <a:endParaRPr lang="zh-CN" altLang="en-US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深入理解</a:t>
            </a:r>
            <a:r>
              <a:rPr lang="zh-CN" alt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3355019"/>
      </p:ext>
    </p:extLst>
  </p:cSld>
  <p:clrMapOvr>
    <a:masterClrMapping/>
  </p:clrMapOvr>
  <p:transition spd="med"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</a:rPr>
              <a:t>对象是现实世界中的一个实体，其特征是：</a:t>
            </a:r>
            <a:endParaRPr lang="en-US" altLang="zh-CN" dirty="0">
              <a:latin typeface="楷体" panose="02010609060101010101" pitchFamily="49" charset="-122"/>
            </a:endParaRPr>
          </a:p>
          <a:p>
            <a:pPr marL="457200" lvl="1" indent="0">
              <a:lnSpc>
                <a:spcPct val="150000"/>
              </a:lnSpc>
              <a:buSzPct val="50000"/>
              <a:buNone/>
            </a:pPr>
            <a:r>
              <a:rPr lang="en-US" altLang="zh-CN" sz="3200" dirty="0">
                <a:latin typeface="楷体" panose="02010609060101010101" pitchFamily="49" charset="-122"/>
              </a:rPr>
              <a:t>1. </a:t>
            </a:r>
            <a:r>
              <a:rPr lang="zh-CN" altLang="en-US" sz="3200" dirty="0">
                <a:latin typeface="楷体" panose="02010609060101010101" pitchFamily="49" charset="-122"/>
              </a:rPr>
              <a:t>对象的</a:t>
            </a:r>
            <a:r>
              <a:rPr lang="zh-CN" altLang="en-US" sz="32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</a:rPr>
              <a:t>标示（名称）唯一</a:t>
            </a:r>
            <a:r>
              <a:rPr lang="zh-CN" altLang="en-US" sz="3200" dirty="0">
                <a:latin typeface="楷体" panose="02010609060101010101" pitchFamily="49" charset="-122"/>
              </a:rPr>
              <a:t>； </a:t>
            </a:r>
          </a:p>
          <a:p>
            <a:pPr marL="457200" lvl="1" indent="0">
              <a:lnSpc>
                <a:spcPct val="150000"/>
              </a:lnSpc>
              <a:buSzPct val="50000"/>
              <a:buNone/>
            </a:pPr>
            <a:r>
              <a:rPr lang="en-US" altLang="zh-CN" sz="3200" dirty="0">
                <a:latin typeface="楷体" panose="02010609060101010101" pitchFamily="49" charset="-122"/>
              </a:rPr>
              <a:t>2. </a:t>
            </a:r>
            <a:r>
              <a:rPr lang="zh-CN" altLang="en-US" sz="3200" dirty="0">
                <a:latin typeface="楷体" panose="02010609060101010101" pitchFamily="49" charset="-122"/>
              </a:rPr>
              <a:t>对象的</a:t>
            </a:r>
            <a:r>
              <a:rPr lang="zh-CN" altLang="en-US" sz="32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</a:rPr>
              <a:t>状态（属性、数据区）</a:t>
            </a:r>
          </a:p>
          <a:p>
            <a:pPr marL="457200" lvl="1" indent="0">
              <a:lnSpc>
                <a:spcPct val="150000"/>
              </a:lnSpc>
              <a:buSzPct val="50000"/>
              <a:buNone/>
            </a:pPr>
            <a:r>
              <a:rPr lang="en-US" altLang="zh-CN" sz="3200" dirty="0">
                <a:latin typeface="楷体" panose="02010609060101010101" pitchFamily="49" charset="-122"/>
              </a:rPr>
              <a:t>3. </a:t>
            </a:r>
            <a:r>
              <a:rPr lang="zh-CN" altLang="en-US" sz="3200" dirty="0">
                <a:latin typeface="楷体" panose="02010609060101010101" pitchFamily="49" charset="-122"/>
              </a:rPr>
              <a:t>对象的</a:t>
            </a:r>
            <a:r>
              <a:rPr lang="zh-CN" altLang="en-US" sz="32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</a:rPr>
              <a:t>行为（方法、功能）</a:t>
            </a:r>
          </a:p>
          <a:p>
            <a:endParaRPr lang="zh-CN" altLang="en-US" dirty="0"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深入理解</a:t>
            </a:r>
            <a:r>
              <a:rPr lang="zh-CN" alt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7801668"/>
      </p:ext>
    </p:extLst>
  </p:cSld>
  <p:clrMapOvr>
    <a:masterClrMapping/>
  </p:clrMapOvr>
  <p:transition spd="med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</a:rPr>
              <a:t>类和对象之间是</a:t>
            </a:r>
            <a:r>
              <a:rPr lang="zh-CN" alt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</a:rPr>
              <a:t>抽象和具体的关系</a:t>
            </a:r>
            <a:r>
              <a:rPr lang="zh-CN" altLang="en-US" dirty="0">
                <a:latin typeface="楷体" panose="02010609060101010101" pitchFamily="49" charset="-122"/>
              </a:rPr>
              <a:t>。类是创建对象的模板，对象是类的具体实例。</a:t>
            </a:r>
            <a:endParaRPr lang="en-US" altLang="zh-CN" dirty="0">
              <a:latin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</a:rPr>
              <a:t>类（</a:t>
            </a:r>
            <a:r>
              <a:rPr lang="en-US" altLang="zh-CN" dirty="0">
                <a:latin typeface="楷体" panose="02010609060101010101" pitchFamily="49" charset="-122"/>
              </a:rPr>
              <a:t>class</a:t>
            </a:r>
            <a:r>
              <a:rPr lang="zh-CN" altLang="en-US" dirty="0">
                <a:latin typeface="楷体" panose="02010609060101010101" pitchFamily="49" charset="-122"/>
              </a:rPr>
              <a:t>）是总称，对象是个体，因此对象（</a:t>
            </a:r>
            <a:r>
              <a:rPr lang="en-US" altLang="zh-CN" dirty="0">
                <a:latin typeface="楷体" panose="02010609060101010101" pitchFamily="49" charset="-122"/>
              </a:rPr>
              <a:t>object</a:t>
            </a:r>
            <a:r>
              <a:rPr lang="zh-CN" altLang="en-US" dirty="0">
                <a:latin typeface="楷体" panose="02010609060101010101" pitchFamily="49" charset="-122"/>
              </a:rPr>
              <a:t>）也叫实例（</a:t>
            </a:r>
            <a:r>
              <a:rPr lang="en-US" altLang="zh-CN" dirty="0">
                <a:latin typeface="楷体" panose="02010609060101010101" pitchFamily="49" charset="-122"/>
              </a:rPr>
              <a:t>instance</a:t>
            </a:r>
            <a:r>
              <a:rPr lang="zh-CN" altLang="en-US" dirty="0">
                <a:latin typeface="楷体" panose="02010609060101010101" pitchFamily="49" charset="-122"/>
              </a:rPr>
              <a:t>）。</a:t>
            </a:r>
            <a:endParaRPr lang="en-US" altLang="zh-CN" dirty="0">
              <a:latin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类与对象的关系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4507300"/>
      </p:ext>
    </p:extLst>
  </p:cSld>
  <p:clrMapOvr>
    <a:masterClrMapping/>
  </p:clrMapOvr>
  <p:transition spd="med">
    <p:pull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9968" y="696899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</a:rPr>
              <a:t>第一步：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</a:rPr>
              <a:t>明确问题域，分析这个问题里面有哪些类和对象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</a:rPr>
              <a:t>第二步：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</a:rPr>
              <a:t>分析这些类和对象应该具有哪些属性和方法。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</a:rPr>
              <a:t>第三步：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</a:rPr>
              <a:t>分析类和类之间具体有什么关系。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面向对象的思维：</a:t>
            </a:r>
            <a:r>
              <a:rPr lang="zh-CN" altLang="en-US" b="1" dirty="0"/>
              <a:t>（</a:t>
            </a:r>
            <a:r>
              <a:rPr lang="en-US" altLang="zh-CN" b="1" dirty="0"/>
              <a:t>overview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grpSp>
        <p:nvGrpSpPr>
          <p:cNvPr id="9" name="Group 8"/>
          <p:cNvGrpSpPr/>
          <p:nvPr/>
        </p:nvGrpSpPr>
        <p:grpSpPr>
          <a:xfrm>
            <a:off x="971600" y="4992030"/>
            <a:ext cx="7200800" cy="705222"/>
            <a:chOff x="971600" y="4992030"/>
            <a:chExt cx="7200800" cy="705222"/>
          </a:xfrm>
        </p:grpSpPr>
        <p:sp>
          <p:nvSpPr>
            <p:cNvPr id="7" name="Right Arrow 6"/>
            <p:cNvSpPr/>
            <p:nvPr/>
          </p:nvSpPr>
          <p:spPr>
            <a:xfrm>
              <a:off x="971600" y="5481228"/>
              <a:ext cx="7200800" cy="21602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55776" y="4992030"/>
              <a:ext cx="38779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楷体" panose="02010609060101010101" pitchFamily="49" charset="-122"/>
                </a:rPr>
                <a:t>分析的过程就是抽象的过程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6898522"/>
      </p:ext>
    </p:extLst>
  </p:cSld>
  <p:clrMapOvr>
    <a:masterClrMapping/>
  </p:clrMapOvr>
  <p:transition spd="med">
    <p:pull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Font typeface="Arial" pitchFamily="34" charset="0"/>
              <a:buChar char="₪"/>
            </a:pP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 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个工具</a:t>
            </a:r>
            <a:endParaRPr lang="en-US" altLang="zh-CN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914400" lvl="1" indent="-457200">
              <a:buFont typeface="黑体" pitchFamily="49" charset="-122"/>
              <a:buAutoNum type="circleNumDbPlain"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</a:rPr>
              <a:t>抽象（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</a:rPr>
              <a:t>Abstract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</a:rPr>
              <a:t>）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" panose="02010609060101010101" pitchFamily="49" charset="-122"/>
            </a:endParaRPr>
          </a:p>
          <a:p>
            <a:pPr lvl="2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摒弃细节，提取共性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1234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 1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169980"/>
      </p:ext>
    </p:extLst>
  </p:cSld>
  <p:clrMapOvr>
    <a:masterClrMapping/>
  </p:clrMapOvr>
  <p:transition spd="med"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Font typeface="Arial" pitchFamily="34" charset="0"/>
              <a:buChar char="₪"/>
            </a:pP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 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个概念</a:t>
            </a:r>
            <a:endParaRPr lang="en-US" altLang="zh-CN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914400" lvl="1" indent="-457200">
              <a:buFont typeface="黑体" pitchFamily="49" charset="-122"/>
              <a:buAutoNum type="circleNumDbPlain"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对象（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Object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）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  <a:p>
            <a:pPr lvl="2"/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客观存在的实体</a:t>
            </a:r>
            <a:endParaRPr lang="en-US" altLang="zh-CN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914400" lvl="1" indent="-457200">
              <a:buFont typeface="黑体" pitchFamily="49" charset="-122"/>
              <a:buAutoNum type="circleNumDbPlain"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类（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Class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）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  <a:p>
            <a:pPr lvl="2"/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具有相同性质的对象的抽象体</a:t>
            </a:r>
            <a:endParaRPr lang="en-US" altLang="zh-CN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1234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 2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3777988"/>
      </p:ext>
    </p:extLst>
  </p:cSld>
  <p:clrMapOvr>
    <a:masterClrMapping/>
  </p:clrMapOvr>
  <p:transition spd="med">
    <p:pull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"/>
              </a:spcBef>
              <a:buClr>
                <a:srgbClr val="FF0000"/>
              </a:buClr>
              <a:buFont typeface="Arial" pitchFamily="34" charset="0"/>
              <a:buChar char="₪"/>
            </a:pPr>
            <a:r>
              <a:rPr lang="en-US" altLang="zh-CN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3 </a:t>
            </a:r>
            <a:r>
              <a:rPr lang="zh-CN" altLang="en-US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个特性</a:t>
            </a:r>
            <a:endParaRPr lang="en-US" altLang="zh-CN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marL="914400" lvl="1" indent="-457200">
              <a:spcBef>
                <a:spcPts val="300"/>
              </a:spcBef>
              <a:buFont typeface="黑体" pitchFamily="49" charset="-122"/>
              <a:buAutoNum type="circleNumDbPlain"/>
            </a:pPr>
            <a:r>
              <a:rPr lang="zh-CN" altLang="en-US" dirty="0">
                <a:solidFill>
                  <a:srgbClr val="A50021"/>
                </a:solidFill>
                <a:latin typeface="Arial" pitchFamily="34" charset="0"/>
              </a:rPr>
              <a:t>封装（</a:t>
            </a:r>
            <a:r>
              <a:rPr lang="en-US" altLang="zh-CN" dirty="0">
                <a:solidFill>
                  <a:srgbClr val="A50021"/>
                </a:solidFill>
                <a:latin typeface="Arial" pitchFamily="34" charset="0"/>
              </a:rPr>
              <a:t>Encapsulation</a:t>
            </a:r>
            <a:r>
              <a:rPr lang="zh-CN" altLang="en-US" dirty="0">
                <a:solidFill>
                  <a:srgbClr val="A50021"/>
                </a:solidFill>
                <a:latin typeface="Arial" pitchFamily="34" charset="0"/>
              </a:rPr>
              <a:t>）</a:t>
            </a:r>
            <a:endParaRPr lang="en-US" altLang="zh-CN" dirty="0">
              <a:solidFill>
                <a:srgbClr val="A50021"/>
              </a:solidFill>
              <a:latin typeface="Arial" pitchFamily="34" charset="0"/>
            </a:endParaRPr>
          </a:p>
          <a:p>
            <a:pPr marL="914400" lvl="1" indent="-457200">
              <a:spcBef>
                <a:spcPts val="300"/>
              </a:spcBef>
              <a:buFont typeface="黑体" pitchFamily="49" charset="-122"/>
              <a:buAutoNum type="circleNumDbPlain"/>
            </a:pPr>
            <a:r>
              <a:rPr lang="zh-CN" altLang="en-US" dirty="0">
                <a:solidFill>
                  <a:srgbClr val="A50021"/>
                </a:solidFill>
                <a:latin typeface="Arial" pitchFamily="34" charset="0"/>
              </a:rPr>
              <a:t>继承（</a:t>
            </a:r>
            <a:r>
              <a:rPr lang="en-US" altLang="zh-CN" dirty="0">
                <a:solidFill>
                  <a:srgbClr val="A50021"/>
                </a:solidFill>
                <a:latin typeface="Arial" pitchFamily="34" charset="0"/>
              </a:rPr>
              <a:t>Inheritance</a:t>
            </a:r>
            <a:r>
              <a:rPr lang="zh-CN" altLang="en-US" dirty="0">
                <a:solidFill>
                  <a:srgbClr val="A50021"/>
                </a:solidFill>
                <a:latin typeface="Arial" pitchFamily="34" charset="0"/>
              </a:rPr>
              <a:t>）</a:t>
            </a:r>
            <a:endParaRPr lang="en-US" altLang="zh-CN" dirty="0">
              <a:solidFill>
                <a:srgbClr val="A50021"/>
              </a:solidFill>
              <a:latin typeface="Arial" pitchFamily="34" charset="0"/>
            </a:endParaRPr>
          </a:p>
          <a:p>
            <a:pPr marL="914400" lvl="1" indent="-457200">
              <a:spcBef>
                <a:spcPts val="300"/>
              </a:spcBef>
              <a:buFont typeface="黑体" pitchFamily="49" charset="-122"/>
              <a:buAutoNum type="circleNumDbPlain"/>
            </a:pPr>
            <a:r>
              <a:rPr lang="zh-CN" altLang="en-US" dirty="0">
                <a:solidFill>
                  <a:srgbClr val="A50021"/>
                </a:solidFill>
                <a:latin typeface="Arial" pitchFamily="34" charset="0"/>
              </a:rPr>
              <a:t>多态（</a:t>
            </a:r>
            <a:r>
              <a:rPr lang="en-US" altLang="zh-CN" dirty="0">
                <a:solidFill>
                  <a:srgbClr val="A50021"/>
                </a:solidFill>
                <a:latin typeface="Arial" pitchFamily="34" charset="0"/>
              </a:rPr>
              <a:t>Polymorphism</a:t>
            </a:r>
            <a:r>
              <a:rPr lang="zh-CN" altLang="en-US" sz="2400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）</a:t>
            </a:r>
            <a:endParaRPr lang="en-US" altLang="zh-CN" sz="2400" dirty="0">
              <a:solidFill>
                <a:srgbClr val="A5002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1234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 3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693707"/>
      </p:ext>
    </p:extLst>
  </p:cSld>
  <p:clrMapOvr>
    <a:masterClrMapping/>
  </p:clrMapOvr>
  <p:transition spd="med">
    <p:pull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4525963"/>
          </a:xfrm>
        </p:spPr>
        <p:txBody>
          <a:bodyPr/>
          <a:lstStyle/>
          <a:p>
            <a:pPr>
              <a:buClr>
                <a:srgbClr val="FF0000"/>
              </a:buClr>
              <a:buFont typeface="Arial" pitchFamily="34" charset="0"/>
              <a:buChar char="₪"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个步骤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14400" lvl="1" indent="-457200">
              <a:buFont typeface="黑体" pitchFamily="49" charset="-122"/>
              <a:buAutoNum type="circleNumDbPlain"/>
            </a:pPr>
            <a:r>
              <a:rPr lang="zh-CN" altLang="en-US" sz="2400" dirty="0">
                <a:solidFill>
                  <a:srgbClr val="A50021"/>
                </a:solidFill>
                <a:latin typeface="Arial" pitchFamily="34" charset="0"/>
              </a:rPr>
              <a:t>分析（</a:t>
            </a:r>
            <a:r>
              <a:rPr lang="en-US" altLang="zh-CN" sz="2400" dirty="0">
                <a:solidFill>
                  <a:srgbClr val="A50021"/>
                </a:solidFill>
                <a:latin typeface="Arial" pitchFamily="34" charset="0"/>
              </a:rPr>
              <a:t>Analysis</a:t>
            </a:r>
            <a:r>
              <a:rPr lang="zh-CN" altLang="en-US" sz="2400" dirty="0">
                <a:solidFill>
                  <a:srgbClr val="A50021"/>
                </a:solidFill>
                <a:latin typeface="Arial" pitchFamily="34" charset="0"/>
              </a:rPr>
              <a:t>）</a:t>
            </a:r>
            <a:endParaRPr lang="en-US" altLang="zh-CN" sz="2400" dirty="0">
              <a:solidFill>
                <a:srgbClr val="A50021"/>
              </a:solidFill>
              <a:latin typeface="Arial" pitchFamily="34" charset="0"/>
            </a:endParaRPr>
          </a:p>
          <a:p>
            <a:pPr lvl="2">
              <a:buClr>
                <a:srgbClr val="FF0000"/>
              </a:buClr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找出系统中的对象，抽象出类，确定它们所属的不同主题，分析它们之间的关系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14400" lvl="1" indent="-457200">
              <a:buFont typeface="黑体" pitchFamily="49" charset="-122"/>
              <a:buAutoNum type="circleNumDbPlain"/>
            </a:pPr>
            <a:r>
              <a:rPr lang="zh-CN" altLang="en-US" sz="2400" dirty="0">
                <a:solidFill>
                  <a:srgbClr val="A50021"/>
                </a:solidFill>
                <a:latin typeface="Arial" pitchFamily="34" charset="0"/>
              </a:rPr>
              <a:t>设计（</a:t>
            </a:r>
            <a:r>
              <a:rPr lang="en-US" altLang="zh-CN" sz="2400" dirty="0">
                <a:solidFill>
                  <a:srgbClr val="A50021"/>
                </a:solidFill>
                <a:latin typeface="Arial" pitchFamily="34" charset="0"/>
              </a:rPr>
              <a:t>Design</a:t>
            </a:r>
            <a:r>
              <a:rPr lang="zh-CN" altLang="en-US" sz="2400" dirty="0">
                <a:solidFill>
                  <a:srgbClr val="A50021"/>
                </a:solidFill>
                <a:latin typeface="Arial" pitchFamily="34" charset="0"/>
              </a:rPr>
              <a:t>）</a:t>
            </a:r>
            <a:endParaRPr lang="en-US" altLang="zh-CN" sz="2400" dirty="0">
              <a:solidFill>
                <a:srgbClr val="A50021"/>
              </a:solidFill>
              <a:latin typeface="Arial" pitchFamily="34" charset="0"/>
            </a:endParaRPr>
          </a:p>
          <a:p>
            <a:pPr lvl="2">
              <a:buClr>
                <a:srgbClr val="FF0000"/>
              </a:buClr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对每个类应该封装的数据及其操作进行详细设计和描述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14400" lvl="1" indent="-457200">
              <a:buFont typeface="黑体" pitchFamily="49" charset="-122"/>
              <a:buAutoNum type="circleNumDbPlain"/>
            </a:pPr>
            <a:r>
              <a:rPr lang="zh-CN" altLang="en-US" sz="2400" dirty="0">
                <a:solidFill>
                  <a:srgbClr val="A50021"/>
                </a:solidFill>
                <a:latin typeface="Arial" pitchFamily="34" charset="0"/>
              </a:rPr>
              <a:t>实现（</a:t>
            </a:r>
            <a:r>
              <a:rPr lang="en-US" altLang="zh-CN" sz="2400" dirty="0">
                <a:solidFill>
                  <a:srgbClr val="A50021"/>
                </a:solidFill>
                <a:latin typeface="Arial" pitchFamily="34" charset="0"/>
              </a:rPr>
              <a:t>Implementation</a:t>
            </a:r>
            <a:r>
              <a:rPr lang="zh-CN" altLang="en-US" sz="2400" dirty="0">
                <a:solidFill>
                  <a:srgbClr val="A50021"/>
                </a:solidFill>
                <a:latin typeface="Arial" pitchFamily="34" charset="0"/>
              </a:rPr>
              <a:t>）</a:t>
            </a:r>
            <a:endParaRPr lang="en-US" altLang="zh-CN" sz="2400" dirty="0">
              <a:solidFill>
                <a:srgbClr val="A50021"/>
              </a:solidFill>
              <a:latin typeface="Arial" pitchFamily="34" charset="0"/>
            </a:endParaRPr>
          </a:p>
          <a:p>
            <a:pPr lvl="2">
              <a:buClr>
                <a:srgbClr val="FF0000"/>
              </a:buClr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采用某种编程语言编码（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Coding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）实现各个类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14400" lvl="1" indent="-457200">
              <a:buFont typeface="黑体" pitchFamily="49" charset="-122"/>
              <a:buAutoNum type="circleNumDbPlain"/>
            </a:pPr>
            <a:r>
              <a:rPr lang="zh-CN" altLang="en-US" sz="2400" dirty="0">
                <a:solidFill>
                  <a:srgbClr val="A50021"/>
                </a:solidFill>
                <a:latin typeface="Arial" pitchFamily="34" charset="0"/>
              </a:rPr>
              <a:t>测试（</a:t>
            </a:r>
            <a:r>
              <a:rPr lang="en-US" altLang="zh-CN" sz="2400" dirty="0">
                <a:solidFill>
                  <a:srgbClr val="A50021"/>
                </a:solidFill>
                <a:latin typeface="Arial" pitchFamily="34" charset="0"/>
              </a:rPr>
              <a:t>Test</a:t>
            </a:r>
            <a:r>
              <a:rPr lang="zh-CN" altLang="en-US" sz="2400" dirty="0">
                <a:solidFill>
                  <a:srgbClr val="A50021"/>
                </a:solidFill>
                <a:latin typeface="Arial" pitchFamily="34" charset="0"/>
              </a:rPr>
              <a:t>）</a:t>
            </a:r>
            <a:endParaRPr lang="en-US" altLang="zh-CN" sz="2400" dirty="0">
              <a:solidFill>
                <a:srgbClr val="A50021"/>
              </a:solidFill>
              <a:latin typeface="Arial" pitchFamily="34" charset="0"/>
            </a:endParaRPr>
          </a:p>
          <a:p>
            <a:pPr lvl="2">
              <a:buClr>
                <a:srgbClr val="FF0000"/>
              </a:buClr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由类创建对象，验证其功能和性能是否满足需求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1234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 4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0155035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/>
              <a:t>小王本来体重</a:t>
            </a:r>
            <a:r>
              <a:rPr lang="en-US" altLang="zh-CN" sz="2800" dirty="0"/>
              <a:t>70Kg</a:t>
            </a:r>
            <a:r>
              <a:rPr lang="zh-CN" altLang="zh-CN" sz="2800" dirty="0"/>
              <a:t>，经过减肥，体重降到</a:t>
            </a:r>
            <a:r>
              <a:rPr lang="en-US" altLang="zh-CN" sz="2800" dirty="0"/>
              <a:t>45Kg</a:t>
            </a:r>
            <a:r>
              <a:rPr lang="zh-CN" altLang="zh-CN" sz="2800" dirty="0"/>
              <a:t>，试从这个问题领域中识别对象、类、属性、行为、状态，和状态变化。</a:t>
            </a:r>
          </a:p>
          <a:p>
            <a:r>
              <a:rPr lang="zh-CN" altLang="zh-CN" dirty="0"/>
              <a:t>答案</a:t>
            </a:r>
            <a:r>
              <a:rPr lang="zh-CN" altLang="en-US" dirty="0"/>
              <a:t>？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案例分析（</a:t>
            </a:r>
            <a:r>
              <a:rPr lang="en-US" altLang="zh-CN" dirty="0"/>
              <a:t>1</a:t>
            </a:r>
            <a:r>
              <a:rPr lang="zh-CN" altLang="en-US" dirty="0"/>
              <a:t>）：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053716"/>
            <a:ext cx="7344816" cy="30395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659823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假如</a:t>
            </a:r>
            <a:r>
              <a:rPr lang="zh-CN" altLang="en-US" dirty="0"/>
              <a:t>某公司</a:t>
            </a:r>
            <a:r>
              <a:rPr lang="zh-CN" altLang="zh-CN" dirty="0"/>
              <a:t>需要买组装电脑</a:t>
            </a:r>
            <a:r>
              <a:rPr lang="zh-CN" altLang="en-US" dirty="0"/>
              <a:t>：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zh-CN" dirty="0"/>
              <a:t>在网上查询具体每一个硬件的参数和报价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实体店</a:t>
            </a:r>
            <a:r>
              <a:rPr lang="zh-CN" altLang="zh-CN" dirty="0"/>
              <a:t>询价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zh-CN" dirty="0"/>
              <a:t>询价结束后</a:t>
            </a:r>
            <a:r>
              <a:rPr lang="zh-CN" altLang="en-US" dirty="0"/>
              <a:t>，</a:t>
            </a:r>
            <a:r>
              <a:rPr lang="zh-CN" altLang="zh-CN" dirty="0"/>
              <a:t>根据具体的结果分析出自己比较满意的</a:t>
            </a:r>
            <a:r>
              <a:rPr lang="zh-CN" altLang="en-US" dirty="0"/>
              <a:t>某品牌</a:t>
            </a:r>
            <a:r>
              <a:rPr lang="zh-CN" altLang="zh-CN" dirty="0"/>
              <a:t>报价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zh-CN" dirty="0"/>
              <a:t>到</a:t>
            </a:r>
            <a:r>
              <a:rPr lang="zh-CN" altLang="en-US" dirty="0"/>
              <a:t>某品牌</a:t>
            </a:r>
            <a:r>
              <a:rPr lang="zh-CN" altLang="zh-CN" dirty="0"/>
              <a:t>店里进行组装，组装时需要进行现场监督。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案例分析（</a:t>
            </a:r>
            <a:r>
              <a:rPr lang="en-US" altLang="zh-CN" dirty="0"/>
              <a:t>2</a:t>
            </a:r>
            <a:r>
              <a:rPr lang="zh-CN" altLang="en-US" dirty="0"/>
              <a:t>）：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11266" name="Picture 2" descr="https://timgsa.baidu.com/timg?image&amp;quality=80&amp;size=b9999_10000&amp;sec=1546088002398&amp;di=d487f9291d99ecf1ea3c82cce67d92fc&amp;imgtype=0&amp;src=http%3A%2F%2Fimage.cn.made-in-china.com%2Fcnimg%2Fprod_ed0n0L0Q7sc6%2F0%2F%25E7%25BB%2584%25E8%25A3%2585%25E7%2594%25B5%25E8%2584%2591_270x27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077070"/>
            <a:ext cx="3725103" cy="217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042910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23CADC-251C-A2CD-A9D4-033EB30BF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1"/>
            <a:ext cx="8435280" cy="4525963"/>
          </a:xfrm>
        </p:spPr>
        <p:txBody>
          <a:bodyPr/>
          <a:lstStyle/>
          <a:p>
            <a:r>
              <a:rPr lang="en-US" dirty="0" err="1"/>
              <a:t>对象</a:t>
            </a:r>
            <a:r>
              <a:rPr lang="zh-CN" altLang="en-US" dirty="0"/>
              <a:t>：公司、采购、组装工程师、硬件、硬件供应商</a:t>
            </a:r>
            <a:r>
              <a:rPr lang="en-US" altLang="zh-CN" dirty="0"/>
              <a:t>……</a:t>
            </a:r>
            <a:endParaRPr lang="en-SG" altLang="zh-CN" dirty="0"/>
          </a:p>
          <a:p>
            <a:r>
              <a:rPr lang="zh-CN" altLang="en-US" dirty="0"/>
              <a:t>类：公司类、员工类、硬件类、供应商类、测试类等</a:t>
            </a:r>
            <a:endParaRPr lang="en-SG" altLang="zh-CN" dirty="0"/>
          </a:p>
          <a:p>
            <a:r>
              <a:rPr lang="en-US" dirty="0" err="1"/>
              <a:t>属性</a:t>
            </a:r>
            <a:r>
              <a:rPr lang="zh-CN" altLang="en-US" dirty="0"/>
              <a:t>：硬件类</a:t>
            </a:r>
            <a:r>
              <a:rPr lang="en-US" altLang="zh-CN" dirty="0"/>
              <a:t>---</a:t>
            </a:r>
            <a:r>
              <a:rPr lang="zh-CN" altLang="en-US" dirty="0"/>
              <a:t>名称，价格，硬件参数，供应商</a:t>
            </a:r>
            <a:endParaRPr lang="en-SG" altLang="zh-CN" dirty="0"/>
          </a:p>
          <a:p>
            <a:r>
              <a:rPr lang="zh-CN" altLang="en-US" dirty="0"/>
              <a:t>行为：员工</a:t>
            </a:r>
            <a:r>
              <a:rPr lang="en-US" altLang="zh-CN" dirty="0"/>
              <a:t>---</a:t>
            </a:r>
            <a:r>
              <a:rPr lang="zh-CN" altLang="en-US" dirty="0"/>
              <a:t>询价、报价、组装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75B0A2-C327-9CDA-2F82-B409628D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案例分析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4DB04-6117-55D0-33AA-E1EF41E1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29F346-0B6B-1193-5936-9A106B7B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4504309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692696"/>
            <a:ext cx="8676456" cy="5760640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</a:rPr>
              <a:t>对象与类的概念</a:t>
            </a:r>
            <a:endParaRPr lang="en-US" altLang="zh-CN" dirty="0">
              <a:latin typeface="楷体" panose="02010609060101010101" pitchFamily="49" charset="-122"/>
            </a:endParaRPr>
          </a:p>
          <a:p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</a:rPr>
              <a:t>类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</a:rPr>
              <a:t>的设计与定义</a:t>
            </a:r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成员变量定义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构造函数定义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成员方法定义</a:t>
            </a:r>
            <a:endParaRPr lang="en-US" altLang="zh-CN" dirty="0">
              <a:latin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</a:rPr>
              <a:t>类之间的</a:t>
            </a:r>
            <a:r>
              <a:rPr lang="zh-CN" altLang="en-US" dirty="0" smtClean="0">
                <a:latin typeface="楷体" panose="02010609060101010101" pitchFamily="49" charset="-122"/>
              </a:rPr>
              <a:t>关系</a:t>
            </a:r>
            <a:endParaRPr lang="en-US" altLang="zh-CN" dirty="0" smtClean="0">
              <a:latin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本节主要内容：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8287742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08721"/>
            <a:ext cx="8229600" cy="4824535"/>
          </a:xfrm>
        </p:spPr>
        <p:txBody>
          <a:bodyPr/>
          <a:lstStyle/>
          <a:p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一个基本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Java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程序的三大件</a:t>
            </a:r>
            <a:endParaRPr lang="en-US" altLang="zh-CN" sz="28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lvl="1">
              <a:buClr>
                <a:srgbClr val="A50021"/>
              </a:buClr>
              <a:buNone/>
            </a:pP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、包的声明；</a:t>
            </a:r>
            <a:r>
              <a:rPr lang="en-US" altLang="zh-CN" dirty="0">
                <a:solidFill>
                  <a:srgbClr val="0066FF"/>
                </a:solidFill>
              </a:rPr>
              <a:t>//</a:t>
            </a:r>
            <a:r>
              <a:rPr lang="zh-CN" altLang="en-US" dirty="0">
                <a:solidFill>
                  <a:srgbClr val="0066FF"/>
                </a:solidFill>
              </a:rPr>
              <a:t>指定类所在的位置</a:t>
            </a:r>
            <a:endParaRPr lang="en-US" altLang="zh-CN" dirty="0">
              <a:solidFill>
                <a:srgbClr val="0066FF"/>
              </a:solidFill>
            </a:endParaRPr>
          </a:p>
          <a:p>
            <a:pPr marL="1200150" lvl="2" indent="-342900">
              <a:buClr>
                <a:srgbClr val="A50021"/>
              </a:buClr>
            </a:pPr>
            <a:r>
              <a:rPr lang="zh-CN" altLang="en-US" dirty="0"/>
              <a:t>包命名常采用顶级</a:t>
            </a:r>
            <a:r>
              <a:rPr lang="zh-CN" altLang="en-US" dirty="0">
                <a:hlinkClick r:id="rId2"/>
              </a:rPr>
              <a:t>域名</a:t>
            </a:r>
            <a:r>
              <a:rPr lang="zh-CN" altLang="en-US" dirty="0"/>
              <a:t>作为前缀，例如</a:t>
            </a:r>
            <a:r>
              <a:rPr lang="en-US" altLang="zh-CN" dirty="0"/>
              <a:t>com</a:t>
            </a:r>
            <a:r>
              <a:rPr lang="zh-CN" altLang="en-US" dirty="0"/>
              <a:t>，</a:t>
            </a:r>
            <a:r>
              <a:rPr lang="en-US" altLang="zh-CN" dirty="0"/>
              <a:t>net</a:t>
            </a:r>
            <a:r>
              <a:rPr lang="zh-CN" altLang="en-US" dirty="0"/>
              <a:t>，</a:t>
            </a:r>
            <a:r>
              <a:rPr lang="en-US" altLang="zh-CN" dirty="0"/>
              <a:t>org</a:t>
            </a:r>
            <a:r>
              <a:rPr lang="zh-CN" altLang="en-US" dirty="0"/>
              <a:t>，</a:t>
            </a:r>
            <a:r>
              <a:rPr lang="en-US" altLang="zh-CN" dirty="0" err="1"/>
              <a:t>edu</a:t>
            </a:r>
            <a:r>
              <a:rPr lang="zh-CN" altLang="en-US" dirty="0"/>
              <a:t>，</a:t>
            </a:r>
            <a:r>
              <a:rPr lang="en-US" altLang="zh-CN" dirty="0" err="1"/>
              <a:t>gov</a:t>
            </a:r>
            <a:r>
              <a:rPr lang="zh-CN" altLang="en-US" dirty="0"/>
              <a:t>，</a:t>
            </a:r>
            <a:r>
              <a:rPr lang="en-US" altLang="zh-CN" dirty="0" err="1"/>
              <a:t>io</a:t>
            </a:r>
            <a:r>
              <a:rPr lang="zh-CN" altLang="en-US" dirty="0"/>
              <a:t>等，随后紧跟公司</a:t>
            </a:r>
            <a:r>
              <a:rPr lang="en-US" altLang="zh-CN" dirty="0"/>
              <a:t>/</a:t>
            </a:r>
            <a:r>
              <a:rPr lang="zh-CN" altLang="en-US" dirty="0"/>
              <a:t>组织</a:t>
            </a:r>
            <a:r>
              <a:rPr lang="en-US" altLang="zh-CN" dirty="0"/>
              <a:t>/</a:t>
            </a:r>
            <a:r>
              <a:rPr lang="zh-CN" altLang="en-US" dirty="0"/>
              <a:t>个人名称以及功能模块名称（</a:t>
            </a:r>
            <a:r>
              <a:rPr lang="en-US" altLang="zh-CN" dirty="0" err="1"/>
              <a:t>cn.edu.buaa.oop</a:t>
            </a:r>
            <a:r>
              <a:rPr lang="zh-CN" altLang="en-US" dirty="0"/>
              <a:t>）</a:t>
            </a:r>
            <a:endParaRPr lang="en-US" altLang="zh-CN" dirty="0">
              <a:solidFill>
                <a:srgbClr val="0066FF"/>
              </a:solidFill>
            </a:endParaRPr>
          </a:p>
          <a:p>
            <a:pPr lvl="1">
              <a:buClr>
                <a:srgbClr val="A50021"/>
              </a:buClr>
              <a:buNone/>
            </a:pP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、类的导入；</a:t>
            </a:r>
            <a:r>
              <a:rPr lang="en-US" altLang="zh-CN" dirty="0">
                <a:solidFill>
                  <a:srgbClr val="0066FF"/>
                </a:solidFill>
              </a:rPr>
              <a:t>//</a:t>
            </a:r>
            <a:r>
              <a:rPr lang="zh-CN" altLang="en-US" dirty="0">
                <a:solidFill>
                  <a:srgbClr val="0066FF"/>
                </a:solidFill>
              </a:rPr>
              <a:t>用到其它位置中的类</a:t>
            </a:r>
            <a:endParaRPr lang="en-US" altLang="zh-CN" dirty="0">
              <a:solidFill>
                <a:srgbClr val="0066FF"/>
              </a:solidFill>
            </a:endParaRPr>
          </a:p>
          <a:p>
            <a:pPr lvl="1">
              <a:buClr>
                <a:srgbClr val="A50021"/>
              </a:buClr>
              <a:buNone/>
            </a:pP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、类的定义；</a:t>
            </a:r>
            <a:r>
              <a:rPr lang="en-US" altLang="zh-CN" dirty="0">
                <a:solidFill>
                  <a:srgbClr val="0066FF"/>
                </a:solidFill>
              </a:rPr>
              <a:t>//</a:t>
            </a:r>
            <a:r>
              <a:rPr lang="zh-CN" altLang="en-US" dirty="0">
                <a:solidFill>
                  <a:srgbClr val="0066FF"/>
                </a:solidFill>
              </a:rPr>
              <a:t>核心部分</a:t>
            </a:r>
            <a:endParaRPr lang="en-US" altLang="zh-CN" dirty="0">
              <a:solidFill>
                <a:srgbClr val="0066FF"/>
              </a:solidFill>
            </a:endParaRPr>
          </a:p>
          <a:p>
            <a:pPr lvl="1">
              <a:buClr>
                <a:srgbClr val="A50021"/>
              </a:buClr>
              <a:buNone/>
            </a:pPr>
            <a:endParaRPr lang="zh-CN" altLang="en-US" dirty="0">
              <a:solidFill>
                <a:srgbClr val="0066FF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Java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程序的基本结构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9891368"/>
      </p:ext>
    </p:extLst>
  </p:cSld>
  <p:clrMapOvr>
    <a:masterClrMapping/>
  </p:clrMapOvr>
  <p:transition spd="med">
    <p:pull dir="r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06719D-E2D8-573E-5FAA-61618C73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源文件基本语法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08C36-359F-108F-08C9-10034E00F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8B67F-45F3-F311-E1EA-CA53FFD6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624F0E-5F0E-67C0-EE7D-D59194011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199239"/>
            <a:ext cx="6639418" cy="31571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C82B4B-112C-42C4-99F3-D35EE99255D1}"/>
              </a:ext>
            </a:extLst>
          </p:cNvPr>
          <p:cNvSpPr txBox="1"/>
          <p:nvPr/>
        </p:nvSpPr>
        <p:spPr>
          <a:xfrm>
            <a:off x="611560" y="846586"/>
            <a:ext cx="526150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ea typeface="楷体" panose="02010609060101010101" pitchFamily="49" charset="-122"/>
              </a:rPr>
              <a:t>Java </a:t>
            </a:r>
            <a:r>
              <a:rPr lang="en-US" sz="2800" dirty="0" err="1">
                <a:ea typeface="楷体" panose="02010609060101010101" pitchFamily="49" charset="-122"/>
              </a:rPr>
              <a:t>源文件基本语法</a:t>
            </a:r>
            <a:endParaRPr lang="en-US" sz="2800" dirty="0">
              <a:ea typeface="楷体" panose="02010609060101010101" pitchFamily="49" charset="-122"/>
            </a:endParaRPr>
          </a:p>
          <a:p>
            <a:pPr lvl="1"/>
            <a:r>
              <a:rPr lang="en-US" altLang="zh-CN" sz="2800" dirty="0">
                <a:ea typeface="楷体" panose="02010609060101010101" pitchFamily="49" charset="-122"/>
              </a:rPr>
              <a:t>{&lt;</a:t>
            </a:r>
            <a:r>
              <a:rPr lang="zh-CN" altLang="en-US" sz="2800" dirty="0">
                <a:ea typeface="楷体" panose="02010609060101010101" pitchFamily="49" charset="-122"/>
              </a:rPr>
              <a:t>包声明</a:t>
            </a:r>
            <a:r>
              <a:rPr lang="en-US" altLang="zh-CN" sz="2800" dirty="0">
                <a:ea typeface="楷体" panose="02010609060101010101" pitchFamily="49" charset="-122"/>
              </a:rPr>
              <a:t>&gt;}</a:t>
            </a:r>
          </a:p>
          <a:p>
            <a:pPr lvl="1"/>
            <a:r>
              <a:rPr lang="en-US" altLang="zh-CN" sz="2800" dirty="0">
                <a:ea typeface="楷体" panose="02010609060101010101" pitchFamily="49" charset="-122"/>
              </a:rPr>
              <a:t>{&lt;</a:t>
            </a:r>
            <a:r>
              <a:rPr lang="zh-CN" altLang="en-US" sz="2800" dirty="0">
                <a:ea typeface="楷体" panose="02010609060101010101" pitchFamily="49" charset="-122"/>
              </a:rPr>
              <a:t>导入声明</a:t>
            </a:r>
            <a:r>
              <a:rPr lang="en-US" altLang="zh-CN" sz="2800" dirty="0">
                <a:ea typeface="楷体" panose="02010609060101010101" pitchFamily="49" charset="-122"/>
              </a:rPr>
              <a:t>&gt;}</a:t>
            </a:r>
          </a:p>
          <a:p>
            <a:pPr lvl="1"/>
            <a:r>
              <a:rPr lang="en-US" altLang="zh-CN" sz="2800" dirty="0">
                <a:ea typeface="楷体" panose="02010609060101010101" pitchFamily="49" charset="-122"/>
              </a:rPr>
              <a:t>{&lt;</a:t>
            </a:r>
            <a:r>
              <a:rPr lang="zh-CN" altLang="en-US" sz="2800" dirty="0">
                <a:ea typeface="楷体" panose="02010609060101010101" pitchFamily="49" charset="-122"/>
              </a:rPr>
              <a:t>类声明</a:t>
            </a:r>
            <a:r>
              <a:rPr lang="en-US" altLang="zh-CN" sz="2800" dirty="0">
                <a:ea typeface="楷体" panose="02010609060101010101" pitchFamily="49" charset="-122"/>
              </a:rPr>
              <a:t>&gt;}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800" dirty="0" err="1">
                <a:ea typeface="楷体" panose="02010609060101010101" pitchFamily="49" charset="-122"/>
              </a:rPr>
              <a:t>示例</a:t>
            </a:r>
            <a:r>
              <a:rPr lang="zh-CN" altLang="en-US" sz="2800" dirty="0">
                <a:ea typeface="楷体" panose="02010609060101010101" pitchFamily="49" charset="-122"/>
              </a:rPr>
              <a:t>：</a:t>
            </a:r>
            <a:r>
              <a:rPr lang="en-US" altLang="zh-CN" sz="2800" dirty="0" err="1">
                <a:ea typeface="楷体" panose="02010609060101010101" pitchFamily="49" charset="-122"/>
              </a:rPr>
              <a:t>HelloWorld.java</a:t>
            </a:r>
            <a:r>
              <a:rPr lang="zh-CN" altLang="en-US" sz="2800" dirty="0">
                <a:ea typeface="楷体" panose="02010609060101010101" pitchFamily="49" charset="-122"/>
              </a:rPr>
              <a:t> 文件：</a:t>
            </a:r>
            <a:endParaRPr lang="en-US" sz="2800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1595104"/>
      </p:ext>
    </p:extLst>
  </p:cSld>
  <p:clrMapOvr>
    <a:masterClrMapping/>
  </p:clrMapOvr>
  <p:transition spd="med">
    <p:pull dir="r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Student.java</a:t>
            </a:r>
            <a:r>
              <a:rPr lang="zh-CN" altLang="en-US" dirty="0"/>
              <a:t>（一个类放在一个源文件中）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F8B4BF-A40E-845E-6B0B-A1DADF865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196752"/>
            <a:ext cx="4968552" cy="365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66471"/>
      </p:ext>
    </p:extLst>
  </p:cSld>
  <p:clrMapOvr>
    <a:masterClrMapping/>
  </p:clrMapOvr>
  <p:transition spd="med">
    <p:pull dir="r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14350">
              <a:lnSpc>
                <a:spcPct val="150000"/>
              </a:lnSpc>
              <a:buFont typeface="+mj-ea"/>
              <a:buAutoNum type="ea1JpnChsDbPeriod"/>
            </a:pPr>
            <a:r>
              <a:rPr lang="en-US" altLang="zh-CN" sz="2800" b="1" dirty="0"/>
              <a:t> </a:t>
            </a:r>
            <a:r>
              <a:rPr lang="zh-CN" altLang="en-US" sz="2800" b="1" dirty="0"/>
              <a:t>定义类名</a:t>
            </a:r>
          </a:p>
          <a:p>
            <a:pPr marL="571500" indent="-514350">
              <a:lnSpc>
                <a:spcPct val="150000"/>
              </a:lnSpc>
              <a:buFont typeface="+mj-ea"/>
              <a:buAutoNum type="ea1JpnChsDbPeriod"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编写类的属性</a:t>
            </a:r>
          </a:p>
          <a:p>
            <a:pPr marL="571500" indent="-514350">
              <a:lnSpc>
                <a:spcPct val="150000"/>
              </a:lnSpc>
              <a:buFont typeface="+mj-ea"/>
              <a:buAutoNum type="ea1JpnChsDbPeriod"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编写类的方法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宋体" charset="-122"/>
              </a:rPr>
              <a:t>定义一个类的步骤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899592" y="357301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ea typeface="楷体" panose="02010609060101010101" pitchFamily="49" charset="-122"/>
              </a:rPr>
              <a:t>数据封装</a:t>
            </a:r>
          </a:p>
        </p:txBody>
      </p:sp>
    </p:spTree>
    <p:extLst>
      <p:ext uri="{BB962C8B-B14F-4D97-AF65-F5344CB8AC3E}">
        <p14:creationId xmlns:p14="http://schemas.microsoft.com/office/powerpoint/2010/main" val="3826316992"/>
      </p:ext>
    </p:extLst>
  </p:cSld>
  <p:clrMapOvr>
    <a:masterClrMapping/>
  </p:clrMapOvr>
  <p:transition spd="med">
    <p:pull dir="r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</a:rPr>
              <a:t>类的定义格式如下：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类的定义（</a:t>
            </a:r>
            <a:r>
              <a:rPr lang="en-US" altLang="zh-CN" dirty="0"/>
              <a:t>[]</a:t>
            </a:r>
            <a:r>
              <a:rPr lang="zh-CN" altLang="en-US" dirty="0"/>
              <a:t>代表可有可无）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28800"/>
            <a:ext cx="5559028" cy="3276600"/>
          </a:xfrm>
          <a:prstGeom prst="rect">
            <a:avLst/>
          </a:prstGeom>
          <a:noFill/>
          <a:ln w="9525">
            <a:solidFill>
              <a:srgbClr val="0099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ular Callout 7"/>
          <p:cNvSpPr/>
          <p:nvPr/>
        </p:nvSpPr>
        <p:spPr>
          <a:xfrm>
            <a:off x="5837705" y="678740"/>
            <a:ext cx="2376264" cy="936104"/>
          </a:xfrm>
          <a:prstGeom prst="wedgeRectCallout">
            <a:avLst>
              <a:gd name="adj1" fmla="val -173494"/>
              <a:gd name="adj2" fmla="val 689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关键字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class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表示类定义的开始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6022570" y="2204864"/>
            <a:ext cx="2365854" cy="936104"/>
          </a:xfrm>
          <a:prstGeom prst="wedgeRectCallout">
            <a:avLst>
              <a:gd name="adj1" fmla="val -143081"/>
              <a:gd name="adj2" fmla="val -575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SzPct val="50000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类名要符合标识符的命名规范</a:t>
            </a:r>
          </a:p>
        </p:txBody>
      </p:sp>
      <p:sp>
        <p:nvSpPr>
          <p:cNvPr id="11" name="Rectangular Callout 10"/>
          <p:cNvSpPr/>
          <p:nvPr/>
        </p:nvSpPr>
        <p:spPr>
          <a:xfrm>
            <a:off x="5853818" y="3645024"/>
            <a:ext cx="2174566" cy="1260376"/>
          </a:xfrm>
          <a:prstGeom prst="wedgeRectCallout">
            <a:avLst>
              <a:gd name="adj1" fmla="val -245793"/>
              <a:gd name="adj2" fmla="val -1717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SzPct val="50000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修饰符分为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SzPct val="50000"/>
            </a:pPr>
            <a:r>
              <a:rPr lang="zh-CN" alt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访问控制符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SzPct val="50000"/>
            </a:pPr>
            <a:r>
              <a:rPr lang="zh-CN" alt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类型说明符</a:t>
            </a:r>
          </a:p>
        </p:txBody>
      </p:sp>
    </p:spTree>
    <p:extLst>
      <p:ext uri="{BB962C8B-B14F-4D97-AF65-F5344CB8AC3E}">
        <p14:creationId xmlns:p14="http://schemas.microsoft.com/office/powerpoint/2010/main" val="1423460720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12800" indent="-812800">
              <a:lnSpc>
                <a:spcPct val="150000"/>
              </a:lnSpc>
              <a:buSzPct val="50000"/>
              <a:buFont typeface="Wingdings" panose="05000000000000000000" pitchFamily="2" charset="2"/>
              <a:buAutoNum type="ea1JpnChsDbPeriod"/>
            </a:pPr>
            <a:r>
              <a:rPr lang="zh-CN" altLang="en-US" sz="2800" dirty="0">
                <a:latin typeface="楷体" panose="02010609060101010101" pitchFamily="49" charset="-122"/>
              </a:rPr>
              <a:t>关键字</a:t>
            </a:r>
            <a:r>
              <a:rPr lang="en-US" altLang="zh-CN" sz="2800" dirty="0">
                <a:latin typeface="楷体" panose="02010609060101010101" pitchFamily="49" charset="-122"/>
              </a:rPr>
              <a:t>class</a:t>
            </a:r>
            <a:r>
              <a:rPr lang="zh-CN" altLang="en-US" sz="2800" dirty="0">
                <a:latin typeface="楷体" panose="02010609060101010101" pitchFamily="49" charset="-122"/>
              </a:rPr>
              <a:t>表示类定义的开始</a:t>
            </a:r>
          </a:p>
          <a:p>
            <a:pPr marL="812800" indent="-812800">
              <a:lnSpc>
                <a:spcPct val="150000"/>
              </a:lnSpc>
              <a:buSzPct val="50000"/>
              <a:buFont typeface="Wingdings" panose="05000000000000000000" pitchFamily="2" charset="2"/>
              <a:buAutoNum type="ea1JpnChsDbPeriod"/>
            </a:pPr>
            <a:r>
              <a:rPr lang="zh-CN" altLang="en-US" sz="2800" dirty="0">
                <a:latin typeface="楷体" panose="02010609060101010101" pitchFamily="49" charset="-122"/>
              </a:rPr>
              <a:t>类名要符合标识符的命名规范</a:t>
            </a:r>
            <a:endParaRPr lang="en-US" altLang="zh-CN" sz="2800" dirty="0">
              <a:latin typeface="楷体" panose="02010609060101010101" pitchFamily="49" charset="-122"/>
            </a:endParaRPr>
          </a:p>
          <a:p>
            <a:pPr marL="1212850" lvl="1" indent="-812800">
              <a:lnSpc>
                <a:spcPct val="150000"/>
              </a:lnSpc>
              <a:buSzPct val="50000"/>
              <a:buFont typeface="+mj-lt"/>
              <a:buAutoNum type="arabicPeriod"/>
            </a:pPr>
            <a:r>
              <a:rPr lang="zh-CN" altLang="en-US" sz="2400" dirty="0"/>
              <a:t>首字母大写</a:t>
            </a:r>
            <a:endParaRPr lang="en-US" altLang="zh-CN" sz="2400" dirty="0"/>
          </a:p>
          <a:p>
            <a:pPr marL="1212850" lvl="1" indent="-812800">
              <a:lnSpc>
                <a:spcPct val="150000"/>
              </a:lnSpc>
              <a:buSzPct val="50000"/>
              <a:buFont typeface="+mj-lt"/>
              <a:buAutoNum type="arabicPeriod"/>
            </a:pPr>
            <a:r>
              <a:rPr lang="zh-CN" altLang="en-US" sz="2400" dirty="0"/>
              <a:t>一个类名包含两个以上名词，建议使用驼峰命名</a:t>
            </a:r>
            <a:r>
              <a:rPr lang="en-US" altLang="zh-CN" sz="2400" dirty="0"/>
              <a:t>(Camel-Case)</a:t>
            </a:r>
            <a:r>
              <a:rPr lang="zh-CN" altLang="en-US" sz="2400" dirty="0"/>
              <a:t>法（</a:t>
            </a:r>
            <a:r>
              <a:rPr lang="en-US" altLang="zh-CN" sz="2400" dirty="0" err="1">
                <a:solidFill>
                  <a:srgbClr val="FF0000"/>
                </a:solidFill>
              </a:rPr>
              <a:t>S</a:t>
            </a:r>
            <a:r>
              <a:rPr lang="en-US" altLang="zh-CN" sz="2400" dirty="0" err="1"/>
              <a:t>tudent</a:t>
            </a:r>
            <a:r>
              <a:rPr lang="en-US" altLang="zh-CN" sz="2400" dirty="0" err="1">
                <a:solidFill>
                  <a:srgbClr val="FF0000"/>
                </a:solidFill>
              </a:rPr>
              <a:t>T</a:t>
            </a:r>
            <a:r>
              <a:rPr lang="en-US" altLang="zh-CN" sz="2400" dirty="0" err="1"/>
              <a:t>est</a:t>
            </a:r>
            <a:r>
              <a:rPr lang="zh-CN" altLang="en-US" sz="2400" dirty="0"/>
              <a:t>）</a:t>
            </a:r>
            <a:endParaRPr lang="en-US" altLang="zh-CN" sz="3200" dirty="0">
              <a:latin typeface="楷体" panose="02010609060101010101" pitchFamily="49" charset="-122"/>
            </a:endParaRPr>
          </a:p>
          <a:p>
            <a:pPr marL="812800" indent="-812800">
              <a:lnSpc>
                <a:spcPct val="150000"/>
              </a:lnSpc>
              <a:buSzPct val="50000"/>
              <a:buFont typeface="Wingdings" panose="05000000000000000000" pitchFamily="2" charset="2"/>
              <a:buAutoNum type="ea1JpnChsDbPeriod"/>
            </a:pPr>
            <a:r>
              <a:rPr lang="zh-CN" altLang="en-US" sz="2800" dirty="0">
                <a:latin typeface="楷体" panose="02010609060101010101" pitchFamily="49" charset="-122"/>
              </a:rPr>
              <a:t>修饰符（</a:t>
            </a:r>
            <a:r>
              <a:rPr lang="en-US" altLang="zh-CN" sz="2800" dirty="0">
                <a:latin typeface="楷体" panose="02010609060101010101" pitchFamily="49" charset="-122"/>
              </a:rPr>
              <a:t>modifier</a:t>
            </a:r>
            <a:r>
              <a:rPr lang="zh-CN" altLang="en-US" sz="2800" dirty="0">
                <a:latin typeface="楷体" panose="02010609060101010101" pitchFamily="49" charset="-122"/>
              </a:rPr>
              <a:t>）分为访问</a:t>
            </a:r>
            <a:r>
              <a:rPr lang="zh-CN" altLang="en-US" sz="2800" dirty="0" smtClean="0">
                <a:latin typeface="楷体" panose="02010609060101010101" pitchFamily="49" charset="-122"/>
              </a:rPr>
              <a:t>控制符（</a:t>
            </a:r>
            <a:r>
              <a:rPr lang="en-US" altLang="zh-CN" sz="2800" dirty="0" smtClean="0">
                <a:latin typeface="楷体" panose="02010609060101010101" pitchFamily="49" charset="-122"/>
              </a:rPr>
              <a:t>public</a:t>
            </a:r>
            <a:r>
              <a:rPr lang="zh-CN" altLang="en-US" sz="2800" dirty="0" smtClean="0">
                <a:latin typeface="楷体" panose="02010609060101010101" pitchFamily="49" charset="-122"/>
              </a:rPr>
              <a:t>）和</a:t>
            </a:r>
            <a:r>
              <a:rPr lang="zh-CN" altLang="en-US" sz="2800" dirty="0">
                <a:latin typeface="楷体" panose="02010609060101010101" pitchFamily="49" charset="-122"/>
              </a:rPr>
              <a:t>类型</a:t>
            </a:r>
            <a:r>
              <a:rPr lang="zh-CN" altLang="en-US" sz="2800" dirty="0" smtClean="0">
                <a:latin typeface="楷体" panose="02010609060101010101" pitchFamily="49" charset="-122"/>
              </a:rPr>
              <a:t>说明符（</a:t>
            </a:r>
            <a:r>
              <a:rPr lang="en-US" altLang="zh-CN" sz="2800" dirty="0" smtClean="0">
                <a:latin typeface="楷体" panose="02010609060101010101" pitchFamily="49" charset="-122"/>
              </a:rPr>
              <a:t>abstract</a:t>
            </a:r>
            <a:r>
              <a:rPr lang="zh-CN" altLang="en-US" sz="2800" dirty="0" smtClean="0">
                <a:latin typeface="楷体" panose="02010609060101010101" pitchFamily="49" charset="-122"/>
              </a:rPr>
              <a:t>）</a:t>
            </a:r>
            <a:endParaRPr lang="zh-CN" altLang="en-US" sz="2800" dirty="0">
              <a:latin typeface="楷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类的定义说明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7581651"/>
      </p:ext>
    </p:extLst>
  </p:cSld>
  <p:clrMapOvr>
    <a:masterClrMapping/>
  </p:clrMapOvr>
  <p:transition spd="med">
    <p:pull dir="r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</a:rPr>
              <a:t>类的访问控制符有两个，一个是</a:t>
            </a:r>
            <a:r>
              <a:rPr lang="en-US" altLang="zh-CN" dirty="0">
                <a:latin typeface="楷体" panose="02010609060101010101" pitchFamily="49" charset="-122"/>
              </a:rPr>
              <a:t>public</a:t>
            </a:r>
            <a:r>
              <a:rPr lang="zh-CN" altLang="en-US" dirty="0">
                <a:latin typeface="楷体" panose="02010609060101010101" pitchFamily="49" charset="-122"/>
              </a:rPr>
              <a:t>，即公共类，另一个就是默认，即没有访问控制符。</a:t>
            </a:r>
            <a:endParaRPr lang="en-US" altLang="zh-CN" dirty="0">
              <a:latin typeface="楷体" panose="02010609060101010101" pitchFamily="49" charset="-122"/>
            </a:endParaRPr>
          </a:p>
          <a:p>
            <a:pPr marL="990600" lvl="1" indent="-533400">
              <a:buSzPct val="50000"/>
              <a:buFont typeface="+mj-ea"/>
              <a:buAutoNum type="circleNumDbPlain"/>
            </a:pPr>
            <a:r>
              <a:rPr lang="zh-CN" altLang="en-US" dirty="0">
                <a:latin typeface="楷体" panose="02010609060101010101" pitchFamily="49" charset="-122"/>
              </a:rPr>
              <a:t>一个类被定义为公共类，就表示它能够被其它所有的类访问和引用。</a:t>
            </a:r>
            <a:endParaRPr lang="en-US" altLang="zh-CN" dirty="0">
              <a:latin typeface="楷体" panose="02010609060101010101" pitchFamily="49" charset="-122"/>
            </a:endParaRPr>
          </a:p>
          <a:p>
            <a:pPr marL="990600" lvl="1" indent="-533400">
              <a:buSzPct val="50000"/>
              <a:buFont typeface="+mj-ea"/>
              <a:buAutoNum type="circleNumDbPlain"/>
            </a:pPr>
            <a:r>
              <a:rPr lang="zh-CN" altLang="en-US" dirty="0">
                <a:latin typeface="楷体" panose="02010609060101010101" pitchFamily="49" charset="-122"/>
              </a:rPr>
              <a:t>在一个</a:t>
            </a:r>
            <a:r>
              <a:rPr lang="en-US" altLang="zh-CN" dirty="0">
                <a:latin typeface="楷体" panose="02010609060101010101" pitchFamily="49" charset="-122"/>
              </a:rPr>
              <a:t>Java</a:t>
            </a:r>
            <a:r>
              <a:rPr lang="zh-CN" altLang="en-US" dirty="0">
                <a:latin typeface="楷体" panose="02010609060101010101" pitchFamily="49" charset="-122"/>
              </a:rPr>
              <a:t>源程序中只能有一个</a:t>
            </a:r>
            <a:r>
              <a:rPr lang="en-US" altLang="zh-CN" dirty="0">
                <a:latin typeface="楷体" panose="02010609060101010101" pitchFamily="49" charset="-122"/>
              </a:rPr>
              <a:t>public</a:t>
            </a:r>
            <a:r>
              <a:rPr lang="zh-CN" altLang="en-US" dirty="0">
                <a:latin typeface="楷体" panose="02010609060101010101" pitchFamily="49" charset="-122"/>
              </a:rPr>
              <a:t>类，这个类一般含有</a:t>
            </a:r>
            <a:r>
              <a:rPr lang="en-US" altLang="zh-CN" dirty="0">
                <a:latin typeface="楷体" panose="02010609060101010101" pitchFamily="49" charset="-122"/>
              </a:rPr>
              <a:t>main</a:t>
            </a:r>
            <a:r>
              <a:rPr lang="zh-CN" altLang="en-US" dirty="0">
                <a:latin typeface="楷体" panose="02010609060101010101" pitchFamily="49" charset="-122"/>
              </a:rPr>
              <a:t>方法。</a:t>
            </a:r>
            <a:endParaRPr lang="en-US" altLang="zh-CN" dirty="0">
              <a:latin typeface="楷体" panose="02010609060101010101" pitchFamily="49" charset="-122"/>
            </a:endParaRPr>
          </a:p>
          <a:p>
            <a:pPr marL="990600" lvl="1" indent="-533400">
              <a:buSzPct val="50000"/>
              <a:buFont typeface="+mj-ea"/>
              <a:buAutoNum type="circleNumDbPlain"/>
            </a:pPr>
            <a:r>
              <a:rPr lang="zh-CN" altLang="en-US" dirty="0">
                <a:latin typeface="楷体" panose="02010609060101010101" pitchFamily="49" charset="-122"/>
              </a:rPr>
              <a:t>不用</a:t>
            </a:r>
            <a:r>
              <a:rPr lang="en-US" altLang="zh-CN" dirty="0">
                <a:latin typeface="楷体" panose="02010609060101010101" pitchFamily="49" charset="-122"/>
              </a:rPr>
              <a:t>public</a:t>
            </a:r>
            <a:r>
              <a:rPr lang="zh-CN" altLang="en-US" dirty="0">
                <a:latin typeface="楷体" panose="02010609060101010101" pitchFamily="49" charset="-122"/>
              </a:rPr>
              <a:t>定义的类，其只能被同一个包中定义的类访问和引用。</a:t>
            </a:r>
          </a:p>
          <a:p>
            <a:pPr marL="990600" lvl="1" indent="-533400">
              <a:buSzPct val="50000"/>
              <a:buFont typeface="+mj-ea"/>
              <a:buAutoNum type="circleNumDbPlain"/>
            </a:pPr>
            <a:r>
              <a:rPr lang="zh-CN" altLang="en-US" dirty="0">
                <a:latin typeface="楷体" panose="02010609060101010101" pitchFamily="49" charset="-122"/>
              </a:rPr>
              <a:t>在一个</a:t>
            </a:r>
            <a:r>
              <a:rPr lang="en-US" altLang="zh-CN" dirty="0">
                <a:latin typeface="楷体" panose="02010609060101010101" pitchFamily="49" charset="-122"/>
              </a:rPr>
              <a:t>JAVA</a:t>
            </a:r>
            <a:r>
              <a:rPr lang="zh-CN" altLang="en-US" dirty="0">
                <a:latin typeface="楷体" panose="02010609060101010101" pitchFamily="49" charset="-122"/>
              </a:rPr>
              <a:t>程序中可以定义多个这样的类。</a:t>
            </a:r>
          </a:p>
          <a:p>
            <a:pPr marL="457200" lvl="1" indent="0">
              <a:buSzPct val="50000"/>
              <a:buNone/>
            </a:pPr>
            <a:endParaRPr lang="zh-CN" altLang="en-US" dirty="0">
              <a:latin typeface="楷体" panose="02010609060101010101" pitchFamily="49" charset="-122"/>
            </a:endParaRPr>
          </a:p>
          <a:p>
            <a:pPr marL="457200" lvl="1" indent="0">
              <a:buSzPct val="50000"/>
              <a:buNone/>
            </a:pPr>
            <a:endParaRPr lang="zh-CN" altLang="en-US" dirty="0">
              <a:latin typeface="楷体" panose="02010609060101010101" pitchFamily="49" charset="-122"/>
            </a:endParaRPr>
          </a:p>
          <a:p>
            <a:pPr lvl="1"/>
            <a:endParaRPr lang="zh-CN" altLang="en-US" dirty="0"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访问控制符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5037200"/>
      </p:ext>
    </p:extLst>
  </p:cSld>
  <p:clrMapOvr>
    <a:masterClrMapping/>
  </p:clrMapOvr>
  <p:transition spd="med">
    <p:pull dir="r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r>
              <a:rPr lang="zh-CN" altLang="en-US" dirty="0">
                <a:latin typeface="楷体" panose="02010609060101010101" pitchFamily="49" charset="-122"/>
              </a:rPr>
              <a:t>取有意义的名字。</a:t>
            </a:r>
          </a:p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endParaRPr lang="zh-CN" altLang="en-US" dirty="0">
              <a:latin typeface="楷体" panose="02010609060101010101" pitchFamily="49" charset="-122"/>
            </a:endParaRPr>
          </a:p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r>
              <a:rPr lang="zh-CN" altLang="en-US" dirty="0">
                <a:latin typeface="楷体" panose="02010609060101010101" pitchFamily="49" charset="-122"/>
              </a:rPr>
              <a:t>尽量将数据设计为私有属性。</a:t>
            </a:r>
          </a:p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endParaRPr lang="zh-CN" altLang="en-US" dirty="0">
              <a:latin typeface="楷体" panose="02010609060101010101" pitchFamily="49" charset="-122"/>
            </a:endParaRPr>
          </a:p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r>
              <a:rPr lang="zh-CN" altLang="en-US" dirty="0">
                <a:latin typeface="楷体" panose="02010609060101010101" pitchFamily="49" charset="-122"/>
              </a:rPr>
              <a:t>尽量对变量进行初始化。</a:t>
            </a:r>
          </a:p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endParaRPr lang="zh-CN" altLang="en-US" dirty="0">
              <a:latin typeface="楷体" panose="02010609060101010101" pitchFamily="49" charset="-122"/>
            </a:endParaRPr>
          </a:p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r>
              <a:rPr lang="zh-CN" altLang="en-US" dirty="0">
                <a:latin typeface="楷体" panose="02010609060101010101" pitchFamily="49" charset="-122"/>
              </a:rPr>
              <a:t>类的功能尽量单一（原子、细粒度）。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类的设计原则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0934998"/>
      </p:ext>
    </p:extLst>
  </p:cSld>
  <p:clrMapOvr>
    <a:masterClrMapping/>
  </p:clrMapOvr>
  <p:transition spd="med">
    <p:pull dir="r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Student.java</a:t>
            </a:r>
            <a:r>
              <a:rPr lang="zh-CN" altLang="en-US" dirty="0"/>
              <a:t>（多个类放在一个源文件中））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AD38D0-CBF9-5C68-B6AC-ADFB85987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48680"/>
            <a:ext cx="5842992" cy="5351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489758"/>
            <a:ext cx="4752528" cy="10681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755" y="4844182"/>
            <a:ext cx="3384376" cy="1512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11FE8-56DA-C59B-B5AF-A063F5495D73}"/>
              </a:ext>
            </a:extLst>
          </p:cNvPr>
          <p:cNvSpPr txBox="1"/>
          <p:nvPr/>
        </p:nvSpPr>
        <p:spPr>
          <a:xfrm>
            <a:off x="6107360" y="1515039"/>
            <a:ext cx="26411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anose="02010609060101010101" pitchFamily="49" charset="-122"/>
              </a:rPr>
              <a:t>Java</a:t>
            </a:r>
            <a:r>
              <a:rPr lang="zh-CN" altLang="en-US" sz="24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anose="02010609060101010101" pitchFamily="49" charset="-122"/>
              </a:rPr>
              <a:t>允许在一个</a:t>
            </a:r>
            <a:r>
              <a:rPr lang="en-US" altLang="zh-CN" sz="24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anose="02010609060101010101" pitchFamily="49" charset="-122"/>
              </a:rPr>
              <a:t>Java</a:t>
            </a:r>
            <a:r>
              <a:rPr lang="zh-CN" altLang="en-US" sz="24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anose="02010609060101010101" pitchFamily="49" charset="-122"/>
              </a:rPr>
              <a:t>源文件中编写多个类，但其中的多个类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anose="02010609060101010101" pitchFamily="49" charset="-122"/>
              </a:rPr>
              <a:t>至多只能有一个</a:t>
            </a:r>
            <a:r>
              <a:rPr lang="zh-CN" altLang="en-US" sz="24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anose="02010609060101010101" pitchFamily="49" charset="-122"/>
              </a:rPr>
              <a:t>类使用</a:t>
            </a:r>
            <a:r>
              <a:rPr lang="en-US" altLang="zh-CN" sz="24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anose="02010609060101010101" pitchFamily="49" charset="-122"/>
              </a:rPr>
              <a:t>public</a:t>
            </a:r>
            <a:r>
              <a:rPr lang="zh-CN" altLang="en-US" sz="2400" dirty="0">
                <a:effectLst>
                  <a:outerShdw blurRad="38100" dist="38100" dir="2700000" algn="tl">
                    <a:srgbClr val="FFFFFF"/>
                  </a:outerShdw>
                </a:effectLst>
                <a:ea typeface="楷体" panose="02010609060101010101" pitchFamily="49" charset="-122"/>
              </a:rPr>
              <a:t>修饰。</a:t>
            </a:r>
          </a:p>
        </p:txBody>
      </p:sp>
    </p:spTree>
    <p:extLst>
      <p:ext uri="{BB962C8B-B14F-4D97-AF65-F5344CB8AC3E}">
        <p14:creationId xmlns:p14="http://schemas.microsoft.com/office/powerpoint/2010/main" val="1234098230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类的定义</a:t>
            </a:r>
            <a:r>
              <a:rPr lang="en-US" altLang="zh-CN" dirty="0"/>
              <a:t>-</a:t>
            </a:r>
            <a:r>
              <a:rPr lang="zh-CN" altLang="en-US" dirty="0"/>
              <a:t>类属性分析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/>
          <a:lstStyle/>
          <a:p>
            <a:r>
              <a:rPr lang="zh-CN" altLang="en-US" sz="2800" dirty="0">
                <a:latin typeface="楷体" panose="02010609060101010101" pitchFamily="49" charset="-122"/>
              </a:rPr>
              <a:t>有两个方面，一方面是它的静态属性</a:t>
            </a:r>
            <a:r>
              <a:rPr lang="en-US" altLang="zh-CN" sz="2800" dirty="0">
                <a:latin typeface="楷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</a:rPr>
              <a:t>状态</a:t>
            </a:r>
            <a:r>
              <a:rPr lang="en-US" altLang="zh-CN" sz="2800" dirty="0">
                <a:latin typeface="楷体" panose="02010609060101010101" pitchFamily="49" charset="-122"/>
              </a:rPr>
              <a:t>)</a:t>
            </a:r>
            <a:r>
              <a:rPr lang="zh-CN" altLang="en-US" sz="2800" dirty="0">
                <a:latin typeface="楷体" panose="02010609060101010101" pitchFamily="49" charset="-122"/>
              </a:rPr>
              <a:t>，另一方面是它的动态属性（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</a:rPr>
              <a:t>行为</a:t>
            </a:r>
            <a:r>
              <a:rPr lang="zh-CN" altLang="en-US" sz="2800" dirty="0">
                <a:latin typeface="楷体" panose="02010609060101010101" pitchFamily="49" charset="-122"/>
              </a:rPr>
              <a:t>）。</a:t>
            </a:r>
            <a:r>
              <a:rPr lang="zh-CN" altLang="en-US" sz="2800" b="1" i="1" dirty="0">
                <a:solidFill>
                  <a:srgbClr val="FF0000"/>
                </a:solidFill>
                <a:latin typeface="楷体" panose="02010609060101010101" pitchFamily="49" charset="-122"/>
              </a:rPr>
              <a:t>反映到</a:t>
            </a:r>
            <a:r>
              <a:rPr lang="en-US" altLang="zh-CN" sz="2800" b="1" i="1" dirty="0">
                <a:solidFill>
                  <a:srgbClr val="FF0000"/>
                </a:solidFill>
                <a:latin typeface="楷体" panose="02010609060101010101" pitchFamily="49" charset="-122"/>
              </a:rPr>
              <a:t>JAVA</a:t>
            </a:r>
            <a:r>
              <a:rPr lang="zh-CN" altLang="en-US" sz="2800" b="1" i="1" dirty="0">
                <a:solidFill>
                  <a:srgbClr val="FF0000"/>
                </a:solidFill>
                <a:latin typeface="楷体" panose="02010609060101010101" pitchFamily="49" charset="-122"/>
              </a:rPr>
              <a:t>里面的类怎么包装它呢？一方面成员变量，另一方面是方法。</a:t>
            </a:r>
          </a:p>
          <a:p>
            <a:r>
              <a:rPr lang="zh-CN" altLang="en-US" sz="2800" dirty="0">
                <a:latin typeface="楷体" panose="02010609060101010101" pitchFamily="49" charset="-122"/>
              </a:rPr>
              <a:t>例如：职员这个类该怎么抽象出来？</a:t>
            </a:r>
            <a:endParaRPr lang="en-US" altLang="zh-CN" sz="2800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也是从两个方面，一方面是它的静态属性，另一方面它的动态属性</a:t>
            </a:r>
          </a:p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789040"/>
            <a:ext cx="7560840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4113462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692696"/>
            <a:ext cx="8676456" cy="5760640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</a:rPr>
              <a:t>对象与类的概念</a:t>
            </a:r>
            <a:endParaRPr lang="en-US" altLang="zh-CN" dirty="0">
              <a:latin typeface="楷体" panose="02010609060101010101" pitchFamily="49" charset="-122"/>
            </a:endParaRPr>
          </a:p>
          <a:p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</a:rPr>
              <a:t>类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</a:rPr>
              <a:t>的设计与定义</a:t>
            </a:r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</a:rPr>
              <a:t>成员变量定义</a:t>
            </a:r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构造函数定义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成员方法定义</a:t>
            </a:r>
            <a:endParaRPr lang="en-US" altLang="zh-CN" dirty="0">
              <a:latin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</a:rPr>
              <a:t>类之间的关系</a:t>
            </a:r>
            <a:endParaRPr lang="en-US" altLang="zh-CN" dirty="0">
              <a:latin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本节主要内容：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2915671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 dirty="0"/>
              <a:t>事物的特性</a:t>
            </a:r>
            <a:r>
              <a:rPr lang="en-US" altLang="zh-CN" dirty="0"/>
              <a:t>,</a:t>
            </a:r>
            <a:r>
              <a:rPr lang="zh-CN" altLang="en-US" dirty="0"/>
              <a:t>在类中表示为变量</a:t>
            </a:r>
          </a:p>
          <a:p>
            <a:pPr>
              <a:lnSpc>
                <a:spcPct val="115000"/>
              </a:lnSpc>
            </a:pPr>
            <a:r>
              <a:rPr lang="zh-CN" altLang="en-GB" dirty="0"/>
              <a:t>每个对象的每个属性都拥有其特有的值</a:t>
            </a:r>
          </a:p>
          <a:p>
            <a:pPr>
              <a:lnSpc>
                <a:spcPct val="115000"/>
              </a:lnSpc>
            </a:pPr>
            <a:r>
              <a:rPr lang="zh-CN" altLang="en-GB" dirty="0"/>
              <a:t>属性名称由类的所有实例共享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itchFamily="18" charset="0"/>
              </a:rPr>
              <a:t>成员变量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3851275" y="4005263"/>
            <a:ext cx="1152525" cy="503237"/>
          </a:xfrm>
          <a:prstGeom prst="rect">
            <a:avLst/>
          </a:prstGeom>
          <a:gradFill rotWithShape="1">
            <a:gsLst>
              <a:gs pos="0">
                <a:srgbClr val="FFCC99"/>
              </a:gs>
              <a:gs pos="50000">
                <a:srgbClr val="FFFFFF"/>
              </a:gs>
              <a:gs pos="100000">
                <a:srgbClr val="FFCC99"/>
              </a:gs>
            </a:gsLst>
            <a:lin ang="5400000" scaled="1"/>
          </a:gradFill>
          <a:ln w="95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ea typeface="楷体" panose="02010609060101010101" pitchFamily="49" charset="-122"/>
              </a:rPr>
              <a:t>住址</a:t>
            </a:r>
          </a:p>
        </p:txBody>
      </p:sp>
      <p:sp>
        <p:nvSpPr>
          <p:cNvPr id="8" name="Rectangle 19"/>
          <p:cNvSpPr>
            <a:spLocks noChangeArrowheads="1"/>
          </p:cNvSpPr>
          <p:nvPr/>
        </p:nvSpPr>
        <p:spPr bwMode="auto">
          <a:xfrm>
            <a:off x="3997325" y="3213100"/>
            <a:ext cx="792163" cy="431800"/>
          </a:xfrm>
          <a:prstGeom prst="rect">
            <a:avLst/>
          </a:prstGeom>
          <a:gradFill rotWithShape="1">
            <a:gsLst>
              <a:gs pos="0">
                <a:srgbClr val="FFCC99"/>
              </a:gs>
              <a:gs pos="50000">
                <a:srgbClr val="FFFFFF"/>
              </a:gs>
              <a:gs pos="100000">
                <a:srgbClr val="FFCC99"/>
              </a:gs>
            </a:gsLst>
            <a:lin ang="5400000" scaled="1"/>
          </a:gradFill>
          <a:ln w="9525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ea typeface="楷体" panose="02010609060101010101" pitchFamily="49" charset="-122"/>
              </a:rPr>
              <a:t>姓名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V="1">
            <a:off x="2700338" y="3390900"/>
            <a:ext cx="1274762" cy="541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2700338" y="422116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2700338" y="4508500"/>
            <a:ext cx="1296987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4791075" y="3368675"/>
            <a:ext cx="1582738" cy="781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>
            <a:off x="5003800" y="429260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 flipV="1">
            <a:off x="4787900" y="4508500"/>
            <a:ext cx="15843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6229350" y="3860800"/>
            <a:ext cx="1943100" cy="8636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CCFFCC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8000"/>
            </a:solidFill>
            <a:round/>
            <a:headEnd/>
            <a:tailEnd/>
          </a:ln>
          <a:effectLst>
            <a:prstShdw prst="shdw13" dist="81320" dir="19280412">
              <a:schemeClr val="bg2">
                <a:alpha val="50000"/>
              </a:schemeClr>
            </a:prstShdw>
          </a:effec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1" dirty="0">
                <a:ea typeface="楷体" panose="02010609060101010101" pitchFamily="49" charset="-122"/>
              </a:rPr>
              <a:t>属性</a:t>
            </a:r>
          </a:p>
        </p:txBody>
      </p:sp>
      <p:sp>
        <p:nvSpPr>
          <p:cNvPr id="16" name="Rectangle 26"/>
          <p:cNvSpPr>
            <a:spLocks noChangeArrowheads="1"/>
          </p:cNvSpPr>
          <p:nvPr/>
        </p:nvSpPr>
        <p:spPr bwMode="auto">
          <a:xfrm>
            <a:off x="3995738" y="4868863"/>
            <a:ext cx="792162" cy="503237"/>
          </a:xfrm>
          <a:prstGeom prst="rect">
            <a:avLst/>
          </a:prstGeom>
          <a:gradFill rotWithShape="1">
            <a:gsLst>
              <a:gs pos="0">
                <a:srgbClr val="FFCC99"/>
              </a:gs>
              <a:gs pos="50000">
                <a:srgbClr val="FFFFFF"/>
              </a:gs>
              <a:gs pos="100000">
                <a:srgbClr val="FFCC99"/>
              </a:gs>
            </a:gsLst>
            <a:lin ang="5400000" scaled="1"/>
          </a:gradFill>
          <a:ln w="9525" algn="ctr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ea typeface="楷体" panose="02010609060101010101" pitchFamily="49" charset="-122"/>
              </a:rPr>
              <a:t>年龄</a:t>
            </a:r>
          </a:p>
        </p:txBody>
      </p:sp>
      <p:sp>
        <p:nvSpPr>
          <p:cNvPr id="17" name="AutoShape 28"/>
          <p:cNvSpPr>
            <a:spLocks noChangeArrowheads="1"/>
          </p:cNvSpPr>
          <p:nvPr/>
        </p:nvSpPr>
        <p:spPr bwMode="auto">
          <a:xfrm>
            <a:off x="971550" y="5661025"/>
            <a:ext cx="6551613" cy="5762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CC00"/>
              </a:gs>
              <a:gs pos="100000">
                <a:srgbClr val="FFFFFF"/>
              </a:gs>
            </a:gsLst>
            <a:path path="rect">
              <a:fillToRect r="100000" b="100000"/>
            </a:path>
          </a:gradFill>
          <a:ln w="6350" algn="ctr">
            <a:solidFill>
              <a:srgbClr val="808000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zh-CN" altLang="en-GB" b="1" dirty="0">
                <a:solidFill>
                  <a:srgbClr val="FF0000"/>
                </a:solidFill>
                <a:latin typeface="Arial"/>
                <a:ea typeface="楷体" panose="02010609060101010101" pitchFamily="49" charset="-122"/>
              </a:rPr>
              <a:t>“</a:t>
            </a:r>
            <a:r>
              <a:rPr lang="zh-CN" altLang="en-GB" b="1" dirty="0">
                <a:solidFill>
                  <a:srgbClr val="FF0000"/>
                </a:solidFill>
                <a:latin typeface="Courier New" pitchFamily="49" charset="0"/>
                <a:ea typeface="楷体" panose="02010609060101010101" pitchFamily="49" charset="-122"/>
              </a:rPr>
              <a:t>在类中表示对象或实体拥有的特性时称为属性</a:t>
            </a:r>
            <a:r>
              <a:rPr lang="zh-CN" altLang="en-US" b="1" dirty="0">
                <a:solidFill>
                  <a:srgbClr val="FF0000"/>
                </a:solidFill>
                <a:latin typeface="Courier New" pitchFamily="49" charset="0"/>
                <a:ea typeface="楷体" panose="02010609060101010101" pitchFamily="49" charset="-122"/>
              </a:rPr>
              <a:t> </a:t>
            </a:r>
            <a:r>
              <a:rPr lang="zh-CN" altLang="en-GB" b="1" dirty="0">
                <a:solidFill>
                  <a:srgbClr val="FF0000"/>
                </a:solidFill>
                <a:latin typeface="Arial"/>
                <a:ea typeface="楷体" panose="02010609060101010101" pitchFamily="49" charset="-122"/>
              </a:rPr>
              <a:t>”</a:t>
            </a:r>
            <a:endParaRPr lang="zh-CN" altLang="en-US" b="1" dirty="0">
              <a:solidFill>
                <a:srgbClr val="FF0000"/>
              </a:solidFill>
              <a:latin typeface="Courier New" pitchFamily="49" charset="0"/>
              <a:ea typeface="楷体" panose="02010609060101010101" pitchFamily="49" charset="-122"/>
            </a:endParaRPr>
          </a:p>
        </p:txBody>
      </p:sp>
      <p:grpSp>
        <p:nvGrpSpPr>
          <p:cNvPr id="18" name="Group 33"/>
          <p:cNvGrpSpPr>
            <a:grpSpLocks/>
          </p:cNvGrpSpPr>
          <p:nvPr/>
        </p:nvGrpSpPr>
        <p:grpSpPr bwMode="auto">
          <a:xfrm>
            <a:off x="612775" y="3789363"/>
            <a:ext cx="2087563" cy="792162"/>
            <a:chOff x="340" y="2251"/>
            <a:chExt cx="1406" cy="680"/>
          </a:xfrm>
        </p:grpSpPr>
        <p:sp>
          <p:nvSpPr>
            <p:cNvPr id="19" name="Rectangle 31"/>
            <p:cNvSpPr>
              <a:spLocks noChangeArrowheads="1"/>
            </p:cNvSpPr>
            <p:nvPr/>
          </p:nvSpPr>
          <p:spPr bwMode="auto">
            <a:xfrm>
              <a:off x="340" y="2251"/>
              <a:ext cx="1406" cy="680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7EDA82"/>
                </a:gs>
              </a:gsLst>
              <a:path path="shape">
                <a:fillToRect l="50000" t="50000" r="50000" b="50000"/>
              </a:path>
            </a:gradFill>
            <a:ln w="12700" algn="ctr">
              <a:solidFill>
                <a:srgbClr val="008000"/>
              </a:solidFill>
              <a:miter lim="800000"/>
              <a:headEnd/>
              <a:tailEnd/>
            </a:ln>
            <a:effectLst>
              <a:prstShdw prst="shdw13" dist="53882" dir="13500000">
                <a:schemeClr val="bg2">
                  <a:alpha val="50000"/>
                </a:schemeClr>
              </a:prstShdw>
            </a:effec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20" name="Text Box 32"/>
            <p:cNvSpPr txBox="1">
              <a:spLocks noChangeArrowheads="1"/>
            </p:cNvSpPr>
            <p:nvPr/>
          </p:nvSpPr>
          <p:spPr bwMode="auto">
            <a:xfrm>
              <a:off x="443" y="2432"/>
              <a:ext cx="1167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71842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0"/>
                </a:spcBef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20000"/>
                </a:spcBef>
              </a:pPr>
              <a:r>
                <a:rPr lang="zh-CN" altLang="en-US" b="1" dirty="0">
                  <a:latin typeface="Courier New" pitchFamily="49" charset="0"/>
                  <a:ea typeface="楷体" panose="02010609060101010101" pitchFamily="49" charset="-122"/>
                </a:rPr>
                <a:t>促销员对象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1150760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08721"/>
            <a:ext cx="8229600" cy="5328591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</a:rPr>
              <a:t>成员变量的定义格式：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[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修饰符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] 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变量的数据类型 变量名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[=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初始值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]</a:t>
            </a:r>
          </a:p>
          <a:p>
            <a:r>
              <a:rPr lang="zh-CN" altLang="en-US" dirty="0">
                <a:latin typeface="楷体" panose="02010609060101010101" pitchFamily="49" charset="-122"/>
              </a:rPr>
              <a:t>修饰符主要有四种，分别是：</a:t>
            </a:r>
            <a:endParaRPr lang="en-US" altLang="zh-CN" dirty="0">
              <a:latin typeface="楷体" panose="02010609060101010101" pitchFamily="49" charset="-122"/>
            </a:endParaRPr>
          </a:p>
          <a:p>
            <a:pPr marL="1168400" lvl="1" indent="-711200">
              <a:buFont typeface="+mj-ea"/>
              <a:buAutoNum type="circleNumDbPlain"/>
            </a:pP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public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、</a:t>
            </a:r>
          </a:p>
          <a:p>
            <a:pPr marL="1168400" lvl="1" indent="-711200">
              <a:buFont typeface="+mj-ea"/>
              <a:buAutoNum type="circleNumDbPlain"/>
            </a:pP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private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、</a:t>
            </a:r>
          </a:p>
          <a:p>
            <a:pPr marL="1168400" lvl="1" indent="-711200">
              <a:buFont typeface="+mj-ea"/>
              <a:buAutoNum type="circleNumDbPlain"/>
            </a:pP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protected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、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pPr marL="1168400" lvl="1" indent="-711200">
              <a:buFont typeface="+mj-ea"/>
              <a:buAutoNum type="circleNumDbPlain"/>
            </a:pP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final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、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pPr marL="1168400" lvl="1" indent="-711200">
              <a:buFont typeface="+mj-ea"/>
              <a:buAutoNum type="circleNumDbPlain"/>
            </a:pP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this(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大多数可以省略，实例变量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) 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、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pPr marL="1168400" lvl="1" indent="-711200">
              <a:buFont typeface="+mj-ea"/>
              <a:buAutoNum type="circleNumDbPlain"/>
            </a:pP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static(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类变量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、</a:t>
            </a:r>
          </a:p>
          <a:p>
            <a:pPr marL="1168400" lvl="1" indent="-711200">
              <a:buFont typeface="+mj-ea"/>
              <a:buAutoNum type="circleNumDbPlain"/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默认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pPr lvl="1"/>
            <a:endParaRPr lang="zh-CN" altLang="en-US" dirty="0">
              <a:latin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成员变量的定义（</a:t>
            </a:r>
            <a:r>
              <a:rPr lang="en-US" altLang="zh-CN" dirty="0"/>
              <a:t>[]</a:t>
            </a:r>
            <a:r>
              <a:rPr lang="zh-CN" altLang="en-US" dirty="0"/>
              <a:t>代表可有可无）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5662570"/>
      </p:ext>
    </p:extLst>
  </p:cSld>
  <p:clrMapOvr>
    <a:masterClrMapping/>
  </p:clrMapOvr>
  <p:transition spd="med">
    <p:pull dir="r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访问级别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pic>
        <p:nvPicPr>
          <p:cNvPr id="2050" name="Picture 2" descr="https://www.hollischuang.com/wp-content/uploads/2016/03/access-leve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7" y="1412776"/>
            <a:ext cx="9114331" cy="2768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1331640" y="5805264"/>
            <a:ext cx="5682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From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：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ea typeface="楷体" panose="02010609060101010101" pitchFamily="49" charset="-122"/>
              </a:rPr>
              <a:t>https://blog.csdn.net/w372426096/article/details/78012551</a:t>
            </a:r>
            <a:endParaRPr lang="en-US" sz="1600" dirty="0">
              <a:solidFill>
                <a:schemeClr val="bg1">
                  <a:lumMod val="50000"/>
                </a:schemeClr>
              </a:solidFill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7929352"/>
      </p:ext>
    </p:extLst>
  </p:cSld>
  <p:clrMapOvr>
    <a:masterClrMapping/>
  </p:clrMapOvr>
  <p:transition spd="med">
    <p:pull dir="r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</a:rPr>
              <a:t>类的成员变量可以是基本类型或数组，也可以是类的对象。</a:t>
            </a:r>
            <a:endParaRPr lang="en-US" altLang="zh-CN" dirty="0">
              <a:latin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</a:rPr>
              <a:t>类的成员方法用于处理该类的数据，是用户与对象之间或对象之间的交互接口。</a:t>
            </a:r>
            <a:endParaRPr lang="en-US" altLang="zh-CN" dirty="0"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成员变量类型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158273"/>
      </p:ext>
    </p:extLst>
  </p:cSld>
  <p:clrMapOvr>
    <a:masterClrMapping/>
  </p:clrMapOvr>
  <p:transition spd="med">
    <p:pull dir="r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5544616"/>
          </a:xfrm>
        </p:spPr>
        <p:txBody>
          <a:bodyPr/>
          <a:lstStyle/>
          <a:p>
            <a:r>
              <a:rPr lang="zh-CN" altLang="en-US" sz="2800" dirty="0">
                <a:latin typeface="楷体" panose="02010609060101010101" pitchFamily="49" charset="-122"/>
              </a:rPr>
              <a:t>类的设计是细粒度的</a:t>
            </a:r>
            <a:endParaRPr lang="en-US" altLang="zh-CN" sz="2800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例如：公司员工拥有地址，包括公司地址和家庭地址，一般我们会单独编写地址类（</a:t>
            </a:r>
            <a:r>
              <a:rPr lang="en-US" altLang="zh-CN" dirty="0">
                <a:latin typeface="楷体" panose="02010609060101010101" pitchFamily="49" charset="-122"/>
              </a:rPr>
              <a:t>Address</a:t>
            </a:r>
            <a:r>
              <a:rPr lang="zh-CN" altLang="en-US" dirty="0">
                <a:latin typeface="楷体" panose="02010609060101010101" pitchFamily="49" charset="-122"/>
              </a:rPr>
              <a:t>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endParaRPr lang="en-US" altLang="zh-CN" dirty="0">
              <a:latin typeface="楷体" panose="02010609060101010101" pitchFamily="49" charset="-122"/>
            </a:endParaRPr>
          </a:p>
          <a:p>
            <a:endParaRPr lang="en-US" altLang="zh-CN" sz="2800" dirty="0">
              <a:latin typeface="楷体" panose="02010609060101010101" pitchFamily="49" charset="-122"/>
            </a:endParaRPr>
          </a:p>
          <a:p>
            <a:endParaRPr lang="en-US" altLang="zh-CN" sz="2800" dirty="0">
              <a:latin typeface="楷体" panose="02010609060101010101" pitchFamily="49" charset="-122"/>
            </a:endParaRPr>
          </a:p>
          <a:p>
            <a:endParaRPr lang="en-US" altLang="zh-CN" sz="2800" dirty="0">
              <a:latin typeface="楷体" panose="02010609060101010101" pitchFamily="49" charset="-122"/>
            </a:endParaRPr>
          </a:p>
          <a:p>
            <a:endParaRPr lang="en-US" altLang="zh-CN" sz="2800" dirty="0">
              <a:latin typeface="楷体" panose="02010609060101010101" pitchFamily="49" charset="-122"/>
            </a:endParaRPr>
          </a:p>
          <a:p>
            <a:r>
              <a:rPr lang="zh-CN" altLang="zh-CN" sz="2800" dirty="0">
                <a:latin typeface="楷体" panose="02010609060101010101" pitchFamily="49" charset="-122"/>
              </a:rPr>
              <a:t>从编程需求出发，不需要的不考虑</a:t>
            </a:r>
            <a:r>
              <a:rPr lang="zh-CN" altLang="en-US" sz="2800" dirty="0">
                <a:latin typeface="楷体" panose="02010609060101010101" pitchFamily="49" charset="-122"/>
              </a:rPr>
              <a:t>，</a:t>
            </a:r>
            <a:r>
              <a:rPr lang="zh-CN" altLang="zh-CN" sz="2800" u="sng" dirty="0">
                <a:solidFill>
                  <a:srgbClr val="C00000"/>
                </a:solidFill>
                <a:latin typeface="楷体" panose="02010609060101010101" pitchFamily="49" charset="-122"/>
              </a:rPr>
              <a:t>所有的属性和方法，都是在编程中所需要用到的</a:t>
            </a:r>
            <a:r>
              <a:rPr lang="zh-CN" altLang="zh-CN" sz="2800" u="sng" dirty="0" smtClean="0">
                <a:solidFill>
                  <a:srgbClr val="C00000"/>
                </a:solidFill>
                <a:latin typeface="楷体" panose="02010609060101010101" pitchFamily="49" charset="-122"/>
              </a:rPr>
              <a:t>。</a:t>
            </a:r>
            <a:endParaRPr lang="en-US" altLang="zh-CN" sz="2800" u="sng" dirty="0">
              <a:solidFill>
                <a:srgbClr val="C00000"/>
              </a:solidFill>
              <a:latin typeface="楷体" panose="02010609060101010101" pitchFamily="49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itchFamily="18" charset="0"/>
              </a:rPr>
              <a:t>成员变量</a:t>
            </a:r>
            <a:r>
              <a:rPr lang="zh-CN" altLang="en-US" dirty="0"/>
              <a:t>类型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276872"/>
            <a:ext cx="3552601" cy="248825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290900"/>
      </p:ext>
    </p:extLst>
  </p:cSld>
  <p:clrMapOvr>
    <a:masterClrMapping/>
  </p:clrMapOvr>
  <p:transition spd="med">
    <p:pull dir="r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</a:rPr>
              <a:t>首字母小写</a:t>
            </a:r>
            <a:endParaRPr lang="en-US" altLang="zh-CN" dirty="0">
              <a:latin typeface="楷体" panose="02010609060101010101" pitchFamily="49" charset="-122"/>
            </a:endParaRP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/>
              <a:t>一个变量名包含两个以上名词，从第二词开始建议使用驼峰命名</a:t>
            </a:r>
            <a:r>
              <a:rPr lang="en-US" altLang="zh-CN" dirty="0"/>
              <a:t>(Camel-Case)</a:t>
            </a:r>
            <a:r>
              <a:rPr lang="zh-CN" altLang="en-US" dirty="0"/>
              <a:t>法（</a:t>
            </a:r>
            <a:r>
              <a:rPr lang="en-US" altLang="zh-CN" dirty="0" err="1"/>
              <a:t>student</a:t>
            </a:r>
            <a:r>
              <a:rPr lang="en-US" altLang="zh-CN" dirty="0" err="1">
                <a:solidFill>
                  <a:srgbClr val="FF0000"/>
                </a:solidFill>
              </a:rPr>
              <a:t>N</a:t>
            </a:r>
            <a:r>
              <a:rPr lang="en-US" altLang="zh-CN" dirty="0" err="1"/>
              <a:t>ame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成员变量命名规范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060188"/>
      </p:ext>
    </p:extLst>
  </p:cSld>
  <p:clrMapOvr>
    <a:masterClrMapping/>
  </p:clrMapOvr>
  <p:transition spd="med">
    <p:pull dir="r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r>
              <a:rPr lang="zh-CN" altLang="en-US" dirty="0">
                <a:latin typeface="楷体" panose="02010609060101010101" pitchFamily="49" charset="-122"/>
              </a:rPr>
              <a:t>取有意义的名字。</a:t>
            </a:r>
          </a:p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endParaRPr lang="zh-CN" altLang="en-US" dirty="0">
              <a:latin typeface="楷体" panose="02010609060101010101" pitchFamily="49" charset="-122"/>
            </a:endParaRPr>
          </a:p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r>
              <a:rPr lang="zh-CN" altLang="en-US" dirty="0">
                <a:latin typeface="楷体" panose="02010609060101010101" pitchFamily="49" charset="-122"/>
              </a:rPr>
              <a:t>尽量将数据设计为私有属性。</a:t>
            </a:r>
          </a:p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endParaRPr lang="zh-CN" altLang="en-US" dirty="0">
              <a:latin typeface="楷体" panose="02010609060101010101" pitchFamily="49" charset="-122"/>
            </a:endParaRPr>
          </a:p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r>
              <a:rPr lang="zh-CN" altLang="en-US" dirty="0">
                <a:latin typeface="楷体" panose="02010609060101010101" pitchFamily="49" charset="-122"/>
              </a:rPr>
              <a:t>尽量对变量进行初始化。</a:t>
            </a:r>
          </a:p>
          <a:p>
            <a:pPr marL="812800" indent="-812800">
              <a:buSzPct val="50000"/>
              <a:buFont typeface="Wingdings" panose="05000000000000000000" pitchFamily="2" charset="2"/>
              <a:buAutoNum type="ea1JpnChsDbPeriod"/>
            </a:pPr>
            <a:endParaRPr lang="zh-CN" altLang="en-US" dirty="0"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itchFamily="18" charset="0"/>
              </a:rPr>
              <a:t>成员变量</a:t>
            </a:r>
            <a:r>
              <a:rPr lang="zh-CN" altLang="en-US" dirty="0"/>
              <a:t>的设计原则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5964945"/>
      </p:ext>
    </p:extLst>
  </p:cSld>
  <p:clrMapOvr>
    <a:masterClrMapping/>
  </p:clrMapOvr>
  <p:transition spd="med">
    <p:pull dir="r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692696"/>
            <a:ext cx="8676456" cy="5760640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</a:rPr>
              <a:t>对象与类的概念</a:t>
            </a:r>
            <a:endParaRPr lang="en-US" altLang="zh-CN" dirty="0">
              <a:latin typeface="楷体" panose="02010609060101010101" pitchFamily="49" charset="-122"/>
            </a:endParaRPr>
          </a:p>
          <a:p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</a:rPr>
              <a:t>类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</a:rPr>
              <a:t>的设计与定义</a:t>
            </a:r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成员变量定义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</a:rPr>
              <a:t>成员方法定义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构造函数定义</a:t>
            </a:r>
            <a:endParaRPr lang="en-US" altLang="zh-CN" dirty="0">
              <a:latin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</a:rPr>
              <a:t>类之间的关系</a:t>
            </a:r>
            <a:endParaRPr lang="en-US" altLang="zh-CN" dirty="0">
              <a:latin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本节主要内容：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5164840"/>
      </p:ext>
    </p:extLst>
  </p:cSld>
  <p:clrMapOvr>
    <a:masterClrMapping/>
  </p:clrMapOvr>
  <p:transition spd="med">
    <p:pull dir="r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ym typeface="宋体" charset="-122"/>
              </a:rPr>
              <a:t>方法：对象执行的操作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对象的动作：方法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7" name="圆角矩形 583683"/>
          <p:cNvSpPr/>
          <p:nvPr/>
        </p:nvSpPr>
        <p:spPr>
          <a:xfrm>
            <a:off x="4006850" y="2906713"/>
            <a:ext cx="1254125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/>
          <a:p>
            <a:pPr algn="ctr">
              <a:defRPr/>
            </a:pPr>
            <a:r>
              <a:rPr lang="en-US" altLang="zh-CN" b="1" dirty="0">
                <a:latin typeface="Arial" panose="020B0604020202020204" pitchFamily="34" charset="0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打单 </a:t>
            </a:r>
          </a:p>
        </p:txBody>
      </p:sp>
      <p:sp>
        <p:nvSpPr>
          <p:cNvPr id="8" name="圆角矩形 583684"/>
          <p:cNvSpPr/>
          <p:nvPr/>
        </p:nvSpPr>
        <p:spPr>
          <a:xfrm>
            <a:off x="3933825" y="2114550"/>
            <a:ext cx="1543050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/>
          <a:p>
            <a:pPr algn="ctr">
              <a:defRPr/>
            </a:pPr>
            <a:r>
              <a:rPr lang="en-US" altLang="zh-CN" b="1" dirty="0">
                <a:latin typeface="Arial" panose="020B0604020202020204" pitchFamily="34" charset="0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收银 </a:t>
            </a:r>
          </a:p>
        </p:txBody>
      </p:sp>
      <p:sp>
        <p:nvSpPr>
          <p:cNvPr id="9" name="直接连接符 583685"/>
          <p:cNvSpPr>
            <a:spLocks noChangeShapeType="1"/>
          </p:cNvSpPr>
          <p:nvPr/>
        </p:nvSpPr>
        <p:spPr bwMode="auto">
          <a:xfrm flipV="1">
            <a:off x="2798763" y="2346325"/>
            <a:ext cx="1150937" cy="503238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直接连接符 583686"/>
          <p:cNvSpPr>
            <a:spLocks noChangeShapeType="1"/>
          </p:cNvSpPr>
          <p:nvPr/>
        </p:nvSpPr>
        <p:spPr bwMode="auto">
          <a:xfrm>
            <a:off x="2798763" y="3138488"/>
            <a:ext cx="1152525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直接连接符 583687"/>
          <p:cNvSpPr>
            <a:spLocks noChangeShapeType="1"/>
          </p:cNvSpPr>
          <p:nvPr/>
        </p:nvSpPr>
        <p:spPr bwMode="auto">
          <a:xfrm>
            <a:off x="2798763" y="3425825"/>
            <a:ext cx="1296987" cy="576263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直接连接符 583688"/>
          <p:cNvSpPr>
            <a:spLocks noChangeShapeType="1"/>
          </p:cNvSpPr>
          <p:nvPr/>
        </p:nvSpPr>
        <p:spPr bwMode="auto">
          <a:xfrm>
            <a:off x="5462588" y="2417763"/>
            <a:ext cx="1008062" cy="649287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直接连接符 583689"/>
          <p:cNvSpPr>
            <a:spLocks noChangeShapeType="1"/>
          </p:cNvSpPr>
          <p:nvPr/>
        </p:nvSpPr>
        <p:spPr bwMode="auto">
          <a:xfrm>
            <a:off x="5246688" y="3209925"/>
            <a:ext cx="1295400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直接连接符 583690"/>
          <p:cNvSpPr>
            <a:spLocks noChangeShapeType="1"/>
          </p:cNvSpPr>
          <p:nvPr/>
        </p:nvSpPr>
        <p:spPr bwMode="auto">
          <a:xfrm flipV="1">
            <a:off x="4886325" y="3427413"/>
            <a:ext cx="1655763" cy="646112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椭圆 583691"/>
          <p:cNvSpPr>
            <a:spLocks noChangeArrowheads="1"/>
          </p:cNvSpPr>
          <p:nvPr/>
        </p:nvSpPr>
        <p:spPr bwMode="auto">
          <a:xfrm>
            <a:off x="6470650" y="2778125"/>
            <a:ext cx="1584325" cy="863600"/>
          </a:xfrm>
          <a:prstGeom prst="ellipse">
            <a:avLst/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800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ea typeface="楷体" panose="02010609060101010101" pitchFamily="49" charset="-122"/>
              </a:rPr>
              <a:t>方法 </a:t>
            </a:r>
          </a:p>
        </p:txBody>
      </p:sp>
      <p:sp>
        <p:nvSpPr>
          <p:cNvPr id="16" name="圆角矩形 583692"/>
          <p:cNvSpPr/>
          <p:nvPr/>
        </p:nvSpPr>
        <p:spPr>
          <a:xfrm>
            <a:off x="4149725" y="3770313"/>
            <a:ext cx="1111250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/>
          <a:p>
            <a:pPr algn="ctr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刷卡 </a:t>
            </a:r>
          </a:p>
        </p:txBody>
      </p:sp>
      <p:grpSp>
        <p:nvGrpSpPr>
          <p:cNvPr id="17" name="组合 583693"/>
          <p:cNvGrpSpPr>
            <a:grpSpLocks/>
          </p:cNvGrpSpPr>
          <p:nvPr/>
        </p:nvGrpSpPr>
        <p:grpSpPr bwMode="auto">
          <a:xfrm>
            <a:off x="711200" y="2706688"/>
            <a:ext cx="2087563" cy="792162"/>
            <a:chOff x="340" y="2251"/>
            <a:chExt cx="1406" cy="680"/>
          </a:xfrm>
        </p:grpSpPr>
        <p:sp>
          <p:nvSpPr>
            <p:cNvPr id="18" name="圆角矩形 583694"/>
            <p:cNvSpPr>
              <a:spLocks noChangeArrowheads="1"/>
            </p:cNvSpPr>
            <p:nvPr/>
          </p:nvSpPr>
          <p:spPr bwMode="auto">
            <a:xfrm>
              <a:off x="340" y="2251"/>
              <a:ext cx="1406" cy="68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CC99FF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8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19" name="圆角矩形 583695"/>
            <p:cNvSpPr>
              <a:spLocks noChangeArrowheads="1"/>
            </p:cNvSpPr>
            <p:nvPr/>
          </p:nvSpPr>
          <p:spPr bwMode="auto">
            <a:xfrm>
              <a:off x="443" y="2432"/>
              <a:ext cx="1167" cy="292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marL="342900" indent="-342900" algn="ctr">
                <a:lnSpc>
                  <a:spcPct val="90000"/>
                </a:lnSpc>
                <a:spcBef>
                  <a:spcPct val="20000"/>
                </a:spcBef>
                <a:buClr>
                  <a:srgbClr val="339966"/>
                </a:buClr>
                <a:buFont typeface="Wingdings" pitchFamily="2" charset="2"/>
                <a:buNone/>
              </a:pPr>
              <a:r>
                <a:rPr lang="zh-CN" altLang="en-US" b="1" dirty="0">
                  <a:ea typeface="楷体" panose="02010609060101010101" pitchFamily="49" charset="-122"/>
                </a:rPr>
                <a:t>收银员布兰尼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3329929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itchFamily="18" charset="0"/>
              </a:rPr>
              <a:t>方法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3059113" y="1341438"/>
            <a:ext cx="3024187" cy="649287"/>
            <a:chOff x="4150" y="1117"/>
            <a:chExt cx="1270" cy="409"/>
          </a:xfrm>
        </p:grpSpPr>
        <p:sp>
          <p:nvSpPr>
            <p:cNvPr id="8" name="Rectangle 23"/>
            <p:cNvSpPr>
              <a:spLocks noChangeArrowheads="1"/>
            </p:cNvSpPr>
            <p:nvPr/>
          </p:nvSpPr>
          <p:spPr bwMode="auto">
            <a:xfrm>
              <a:off x="4150" y="1117"/>
              <a:ext cx="1270" cy="409"/>
            </a:xfrm>
            <a:prstGeom prst="rect">
              <a:avLst/>
            </a:prstGeom>
            <a:gradFill rotWithShape="1">
              <a:gsLst>
                <a:gs pos="0">
                  <a:srgbClr val="6699FF"/>
                </a:gs>
                <a:gs pos="100000">
                  <a:schemeClr val="accent2"/>
                </a:gs>
              </a:gsLst>
              <a:path path="rect">
                <a:fillToRect l="100000" b="100000"/>
              </a:path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prstShdw prst="shdw13" dist="109250" dir="19467739">
                <a:schemeClr val="bg2">
                  <a:alpha val="50000"/>
                </a:schemeClr>
              </a:prstShdw>
            </a:effectLst>
          </p:spPr>
          <p:txBody>
            <a:bodyPr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9" name="Text Box 24"/>
            <p:cNvSpPr txBox="1">
              <a:spLocks noChangeArrowheads="1"/>
            </p:cNvSpPr>
            <p:nvPr/>
          </p:nvSpPr>
          <p:spPr bwMode="auto">
            <a:xfrm>
              <a:off x="4377" y="1169"/>
              <a:ext cx="862" cy="300"/>
            </a:xfrm>
            <a:prstGeom prst="rect">
              <a:avLst/>
            </a:prstGeom>
            <a:noFill/>
            <a:ln>
              <a:noFill/>
            </a:ln>
            <a:effectLst>
              <a:outerShdw dist="40161" dir="11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0"/>
                </a:spcBef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>
                <a:spcBef>
                  <a:spcPct val="0"/>
                </a:spcBef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>
                <a:spcBef>
                  <a:spcPct val="0"/>
                </a:spcBef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>
                <a:spcBef>
                  <a:spcPct val="0"/>
                </a:spcBef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>
                <a:spcBef>
                  <a:spcPct val="0"/>
                </a:spcBef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Courier New" pitchFamily="49" charset="0"/>
                  <a:ea typeface="楷体" panose="02010609060101010101" pitchFamily="49" charset="-122"/>
                </a:rPr>
                <a:t>方法</a:t>
              </a:r>
              <a:endParaRPr lang="zh-CN" altLang="en-US" sz="2800" b="1" dirty="0">
                <a:solidFill>
                  <a:schemeClr val="bg1"/>
                </a:solidFill>
                <a:ea typeface="楷体" panose="02010609060101010101" pitchFamily="49" charset="-122"/>
              </a:endParaRPr>
            </a:p>
          </p:txBody>
        </p:sp>
      </p:grpSp>
      <p:grpSp>
        <p:nvGrpSpPr>
          <p:cNvPr id="10" name="Group 25"/>
          <p:cNvGrpSpPr>
            <a:grpSpLocks/>
          </p:cNvGrpSpPr>
          <p:nvPr/>
        </p:nvGrpSpPr>
        <p:grpSpPr bwMode="auto">
          <a:xfrm>
            <a:off x="827088" y="2781300"/>
            <a:ext cx="3024187" cy="935038"/>
            <a:chOff x="385" y="2069"/>
            <a:chExt cx="1452" cy="499"/>
          </a:xfrm>
        </p:grpSpPr>
        <p:sp>
          <p:nvSpPr>
            <p:cNvPr id="11" name="Rectangle 26"/>
            <p:cNvSpPr>
              <a:spLocks noChangeArrowheads="1"/>
            </p:cNvSpPr>
            <p:nvPr/>
          </p:nvSpPr>
          <p:spPr bwMode="auto">
            <a:xfrm>
              <a:off x="385" y="2069"/>
              <a:ext cx="1452" cy="499"/>
            </a:xfrm>
            <a:prstGeom prst="rect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81320" dir="3080412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12" name="Text Box 27"/>
            <p:cNvSpPr txBox="1">
              <a:spLocks noChangeArrowheads="1"/>
            </p:cNvSpPr>
            <p:nvPr/>
          </p:nvSpPr>
          <p:spPr bwMode="auto">
            <a:xfrm>
              <a:off x="476" y="2160"/>
              <a:ext cx="1270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latin typeface="Courier New" pitchFamily="49" charset="0"/>
                  <a:ea typeface="楷体" panose="02010609060101010101" pitchFamily="49" charset="-122"/>
                </a:rPr>
                <a:t>操作的实际实现</a:t>
              </a:r>
            </a:p>
          </p:txBody>
        </p:sp>
      </p:grpSp>
      <p:grpSp>
        <p:nvGrpSpPr>
          <p:cNvPr id="13" name="Group 31"/>
          <p:cNvGrpSpPr>
            <a:grpSpLocks/>
          </p:cNvGrpSpPr>
          <p:nvPr/>
        </p:nvGrpSpPr>
        <p:grpSpPr bwMode="auto">
          <a:xfrm>
            <a:off x="827088" y="4005263"/>
            <a:ext cx="3024187" cy="935037"/>
            <a:chOff x="385" y="3243"/>
            <a:chExt cx="1905" cy="586"/>
          </a:xfrm>
        </p:grpSpPr>
        <p:sp>
          <p:nvSpPr>
            <p:cNvPr id="14" name="Rectangle 29"/>
            <p:cNvSpPr>
              <a:spLocks noChangeArrowheads="1"/>
            </p:cNvSpPr>
            <p:nvPr/>
          </p:nvSpPr>
          <p:spPr bwMode="auto">
            <a:xfrm>
              <a:off x="385" y="3243"/>
              <a:ext cx="1905" cy="586"/>
            </a:xfrm>
            <a:prstGeom prst="rect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81320" dir="3080412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15" name="Text Box 30"/>
            <p:cNvSpPr txBox="1">
              <a:spLocks noChangeArrowheads="1"/>
            </p:cNvSpPr>
            <p:nvPr/>
          </p:nvSpPr>
          <p:spPr bwMode="auto">
            <a:xfrm>
              <a:off x="504" y="3249"/>
              <a:ext cx="1667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latin typeface="Courier New" pitchFamily="49" charset="0"/>
                  <a:ea typeface="楷体" panose="02010609060101010101" pitchFamily="49" charset="-122"/>
                </a:rPr>
                <a:t>如何执行所请求的操作的规范</a:t>
              </a:r>
            </a:p>
          </p:txBody>
        </p:sp>
      </p:grpSp>
      <p:grpSp>
        <p:nvGrpSpPr>
          <p:cNvPr id="16" name="Group 32"/>
          <p:cNvGrpSpPr>
            <a:grpSpLocks/>
          </p:cNvGrpSpPr>
          <p:nvPr/>
        </p:nvGrpSpPr>
        <p:grpSpPr bwMode="auto">
          <a:xfrm>
            <a:off x="4787900" y="2781300"/>
            <a:ext cx="3024188" cy="935038"/>
            <a:chOff x="385" y="3243"/>
            <a:chExt cx="1905" cy="586"/>
          </a:xfrm>
        </p:grpSpPr>
        <p:sp>
          <p:nvSpPr>
            <p:cNvPr id="17" name="Rectangle 33"/>
            <p:cNvSpPr>
              <a:spLocks noChangeArrowheads="1"/>
            </p:cNvSpPr>
            <p:nvPr/>
          </p:nvSpPr>
          <p:spPr bwMode="auto">
            <a:xfrm>
              <a:off x="385" y="3243"/>
              <a:ext cx="1905" cy="586"/>
            </a:xfrm>
            <a:prstGeom prst="rect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81320" dir="3080412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18" name="Text Box 34"/>
            <p:cNvSpPr txBox="1">
              <a:spLocks noChangeArrowheads="1"/>
            </p:cNvSpPr>
            <p:nvPr/>
          </p:nvSpPr>
          <p:spPr bwMode="auto">
            <a:xfrm>
              <a:off x="504" y="3249"/>
              <a:ext cx="1667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latin typeface="Courier New" pitchFamily="49" charset="0"/>
                  <a:ea typeface="楷体" panose="02010609060101010101" pitchFamily="49" charset="-122"/>
                </a:rPr>
                <a:t>方法指定操作对象数据的方式</a:t>
              </a:r>
            </a:p>
          </p:txBody>
        </p:sp>
      </p:grpSp>
      <p:grpSp>
        <p:nvGrpSpPr>
          <p:cNvPr id="19" name="Group 35"/>
          <p:cNvGrpSpPr>
            <a:grpSpLocks/>
          </p:cNvGrpSpPr>
          <p:nvPr/>
        </p:nvGrpSpPr>
        <p:grpSpPr bwMode="auto">
          <a:xfrm>
            <a:off x="4787900" y="4016375"/>
            <a:ext cx="3024188" cy="935038"/>
            <a:chOff x="385" y="3243"/>
            <a:chExt cx="1905" cy="586"/>
          </a:xfrm>
        </p:grpSpPr>
        <p:sp>
          <p:nvSpPr>
            <p:cNvPr id="20" name="Rectangle 36"/>
            <p:cNvSpPr>
              <a:spLocks noChangeArrowheads="1"/>
            </p:cNvSpPr>
            <p:nvPr/>
          </p:nvSpPr>
          <p:spPr bwMode="auto">
            <a:xfrm>
              <a:off x="385" y="3243"/>
              <a:ext cx="1905" cy="586"/>
            </a:xfrm>
            <a:prstGeom prst="rect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81320" dir="3080412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21" name="Text Box 37"/>
            <p:cNvSpPr txBox="1">
              <a:spLocks noChangeArrowheads="1"/>
            </p:cNvSpPr>
            <p:nvPr/>
          </p:nvSpPr>
          <p:spPr bwMode="auto">
            <a:xfrm>
              <a:off x="504" y="3249"/>
              <a:ext cx="1667" cy="5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GB" sz="2400" dirty="0">
                  <a:latin typeface="Courier New" pitchFamily="49" charset="0"/>
                  <a:ea typeface="楷体" panose="02010609060101010101" pitchFamily="49" charset="-122"/>
                </a:rPr>
                <a:t>在得到操作请求时指定如何做的算法</a:t>
              </a:r>
              <a:endParaRPr lang="zh-CN" altLang="en-US" sz="2400" dirty="0">
                <a:latin typeface="Courier New" pitchFamily="49" charset="0"/>
                <a:ea typeface="楷体" panose="02010609060101010101" pitchFamily="49" charset="-122"/>
              </a:endParaRPr>
            </a:p>
          </p:txBody>
        </p:sp>
      </p:grpSp>
      <p:sp>
        <p:nvSpPr>
          <p:cNvPr id="22" name="AutoShape 20"/>
          <p:cNvSpPr>
            <a:spLocks noChangeArrowheads="1"/>
          </p:cNvSpPr>
          <p:nvPr/>
        </p:nvSpPr>
        <p:spPr bwMode="auto">
          <a:xfrm>
            <a:off x="827088" y="5373216"/>
            <a:ext cx="7058025" cy="5746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CC00"/>
              </a:gs>
              <a:gs pos="100000">
                <a:srgbClr val="FFFFFF"/>
              </a:gs>
            </a:gsLst>
            <a:path path="rect">
              <a:fillToRect r="100000" b="100000"/>
            </a:path>
          </a:gradFill>
          <a:ln w="6350" algn="ctr">
            <a:solidFill>
              <a:srgbClr val="808000"/>
            </a:solidFill>
            <a:round/>
            <a:headEnd/>
            <a:tailEnd/>
          </a:ln>
          <a:effectLst>
            <a:outerShdw dist="63500" dir="2212194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marL="342900" indent="-342900" algn="ctr">
              <a:lnSpc>
                <a:spcPct val="100000"/>
              </a:lnSpc>
            </a:pPr>
            <a:r>
              <a:rPr lang="en-GB" altLang="zh-CN" sz="2400" b="1" dirty="0">
                <a:solidFill>
                  <a:srgbClr val="FF0000"/>
                </a:solidFill>
                <a:latin typeface="Arial"/>
                <a:ea typeface="楷体" panose="02010609060101010101" pitchFamily="49" charset="-122"/>
              </a:rPr>
              <a:t>“</a:t>
            </a:r>
            <a:r>
              <a:rPr lang="zh-CN" altLang="en-GB" sz="2400" b="1" dirty="0">
                <a:solidFill>
                  <a:srgbClr val="FF0000"/>
                </a:solidFill>
                <a:latin typeface="Courier New" pitchFamily="49" charset="0"/>
                <a:ea typeface="楷体" panose="02010609060101010101" pitchFamily="49" charset="-122"/>
              </a:rPr>
              <a:t>对象执行的操作称为方法。</a:t>
            </a:r>
            <a:r>
              <a:rPr lang="zh-CN" altLang="en-GB" sz="2400" b="1" dirty="0">
                <a:solidFill>
                  <a:srgbClr val="FF0000"/>
                </a:solidFill>
                <a:latin typeface="Arial"/>
                <a:ea typeface="楷体" panose="02010609060101010101" pitchFamily="49" charset="-122"/>
              </a:rPr>
              <a:t>”</a:t>
            </a:r>
            <a:endParaRPr lang="zh-CN" altLang="en-US" sz="2400" b="1" dirty="0">
              <a:solidFill>
                <a:srgbClr val="FF0000"/>
              </a:solidFill>
              <a:latin typeface="Courier New" pitchFamily="49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3601094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1"/>
                                      </p:to>
                                    </p:set>
                                    <p:animEffect filter="image" prLst="opacity: 0.1">
                                      <p:cBhvr rctx="IE">
                                        <p:cTn id="14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Times New Roman" pitchFamily="18" charset="0"/>
              </a:rPr>
              <a:t>类中的方法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grpSp>
        <p:nvGrpSpPr>
          <p:cNvPr id="18" name="Group 17"/>
          <p:cNvGrpSpPr/>
          <p:nvPr/>
        </p:nvGrpSpPr>
        <p:grpSpPr>
          <a:xfrm>
            <a:off x="395536" y="1248494"/>
            <a:ext cx="7991475" cy="4249888"/>
            <a:chOff x="757238" y="1656481"/>
            <a:chExt cx="7991475" cy="4249888"/>
          </a:xfrm>
        </p:grpSpPr>
        <p:sp>
          <p:nvSpPr>
            <p:cNvPr id="7" name="AutoShape 73"/>
            <p:cNvSpPr>
              <a:spLocks noChangeArrowheads="1"/>
            </p:cNvSpPr>
            <p:nvPr/>
          </p:nvSpPr>
          <p:spPr bwMode="auto">
            <a:xfrm>
              <a:off x="4645025" y="2060575"/>
              <a:ext cx="536575" cy="1079500"/>
            </a:xfrm>
            <a:prstGeom prst="upArrow">
              <a:avLst>
                <a:gd name="adj1" fmla="val 50000"/>
                <a:gd name="adj2" fmla="val 50296"/>
              </a:avLst>
            </a:prstGeom>
            <a:gradFill rotWithShape="1">
              <a:gsLst>
                <a:gs pos="0">
                  <a:srgbClr val="7A7ADE"/>
                </a:gs>
                <a:gs pos="50000">
                  <a:schemeClr val="bg1"/>
                </a:gs>
                <a:gs pos="100000">
                  <a:srgbClr val="7A7ADE"/>
                </a:gs>
              </a:gsLst>
              <a:lin ang="5400000" scaled="1"/>
            </a:gradFill>
            <a:ln w="6350" algn="ctr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8" name="AutoShape 74"/>
            <p:cNvSpPr>
              <a:spLocks noChangeArrowheads="1"/>
            </p:cNvSpPr>
            <p:nvPr/>
          </p:nvSpPr>
          <p:spPr bwMode="auto">
            <a:xfrm flipV="1">
              <a:off x="4645025" y="4365625"/>
              <a:ext cx="536575" cy="1077913"/>
            </a:xfrm>
            <a:prstGeom prst="upArrow">
              <a:avLst>
                <a:gd name="adj1" fmla="val 50000"/>
                <a:gd name="adj2" fmla="val 50222"/>
              </a:avLst>
            </a:prstGeom>
            <a:gradFill rotWithShape="1">
              <a:gsLst>
                <a:gs pos="0">
                  <a:srgbClr val="7A7ADE"/>
                </a:gs>
                <a:gs pos="50000">
                  <a:schemeClr val="bg1"/>
                </a:gs>
                <a:gs pos="100000">
                  <a:srgbClr val="7A7ADE"/>
                </a:gs>
              </a:gsLst>
              <a:lin ang="5400000" scaled="1"/>
            </a:gradFill>
            <a:ln w="6350" algn="ctr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9" name="AutoShape 75"/>
            <p:cNvSpPr>
              <a:spLocks noChangeArrowheads="1"/>
            </p:cNvSpPr>
            <p:nvPr/>
          </p:nvSpPr>
          <p:spPr bwMode="auto">
            <a:xfrm rot="5400000" flipV="1">
              <a:off x="3405981" y="3229770"/>
              <a:ext cx="536575" cy="1077912"/>
            </a:xfrm>
            <a:prstGeom prst="upArrow">
              <a:avLst>
                <a:gd name="adj1" fmla="val 50000"/>
                <a:gd name="adj2" fmla="val 50222"/>
              </a:avLst>
            </a:prstGeom>
            <a:gradFill rotWithShape="1">
              <a:gsLst>
                <a:gs pos="0">
                  <a:srgbClr val="7A7ADE"/>
                </a:gs>
                <a:gs pos="50000">
                  <a:schemeClr val="bg1"/>
                </a:gs>
                <a:gs pos="100000">
                  <a:srgbClr val="7A7ADE"/>
                </a:gs>
              </a:gsLst>
              <a:lin ang="5400000" scaled="1"/>
            </a:gradFill>
            <a:ln w="6350" algn="ctr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10" name="AutoShape 76"/>
            <p:cNvSpPr>
              <a:spLocks noChangeArrowheads="1"/>
            </p:cNvSpPr>
            <p:nvPr/>
          </p:nvSpPr>
          <p:spPr bwMode="auto">
            <a:xfrm rot="16200000" flipV="1">
              <a:off x="5923756" y="3229770"/>
              <a:ext cx="536575" cy="1077912"/>
            </a:xfrm>
            <a:prstGeom prst="upArrow">
              <a:avLst>
                <a:gd name="adj1" fmla="val 50000"/>
                <a:gd name="adj2" fmla="val 50222"/>
              </a:avLst>
            </a:prstGeom>
            <a:gradFill rotWithShape="1">
              <a:gsLst>
                <a:gs pos="0">
                  <a:srgbClr val="7A7ADE"/>
                </a:gs>
                <a:gs pos="50000">
                  <a:schemeClr val="bg1"/>
                </a:gs>
                <a:gs pos="100000">
                  <a:srgbClr val="7A7ADE"/>
                </a:gs>
              </a:gsLst>
              <a:lin ang="5400000" scaled="1"/>
            </a:gradFill>
            <a:ln w="6350" algn="ctr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grpSp>
          <p:nvGrpSpPr>
            <p:cNvPr id="11" name="Group 72"/>
            <p:cNvGrpSpPr>
              <a:grpSpLocks/>
            </p:cNvGrpSpPr>
            <p:nvPr/>
          </p:nvGrpSpPr>
          <p:grpSpPr bwMode="auto">
            <a:xfrm>
              <a:off x="3983038" y="3025775"/>
              <a:ext cx="1873250" cy="1439863"/>
              <a:chOff x="3923" y="2659"/>
              <a:chExt cx="1180" cy="907"/>
            </a:xfrm>
          </p:grpSpPr>
          <p:sp>
            <p:nvSpPr>
              <p:cNvPr id="12" name="Rectangle 70"/>
              <p:cNvSpPr>
                <a:spLocks noChangeArrowheads="1"/>
              </p:cNvSpPr>
              <p:nvPr/>
            </p:nvSpPr>
            <p:spPr bwMode="auto">
              <a:xfrm>
                <a:off x="3923" y="2659"/>
                <a:ext cx="1180" cy="907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7A7ADE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ea typeface="楷体" panose="02010609060101010101" pitchFamily="49" charset="-122"/>
                </a:endParaRPr>
              </a:p>
            </p:txBody>
          </p:sp>
          <p:sp>
            <p:nvSpPr>
              <p:cNvPr id="13" name="Text Box 71"/>
              <p:cNvSpPr txBox="1">
                <a:spLocks noChangeArrowheads="1"/>
              </p:cNvSpPr>
              <p:nvPr/>
            </p:nvSpPr>
            <p:spPr bwMode="auto">
              <a:xfrm>
                <a:off x="3968" y="2976"/>
                <a:ext cx="1089" cy="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>
                  <a:spcBef>
                    <a:spcPct val="0"/>
                  </a:spcBef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zh-CN" altLang="en-US" sz="2400" b="1" dirty="0">
                    <a:latin typeface="Courier New" pitchFamily="49" charset="0"/>
                    <a:ea typeface="楷体" panose="02010609060101010101" pitchFamily="49" charset="-122"/>
                  </a:rPr>
                  <a:t>方法的定义</a:t>
                </a:r>
              </a:p>
            </p:txBody>
          </p:sp>
        </p:grpSp>
        <p:sp>
          <p:nvSpPr>
            <p:cNvPr id="14" name="AutoShape 64"/>
            <p:cNvSpPr>
              <a:spLocks noChangeArrowheads="1"/>
            </p:cNvSpPr>
            <p:nvPr/>
          </p:nvSpPr>
          <p:spPr bwMode="auto">
            <a:xfrm>
              <a:off x="3835400" y="1656481"/>
              <a:ext cx="2176463" cy="37797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FFFFCC"/>
                </a:gs>
                <a:gs pos="100000">
                  <a:srgbClr val="FFFFFF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342900" indent="-342900" algn="ctr">
                <a:lnSpc>
                  <a:spcPct val="90000"/>
                </a:lnSpc>
              </a:pPr>
              <a:r>
                <a:rPr lang="zh-CN" altLang="en-US" dirty="0">
                  <a:ea typeface="楷体" panose="02010609060101010101" pitchFamily="49" charset="-122"/>
                </a:rPr>
                <a:t>方法的名称</a:t>
              </a:r>
            </a:p>
          </p:txBody>
        </p:sp>
        <p:sp>
          <p:nvSpPr>
            <p:cNvPr id="15" name="AutoShape 65"/>
            <p:cNvSpPr>
              <a:spLocks noChangeArrowheads="1"/>
            </p:cNvSpPr>
            <p:nvPr/>
          </p:nvSpPr>
          <p:spPr bwMode="auto">
            <a:xfrm>
              <a:off x="3779838" y="5528393"/>
              <a:ext cx="2305050" cy="37797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CC99FF">
                    <a:alpha val="64999"/>
                  </a:srgbClr>
                </a:gs>
                <a:gs pos="100000">
                  <a:srgbClr val="FFFFFF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342900" indent="-342900" algn="ctr">
                <a:lnSpc>
                  <a:spcPct val="90000"/>
                </a:lnSpc>
              </a:pPr>
              <a:r>
                <a:rPr lang="zh-CN" altLang="en-US" dirty="0">
                  <a:ea typeface="楷体" panose="02010609060101010101" pitchFamily="49" charset="-122"/>
                </a:rPr>
                <a:t>参数列表</a:t>
              </a:r>
            </a:p>
          </p:txBody>
        </p:sp>
        <p:sp>
          <p:nvSpPr>
            <p:cNvPr id="16" name="AutoShape 66"/>
            <p:cNvSpPr>
              <a:spLocks noChangeArrowheads="1"/>
            </p:cNvSpPr>
            <p:nvPr/>
          </p:nvSpPr>
          <p:spPr bwMode="auto">
            <a:xfrm>
              <a:off x="6738938" y="3564656"/>
              <a:ext cx="2009775" cy="37797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342900" indent="-342900" algn="ctr">
                <a:lnSpc>
                  <a:spcPct val="90000"/>
                </a:lnSpc>
              </a:pPr>
              <a:r>
                <a:rPr lang="zh-CN" altLang="en-US" dirty="0">
                  <a:ea typeface="楷体" panose="02010609060101010101" pitchFamily="49" charset="-122"/>
                </a:rPr>
                <a:t>方法的主体</a:t>
              </a:r>
            </a:p>
          </p:txBody>
        </p:sp>
        <p:sp>
          <p:nvSpPr>
            <p:cNvPr id="17" name="AutoShape 67"/>
            <p:cNvSpPr>
              <a:spLocks noChangeArrowheads="1"/>
            </p:cNvSpPr>
            <p:nvPr/>
          </p:nvSpPr>
          <p:spPr bwMode="auto">
            <a:xfrm>
              <a:off x="757238" y="3433889"/>
              <a:ext cx="2344737" cy="65379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CCFFCC"/>
                </a:gs>
                <a:gs pos="100000">
                  <a:schemeClr val="bg1"/>
                </a:gs>
              </a:gsLst>
              <a:lin ang="5400000" scaled="1"/>
            </a:gradFill>
            <a:ln w="63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342900" indent="-342900" algn="ctr">
                <a:lnSpc>
                  <a:spcPct val="90000"/>
                </a:lnSpc>
              </a:pPr>
              <a:r>
                <a:rPr lang="zh-CN" altLang="en-US" dirty="0">
                  <a:ea typeface="楷体" panose="02010609060101010101" pitchFamily="49" charset="-122"/>
                </a:rPr>
                <a:t>方法返回的对象类</a:t>
              </a:r>
            </a:p>
            <a:p>
              <a:pPr marL="342900" indent="-342900" algn="ctr">
                <a:lnSpc>
                  <a:spcPct val="90000"/>
                </a:lnSpc>
              </a:pPr>
              <a:r>
                <a:rPr lang="zh-CN" altLang="en-US" dirty="0">
                  <a:ea typeface="楷体" panose="02010609060101010101" pitchFamily="49" charset="-122"/>
                </a:rPr>
                <a:t>型或原始类型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7265778"/>
      </p:ext>
    </p:extLst>
  </p:cSld>
  <p:clrMapOvr>
    <a:masterClrMapping/>
  </p:clrMapOvr>
  <p:transition spd="med">
    <p:pull dir="r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</a:rPr>
              <a:t>方法的定义格式：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成员方法的定义（</a:t>
            </a:r>
            <a:r>
              <a:rPr lang="en-US" altLang="zh-CN" dirty="0"/>
              <a:t>[]</a:t>
            </a:r>
            <a:r>
              <a:rPr lang="zh-CN" altLang="en-US" dirty="0"/>
              <a:t>代表可有可无）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6481763" cy="3314700"/>
          </a:xfrm>
          <a:prstGeom prst="rect">
            <a:avLst/>
          </a:prstGeom>
          <a:noFill/>
          <a:ln w="9525">
            <a:solidFill>
              <a:srgbClr val="0099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379060"/>
      </p:ext>
    </p:extLst>
  </p:cSld>
  <p:clrMapOvr>
    <a:masterClrMapping/>
  </p:clrMapOvr>
  <p:transition spd="med">
    <p:pull dir="r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</a:rPr>
              <a:t>首字母小写</a:t>
            </a:r>
            <a:endParaRPr lang="en-US" altLang="zh-CN" dirty="0">
              <a:latin typeface="楷体" panose="02010609060101010101" pitchFamily="49" charset="-122"/>
            </a:endParaRPr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/>
              <a:t>一</a:t>
            </a:r>
            <a:r>
              <a:rPr lang="zh-CN" altLang="en-US" dirty="0" smtClean="0"/>
              <a:t>个方法名</a:t>
            </a:r>
            <a:r>
              <a:rPr lang="zh-CN" altLang="en-US" dirty="0"/>
              <a:t>包含两个以上名词，从第二词开始建议使用驼峰命名</a:t>
            </a:r>
            <a:r>
              <a:rPr lang="en-US" altLang="zh-CN" dirty="0"/>
              <a:t>(Camel-Case)</a:t>
            </a:r>
            <a:r>
              <a:rPr lang="zh-CN" altLang="en-US" dirty="0"/>
              <a:t>法（</a:t>
            </a:r>
            <a:r>
              <a:rPr lang="en-US" altLang="zh-CN" dirty="0" err="1"/>
              <a:t>get</a:t>
            </a:r>
            <a:r>
              <a:rPr lang="en-US" altLang="zh-CN" dirty="0" err="1">
                <a:solidFill>
                  <a:srgbClr val="FF0000"/>
                </a:solidFill>
              </a:rPr>
              <a:t>S</a:t>
            </a:r>
            <a:r>
              <a:rPr lang="en-US" altLang="zh-CN" dirty="0" err="1"/>
              <a:t>tudent</a:t>
            </a:r>
            <a:r>
              <a:rPr lang="en-US" altLang="zh-CN" dirty="0" err="1">
                <a:solidFill>
                  <a:srgbClr val="FF0000"/>
                </a:solidFill>
              </a:rPr>
              <a:t>N</a:t>
            </a:r>
            <a:r>
              <a:rPr lang="en-US" altLang="zh-CN" dirty="0" err="1"/>
              <a:t>ame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dirty="0">
                <a:latin typeface="楷体" panose="02010609060101010101" pitchFamily="49" charset="-122"/>
              </a:rPr>
              <a:t>方法名第一个单词为动词</a:t>
            </a:r>
            <a:endParaRPr lang="en-US" altLang="zh-CN" dirty="0"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成员方法命名规范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9249673"/>
      </p:ext>
    </p:extLst>
  </p:cSld>
  <p:clrMapOvr>
    <a:masterClrMapping/>
  </p:clrMapOvr>
  <p:transition spd="med">
    <p:pull dir="r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12800" indent="-812800">
              <a:buFont typeface="Arial" panose="020B0604020202020204" pitchFamily="34" charset="0"/>
              <a:buAutoNum type="ea1JpnChsDbPeriod"/>
            </a:pPr>
            <a:r>
              <a:rPr lang="zh-CN" altLang="en-US" sz="2800" dirty="0">
                <a:latin typeface="楷体" panose="02010609060101010101" pitchFamily="49" charset="-122"/>
              </a:rPr>
              <a:t>常用的修饰符为</a:t>
            </a:r>
            <a:r>
              <a:rPr lang="en-US" altLang="zh-CN" sz="2800" dirty="0">
                <a:latin typeface="楷体" panose="02010609060101010101" pitchFamily="49" charset="-122"/>
              </a:rPr>
              <a:t>public</a:t>
            </a:r>
            <a:r>
              <a:rPr lang="zh-CN" altLang="en-US" sz="2800" dirty="0">
                <a:latin typeface="楷体" panose="02010609060101010101" pitchFamily="49" charset="-122"/>
              </a:rPr>
              <a:t>、</a:t>
            </a:r>
            <a:r>
              <a:rPr lang="en-US" altLang="zh-CN" sz="2800" dirty="0">
                <a:latin typeface="楷体" panose="02010609060101010101" pitchFamily="49" charset="-122"/>
              </a:rPr>
              <a:t>private</a:t>
            </a:r>
            <a:r>
              <a:rPr lang="zh-CN" altLang="en-US" sz="2800" dirty="0">
                <a:latin typeface="楷体" panose="02010609060101010101" pitchFamily="49" charset="-122"/>
              </a:rPr>
              <a:t>、</a:t>
            </a:r>
            <a:r>
              <a:rPr lang="en-US" altLang="zh-CN" sz="2800" dirty="0">
                <a:latin typeface="楷体" panose="02010609060101010101" pitchFamily="49" charset="-122"/>
              </a:rPr>
              <a:t>protected</a:t>
            </a:r>
            <a:r>
              <a:rPr lang="zh-CN" altLang="en-US" sz="2800" dirty="0">
                <a:latin typeface="楷体" panose="02010609060101010101" pitchFamily="49" charset="-122"/>
              </a:rPr>
              <a:t>、</a:t>
            </a:r>
            <a:r>
              <a:rPr lang="en-US" altLang="zh-CN" sz="2800" dirty="0">
                <a:latin typeface="楷体" panose="02010609060101010101" pitchFamily="49" charset="-122"/>
              </a:rPr>
              <a:t>static</a:t>
            </a:r>
            <a:r>
              <a:rPr lang="zh-CN" altLang="en-US" sz="2800" dirty="0">
                <a:latin typeface="楷体" panose="02010609060101010101" pitchFamily="49" charset="-122"/>
              </a:rPr>
              <a:t>、</a:t>
            </a:r>
            <a:r>
              <a:rPr lang="en-US" altLang="zh-CN" sz="2800" dirty="0">
                <a:latin typeface="楷体" panose="02010609060101010101" pitchFamily="49" charset="-122"/>
              </a:rPr>
              <a:t>final</a:t>
            </a:r>
            <a:r>
              <a:rPr lang="zh-CN" altLang="en-US" sz="2800" dirty="0">
                <a:latin typeface="楷体" panose="02010609060101010101" pitchFamily="49" charset="-122"/>
              </a:rPr>
              <a:t>等</a:t>
            </a:r>
            <a:endParaRPr lang="en-US" altLang="zh-CN" sz="2800" dirty="0">
              <a:latin typeface="楷体" panose="02010609060101010101" pitchFamily="49" charset="-122"/>
            </a:endParaRPr>
          </a:p>
          <a:p>
            <a:pPr marL="812800" indent="-812800">
              <a:buFont typeface="Arial" panose="020B0604020202020204" pitchFamily="34" charset="0"/>
              <a:buAutoNum type="ea1JpnChsDbPeriod"/>
            </a:pPr>
            <a:endParaRPr lang="en-US" altLang="zh-CN" sz="2800" dirty="0">
              <a:latin typeface="楷体" panose="02010609060101010101" pitchFamily="49" charset="-122"/>
            </a:endParaRPr>
          </a:p>
          <a:p>
            <a:pPr marL="812800" indent="-812800">
              <a:buFont typeface="Arial" panose="020B0604020202020204" pitchFamily="34" charset="0"/>
              <a:buAutoNum type="ea1JpnChsDbPeriod"/>
            </a:pPr>
            <a:r>
              <a:rPr lang="zh-CN" altLang="en-US" sz="2800" dirty="0">
                <a:latin typeface="楷体" panose="02010609060101010101" pitchFamily="49" charset="-122"/>
              </a:rPr>
              <a:t>返回值类型：方法一般需要有一个返回值表示执行结果，也可以无返回值（用</a:t>
            </a:r>
            <a:r>
              <a:rPr lang="en-US" altLang="zh-CN" sz="2800" dirty="0">
                <a:latin typeface="楷体" panose="02010609060101010101" pitchFamily="49" charset="-122"/>
              </a:rPr>
              <a:t>void</a:t>
            </a:r>
            <a:r>
              <a:rPr lang="zh-CN" altLang="en-US" sz="2800" dirty="0">
                <a:latin typeface="楷体" panose="02010609060101010101" pitchFamily="49" charset="-122"/>
              </a:rPr>
              <a:t>表示</a:t>
            </a:r>
            <a:r>
              <a:rPr lang="en-US" altLang="zh-CN" sz="2800" dirty="0">
                <a:latin typeface="楷体" panose="02010609060101010101" pitchFamily="49" charset="-122"/>
              </a:rPr>
              <a:t>)</a:t>
            </a:r>
            <a:r>
              <a:rPr lang="zh-CN" altLang="en-US" sz="2800" dirty="0">
                <a:latin typeface="楷体" panose="02010609060101010101" pitchFamily="49" charset="-122"/>
              </a:rPr>
              <a:t>。返回值类型可以是</a:t>
            </a:r>
            <a:r>
              <a:rPr lang="en-US" altLang="zh-CN" sz="2800" dirty="0">
                <a:latin typeface="楷体" panose="02010609060101010101" pitchFamily="49" charset="-122"/>
              </a:rPr>
              <a:t>Java</a:t>
            </a:r>
            <a:r>
              <a:rPr lang="zh-CN" altLang="en-US" sz="2800" dirty="0">
                <a:latin typeface="楷体" panose="02010609060101010101" pitchFamily="49" charset="-122"/>
              </a:rPr>
              <a:t>类型系统中的所有类型。</a:t>
            </a:r>
            <a:endParaRPr lang="en-US" altLang="zh-CN" sz="2800" dirty="0">
              <a:latin typeface="楷体" panose="02010609060101010101" pitchFamily="49" charset="-122"/>
            </a:endParaRPr>
          </a:p>
          <a:p>
            <a:pPr marL="812800" indent="-812800">
              <a:buFont typeface="Arial" panose="020B0604020202020204" pitchFamily="34" charset="0"/>
              <a:buAutoNum type="ea1JpnChsDbPeriod"/>
            </a:pPr>
            <a:endParaRPr lang="en-US" altLang="zh-CN" sz="2800" dirty="0">
              <a:latin typeface="楷体" panose="02010609060101010101" pitchFamily="49" charset="-122"/>
            </a:endParaRPr>
          </a:p>
          <a:p>
            <a:pPr marL="812800" indent="-812800">
              <a:buFont typeface="Arial" panose="020B0604020202020204" pitchFamily="34" charset="0"/>
              <a:buAutoNum type="ea1JpnChsDbPeriod" startAt="3"/>
            </a:pPr>
            <a:r>
              <a:rPr lang="zh-CN" altLang="en-US" sz="2800" dirty="0">
                <a:latin typeface="楷体" panose="02010609060101010101" pitchFamily="49" charset="-122"/>
              </a:rPr>
              <a:t>有返回值的方法使用</a:t>
            </a:r>
            <a:r>
              <a:rPr lang="en-US" altLang="zh-CN" sz="2800" dirty="0">
                <a:latin typeface="楷体" panose="02010609060101010101" pitchFamily="49" charset="-122"/>
              </a:rPr>
              <a:t>return</a:t>
            </a:r>
            <a:r>
              <a:rPr lang="zh-CN" altLang="en-US" sz="2800" dirty="0">
                <a:latin typeface="楷体" panose="02010609060101010101" pitchFamily="49" charset="-122"/>
              </a:rPr>
              <a:t>语句将值返回给调用者。</a:t>
            </a:r>
          </a:p>
          <a:p>
            <a:pPr marL="812800" indent="-812800">
              <a:buFont typeface="Arial" panose="020B0604020202020204" pitchFamily="34" charset="0"/>
              <a:buAutoNum type="ea1JpnChsDbPeriod"/>
            </a:pPr>
            <a:endParaRPr lang="zh-CN" altLang="en-US" dirty="0">
              <a:latin typeface="楷体" panose="02010609060101010101" pitchFamily="49" charset="-122"/>
            </a:endParaRPr>
          </a:p>
          <a:p>
            <a:pPr marL="812800" indent="-812800">
              <a:buFont typeface="Arial" panose="020B0604020202020204" pitchFamily="34" charset="0"/>
              <a:buAutoNum type="ea1JpnChsDbPeriod"/>
            </a:pP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成员方法的定义说明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0297062"/>
      </p:ext>
    </p:extLst>
  </p:cSld>
  <p:clrMapOvr>
    <a:masterClrMapping/>
  </p:clrMapOvr>
  <p:transition spd="med">
    <p:pull dir="r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800" dirty="0"/>
              <a:t>区别一：定义的位置不同</a:t>
            </a:r>
          </a:p>
          <a:p>
            <a:pPr lvl="1"/>
            <a:r>
              <a:rPr lang="zh-CN" altLang="zh-CN" dirty="0"/>
              <a:t>定义在类中的变量是成员变量</a:t>
            </a:r>
          </a:p>
          <a:p>
            <a:pPr lvl="1"/>
            <a:r>
              <a:rPr lang="zh-CN" altLang="zh-CN" dirty="0"/>
              <a:t>定义在方法中或者</a:t>
            </a:r>
            <a:r>
              <a:rPr lang="en-US" altLang="zh-CN" dirty="0"/>
              <a:t>{}</a:t>
            </a:r>
            <a:r>
              <a:rPr lang="zh-CN" altLang="zh-CN" dirty="0"/>
              <a:t>语句里面的变量是局部变量</a:t>
            </a:r>
            <a:endParaRPr lang="en-US" altLang="zh-CN" dirty="0"/>
          </a:p>
          <a:p>
            <a:r>
              <a:rPr lang="zh-CN" altLang="zh-CN" sz="2800" dirty="0"/>
              <a:t>区别二：在内存中的位置不同</a:t>
            </a:r>
          </a:p>
          <a:p>
            <a:pPr lvl="1"/>
            <a:r>
              <a:rPr lang="zh-CN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成员变量存储在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堆</a:t>
            </a:r>
            <a:r>
              <a:rPr lang="zh-CN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内存的对象中</a:t>
            </a:r>
          </a:p>
          <a:p>
            <a:pPr lvl="1"/>
            <a:r>
              <a:rPr lang="zh-CN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局部变量存储在栈内存的方法中</a:t>
            </a:r>
          </a:p>
          <a:p>
            <a:endParaRPr lang="zh-CN" altLang="zh-CN" sz="2800" dirty="0"/>
          </a:p>
          <a:p>
            <a:endParaRPr lang="zh-CN" altLang="zh-CN" sz="2800" dirty="0"/>
          </a:p>
          <a:p>
            <a:pPr lvl="1"/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局部变量和成员变量区别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701926"/>
      </p:ext>
    </p:extLst>
  </p:cSld>
  <p:clrMapOvr>
    <a:masterClrMapping/>
  </p:clrMapOvr>
  <p:transition spd="med">
    <p:pull dir="r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zh-CN" sz="2800" dirty="0"/>
              <a:t>区别三：声明周期不同</a:t>
            </a:r>
          </a:p>
          <a:p>
            <a:pPr lvl="1"/>
            <a:r>
              <a:rPr lang="zh-CN" altLang="zh-CN" dirty="0"/>
              <a:t>成员变量随着对象的出现而出现在堆中，随着对象的消失而从堆中消失</a:t>
            </a:r>
          </a:p>
          <a:p>
            <a:pPr lvl="1"/>
            <a:r>
              <a:rPr lang="zh-CN" altLang="zh-CN" dirty="0"/>
              <a:t>局部变量随着方法的运行而出现在栈中，随着方法的弹栈而消失</a:t>
            </a:r>
            <a:endParaRPr lang="en-US" altLang="zh-CN" dirty="0"/>
          </a:p>
          <a:p>
            <a:r>
              <a:rPr lang="zh-CN" altLang="zh-CN" sz="2800" dirty="0"/>
              <a:t>区别四：初始化不同</a:t>
            </a:r>
          </a:p>
          <a:p>
            <a:pPr lvl="1"/>
            <a:r>
              <a:rPr lang="zh-CN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成员变量因为在堆内存中，所有成员变量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具有</a:t>
            </a:r>
            <a:r>
              <a:rPr lang="zh-CN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默认的初始化值</a:t>
            </a:r>
          </a:p>
          <a:p>
            <a:pPr lvl="1"/>
            <a:r>
              <a:rPr lang="zh-CN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局部变量没有默认的初始化值，必须手动的给其赋值才可以使用。</a:t>
            </a:r>
          </a:p>
          <a:p>
            <a:endParaRPr lang="zh-CN" altLang="zh-CN" sz="2800" dirty="0"/>
          </a:p>
          <a:p>
            <a:endParaRPr lang="zh-CN" altLang="zh-CN" sz="2800" dirty="0"/>
          </a:p>
          <a:p>
            <a:pPr lvl="1"/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局部变量和成员变量区别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8306385"/>
      </p:ext>
    </p:extLst>
  </p:cSld>
  <p:clrMapOvr>
    <a:masterClrMapping/>
  </p:clrMapOvr>
  <p:transition spd="med">
    <p:pull dir="r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方法的重载是指一个类中可以定义有相同的名字，但参数不同的多个方法，调用时会根据不同的参数表选择对应的方法。</a:t>
            </a:r>
            <a:endParaRPr lang="en-US" altLang="zh-CN" sz="2800" dirty="0">
              <a:latin typeface="楷体" panose="02010609060101010101" pitchFamily="49" charset="-122"/>
              <a:sym typeface="宋体" charset="-122"/>
            </a:endParaRPr>
          </a:p>
          <a:p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调用的方法实现由参数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sym typeface="宋体" charset="-122"/>
              </a:rPr>
              <a:t>个数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和参数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sym typeface="宋体" charset="-122"/>
              </a:rPr>
              <a:t>类型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确定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方法的重载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0343445"/>
      </p:ext>
    </p:extLst>
  </p:cSld>
  <p:clrMapOvr>
    <a:masterClrMapping/>
  </p:clrMapOvr>
  <p:transition spd="med">
    <p:pull dir="r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标题 6768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ffectLst/>
              </a:rPr>
              <a:t>生活中的方法重载</a:t>
            </a:r>
          </a:p>
        </p:txBody>
      </p:sp>
      <p:sp>
        <p:nvSpPr>
          <p:cNvPr id="676867" name="圆角矩形 676866"/>
          <p:cNvSpPr/>
          <p:nvPr/>
        </p:nvSpPr>
        <p:spPr>
          <a:xfrm>
            <a:off x="439452" y="1018381"/>
            <a:ext cx="1368425" cy="431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类</a:t>
            </a:r>
          </a:p>
        </p:txBody>
      </p:sp>
      <p:sp>
        <p:nvSpPr>
          <p:cNvPr id="676868" name="圆角矩形 676867"/>
          <p:cNvSpPr/>
          <p:nvPr/>
        </p:nvSpPr>
        <p:spPr>
          <a:xfrm>
            <a:off x="2382552" y="1018381"/>
            <a:ext cx="1370012" cy="431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方法</a:t>
            </a:r>
          </a:p>
        </p:txBody>
      </p:sp>
      <p:sp>
        <p:nvSpPr>
          <p:cNvPr id="676869" name="圆角矩形 676868"/>
          <p:cNvSpPr/>
          <p:nvPr/>
        </p:nvSpPr>
        <p:spPr>
          <a:xfrm>
            <a:off x="4400264" y="1018381"/>
            <a:ext cx="1439863" cy="431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方法参数</a:t>
            </a:r>
          </a:p>
        </p:txBody>
      </p:sp>
      <p:sp>
        <p:nvSpPr>
          <p:cNvPr id="676870" name="圆角矩形 676869"/>
          <p:cNvSpPr/>
          <p:nvPr/>
        </p:nvSpPr>
        <p:spPr>
          <a:xfrm>
            <a:off x="6344952" y="1018381"/>
            <a:ext cx="1441450" cy="431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方法实现</a:t>
            </a:r>
          </a:p>
        </p:txBody>
      </p:sp>
      <p:grpSp>
        <p:nvGrpSpPr>
          <p:cNvPr id="93190" name="组合 676870"/>
          <p:cNvGrpSpPr>
            <a:grpSpLocks/>
          </p:cNvGrpSpPr>
          <p:nvPr/>
        </p:nvGrpSpPr>
        <p:grpSpPr bwMode="auto">
          <a:xfrm>
            <a:off x="439452" y="2718593"/>
            <a:ext cx="1152525" cy="1079500"/>
            <a:chOff x="793" y="1979"/>
            <a:chExt cx="726" cy="680"/>
          </a:xfrm>
        </p:grpSpPr>
        <p:pic>
          <p:nvPicPr>
            <p:cNvPr id="93210" name="图片 676871" descr="driver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93" y="1979"/>
              <a:ext cx="726" cy="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3211" name="矩形 676872"/>
            <p:cNvSpPr>
              <a:spLocks noChangeArrowheads="1"/>
            </p:cNvSpPr>
            <p:nvPr/>
          </p:nvSpPr>
          <p:spPr bwMode="auto">
            <a:xfrm>
              <a:off x="793" y="2523"/>
              <a:ext cx="726" cy="13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ea typeface="楷体" panose="02010609060101010101" pitchFamily="49" charset="-122"/>
                </a:rPr>
                <a:t>司机 </a:t>
              </a:r>
            </a:p>
          </p:txBody>
        </p:sp>
      </p:grpSp>
      <p:grpSp>
        <p:nvGrpSpPr>
          <p:cNvPr id="93191" name="组合 676873"/>
          <p:cNvGrpSpPr>
            <a:grpSpLocks/>
          </p:cNvGrpSpPr>
          <p:nvPr/>
        </p:nvGrpSpPr>
        <p:grpSpPr bwMode="auto">
          <a:xfrm>
            <a:off x="4543139" y="1739106"/>
            <a:ext cx="952500" cy="863600"/>
            <a:chOff x="3515" y="1389"/>
            <a:chExt cx="600" cy="544"/>
          </a:xfrm>
        </p:grpSpPr>
        <p:pic>
          <p:nvPicPr>
            <p:cNvPr id="93208" name="图片 676874" descr="car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15" y="1389"/>
              <a:ext cx="600" cy="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3209" name="矩形 676875"/>
            <p:cNvSpPr>
              <a:spLocks noChangeArrowheads="1"/>
            </p:cNvSpPr>
            <p:nvPr/>
          </p:nvSpPr>
          <p:spPr bwMode="auto">
            <a:xfrm>
              <a:off x="3560" y="1797"/>
              <a:ext cx="545" cy="13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ea typeface="楷体" panose="02010609060101010101" pitchFamily="49" charset="-122"/>
                </a:rPr>
                <a:t>轿车 </a:t>
              </a:r>
            </a:p>
          </p:txBody>
        </p:sp>
      </p:grpSp>
      <p:grpSp>
        <p:nvGrpSpPr>
          <p:cNvPr id="93192" name="组合 676876"/>
          <p:cNvGrpSpPr>
            <a:grpSpLocks/>
          </p:cNvGrpSpPr>
          <p:nvPr/>
        </p:nvGrpSpPr>
        <p:grpSpPr bwMode="auto">
          <a:xfrm>
            <a:off x="4543139" y="2818606"/>
            <a:ext cx="952500" cy="863600"/>
            <a:chOff x="3515" y="2115"/>
            <a:chExt cx="600" cy="544"/>
          </a:xfrm>
        </p:grpSpPr>
        <p:pic>
          <p:nvPicPr>
            <p:cNvPr id="93206" name="图片 676877" descr="bus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15" y="2115"/>
              <a:ext cx="600" cy="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3207" name="矩形 676878"/>
            <p:cNvSpPr>
              <a:spLocks noChangeArrowheads="1"/>
            </p:cNvSpPr>
            <p:nvPr/>
          </p:nvSpPr>
          <p:spPr bwMode="auto">
            <a:xfrm>
              <a:off x="3515" y="2523"/>
              <a:ext cx="545" cy="13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ea typeface="楷体" panose="02010609060101010101" pitchFamily="49" charset="-122"/>
                </a:rPr>
                <a:t>巴士 </a:t>
              </a:r>
            </a:p>
          </p:txBody>
        </p:sp>
      </p:grpSp>
      <p:grpSp>
        <p:nvGrpSpPr>
          <p:cNvPr id="93193" name="组合 676879"/>
          <p:cNvGrpSpPr>
            <a:grpSpLocks/>
          </p:cNvGrpSpPr>
          <p:nvPr/>
        </p:nvGrpSpPr>
        <p:grpSpPr bwMode="auto">
          <a:xfrm>
            <a:off x="4543139" y="3899693"/>
            <a:ext cx="1008063" cy="936625"/>
            <a:chOff x="3515" y="2795"/>
            <a:chExt cx="635" cy="590"/>
          </a:xfrm>
        </p:grpSpPr>
        <p:pic>
          <p:nvPicPr>
            <p:cNvPr id="93204" name="图片 676880" descr="qinggui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515" y="2795"/>
              <a:ext cx="635" cy="4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3205" name="矩形 676881"/>
            <p:cNvSpPr>
              <a:spLocks noChangeArrowheads="1"/>
            </p:cNvSpPr>
            <p:nvPr/>
          </p:nvSpPr>
          <p:spPr bwMode="auto">
            <a:xfrm>
              <a:off x="3560" y="3249"/>
              <a:ext cx="545" cy="13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ea typeface="楷体" panose="02010609060101010101" pitchFamily="49" charset="-122"/>
                </a:rPr>
                <a:t>火车 </a:t>
              </a:r>
            </a:p>
          </p:txBody>
        </p:sp>
      </p:grpSp>
      <p:sp>
        <p:nvSpPr>
          <p:cNvPr id="676883" name="圆角矩形 676882"/>
          <p:cNvSpPr/>
          <p:nvPr/>
        </p:nvSpPr>
        <p:spPr>
          <a:xfrm>
            <a:off x="2455577" y="2848768"/>
            <a:ext cx="1223962" cy="5762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驾驶</a:t>
            </a:r>
          </a:p>
        </p:txBody>
      </p:sp>
      <p:sp>
        <p:nvSpPr>
          <p:cNvPr id="93195" name="矩形 676883"/>
          <p:cNvSpPr>
            <a:spLocks noChangeArrowheads="1"/>
          </p:cNvSpPr>
          <p:nvPr/>
        </p:nvSpPr>
        <p:spPr bwMode="auto">
          <a:xfrm>
            <a:off x="5840127" y="1881981"/>
            <a:ext cx="2016125" cy="431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 b="1" dirty="0">
                <a:ea typeface="楷体" panose="02010609060101010101" pitchFamily="49" charset="-122"/>
              </a:rPr>
              <a:t>启动、行驶、</a:t>
            </a:r>
            <a:r>
              <a:rPr lang="en-US" altLang="zh-CN" b="1" dirty="0">
                <a:ea typeface="楷体" panose="02010609060101010101" pitchFamily="49" charset="-122"/>
              </a:rPr>
              <a:t>……</a:t>
            </a:r>
          </a:p>
        </p:txBody>
      </p:sp>
      <p:sp>
        <p:nvSpPr>
          <p:cNvPr id="93196" name="矩形 676884"/>
          <p:cNvSpPr>
            <a:spLocks noChangeArrowheads="1"/>
          </p:cNvSpPr>
          <p:nvPr/>
        </p:nvSpPr>
        <p:spPr bwMode="auto">
          <a:xfrm>
            <a:off x="5840127" y="2888456"/>
            <a:ext cx="2627312" cy="64928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 b="1" dirty="0">
                <a:ea typeface="楷体" panose="02010609060101010101" pitchFamily="49" charset="-122"/>
              </a:rPr>
              <a:t>等待乘客上车、启动、</a:t>
            </a:r>
          </a:p>
          <a:p>
            <a:r>
              <a:rPr lang="zh-CN" altLang="en-US" b="1" dirty="0">
                <a:ea typeface="楷体" panose="02010609060101010101" pitchFamily="49" charset="-122"/>
              </a:rPr>
              <a:t>行驶、到站停车、</a:t>
            </a:r>
            <a:r>
              <a:rPr lang="en-US" altLang="zh-CN" b="1" dirty="0">
                <a:ea typeface="楷体" panose="02010609060101010101" pitchFamily="49" charset="-122"/>
              </a:rPr>
              <a:t>……</a:t>
            </a:r>
          </a:p>
        </p:txBody>
      </p:sp>
      <p:sp>
        <p:nvSpPr>
          <p:cNvPr id="93197" name="矩形 676885"/>
          <p:cNvSpPr>
            <a:spLocks noChangeArrowheads="1"/>
          </p:cNvSpPr>
          <p:nvPr/>
        </p:nvSpPr>
        <p:spPr bwMode="auto">
          <a:xfrm>
            <a:off x="5840127" y="3977481"/>
            <a:ext cx="2016125" cy="6413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 dirty="0">
                <a:ea typeface="楷体" panose="02010609060101010101" pitchFamily="49" charset="-122"/>
              </a:rPr>
              <a:t>正点发车、行驶、</a:t>
            </a:r>
          </a:p>
          <a:p>
            <a:r>
              <a:rPr lang="zh-CN" altLang="en-US" b="1" dirty="0">
                <a:ea typeface="楷体" panose="02010609060101010101" pitchFamily="49" charset="-122"/>
              </a:rPr>
              <a:t>到站停车、</a:t>
            </a:r>
            <a:r>
              <a:rPr lang="en-US" altLang="zh-CN" b="1" dirty="0">
                <a:ea typeface="楷体" panose="02010609060101010101" pitchFamily="49" charset="-122"/>
              </a:rPr>
              <a:t>……</a:t>
            </a:r>
          </a:p>
        </p:txBody>
      </p:sp>
      <p:cxnSp>
        <p:nvCxnSpPr>
          <p:cNvPr id="93198" name="直接箭头连接符 676886"/>
          <p:cNvCxnSpPr>
            <a:cxnSpLocks noChangeShapeType="1"/>
            <a:stCxn id="676883" idx="3"/>
          </p:cNvCxnSpPr>
          <p:nvPr/>
        </p:nvCxnSpPr>
        <p:spPr bwMode="auto">
          <a:xfrm flipV="1">
            <a:off x="3679539" y="2058193"/>
            <a:ext cx="863600" cy="10795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3199" name="直接箭头连接符 676887"/>
          <p:cNvCxnSpPr>
            <a:cxnSpLocks noChangeShapeType="1"/>
            <a:stCxn id="676883" idx="3"/>
          </p:cNvCxnSpPr>
          <p:nvPr/>
        </p:nvCxnSpPr>
        <p:spPr bwMode="auto">
          <a:xfrm>
            <a:off x="3679539" y="3137693"/>
            <a:ext cx="8636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3200" name="直接箭头连接符 676888"/>
          <p:cNvCxnSpPr>
            <a:cxnSpLocks noChangeShapeType="1"/>
            <a:stCxn id="676883" idx="3"/>
          </p:cNvCxnSpPr>
          <p:nvPr/>
        </p:nvCxnSpPr>
        <p:spPr bwMode="auto">
          <a:xfrm>
            <a:off x="3679539" y="3137693"/>
            <a:ext cx="863600" cy="11191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3201" name="直接箭头连接符 676889"/>
          <p:cNvCxnSpPr>
            <a:cxnSpLocks noChangeShapeType="1"/>
            <a:endCxn id="676883" idx="1"/>
          </p:cNvCxnSpPr>
          <p:nvPr/>
        </p:nvCxnSpPr>
        <p:spPr bwMode="auto">
          <a:xfrm>
            <a:off x="1591977" y="3136106"/>
            <a:ext cx="863600" cy="15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76891" name="圆角矩形 676890"/>
          <p:cNvSpPr/>
          <p:nvPr/>
        </p:nvSpPr>
        <p:spPr>
          <a:xfrm>
            <a:off x="655352" y="4977606"/>
            <a:ext cx="6408737" cy="7953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如果用代码实现，我们需要三个方法，这些方法的方法名称相同，参数类型不同 </a:t>
            </a:r>
          </a:p>
        </p:txBody>
      </p:sp>
      <p:sp>
        <p:nvSpPr>
          <p:cNvPr id="9320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CC290B3A-54EC-4913-9143-4F071BBD9EAF}" type="slidenum">
              <a:rPr lang="en-US" altLang="zh-CN" smtClean="0">
                <a:latin typeface="Arial" charset="0"/>
              </a:rPr>
              <a:pPr/>
              <a:t>43</a:t>
            </a:fld>
            <a:endParaRPr lang="zh-CN" altLang="zh-CN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196820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6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89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err="1">
                <a:latin typeface="楷体" panose="02010609060101010101" pitchFamily="49" charset="-122"/>
                <a:sym typeface="宋体" charset="-122"/>
              </a:rPr>
              <a:t>java.io.PrintStream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类的</a:t>
            </a:r>
            <a:r>
              <a:rPr lang="en-US" altLang="zh-CN" sz="2800" dirty="0" err="1">
                <a:latin typeface="楷体" panose="02010609060101010101" pitchFamily="49" charset="-122"/>
                <a:sym typeface="宋体" charset="-122"/>
              </a:rPr>
              <a:t>println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方法能够打印数据并换行，根据数据类型的不同，有多种实现方式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方法重载的代码示例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grpSp>
        <p:nvGrpSpPr>
          <p:cNvPr id="7" name="组合 678913"/>
          <p:cNvGrpSpPr>
            <a:grpSpLocks/>
          </p:cNvGrpSpPr>
          <p:nvPr/>
        </p:nvGrpSpPr>
        <p:grpSpPr bwMode="auto">
          <a:xfrm>
            <a:off x="1225550" y="2392553"/>
            <a:ext cx="2133600" cy="3141662"/>
            <a:chOff x="597" y="1192"/>
            <a:chExt cx="1344" cy="2026"/>
          </a:xfrm>
        </p:grpSpPr>
        <p:sp>
          <p:nvSpPr>
            <p:cNvPr id="8" name="圆角矩形 678914"/>
            <p:cNvSpPr>
              <a:spLocks noChangeArrowheads="1"/>
            </p:cNvSpPr>
            <p:nvPr/>
          </p:nvSpPr>
          <p:spPr bwMode="auto">
            <a:xfrm>
              <a:off x="597" y="1192"/>
              <a:ext cx="1344" cy="202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9" name="直接连接符 678915"/>
            <p:cNvSpPr>
              <a:spLocks noChangeShapeType="1"/>
            </p:cNvSpPr>
            <p:nvPr/>
          </p:nvSpPr>
          <p:spPr bwMode="auto">
            <a:xfrm>
              <a:off x="657" y="1661"/>
              <a:ext cx="1225" cy="0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10" name="直接连接符 678916"/>
            <p:cNvSpPr>
              <a:spLocks noChangeShapeType="1"/>
            </p:cNvSpPr>
            <p:nvPr/>
          </p:nvSpPr>
          <p:spPr bwMode="auto">
            <a:xfrm>
              <a:off x="657" y="1888"/>
              <a:ext cx="1225" cy="0"/>
            </a:xfrm>
            <a:prstGeom prst="line">
              <a:avLst/>
            </a:prstGeom>
            <a:noFill/>
            <a:ln w="9525">
              <a:solidFill>
                <a:srgbClr val="0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</p:grpSp>
      <p:sp>
        <p:nvSpPr>
          <p:cNvPr id="11" name="圆角矩形 678919"/>
          <p:cNvSpPr>
            <a:spLocks noChangeArrowheads="1"/>
          </p:cNvSpPr>
          <p:nvPr/>
        </p:nvSpPr>
        <p:spPr bwMode="auto">
          <a:xfrm>
            <a:off x="3787775" y="2414778"/>
            <a:ext cx="5167312" cy="3022600"/>
          </a:xfrm>
          <a:prstGeom prst="roundRect">
            <a:avLst>
              <a:gd name="adj" fmla="val 1019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class Test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static void main(String[ ]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args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 {</a:t>
            </a:r>
          </a:p>
          <a:p>
            <a:pPr lvl="2"/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int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= 0;</a:t>
            </a:r>
          </a:p>
          <a:p>
            <a:pPr lvl="2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char c = 'z';</a:t>
            </a:r>
          </a:p>
          <a:p>
            <a:pPr lvl="2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String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str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= "hello";</a:t>
            </a:r>
          </a:p>
          <a:p>
            <a:pPr lvl="2"/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System.out.println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);</a:t>
            </a:r>
          </a:p>
          <a:p>
            <a:pPr lvl="2"/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System.out.println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(c);</a:t>
            </a:r>
          </a:p>
          <a:p>
            <a:pPr lvl="2"/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System.out.println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str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12" name="圆角矩形 678920"/>
          <p:cNvSpPr>
            <a:spLocks noChangeArrowheads="1"/>
          </p:cNvSpPr>
          <p:nvPr/>
        </p:nvSpPr>
        <p:spPr bwMode="auto">
          <a:xfrm>
            <a:off x="1520825" y="2610040"/>
            <a:ext cx="1585912" cy="406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PrintStream</a:t>
            </a:r>
            <a:endParaRPr lang="en-US" altLang="zh-CN" b="1" dirty="0">
              <a:ea typeface="楷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13" name="圆角矩形 678921"/>
          <p:cNvSpPr>
            <a:spLocks noChangeArrowheads="1"/>
          </p:cNvSpPr>
          <p:nvPr/>
        </p:nvSpPr>
        <p:spPr bwMode="auto">
          <a:xfrm>
            <a:off x="1474787" y="3578415"/>
            <a:ext cx="1709738" cy="1265238"/>
          </a:xfrm>
          <a:prstGeom prst="roundRect">
            <a:avLst>
              <a:gd name="adj" fmla="val 9579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println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int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</a:t>
            </a:r>
          </a:p>
          <a:p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println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(char)</a:t>
            </a:r>
          </a:p>
          <a:p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println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(String)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……</a:t>
            </a:r>
          </a:p>
        </p:txBody>
      </p:sp>
      <p:sp>
        <p:nvSpPr>
          <p:cNvPr id="14" name="圆角矩形标注 678922"/>
          <p:cNvSpPr/>
          <p:nvPr/>
        </p:nvSpPr>
        <p:spPr>
          <a:xfrm>
            <a:off x="1033462" y="5367528"/>
            <a:ext cx="3168650" cy="408623"/>
          </a:xfrm>
          <a:prstGeom prst="wedgeRoundRectCallout">
            <a:avLst>
              <a:gd name="adj1" fmla="val -20088"/>
              <a:gd name="adj2" fmla="val -19382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/>
          <a:p>
            <a:pPr algn="ctr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方法名相同，参数类型不同</a:t>
            </a:r>
          </a:p>
        </p:txBody>
      </p:sp>
      <p:sp>
        <p:nvSpPr>
          <p:cNvPr id="15" name="圆角矩形标注 678923"/>
          <p:cNvSpPr/>
          <p:nvPr/>
        </p:nvSpPr>
        <p:spPr>
          <a:xfrm>
            <a:off x="5065712" y="5367528"/>
            <a:ext cx="2735263" cy="408623"/>
          </a:xfrm>
          <a:prstGeom prst="wedgeRoundRectCallout">
            <a:avLst>
              <a:gd name="adj1" fmla="val 12625"/>
              <a:gd name="adj2" fmla="val -19820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/>
          <a:p>
            <a:pPr algn="ctr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调用不同的</a:t>
            </a:r>
            <a:r>
              <a:rPr lang="en-US" altLang="zh-CN" b="1" dirty="0" err="1">
                <a:latin typeface="Arial" panose="020B0604020202020204" pitchFamily="34" charset="0"/>
                <a:ea typeface="楷体" panose="02010609060101010101" pitchFamily="49" charset="-122"/>
              </a:rPr>
              <a:t>println</a:t>
            </a: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方法</a:t>
            </a:r>
          </a:p>
        </p:txBody>
      </p:sp>
      <p:sp>
        <p:nvSpPr>
          <p:cNvPr id="16" name="圆角矩形 678924"/>
          <p:cNvSpPr/>
          <p:nvPr/>
        </p:nvSpPr>
        <p:spPr>
          <a:xfrm>
            <a:off x="594122" y="3479990"/>
            <a:ext cx="510778" cy="1600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方法重载</a:t>
            </a:r>
          </a:p>
        </p:txBody>
      </p:sp>
      <p:sp>
        <p:nvSpPr>
          <p:cNvPr id="17" name="右大括号 678925"/>
          <p:cNvSpPr>
            <a:spLocks/>
          </p:cNvSpPr>
          <p:nvPr/>
        </p:nvSpPr>
        <p:spPr bwMode="auto">
          <a:xfrm flipH="1">
            <a:off x="1177925" y="3640328"/>
            <a:ext cx="290512" cy="1150937"/>
          </a:xfrm>
          <a:prstGeom prst="rightBrace">
            <a:avLst>
              <a:gd name="adj1" fmla="val 41525"/>
              <a:gd name="adj2" fmla="val 49995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0562484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err="1">
                <a:latin typeface="楷体" panose="02010609060101010101" pitchFamily="49" charset="-122"/>
                <a:sym typeface="宋体" charset="-122"/>
              </a:rPr>
              <a:t>java.lang.Math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类的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max()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方法能够从两个数字中取出最大值，它有多种实现方式</a:t>
            </a:r>
            <a:endParaRPr lang="en-US" altLang="zh-CN" sz="2800" dirty="0">
              <a:latin typeface="楷体" panose="02010609060101010101" pitchFamily="49" charset="-122"/>
              <a:sym typeface="宋体" charset="-122"/>
            </a:endParaRPr>
          </a:p>
          <a:p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运行时，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Java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虚拟机先判断给定参数的类型，然后决定到底执行哪个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max()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方法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方法重载的代码示例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p:grpSp>
        <p:nvGrpSpPr>
          <p:cNvPr id="7" name="组合 680963"/>
          <p:cNvGrpSpPr>
            <a:grpSpLocks/>
          </p:cNvGrpSpPr>
          <p:nvPr/>
        </p:nvGrpSpPr>
        <p:grpSpPr bwMode="auto">
          <a:xfrm>
            <a:off x="777875" y="3059907"/>
            <a:ext cx="3162300" cy="3227387"/>
            <a:chOff x="661" y="2209"/>
            <a:chExt cx="1897" cy="2033"/>
          </a:xfrm>
        </p:grpSpPr>
        <p:grpSp>
          <p:nvGrpSpPr>
            <p:cNvPr id="8" name="组合 680964"/>
            <p:cNvGrpSpPr>
              <a:grpSpLocks/>
            </p:cNvGrpSpPr>
            <p:nvPr/>
          </p:nvGrpSpPr>
          <p:grpSpPr bwMode="auto">
            <a:xfrm>
              <a:off x="661" y="2209"/>
              <a:ext cx="1897" cy="2033"/>
              <a:chOff x="595" y="1164"/>
              <a:chExt cx="1348" cy="2082"/>
            </a:xfrm>
          </p:grpSpPr>
          <p:sp>
            <p:nvSpPr>
              <p:cNvPr id="11" name="圆角矩形 680965"/>
              <p:cNvSpPr>
                <a:spLocks noChangeArrowheads="1"/>
              </p:cNvSpPr>
              <p:nvPr/>
            </p:nvSpPr>
            <p:spPr bwMode="auto">
              <a:xfrm>
                <a:off x="595" y="1164"/>
                <a:ext cx="1348" cy="2082"/>
              </a:xfrm>
              <a:prstGeom prst="roundRect">
                <a:avLst>
                  <a:gd name="adj" fmla="val 16667"/>
                </a:avLst>
              </a:prstGeom>
              <a:gradFill rotWithShape="1">
                <a:gsLst>
                  <a:gs pos="0">
                    <a:srgbClr val="CCFFFF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ea typeface="楷体" panose="02010609060101010101" pitchFamily="49" charset="-122"/>
                </a:endParaRPr>
              </a:p>
            </p:txBody>
          </p:sp>
          <p:sp>
            <p:nvSpPr>
              <p:cNvPr id="12" name="直接连接符 680966"/>
              <p:cNvSpPr>
                <a:spLocks noChangeShapeType="1"/>
              </p:cNvSpPr>
              <p:nvPr/>
            </p:nvSpPr>
            <p:spPr bwMode="auto">
              <a:xfrm>
                <a:off x="657" y="1661"/>
                <a:ext cx="1225" cy="0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ea typeface="楷体" panose="02010609060101010101" pitchFamily="49" charset="-122"/>
                </a:endParaRPr>
              </a:p>
            </p:txBody>
          </p:sp>
          <p:sp>
            <p:nvSpPr>
              <p:cNvPr id="13" name="直接连接符 680967"/>
              <p:cNvSpPr>
                <a:spLocks noChangeShapeType="1"/>
              </p:cNvSpPr>
              <p:nvPr/>
            </p:nvSpPr>
            <p:spPr bwMode="auto">
              <a:xfrm>
                <a:off x="657" y="1888"/>
                <a:ext cx="1225" cy="0"/>
              </a:xfrm>
              <a:prstGeom prst="line">
                <a:avLst/>
              </a:prstGeom>
              <a:noFill/>
              <a:ln w="9525">
                <a:solidFill>
                  <a:srgbClr val="0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9" name="圆角矩形 680968"/>
            <p:cNvSpPr>
              <a:spLocks noChangeArrowheads="1"/>
            </p:cNvSpPr>
            <p:nvPr/>
          </p:nvSpPr>
          <p:spPr bwMode="auto">
            <a:xfrm>
              <a:off x="1146" y="2422"/>
              <a:ext cx="835" cy="256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808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b="1" dirty="0">
                  <a:ea typeface="楷体" panose="02010609060101010101" pitchFamily="49" charset="-122"/>
                  <a:cs typeface="Times New Roman" pitchFamily="18" charset="0"/>
                </a:rPr>
                <a:t>Math</a:t>
              </a:r>
            </a:p>
          </p:txBody>
        </p:sp>
        <p:sp>
          <p:nvSpPr>
            <p:cNvPr id="10" name="圆角矩形 680969"/>
            <p:cNvSpPr>
              <a:spLocks noChangeArrowheads="1"/>
            </p:cNvSpPr>
            <p:nvPr/>
          </p:nvSpPr>
          <p:spPr bwMode="auto">
            <a:xfrm>
              <a:off x="754" y="3075"/>
              <a:ext cx="1710" cy="83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CCFFFF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808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1" dirty="0">
                  <a:ea typeface="楷体" panose="02010609060101010101" pitchFamily="49" charset="-122"/>
                  <a:cs typeface="Times New Roman" pitchFamily="18" charset="0"/>
                </a:rPr>
                <a:t>max(</a:t>
              </a:r>
              <a:r>
                <a:rPr lang="en-US" altLang="zh-CN" b="1" dirty="0" err="1">
                  <a:ea typeface="楷体" panose="02010609060101010101" pitchFamily="49" charset="-122"/>
                  <a:cs typeface="Times New Roman" pitchFamily="18" charset="0"/>
                </a:rPr>
                <a:t>int</a:t>
              </a:r>
              <a:r>
                <a:rPr lang="en-US" altLang="zh-CN" b="1" dirty="0">
                  <a:ea typeface="楷体" panose="02010609060101010101" pitchFamily="49" charset="-122"/>
                  <a:cs typeface="Times New Roman" pitchFamily="18" charset="0"/>
                </a:rPr>
                <a:t> </a:t>
              </a:r>
              <a:r>
                <a:rPr lang="en-US" altLang="zh-CN" b="1" dirty="0" err="1">
                  <a:ea typeface="楷体" panose="02010609060101010101" pitchFamily="49" charset="-122"/>
                  <a:cs typeface="Times New Roman" pitchFamily="18" charset="0"/>
                </a:rPr>
                <a:t>a,int</a:t>
              </a:r>
              <a:r>
                <a:rPr lang="en-US" altLang="zh-CN" b="1" dirty="0">
                  <a:ea typeface="楷体" panose="02010609060101010101" pitchFamily="49" charset="-122"/>
                  <a:cs typeface="Times New Roman" pitchFamily="18" charset="0"/>
                </a:rPr>
                <a:t> b)</a:t>
              </a:r>
            </a:p>
            <a:p>
              <a:r>
                <a:rPr lang="en-US" altLang="zh-CN" b="1" dirty="0">
                  <a:ea typeface="楷体" panose="02010609060101010101" pitchFamily="49" charset="-122"/>
                  <a:cs typeface="Times New Roman" pitchFamily="18" charset="0"/>
                </a:rPr>
                <a:t>max(float </a:t>
              </a:r>
              <a:r>
                <a:rPr lang="en-US" altLang="zh-CN" b="1" dirty="0" err="1">
                  <a:ea typeface="楷体" panose="02010609060101010101" pitchFamily="49" charset="-122"/>
                  <a:cs typeface="Times New Roman" pitchFamily="18" charset="0"/>
                </a:rPr>
                <a:t>a,float</a:t>
              </a:r>
              <a:r>
                <a:rPr lang="en-US" altLang="zh-CN" b="1" dirty="0">
                  <a:ea typeface="楷体" panose="02010609060101010101" pitchFamily="49" charset="-122"/>
                  <a:cs typeface="Times New Roman" pitchFamily="18" charset="0"/>
                </a:rPr>
                <a:t> b)</a:t>
              </a:r>
            </a:p>
            <a:p>
              <a:r>
                <a:rPr lang="en-US" altLang="zh-CN" b="1" dirty="0">
                  <a:ea typeface="楷体" panose="02010609060101010101" pitchFamily="49" charset="-122"/>
                  <a:cs typeface="Times New Roman" pitchFamily="18" charset="0"/>
                </a:rPr>
                <a:t>max(long </a:t>
              </a:r>
              <a:r>
                <a:rPr lang="en-US" altLang="zh-CN" b="1" dirty="0" err="1">
                  <a:ea typeface="楷体" panose="02010609060101010101" pitchFamily="49" charset="-122"/>
                  <a:cs typeface="Times New Roman" pitchFamily="18" charset="0"/>
                </a:rPr>
                <a:t>a,long</a:t>
              </a:r>
              <a:r>
                <a:rPr lang="en-US" altLang="zh-CN" b="1" dirty="0">
                  <a:ea typeface="楷体" panose="02010609060101010101" pitchFamily="49" charset="-122"/>
                  <a:cs typeface="Times New Roman" pitchFamily="18" charset="0"/>
                </a:rPr>
                <a:t> b)</a:t>
              </a:r>
            </a:p>
            <a:p>
              <a:r>
                <a:rPr lang="en-US" altLang="zh-CN" b="1" dirty="0">
                  <a:ea typeface="楷体" panose="02010609060101010101" pitchFamily="49" charset="-122"/>
                  <a:cs typeface="Times New Roman" pitchFamily="18" charset="0"/>
                </a:rPr>
                <a:t>max(double </a:t>
              </a:r>
              <a:r>
                <a:rPr lang="en-US" altLang="zh-CN" b="1" dirty="0" err="1">
                  <a:ea typeface="楷体" panose="02010609060101010101" pitchFamily="49" charset="-122"/>
                  <a:cs typeface="Times New Roman" pitchFamily="18" charset="0"/>
                </a:rPr>
                <a:t>a,double</a:t>
              </a:r>
              <a:r>
                <a:rPr lang="en-US" altLang="zh-CN" b="1" dirty="0">
                  <a:ea typeface="楷体" panose="02010609060101010101" pitchFamily="49" charset="-122"/>
                  <a:cs typeface="Times New Roman" pitchFamily="18" charset="0"/>
                </a:rPr>
                <a:t> b)</a:t>
              </a:r>
            </a:p>
          </p:txBody>
        </p:sp>
      </p:grpSp>
      <p:sp>
        <p:nvSpPr>
          <p:cNvPr id="14" name="圆角矩形 680970"/>
          <p:cNvSpPr>
            <a:spLocks noChangeArrowheads="1"/>
          </p:cNvSpPr>
          <p:nvPr/>
        </p:nvSpPr>
        <p:spPr bwMode="auto">
          <a:xfrm>
            <a:off x="4030662" y="3928269"/>
            <a:ext cx="5113338" cy="2141538"/>
          </a:xfrm>
          <a:prstGeom prst="roundRect">
            <a:avLst>
              <a:gd name="adj" fmla="val 9815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class Test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static void main(String[ ]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args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 {</a:t>
            </a:r>
          </a:p>
          <a:p>
            <a:pPr lvl="2"/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Math.max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(1,2);</a:t>
            </a:r>
          </a:p>
          <a:p>
            <a:pPr lvl="2"/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Math.max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(1.0F,2.F);</a:t>
            </a:r>
          </a:p>
          <a:p>
            <a:pPr lvl="2"/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Math.max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(1.0,2);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15" name="直接连接符 680971"/>
          <p:cNvSpPr>
            <a:spLocks noChangeShapeType="1"/>
          </p:cNvSpPr>
          <p:nvPr/>
        </p:nvSpPr>
        <p:spPr bwMode="auto">
          <a:xfrm flipH="1" flipV="1">
            <a:off x="2886075" y="4701382"/>
            <a:ext cx="2208212" cy="9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直接连接符 680972"/>
          <p:cNvSpPr>
            <a:spLocks noChangeShapeType="1"/>
          </p:cNvSpPr>
          <p:nvPr/>
        </p:nvSpPr>
        <p:spPr bwMode="auto">
          <a:xfrm flipH="1" flipV="1">
            <a:off x="3149600" y="4998244"/>
            <a:ext cx="19573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7" name="直接连接符 680973"/>
          <p:cNvSpPr>
            <a:spLocks noChangeShapeType="1"/>
          </p:cNvSpPr>
          <p:nvPr/>
        </p:nvSpPr>
        <p:spPr bwMode="auto">
          <a:xfrm flipH="1">
            <a:off x="3678237" y="5287169"/>
            <a:ext cx="1416050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圆角矩形 680974"/>
          <p:cNvSpPr/>
          <p:nvPr/>
        </p:nvSpPr>
        <p:spPr>
          <a:xfrm>
            <a:off x="117872" y="4421982"/>
            <a:ext cx="510778" cy="12541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方法重载</a:t>
            </a:r>
          </a:p>
        </p:txBody>
      </p:sp>
      <p:sp>
        <p:nvSpPr>
          <p:cNvPr id="19" name="右大括号 680975"/>
          <p:cNvSpPr>
            <a:spLocks/>
          </p:cNvSpPr>
          <p:nvPr/>
        </p:nvSpPr>
        <p:spPr bwMode="auto">
          <a:xfrm flipH="1">
            <a:off x="627062" y="4510882"/>
            <a:ext cx="360363" cy="1079500"/>
          </a:xfrm>
          <a:prstGeom prst="rightBrace">
            <a:avLst>
              <a:gd name="adj1" fmla="val 24963"/>
              <a:gd name="adj2" fmla="val 49995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014103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在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java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中，所有对象都有默认的</a:t>
            </a:r>
            <a:r>
              <a:rPr lang="en-US" altLang="zh-CN" sz="2800" dirty="0" err="1">
                <a:latin typeface="楷体" panose="02010609060101010101" pitchFamily="49" charset="-122"/>
                <a:sym typeface="宋体" charset="-122"/>
              </a:rPr>
              <a:t>toString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()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这个方法</a:t>
            </a:r>
            <a:endParaRPr lang="en-US" altLang="zh-CN" sz="2800" dirty="0">
              <a:latin typeface="楷体" panose="02010609060101010101" pitchFamily="49" charset="-122"/>
              <a:sym typeface="宋体" charset="-122"/>
            </a:endParaRPr>
          </a:p>
          <a:p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创建类时没有定义</a:t>
            </a:r>
            <a:r>
              <a:rPr lang="en-US" altLang="zh-CN" sz="2800" dirty="0" err="1">
                <a:latin typeface="楷体" panose="02010609060101010101" pitchFamily="49" charset="-122"/>
                <a:sym typeface="宋体" charset="-122"/>
              </a:rPr>
              <a:t>toString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()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方法，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sym typeface="宋体" charset="-122"/>
              </a:rPr>
              <a:t>输出对象时会输出对象的哈希码值（对象的内存地址）</a:t>
            </a:r>
            <a:endParaRPr lang="en-US" altLang="zh-CN" sz="2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sym typeface="宋体" charset="-122"/>
            </a:endParaRPr>
          </a:p>
          <a:p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它通常只是为了方便输出，比如</a:t>
            </a:r>
            <a:r>
              <a:rPr lang="en-US" altLang="zh-CN" sz="2800" dirty="0" err="1">
                <a:latin typeface="楷体" panose="02010609060101010101" pitchFamily="49" charset="-122"/>
                <a:sym typeface="宋体" charset="-122"/>
              </a:rPr>
              <a:t>System.out.println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(xx)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，（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xx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是对象），括号里面的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”xx”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如果不是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String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类型的话，就自动调用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xx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的</a:t>
            </a:r>
            <a:r>
              <a:rPr lang="en-US" altLang="zh-CN" sz="2800" dirty="0" err="1">
                <a:latin typeface="楷体" panose="02010609060101010101" pitchFamily="49" charset="-122"/>
                <a:sym typeface="宋体" charset="-122"/>
              </a:rPr>
              <a:t>toString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()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方法</a:t>
            </a:r>
            <a:endParaRPr lang="en-US" altLang="zh-CN" sz="2800" dirty="0">
              <a:latin typeface="楷体" panose="02010609060101010101" pitchFamily="49" charset="-122"/>
              <a:sym typeface="宋体" charset="-122"/>
            </a:endParaRPr>
          </a:p>
          <a:p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它只是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sun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公司（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Oracle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）开发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java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时为了方便所有类的字符串操作而特意加入的一个方法</a:t>
            </a:r>
            <a:endParaRPr lang="en-US" altLang="zh-CN" sz="2800" dirty="0">
              <a:latin typeface="楷体" panose="02010609060101010101" pitchFamily="49" charset="-122"/>
              <a:sym typeface="宋体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toString</a:t>
            </a:r>
            <a:r>
              <a:rPr lang="en-US" altLang="zh-CN" dirty="0"/>
              <a:t>()</a:t>
            </a:r>
            <a:r>
              <a:rPr lang="zh-CN" altLang="en-US" dirty="0"/>
              <a:t>方法 （特殊点强调）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8726886"/>
      </p:ext>
    </p:extLst>
  </p:cSld>
  <p:clrMapOvr>
    <a:masterClrMapping/>
  </p:clrMapOvr>
  <p:transition spd="med">
    <p:pull dir="r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 sz="2800" dirty="0"/>
              <a:t>对象提供的服务是由对象的方法来实现的，因此</a:t>
            </a:r>
            <a:r>
              <a:rPr lang="zh-CN" altLang="zh-CN" sz="28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发送消息实际上也就是调用一个对象的方法</a:t>
            </a:r>
            <a:r>
              <a:rPr lang="zh-CN" altLang="zh-CN" sz="2800" dirty="0"/>
              <a:t>。</a:t>
            </a:r>
            <a:endParaRPr lang="en-US" altLang="zh-CN" sz="2800" dirty="0"/>
          </a:p>
          <a:p>
            <a:pPr>
              <a:defRPr/>
            </a:pPr>
            <a:r>
              <a:rPr lang="zh-CN" altLang="zh-CN" sz="2800" dirty="0"/>
              <a:t>例如</a:t>
            </a:r>
            <a:r>
              <a:rPr lang="zh-CN" altLang="en-US" sz="2800" dirty="0"/>
              <a:t>：</a:t>
            </a:r>
            <a:r>
              <a:rPr lang="zh-CN" altLang="zh-CN" sz="2800" dirty="0"/>
              <a:t>遥控器向电视机发送“开机”消息，意味着遥控器对象调用电视机对象的开机方法</a:t>
            </a:r>
            <a:r>
              <a:rPr lang="en-US" altLang="zh-CN" sz="2800" dirty="0"/>
              <a:t> </a:t>
            </a:r>
          </a:p>
          <a:p>
            <a:pPr lvl="1">
              <a:defRPr/>
            </a:pPr>
            <a:r>
              <a:rPr lang="en-US" altLang="zh-CN" b="1" dirty="0" err="1">
                <a:solidFill>
                  <a:srgbClr val="C00000"/>
                </a:solidFill>
              </a:rPr>
              <a:t>television.open</a:t>
            </a:r>
            <a:r>
              <a:rPr lang="en-US" altLang="zh-CN" b="1" dirty="0">
                <a:solidFill>
                  <a:srgbClr val="C00000"/>
                </a:solidFill>
              </a:rPr>
              <a:t>();  //</a:t>
            </a:r>
            <a:r>
              <a:rPr lang="zh-CN" altLang="zh-CN" b="1" dirty="0">
                <a:solidFill>
                  <a:srgbClr val="C00000"/>
                </a:solidFill>
              </a:rPr>
              <a:t>遥控器对象调用电视机对象的开机方法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zh-CN" altLang="zh-CN" dirty="0"/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如何理解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“消息”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356992"/>
            <a:ext cx="4695825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8245012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692696"/>
            <a:ext cx="8676456" cy="5760640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</a:rPr>
              <a:t>对象与类的概念</a:t>
            </a:r>
            <a:endParaRPr lang="en-US" altLang="zh-CN" dirty="0">
              <a:latin typeface="楷体" panose="02010609060101010101" pitchFamily="49" charset="-122"/>
            </a:endParaRPr>
          </a:p>
          <a:p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</a:rPr>
              <a:t>类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</a:rPr>
              <a:t>的设计与定义</a:t>
            </a:r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成员变量定义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成员方法定义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</a:rPr>
              <a:t>构造函数定义</a:t>
            </a:r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</a:rPr>
              <a:t>类之间的</a:t>
            </a:r>
            <a:r>
              <a:rPr lang="zh-CN" altLang="en-US" dirty="0" smtClean="0">
                <a:latin typeface="楷体" panose="02010609060101010101" pitchFamily="49" charset="-122"/>
              </a:rPr>
              <a:t>关系</a:t>
            </a:r>
            <a:endParaRPr lang="en-US" altLang="zh-CN" dirty="0" smtClean="0">
              <a:latin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本节主要内容：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6524718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lnSpc>
                <a:spcPct val="150000"/>
              </a:lnSpc>
              <a:buFont typeface="+mj-ea"/>
              <a:buAutoNum type="ea1JpnChsDbPeriod"/>
            </a:pP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必须使用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new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关键字创建一个对象</a:t>
            </a:r>
            <a:endParaRPr lang="en-US" altLang="zh-CN" sz="2800" dirty="0">
              <a:latin typeface="楷体" panose="02010609060101010101" pitchFamily="49" charset="-122"/>
              <a:sym typeface="宋体" charset="-122"/>
            </a:endParaRPr>
          </a:p>
          <a:p>
            <a:pPr marL="571500" indent="-571500">
              <a:lnSpc>
                <a:spcPct val="150000"/>
              </a:lnSpc>
              <a:buFont typeface="+mj-ea"/>
              <a:buAutoNum type="ea1JpnChsDbPeriod"/>
            </a:pP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使用对象属性（对象名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.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成员变量）</a:t>
            </a:r>
            <a:endParaRPr lang="en-US" altLang="zh-CN" sz="2800" dirty="0">
              <a:latin typeface="楷体" panose="02010609060101010101" pitchFamily="49" charset="-122"/>
              <a:sym typeface="宋体" charset="-122"/>
            </a:endParaRPr>
          </a:p>
          <a:p>
            <a:pPr marL="571500" indent="-571500">
              <a:lnSpc>
                <a:spcPct val="150000"/>
              </a:lnSpc>
              <a:buFont typeface="+mj-ea"/>
              <a:buAutoNum type="ea1JpnChsDbPeriod"/>
            </a:pP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使用对象方法（对象名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.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方法名）</a:t>
            </a:r>
            <a:endParaRPr lang="en-US" altLang="zh-CN" sz="2800" dirty="0">
              <a:latin typeface="楷体" panose="02010609060101010101" pitchFamily="49" charset="-122"/>
              <a:sym typeface="宋体" charset="-122"/>
            </a:endParaRPr>
          </a:p>
          <a:p>
            <a:pPr marL="571500" indent="-571500">
              <a:lnSpc>
                <a:spcPct val="150000"/>
              </a:lnSpc>
              <a:buFont typeface="+mj-ea"/>
              <a:buAutoNum type="ea1JpnChsDbPeriod"/>
            </a:pP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同一个类的每个对象有不同的成员变量的存储空间</a:t>
            </a:r>
            <a:endParaRPr lang="en-US" altLang="zh-CN" sz="2800" dirty="0">
              <a:latin typeface="楷体" panose="02010609060101010101" pitchFamily="49" charset="-122"/>
              <a:sym typeface="宋体" charset="-122"/>
            </a:endParaRPr>
          </a:p>
          <a:p>
            <a:pPr marL="571500" indent="-571500">
              <a:lnSpc>
                <a:spcPct val="150000"/>
              </a:lnSpc>
              <a:buFont typeface="+mj-ea"/>
              <a:buAutoNum type="ea1JpnChsDbPeriod"/>
            </a:pP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同一个类的每个对象共享该类的方法</a:t>
            </a:r>
            <a:endParaRPr lang="zh-CN" altLang="en-US" sz="2800" dirty="0"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宋体" charset="-122"/>
              </a:rPr>
              <a:t>创建对象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1572341"/>
      </p:ext>
    </p:extLst>
  </p:cSld>
  <p:clrMapOvr>
    <a:masterClrMapping/>
  </p:clrMapOvr>
  <p:transition spd="med">
    <p:pull dir="r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08721"/>
            <a:ext cx="8229600" cy="4752527"/>
          </a:xfrm>
        </p:spPr>
        <p:txBody>
          <a:bodyPr/>
          <a:lstStyle/>
          <a:p>
            <a:pPr marL="812800" indent="-812800">
              <a:buFont typeface="Arial" panose="020B0604020202020204" pitchFamily="34" charset="0"/>
              <a:buAutoNum type="ea1JpnChsDbPeriod"/>
            </a:pPr>
            <a:r>
              <a:rPr lang="zh-CN" altLang="en-US" dirty="0">
                <a:latin typeface="楷体" panose="02010609060101010101" pitchFamily="49" charset="-122"/>
              </a:rPr>
              <a:t>构造方法</a:t>
            </a:r>
            <a:r>
              <a:rPr lang="en-US" altLang="zh-CN" dirty="0">
                <a:latin typeface="楷体" panose="02010609060101010101" pitchFamily="49" charset="-122"/>
              </a:rPr>
              <a:t>(constructor)</a:t>
            </a:r>
            <a:r>
              <a:rPr lang="zh-CN" altLang="en-US" dirty="0">
                <a:latin typeface="楷体" panose="02010609060101010101" pitchFamily="49" charset="-122"/>
              </a:rPr>
              <a:t>是一类特殊的成员方法。</a:t>
            </a:r>
          </a:p>
          <a:p>
            <a:pPr marL="812800" indent="-812800">
              <a:buFont typeface="Arial" panose="020B0604020202020204" pitchFamily="34" charset="0"/>
              <a:buAutoNum type="ea1JpnChsDbPeriod"/>
            </a:pPr>
            <a:r>
              <a:rPr lang="zh-CN" altLang="en-US" dirty="0">
                <a:latin typeface="楷体" panose="02010609060101010101" pitchFamily="49" charset="-122"/>
              </a:rPr>
              <a:t>从功能上讲，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它使用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new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关键字用来对新创建的对象进行初始化的。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pPr marL="812800" indent="-812800">
              <a:buFont typeface="Arial" panose="020B0604020202020204" pitchFamily="34" charset="0"/>
              <a:buAutoNum type="ea1JpnChsDbPeriod" startAt="3"/>
            </a:pPr>
            <a:r>
              <a:rPr lang="zh-CN" altLang="en-US" dirty="0">
                <a:latin typeface="楷体" panose="02010609060101010101" pitchFamily="49" charset="-122"/>
              </a:rPr>
              <a:t>从形式上来讲，它有以下特点：</a:t>
            </a:r>
          </a:p>
          <a:p>
            <a:pPr marL="1168400" lvl="1" indent="-711200">
              <a:buFont typeface="+mj-ea"/>
              <a:buAutoNum type="circleNumDbPlain"/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它与类同名；</a:t>
            </a:r>
          </a:p>
          <a:p>
            <a:pPr marL="1168400" lvl="1" indent="-711200">
              <a:buFont typeface="+mj-ea"/>
              <a:buAutoNum type="circleNumDbPlain"/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它没有任何返回值；</a:t>
            </a:r>
          </a:p>
          <a:p>
            <a:pPr marL="1168400" lvl="1" indent="-711200">
              <a:buFont typeface="+mj-ea"/>
              <a:buAutoNum type="circleNumDbPlain"/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除了上述两点外，在语法结构上与一般的方法相同。</a:t>
            </a:r>
          </a:p>
          <a:p>
            <a:pPr marL="812800" indent="-812800">
              <a:buFont typeface="Arial" panose="020B0604020202020204" pitchFamily="34" charset="0"/>
              <a:buAutoNum type="ea1JpnChsDbPeriod"/>
            </a:pPr>
            <a:endParaRPr lang="zh-CN" altLang="en-US" dirty="0"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</a:t>
            </a:r>
            <a:r>
              <a:rPr lang="en-US" altLang="zh-CN" dirty="0"/>
              <a:t>(Constructor)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0329911"/>
      </p:ext>
    </p:extLst>
  </p:cSld>
  <p:clrMapOvr>
    <a:masterClrMapping/>
  </p:clrMapOvr>
  <p:transition spd="med">
    <p:pull dir="r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latin typeface="楷体" panose="02010609060101010101" pitchFamily="49" charset="-122"/>
                <a:cs typeface="Arial Unicode MS" pitchFamily="34" charset="-122"/>
              </a:rPr>
              <a:t>Java</a:t>
            </a:r>
            <a:r>
              <a:rPr lang="zh-CN" altLang="en-US" sz="2800" dirty="0">
                <a:latin typeface="楷体" panose="02010609060101010101" pitchFamily="49" charset="-122"/>
                <a:cs typeface="Arial Unicode MS" pitchFamily="34" charset="-122"/>
              </a:rPr>
              <a:t>语言中，每个类都至少有一个构造方法；</a:t>
            </a:r>
          </a:p>
          <a:p>
            <a:endParaRPr lang="en-US" altLang="zh-CN" sz="2800" dirty="0"/>
          </a:p>
          <a:p>
            <a:r>
              <a:rPr lang="zh-CN" altLang="en-US" sz="2800" dirty="0"/>
              <a:t>构造方法有两大类，构造方法可以重载，并且通常是重载的：</a:t>
            </a:r>
            <a:endParaRPr lang="en-US" altLang="zh-CN" sz="2800" dirty="0"/>
          </a:p>
          <a:p>
            <a:pPr lvl="1"/>
            <a:r>
              <a:rPr lang="zh-CN" altLang="en-US" dirty="0"/>
              <a:t>不带参数构造方法（</a:t>
            </a:r>
            <a:r>
              <a:rPr lang="zh-CN" altLang="en-US" b="1" dirty="0">
                <a:solidFill>
                  <a:srgbClr val="C00000"/>
                </a:solidFill>
              </a:rPr>
              <a:t>默认构造方法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带参数构造方法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构造方法重载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0067426"/>
      </p:ext>
    </p:extLst>
  </p:cSld>
  <p:clrMapOvr>
    <a:masterClrMapping/>
  </p:clrMapOvr>
  <p:transition spd="med">
    <p:pull dir="r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为什么需要构造方法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sp>
        <p:nvSpPr>
          <p:cNvPr id="7" name="圆角矩形 669699"/>
          <p:cNvSpPr>
            <a:spLocks noChangeArrowheads="1"/>
          </p:cNvSpPr>
          <p:nvPr/>
        </p:nvSpPr>
        <p:spPr bwMode="auto">
          <a:xfrm>
            <a:off x="323528" y="908720"/>
            <a:ext cx="8353425" cy="5187950"/>
          </a:xfrm>
          <a:prstGeom prst="roundRect">
            <a:avLst>
              <a:gd name="adj" fmla="val 4824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class Teacher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String name;         // </a:t>
            </a:r>
            <a:r>
              <a:rPr lang="zh-CN" altLang="en-US" b="1" dirty="0">
                <a:ea typeface="楷体" panose="02010609060101010101" pitchFamily="49" charset="-122"/>
              </a:rPr>
              <a:t>姓名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</a:rPr>
              <a:t>private int  age;                 // </a:t>
            </a:r>
            <a:r>
              <a:rPr lang="zh-CN" altLang="en-US" b="1" dirty="0">
                <a:ea typeface="楷体" panose="02010609060101010101" pitchFamily="49" charset="-122"/>
              </a:rPr>
              <a:t>年龄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String education; // </a:t>
            </a:r>
            <a:r>
              <a:rPr lang="zh-CN" altLang="en-US" b="1" dirty="0">
                <a:ea typeface="楷体" panose="02010609060101010101" pitchFamily="49" charset="-122"/>
              </a:rPr>
              <a:t>学历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String position;    // </a:t>
            </a:r>
            <a:r>
              <a:rPr lang="zh-CN" altLang="en-US" b="1" dirty="0">
                <a:ea typeface="楷体" panose="02010609060101010101" pitchFamily="49" charset="-122"/>
              </a:rPr>
              <a:t>职位</a:t>
            </a:r>
          </a:p>
          <a:p>
            <a:endParaRPr lang="zh-CN" altLang="en-US" b="1" dirty="0">
              <a:ea typeface="楷体" panose="02010609060101010101" pitchFamily="49" charset="-122"/>
              <a:cs typeface="Times New Roman" pitchFamily="18" charset="0"/>
            </a:endParaRP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String introduction() {</a:t>
            </a:r>
          </a:p>
          <a:p>
            <a:pPr lvl="2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return </a:t>
            </a:r>
            <a:r>
              <a:rPr lang="en-US" altLang="zh-CN" b="1" dirty="0">
                <a:ea typeface="楷体" panose="02010609060101010101" pitchFamily="49" charset="-122"/>
              </a:rPr>
              <a:t>"</a:t>
            </a:r>
            <a:r>
              <a:rPr lang="zh-CN" altLang="en-US" b="1" dirty="0">
                <a:ea typeface="楷体" panose="02010609060101010101" pitchFamily="49" charset="-122"/>
              </a:rPr>
              <a:t>大家好！我是</a:t>
            </a:r>
            <a:r>
              <a:rPr lang="en-US" altLang="zh-CN" b="1" dirty="0">
                <a:ea typeface="楷体" panose="02010609060101010101" pitchFamily="49" charset="-122"/>
              </a:rPr>
              <a:t>"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+ name + </a:t>
            </a:r>
            <a:r>
              <a:rPr lang="en-US" altLang="zh-CN" b="1" dirty="0">
                <a:ea typeface="楷体" panose="02010609060101010101" pitchFamily="49" charset="-122"/>
              </a:rPr>
              <a:t>"</a:t>
            </a:r>
            <a:r>
              <a:rPr lang="zh-CN" altLang="en-US" b="1" dirty="0">
                <a:ea typeface="楷体" panose="02010609060101010101" pitchFamily="49" charset="-122"/>
              </a:rPr>
              <a:t>，我今年</a:t>
            </a:r>
            <a:r>
              <a:rPr lang="zh-CN" altLang="en-US" b="1" dirty="0">
                <a:ea typeface="楷体" panose="02010609060101010101" pitchFamily="49" charset="-122"/>
                <a:cs typeface="Times New Roman" pitchFamily="18" charset="0"/>
              </a:rPr>
              <a:t>” 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+ age + </a:t>
            </a:r>
            <a:r>
              <a:rPr lang="en-US" altLang="zh-CN" b="1" dirty="0">
                <a:ea typeface="楷体" panose="02010609060101010101" pitchFamily="49" charset="-122"/>
              </a:rPr>
              <a:t>"</a:t>
            </a:r>
            <a:r>
              <a:rPr lang="zh-CN" altLang="en-US" b="1" dirty="0">
                <a:ea typeface="楷体" panose="02010609060101010101" pitchFamily="49" charset="-122"/>
              </a:rPr>
              <a:t>岁，学历“</a:t>
            </a:r>
          </a:p>
          <a:p>
            <a:pPr lvl="2"/>
            <a:r>
              <a:rPr lang="zh-CN" altLang="en-US" b="1" dirty="0">
                <a:ea typeface="楷体" panose="02010609060101010101" pitchFamily="49" charset="-122"/>
              </a:rPr>
              <a:t>                                                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+education</a:t>
            </a:r>
            <a:r>
              <a:rPr lang="en-US" altLang="zh-CN" b="1" dirty="0">
                <a:ea typeface="楷体" panose="02010609060101010101" pitchFamily="49" charset="-122"/>
              </a:rPr>
              <a:t>+"</a:t>
            </a:r>
            <a:r>
              <a:rPr lang="zh-CN" altLang="en-US" b="1" dirty="0">
                <a:ea typeface="楷体" panose="02010609060101010101" pitchFamily="49" charset="-122"/>
              </a:rPr>
              <a:t>，目前职位是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"+position;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String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getName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()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	return name;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void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setName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(String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myName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	name =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myName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// </a:t>
            </a:r>
            <a:r>
              <a:rPr lang="zh-CN" altLang="en-US" b="1" dirty="0">
                <a:ea typeface="楷体" panose="02010609060101010101" pitchFamily="49" charset="-122"/>
              </a:rPr>
              <a:t>以下是其他属性的</a:t>
            </a:r>
            <a:r>
              <a:rPr lang="en-US" altLang="zh-CN" b="1" dirty="0">
                <a:ea typeface="楷体" panose="02010609060101010101" pitchFamily="49" charset="-122"/>
              </a:rPr>
              <a:t>setter</a:t>
            </a:r>
            <a:r>
              <a:rPr lang="zh-CN" altLang="en-US" b="1" dirty="0">
                <a:ea typeface="楷体" panose="02010609060101010101" pitchFamily="49" charset="-122"/>
              </a:rPr>
              <a:t>、</a:t>
            </a:r>
            <a:r>
              <a:rPr lang="en-US" altLang="zh-CN" b="1" dirty="0">
                <a:ea typeface="楷体" panose="02010609060101010101" pitchFamily="49" charset="-122"/>
              </a:rPr>
              <a:t>getter</a:t>
            </a:r>
            <a:r>
              <a:rPr lang="zh-CN" altLang="en-US" b="1" dirty="0">
                <a:ea typeface="楷体" panose="02010609060101010101" pitchFamily="49" charset="-122"/>
              </a:rPr>
              <a:t>方法，此处省略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5928788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为什么需要构造方法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7" name="圆角矩形 670723"/>
          <p:cNvSpPr>
            <a:spLocks noChangeArrowheads="1"/>
          </p:cNvSpPr>
          <p:nvPr/>
        </p:nvSpPr>
        <p:spPr bwMode="auto">
          <a:xfrm>
            <a:off x="285969" y="1050925"/>
            <a:ext cx="5945188" cy="3968710"/>
          </a:xfrm>
          <a:prstGeom prst="roundRect">
            <a:avLst>
              <a:gd name="adj" fmla="val 8583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public class Teacher4Test {</a:t>
            </a:r>
          </a:p>
          <a:p>
            <a:pPr lvl="1"/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public static void main(String[ ] </a:t>
            </a:r>
            <a:r>
              <a:rPr lang="en-US" altLang="zh-CN" sz="2400" dirty="0" err="1">
                <a:ea typeface="楷体" panose="02010609060101010101" pitchFamily="49" charset="-122"/>
                <a:cs typeface="Times New Roman" pitchFamily="18" charset="0"/>
              </a:rPr>
              <a:t>args</a:t>
            </a:r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) {</a:t>
            </a:r>
          </a:p>
          <a:p>
            <a:pPr lvl="2"/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Teacher  teacher = new Teacher();</a:t>
            </a:r>
          </a:p>
          <a:p>
            <a:pPr lvl="2"/>
            <a:r>
              <a:rPr lang="en-US" altLang="zh-CN" sz="2400" dirty="0" err="1">
                <a:ea typeface="楷体" panose="02010609060101010101" pitchFamily="49" charset="-122"/>
                <a:cs typeface="Times New Roman" pitchFamily="18" charset="0"/>
              </a:rPr>
              <a:t>teacher.setName</a:t>
            </a:r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(“</a:t>
            </a:r>
            <a:r>
              <a:rPr lang="en-US" altLang="zh-CN" sz="2400" dirty="0">
                <a:ea typeface="楷体" panose="02010609060101010101" pitchFamily="49" charset="-122"/>
              </a:rPr>
              <a:t>Mary</a:t>
            </a:r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");</a:t>
            </a:r>
          </a:p>
          <a:p>
            <a:pPr lvl="2"/>
            <a:r>
              <a:rPr lang="en-US" altLang="zh-CN" sz="2400" dirty="0" err="1">
                <a:ea typeface="楷体" panose="02010609060101010101" pitchFamily="49" charset="-122"/>
                <a:cs typeface="Times New Roman" pitchFamily="18" charset="0"/>
              </a:rPr>
              <a:t>teacher.setAge</a:t>
            </a:r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(23);</a:t>
            </a:r>
          </a:p>
          <a:p>
            <a:pPr lvl="2"/>
            <a:r>
              <a:rPr lang="en-US" altLang="zh-CN" sz="2400" dirty="0" err="1">
                <a:ea typeface="楷体" panose="02010609060101010101" pitchFamily="49" charset="-122"/>
                <a:cs typeface="Times New Roman" pitchFamily="18" charset="0"/>
              </a:rPr>
              <a:t>teacher.setEducation</a:t>
            </a:r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("</a:t>
            </a:r>
            <a:r>
              <a:rPr lang="zh-CN" altLang="en-US" sz="2400" dirty="0">
                <a:ea typeface="楷体" panose="02010609060101010101" pitchFamily="49" charset="-122"/>
              </a:rPr>
              <a:t>本科</a:t>
            </a:r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");</a:t>
            </a:r>
          </a:p>
          <a:p>
            <a:pPr lvl="2"/>
            <a:r>
              <a:rPr lang="en-US" altLang="zh-CN" sz="2400" dirty="0" err="1">
                <a:ea typeface="楷体" panose="02010609060101010101" pitchFamily="49" charset="-122"/>
                <a:cs typeface="Times New Roman" pitchFamily="18" charset="0"/>
              </a:rPr>
              <a:t>System.out.println</a:t>
            </a:r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(</a:t>
            </a:r>
            <a:r>
              <a:rPr lang="en-US" altLang="zh-CN" sz="2400" dirty="0" err="1">
                <a:ea typeface="楷体" panose="02010609060101010101" pitchFamily="49" charset="-122"/>
                <a:cs typeface="Times New Roman" pitchFamily="18" charset="0"/>
              </a:rPr>
              <a:t>teacher.introduction</a:t>
            </a:r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());</a:t>
            </a:r>
          </a:p>
          <a:p>
            <a:pPr lvl="1"/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r>
              <a:rPr lang="en-US" altLang="zh-CN" sz="2400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8" name="圆角矩形 670724"/>
          <p:cNvSpPr/>
          <p:nvPr/>
        </p:nvSpPr>
        <p:spPr>
          <a:xfrm>
            <a:off x="285969" y="5914088"/>
            <a:ext cx="8646957" cy="431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zh-CN" altLang="en-US" sz="2400" b="1" dirty="0">
                <a:latin typeface="Arial" panose="020B0604020202020204" pitchFamily="34" charset="0"/>
                <a:ea typeface="楷体" panose="02010609060101010101" pitchFamily="49" charset="-122"/>
              </a:rPr>
              <a:t>要简化对象初始化的代码，可以通过构造方法来解决 </a:t>
            </a:r>
          </a:p>
        </p:txBody>
      </p:sp>
      <p:sp>
        <p:nvSpPr>
          <p:cNvPr id="9" name="圆角矩形 670725"/>
          <p:cNvSpPr/>
          <p:nvPr/>
        </p:nvSpPr>
        <p:spPr>
          <a:xfrm>
            <a:off x="285969" y="5250513"/>
            <a:ext cx="8646957" cy="3762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zh-CN" altLang="en-US" sz="2400" b="1" dirty="0">
                <a:latin typeface="Arial" panose="020B0604020202020204" pitchFamily="34" charset="0"/>
                <a:ea typeface="楷体" panose="02010609060101010101" pitchFamily="49" charset="-122"/>
              </a:rPr>
              <a:t>大家好！我是</a:t>
            </a:r>
            <a:r>
              <a:rPr lang="en-US" altLang="zh-CN" sz="2400" b="1" dirty="0">
                <a:latin typeface="Arial" panose="020B0604020202020204" pitchFamily="34" charset="0"/>
                <a:ea typeface="楷体" panose="02010609060101010101" pitchFamily="49" charset="-122"/>
              </a:rPr>
              <a:t>Mary,</a:t>
            </a:r>
            <a:r>
              <a:rPr lang="zh-CN" altLang="en-US" sz="2400" b="1" dirty="0">
                <a:latin typeface="Arial" panose="020B0604020202020204" pitchFamily="34" charset="0"/>
                <a:ea typeface="楷体" panose="02010609060101010101" pitchFamily="49" charset="-122"/>
              </a:rPr>
              <a:t>我今年</a:t>
            </a:r>
            <a:r>
              <a:rPr lang="en-US" altLang="zh-CN" sz="2400" b="1" dirty="0">
                <a:latin typeface="Arial" panose="020B0604020202020204" pitchFamily="34" charset="0"/>
                <a:ea typeface="楷体" panose="02010609060101010101" pitchFamily="49" charset="-122"/>
              </a:rPr>
              <a:t>23</a:t>
            </a:r>
            <a:r>
              <a:rPr lang="zh-CN" altLang="en-US" sz="2400" b="1" dirty="0">
                <a:latin typeface="Arial" panose="020B0604020202020204" pitchFamily="34" charset="0"/>
                <a:ea typeface="楷体" panose="02010609060101010101" pitchFamily="49" charset="-122"/>
              </a:rPr>
              <a:t>岁，学历本科，目前职位是</a:t>
            </a:r>
            <a:r>
              <a:rPr lang="en-US" altLang="zh-CN" sz="2400" b="1" dirty="0">
                <a:latin typeface="Arial" panose="020B0604020202020204" pitchFamily="34" charset="0"/>
                <a:ea typeface="楷体" panose="02010609060101010101" pitchFamily="49" charset="-122"/>
              </a:rPr>
              <a:t>null</a:t>
            </a:r>
          </a:p>
        </p:txBody>
      </p:sp>
      <p:sp>
        <p:nvSpPr>
          <p:cNvPr id="10" name="圆角矩形标注 670726"/>
          <p:cNvSpPr/>
          <p:nvPr/>
        </p:nvSpPr>
        <p:spPr>
          <a:xfrm>
            <a:off x="6192838" y="1050924"/>
            <a:ext cx="2951162" cy="3312200"/>
          </a:xfrm>
          <a:prstGeom prst="wedgeRoundRectCallout">
            <a:avLst>
              <a:gd name="adj1" fmla="val -75965"/>
              <a:gd name="adj2" fmla="val 259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Arial" panose="020B0604020202020204" pitchFamily="34" charset="0"/>
                <a:ea typeface="楷体" panose="02010609060101010101" pitchFamily="49" charset="-122"/>
              </a:rPr>
              <a:t>Teacher4</a:t>
            </a:r>
            <a:r>
              <a:rPr lang="zh-CN" altLang="en-US" sz="2400" b="1" dirty="0">
                <a:latin typeface="Arial" panose="020B0604020202020204" pitchFamily="34" charset="0"/>
                <a:ea typeface="楷体" panose="02010609060101010101" pitchFamily="49" charset="-122"/>
              </a:rPr>
              <a:t>中有太多的属性及对应的</a:t>
            </a:r>
            <a:r>
              <a:rPr lang="en-US" altLang="zh-CN" sz="2400" b="1" dirty="0">
                <a:latin typeface="Arial" panose="020B0604020202020204" pitchFamily="34" charset="0"/>
                <a:ea typeface="楷体" panose="02010609060101010101" pitchFamily="49" charset="-122"/>
              </a:rPr>
              <a:t>setter</a:t>
            </a:r>
            <a:r>
              <a:rPr lang="zh-CN" altLang="en-US" sz="2400" b="1" dirty="0">
                <a:latin typeface="Arial" panose="020B0604020202020204" pitchFamily="34" charset="0"/>
                <a:ea typeface="楷体" panose="02010609060101010101" pitchFamily="49" charset="-122"/>
              </a:rPr>
              <a:t>方法，在初始化时，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楷体" panose="02010609060101010101" pitchFamily="49" charset="-122"/>
              </a:rPr>
              <a:t>很容易就忘记了，造成代码冗余</a:t>
            </a:r>
            <a:r>
              <a:rPr lang="zh-CN" altLang="en-US" sz="2400" b="1" dirty="0">
                <a:latin typeface="Arial" panose="020B0604020202020204" pitchFamily="34" charset="0"/>
                <a:ea typeface="楷体" panose="02010609060101010101" pitchFamily="49" charset="-122"/>
              </a:rPr>
              <a:t>，有没有可能简化对象初始化的代码？</a:t>
            </a:r>
            <a:endParaRPr lang="en-US" altLang="zh-CN" sz="2400" b="1" dirty="0">
              <a:latin typeface="Arial" panose="020B0604020202020204" pitchFamily="34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2082281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不带参数构造方法（默认构造方法）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7" name="圆角矩形 671747"/>
          <p:cNvSpPr>
            <a:spLocks noChangeArrowheads="1"/>
          </p:cNvSpPr>
          <p:nvPr/>
        </p:nvSpPr>
        <p:spPr bwMode="auto">
          <a:xfrm>
            <a:off x="539552" y="980728"/>
            <a:ext cx="4286250" cy="2149475"/>
          </a:xfrm>
          <a:prstGeom prst="roundRect">
            <a:avLst>
              <a:gd name="adj" fmla="val 10384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class Teacher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String name;  // </a:t>
            </a:r>
            <a:r>
              <a:rPr lang="zh-CN" altLang="en-US" b="1" dirty="0">
                <a:ea typeface="楷体" panose="02010609060101010101" pitchFamily="49" charset="-122"/>
              </a:rPr>
              <a:t>教员姓名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// </a:t>
            </a:r>
            <a:r>
              <a:rPr lang="zh-CN" altLang="en-US" b="1" dirty="0">
                <a:ea typeface="楷体" panose="02010609060101010101" pitchFamily="49" charset="-122"/>
              </a:rPr>
              <a:t>构造方法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 Teacher() {</a:t>
            </a:r>
          </a:p>
          <a:p>
            <a:pPr lvl="2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name = </a:t>
            </a:r>
            <a:r>
              <a:rPr lang="en-US" altLang="zh-CN" b="1" dirty="0">
                <a:ea typeface="楷体" panose="02010609060101010101" pitchFamily="49" charset="-122"/>
              </a:rPr>
              <a:t>“Mary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";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8" name="圆角矩形 671748"/>
          <p:cNvSpPr>
            <a:spLocks noChangeArrowheads="1"/>
          </p:cNvSpPr>
          <p:nvPr/>
        </p:nvSpPr>
        <p:spPr bwMode="auto">
          <a:xfrm>
            <a:off x="529437" y="3665537"/>
            <a:ext cx="6856413" cy="1560513"/>
          </a:xfrm>
          <a:prstGeom prst="roundRect">
            <a:avLst>
              <a:gd name="adj" fmla="val 1005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class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TeacherTest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static void main(String[ ]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args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	Teacher5  teacher = </a:t>
            </a:r>
            <a:r>
              <a:rPr lang="en-US" altLang="zh-CN" b="1" dirty="0">
                <a:solidFill>
                  <a:srgbClr val="0033CC"/>
                </a:solidFill>
                <a:ea typeface="楷体" panose="02010609060101010101" pitchFamily="49" charset="-122"/>
                <a:cs typeface="Times New Roman" pitchFamily="18" charset="0"/>
              </a:rPr>
              <a:t>new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smtClean="0">
                <a:ea typeface="楷体" panose="02010609060101010101" pitchFamily="49" charset="-122"/>
                <a:cs typeface="Times New Roman" pitchFamily="18" charset="0"/>
              </a:rPr>
              <a:t>Teacher();</a:t>
            </a:r>
            <a:endParaRPr lang="en-US" altLang="zh-CN" b="1" dirty="0">
              <a:ea typeface="楷体" panose="02010609060101010101" pitchFamily="49" charset="-122"/>
              <a:cs typeface="Times New Roman" pitchFamily="18" charset="0"/>
            </a:endParaRP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504" y="1916832"/>
            <a:ext cx="4968552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520" y="4365104"/>
            <a:ext cx="568863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9305073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ym typeface="宋体" charset="-122"/>
              </a:rPr>
              <a:t>通过带参数的构造方法，显式地为实例变量赋予初始值 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带参数的构造方法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750834"/>
      </p:ext>
    </p:extLst>
  </p:cSld>
  <p:clrMapOvr>
    <a:masterClrMapping/>
  </p:clrMapOvr>
  <p:transition spd="med">
    <p:pull dir="r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带参数的构造方法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  <p:sp>
        <p:nvSpPr>
          <p:cNvPr id="7" name="圆角矩形 673795"/>
          <p:cNvSpPr>
            <a:spLocks noChangeArrowheads="1"/>
          </p:cNvSpPr>
          <p:nvPr/>
        </p:nvSpPr>
        <p:spPr bwMode="auto">
          <a:xfrm>
            <a:off x="307975" y="836712"/>
            <a:ext cx="8656638" cy="4940618"/>
          </a:xfrm>
          <a:prstGeom prst="roundRect">
            <a:avLst>
              <a:gd name="adj" fmla="val 5495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class Teacher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String name;         // </a:t>
            </a:r>
            <a:r>
              <a:rPr lang="zh-CN" altLang="en-US" b="1" dirty="0">
                <a:ea typeface="楷体" panose="02010609060101010101" pitchFamily="49" charset="-122"/>
              </a:rPr>
              <a:t>教员姓名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int age;                  // </a:t>
            </a:r>
            <a:r>
              <a:rPr lang="zh-CN" altLang="en-US" b="1" dirty="0">
                <a:ea typeface="楷体" panose="02010609060101010101" pitchFamily="49" charset="-122"/>
              </a:rPr>
              <a:t>年龄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String education;  // </a:t>
            </a:r>
            <a:r>
              <a:rPr lang="zh-CN" altLang="en-US" b="1" dirty="0">
                <a:ea typeface="楷体" panose="02010609060101010101" pitchFamily="49" charset="-122"/>
              </a:rPr>
              <a:t>学历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String position;     // </a:t>
            </a:r>
            <a:r>
              <a:rPr lang="zh-CN" altLang="en-US" b="1" dirty="0">
                <a:ea typeface="楷体" panose="02010609060101010101" pitchFamily="49" charset="-122"/>
              </a:rPr>
              <a:t>职位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// </a:t>
            </a:r>
            <a:r>
              <a:rPr lang="zh-CN" altLang="en-US" b="1" dirty="0">
                <a:ea typeface="楷体" panose="02010609060101010101" pitchFamily="49" charset="-122"/>
              </a:rPr>
              <a:t>带参数的构造方法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Teacher(String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pName,int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pAge,String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pEducation,String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smtClean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err="1" smtClean="0">
                <a:ea typeface="楷体" panose="02010609060101010101" pitchFamily="49" charset="-122"/>
                <a:cs typeface="Times New Roman" pitchFamily="18" charset="0"/>
              </a:rPr>
              <a:t>pPosition</a:t>
            </a:r>
            <a:r>
              <a:rPr lang="en-US" altLang="zh-CN" b="1" dirty="0" smtClean="0">
                <a:ea typeface="楷体" panose="02010609060101010101" pitchFamily="49" charset="-122"/>
                <a:cs typeface="Times New Roman" pitchFamily="18" charset="0"/>
              </a:rPr>
              <a:t>) 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{</a:t>
            </a:r>
          </a:p>
          <a:p>
            <a:pPr lvl="2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name =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pName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;</a:t>
            </a:r>
          </a:p>
          <a:p>
            <a:pPr lvl="2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age =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pAge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;    // </a:t>
            </a:r>
            <a:r>
              <a:rPr lang="zh-CN" altLang="en-US" b="1" dirty="0">
                <a:ea typeface="楷体" panose="02010609060101010101" pitchFamily="49" charset="-122"/>
              </a:rPr>
              <a:t>可以增加对</a:t>
            </a:r>
            <a:r>
              <a:rPr lang="en-US" altLang="zh-CN" b="1" dirty="0">
                <a:ea typeface="楷体" panose="02010609060101010101" pitchFamily="49" charset="-122"/>
              </a:rPr>
              <a:t>age</a:t>
            </a:r>
            <a:r>
              <a:rPr lang="zh-CN" altLang="en-US" b="1" dirty="0">
                <a:ea typeface="楷体" panose="02010609060101010101" pitchFamily="49" charset="-122"/>
              </a:rPr>
              <a:t>等属性的存取限制条件</a:t>
            </a:r>
          </a:p>
          <a:p>
            <a:pPr lvl="2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education =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pEducation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;</a:t>
            </a:r>
          </a:p>
          <a:p>
            <a:pPr lvl="2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position =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pPosition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String introduction() {</a:t>
            </a:r>
          </a:p>
          <a:p>
            <a:pPr lvl="2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return </a:t>
            </a:r>
            <a:r>
              <a:rPr lang="en-US" altLang="zh-CN" b="1" dirty="0">
                <a:ea typeface="楷体" panose="02010609060101010101" pitchFamily="49" charset="-122"/>
              </a:rPr>
              <a:t>"</a:t>
            </a:r>
            <a:r>
              <a:rPr lang="zh-CN" altLang="en-US" b="1" dirty="0">
                <a:ea typeface="楷体" panose="02010609060101010101" pitchFamily="49" charset="-122"/>
              </a:rPr>
              <a:t>大家好！我是</a:t>
            </a:r>
            <a:r>
              <a:rPr lang="en-US" altLang="zh-CN" b="1" dirty="0">
                <a:ea typeface="楷体" panose="02010609060101010101" pitchFamily="49" charset="-122"/>
              </a:rPr>
              <a:t>"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+ name + </a:t>
            </a:r>
            <a:r>
              <a:rPr lang="en-US" altLang="zh-CN" b="1" dirty="0">
                <a:ea typeface="楷体" panose="02010609060101010101" pitchFamily="49" charset="-122"/>
              </a:rPr>
              <a:t>"</a:t>
            </a:r>
            <a:r>
              <a:rPr lang="zh-CN" altLang="en-US" b="1" dirty="0">
                <a:ea typeface="楷体" panose="02010609060101010101" pitchFamily="49" charset="-122"/>
              </a:rPr>
              <a:t>，我今年</a:t>
            </a:r>
            <a:r>
              <a:rPr lang="en-US" altLang="zh-CN" b="1" dirty="0">
                <a:ea typeface="楷体" panose="02010609060101010101" pitchFamily="49" charset="-122"/>
              </a:rPr>
              <a:t>"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+ age + </a:t>
            </a:r>
            <a:r>
              <a:rPr lang="en-US" altLang="zh-CN" b="1" dirty="0">
                <a:ea typeface="楷体" panose="02010609060101010101" pitchFamily="49" charset="-122"/>
              </a:rPr>
              <a:t>"</a:t>
            </a:r>
            <a:r>
              <a:rPr lang="zh-CN" altLang="en-US" b="1" dirty="0">
                <a:ea typeface="楷体" panose="02010609060101010101" pitchFamily="49" charset="-122"/>
              </a:rPr>
              <a:t>岁，学历</a:t>
            </a:r>
            <a:r>
              <a:rPr lang="en-US" altLang="zh-CN" b="1" dirty="0">
                <a:ea typeface="楷体" panose="02010609060101010101" pitchFamily="49" charset="-122"/>
              </a:rPr>
              <a:t>"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+ education + </a:t>
            </a:r>
            <a:r>
              <a:rPr lang="en-US" altLang="zh-CN" b="1" dirty="0">
                <a:ea typeface="楷体" panose="02010609060101010101" pitchFamily="49" charset="-122"/>
              </a:rPr>
              <a:t>"</a:t>
            </a:r>
            <a:r>
              <a:rPr lang="zh-CN" altLang="en-US" b="1" dirty="0">
                <a:ea typeface="楷体" panose="02010609060101010101" pitchFamily="49" charset="-122"/>
                <a:cs typeface="Times New Roman" pitchFamily="18" charset="0"/>
              </a:rPr>
              <a:t>，</a:t>
            </a:r>
            <a:r>
              <a:rPr lang="zh-CN" altLang="en-US" b="1" dirty="0">
                <a:ea typeface="楷体" panose="02010609060101010101" pitchFamily="49" charset="-122"/>
              </a:rPr>
              <a:t>目前职位是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"+position;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536" y="2636912"/>
            <a:ext cx="8440489" cy="1656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9368295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ym typeface="宋体" charset="-122"/>
              </a:rPr>
              <a:t>通过调用带参数的构造方法，简化对象初始化的代码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带参数的构造方法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7" name="圆角矩形 674819"/>
          <p:cNvSpPr>
            <a:spLocks noChangeArrowheads="1"/>
          </p:cNvSpPr>
          <p:nvPr/>
        </p:nvSpPr>
        <p:spPr bwMode="auto">
          <a:xfrm>
            <a:off x="1024898" y="2232819"/>
            <a:ext cx="7302500" cy="2147887"/>
          </a:xfrm>
          <a:prstGeom prst="roundRect">
            <a:avLst>
              <a:gd name="adj" fmla="val 10384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class Teacher6Test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static void main(String[]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args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 {</a:t>
            </a:r>
          </a:p>
          <a:p>
            <a:pPr lvl="2"/>
            <a:r>
              <a:rPr lang="en-US" altLang="zh-CN" b="1" dirty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Teacher6  teacher =  new </a:t>
            </a:r>
            <a:r>
              <a:rPr lang="en-US" altLang="zh-CN" b="1" dirty="0" smtClean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Teacher(“</a:t>
            </a:r>
            <a:r>
              <a:rPr lang="en-US" altLang="zh-CN" b="1" dirty="0">
                <a:solidFill>
                  <a:srgbClr val="C00000"/>
                </a:solidFill>
                <a:ea typeface="楷体" panose="02010609060101010101" pitchFamily="49" charset="-122"/>
              </a:rPr>
              <a:t>Mary</a:t>
            </a:r>
            <a:r>
              <a:rPr lang="en-US" altLang="zh-CN" b="1" dirty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",</a:t>
            </a:r>
          </a:p>
          <a:p>
            <a:pPr lvl="2"/>
            <a:r>
              <a:rPr lang="en-US" altLang="zh-CN" b="1" dirty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                                                           23, "</a:t>
            </a:r>
            <a:r>
              <a:rPr lang="zh-CN" altLang="en-US" b="1" dirty="0">
                <a:solidFill>
                  <a:srgbClr val="C00000"/>
                </a:solidFill>
                <a:ea typeface="楷体" panose="02010609060101010101" pitchFamily="49" charset="-122"/>
              </a:rPr>
              <a:t>本科</a:t>
            </a:r>
            <a:r>
              <a:rPr lang="en-US" altLang="zh-CN" b="1" dirty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", "</a:t>
            </a:r>
            <a:r>
              <a:rPr lang="zh-CN" altLang="en-US" b="1" dirty="0">
                <a:solidFill>
                  <a:srgbClr val="C00000"/>
                </a:solidFill>
                <a:ea typeface="楷体" panose="02010609060101010101" pitchFamily="49" charset="-122"/>
              </a:rPr>
              <a:t>咨询师</a:t>
            </a:r>
            <a:r>
              <a:rPr lang="en-US" altLang="zh-CN" b="1" dirty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");</a:t>
            </a:r>
          </a:p>
          <a:p>
            <a:pPr lvl="2"/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System.out.println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(teacher);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8" name="圆角矩形标注 674820"/>
          <p:cNvSpPr/>
          <p:nvPr/>
        </p:nvSpPr>
        <p:spPr>
          <a:xfrm>
            <a:off x="5519110" y="3945731"/>
            <a:ext cx="3059113" cy="715089"/>
          </a:xfrm>
          <a:prstGeom prst="wedgeRoundRectCallout">
            <a:avLst>
              <a:gd name="adj1" fmla="val 2361"/>
              <a:gd name="adj2" fmla="val -11819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  <a:effectLst>
            <a:outerShdw dist="53882" dir="2699999" algn="ctr" rotWithShape="0">
              <a:schemeClr val="bg2">
                <a:alpha val="50000"/>
              </a:schemeClr>
            </a:outerShdw>
          </a:effectLst>
        </p:spPr>
        <p:txBody>
          <a:bodyPr anchorCtr="1">
            <a:spAutoFit/>
          </a:bodyPr>
          <a:lstStyle/>
          <a:p>
            <a:pPr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创建对象时，一并完成了对象成员的初始化工作</a:t>
            </a:r>
          </a:p>
        </p:txBody>
      </p:sp>
      <p:sp>
        <p:nvSpPr>
          <p:cNvPr id="9" name="圆角矩形 674821"/>
          <p:cNvSpPr/>
          <p:nvPr/>
        </p:nvSpPr>
        <p:spPr>
          <a:xfrm>
            <a:off x="1053473" y="4926806"/>
            <a:ext cx="6985000" cy="37623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大家好！我是</a:t>
            </a:r>
            <a:r>
              <a:rPr lang="en-US" altLang="zh-CN" b="1" dirty="0">
                <a:latin typeface="Arial" panose="020B0604020202020204" pitchFamily="34" charset="0"/>
                <a:ea typeface="楷体" panose="02010609060101010101" pitchFamily="49" charset="-122"/>
              </a:rPr>
              <a:t>Mary,</a:t>
            </a: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我今年</a:t>
            </a:r>
            <a:r>
              <a:rPr lang="en-US" altLang="zh-CN" b="1" dirty="0">
                <a:latin typeface="Arial" panose="020B0604020202020204" pitchFamily="34" charset="0"/>
                <a:ea typeface="楷体" panose="02010609060101010101" pitchFamily="49" charset="-122"/>
              </a:rPr>
              <a:t>23</a:t>
            </a: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岁，学历本科，目前职位是咨询师</a:t>
            </a:r>
          </a:p>
        </p:txBody>
      </p:sp>
      <p:sp>
        <p:nvSpPr>
          <p:cNvPr id="10" name="右弧形箭头 674822"/>
          <p:cNvSpPr>
            <a:spLocks noChangeArrowheads="1"/>
          </p:cNvSpPr>
          <p:nvPr/>
        </p:nvSpPr>
        <p:spPr bwMode="auto">
          <a:xfrm rot="10812545" flipV="1">
            <a:off x="478798" y="3701256"/>
            <a:ext cx="503237" cy="1730375"/>
          </a:xfrm>
          <a:prstGeom prst="curvedLeftArrow">
            <a:avLst>
              <a:gd name="adj1" fmla="val 69661"/>
              <a:gd name="adj2" fmla="val 138431"/>
              <a:gd name="adj3" fmla="val 33333"/>
            </a:avLst>
          </a:prstGeom>
          <a:gradFill rotWithShape="1">
            <a:gsLst>
              <a:gs pos="0">
                <a:srgbClr val="B563C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80008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2553553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楷体" panose="02010609060101010101" pitchFamily="49" charset="-122"/>
              </a:rPr>
              <a:t>构造函数实例化类对象的格式</a:t>
            </a:r>
            <a:endParaRPr lang="en-US" altLang="zh-CN" sz="2800" dirty="0">
              <a:latin typeface="楷体" panose="02010609060101010101" pitchFamily="49" charset="-122"/>
            </a:endParaRPr>
          </a:p>
          <a:p>
            <a:pPr lvl="1"/>
            <a:r>
              <a:rPr lang="en-US" altLang="zh-CN" dirty="0">
                <a:latin typeface="楷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类名 对象名</a:t>
            </a:r>
            <a:r>
              <a:rPr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=new 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构造函数（实际参数）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pPr lvl="1"/>
            <a:r>
              <a:rPr lang="en-US" altLang="zh-CN" dirty="0">
                <a:latin typeface="楷体" panose="02010609060101010101" pitchFamily="49" charset="-122"/>
              </a:rPr>
              <a:t>New</a:t>
            </a:r>
            <a:r>
              <a:rPr lang="zh-CN" altLang="en-US" dirty="0">
                <a:latin typeface="楷体" panose="02010609060101010101" pitchFamily="49" charset="-122"/>
              </a:rPr>
              <a:t>关键字的作用</a:t>
            </a:r>
            <a:endParaRPr lang="en-US" altLang="zh-CN" dirty="0">
              <a:latin typeface="楷体" panose="02010609060101010101" pitchFamily="49" charset="-122"/>
            </a:endParaRPr>
          </a:p>
          <a:p>
            <a:pPr marL="1612900" lvl="2" indent="-812800">
              <a:buFont typeface="+mj-ea"/>
              <a:buAutoNum type="circleNumDbPlain"/>
            </a:pPr>
            <a:r>
              <a:rPr lang="zh-CN" altLang="en-US" sz="2800" dirty="0">
                <a:solidFill>
                  <a:srgbClr val="C00000"/>
                </a:solidFill>
                <a:latin typeface="楷体" panose="02010609060101010101" pitchFamily="49" charset="-122"/>
              </a:rPr>
              <a:t>为对象分配内存空间。</a:t>
            </a:r>
          </a:p>
          <a:p>
            <a:pPr marL="1612900" lvl="2" indent="-812800">
              <a:buFont typeface="+mj-ea"/>
              <a:buAutoNum type="circleNumDbPlain"/>
            </a:pPr>
            <a:r>
              <a:rPr lang="zh-CN" altLang="en-US" sz="2800" dirty="0">
                <a:solidFill>
                  <a:srgbClr val="C00000"/>
                </a:solidFill>
                <a:latin typeface="楷体" panose="02010609060101010101" pitchFamily="49" charset="-122"/>
              </a:rPr>
              <a:t>引起对象构造方法的调用。</a:t>
            </a:r>
          </a:p>
          <a:p>
            <a:pPr marL="1612900" lvl="2" indent="-812800">
              <a:buFont typeface="+mj-ea"/>
              <a:buAutoNum type="circleNumDbPlain"/>
            </a:pPr>
            <a:r>
              <a:rPr lang="zh-CN" altLang="en-US" sz="2800" dirty="0">
                <a:solidFill>
                  <a:srgbClr val="C00000"/>
                </a:solidFill>
                <a:latin typeface="楷体" panose="02010609060101010101" pitchFamily="49" charset="-122"/>
              </a:rPr>
              <a:t>为对象返回一个引用。</a:t>
            </a:r>
          </a:p>
          <a:p>
            <a:pPr lvl="1"/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</a:t>
            </a:r>
            <a:r>
              <a:rPr lang="en-US" altLang="zh-CN" dirty="0"/>
              <a:t>(Constructor)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8467133"/>
      </p:ext>
    </p:extLst>
  </p:cSld>
  <p:clrMapOvr>
    <a:masterClrMapping/>
  </p:clrMapOvr>
  <p:transition spd="med">
    <p:pull dir="r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spcBef>
                <a:spcPct val="50000"/>
              </a:spcBef>
              <a:buFont typeface="Wingdings" pitchFamily="2" charset="2"/>
              <a:buChar char="§"/>
            </a:pPr>
            <a:r>
              <a:rPr lang="en-US" altLang="zh-CN" sz="2800" dirty="0">
                <a:latin typeface="楷体" panose="02010609060101010101" pitchFamily="49" charset="-122"/>
                <a:cs typeface="Arial Unicode MS" pitchFamily="34" charset="-122"/>
              </a:rPr>
              <a:t>Java</a:t>
            </a:r>
            <a:r>
              <a:rPr lang="zh-CN" altLang="en-US" sz="2800" dirty="0">
                <a:latin typeface="楷体" panose="02010609060101010101" pitchFamily="49" charset="-122"/>
                <a:cs typeface="Arial Unicode MS" pitchFamily="34" charset="-122"/>
              </a:rPr>
              <a:t>语言中，每个类都至少有一个构造方法；</a:t>
            </a:r>
          </a:p>
          <a:p>
            <a:pPr marL="457200" indent="-457200" algn="just">
              <a:spcBef>
                <a:spcPct val="50000"/>
              </a:spcBef>
              <a:buFont typeface="Wingdings" pitchFamily="2" charset="2"/>
              <a:buChar char="§"/>
            </a:pPr>
            <a:r>
              <a:rPr lang="zh-CN" altLang="en-US" sz="2800" dirty="0">
                <a:latin typeface="楷体" panose="02010609060101010101" pitchFamily="49" charset="-122"/>
                <a:cs typeface="Arial Unicode MS" pitchFamily="34" charset="-122"/>
              </a:rPr>
              <a:t>如果类的定义者没有显式的定义任何构造方法，系统将自动提供一个默认的构造方法：</a:t>
            </a:r>
          </a:p>
          <a:p>
            <a:pPr marL="914400" lvl="1" indent="-457200" algn="just">
              <a:spcBef>
                <a:spcPct val="50000"/>
              </a:spcBef>
              <a:buFontTx/>
              <a:buChar char="–"/>
            </a:pPr>
            <a:r>
              <a:rPr lang="zh-CN" altLang="en-US" dirty="0">
                <a:latin typeface="楷体" panose="02010609060101010101" pitchFamily="49" charset="-122"/>
                <a:cs typeface="Arial Unicode MS" pitchFamily="34" charset="-122"/>
              </a:rPr>
              <a:t>默认构造方法没有参数</a:t>
            </a:r>
          </a:p>
          <a:p>
            <a:pPr marL="914400" lvl="1" indent="-457200" algn="just">
              <a:spcBef>
                <a:spcPct val="50000"/>
              </a:spcBef>
              <a:buFontTx/>
              <a:buChar char="–"/>
            </a:pPr>
            <a:r>
              <a:rPr lang="zh-CN" altLang="en-US" dirty="0">
                <a:latin typeface="楷体" panose="02010609060101010101" pitchFamily="49" charset="-122"/>
                <a:cs typeface="Arial Unicode MS" pitchFamily="34" charset="-122"/>
              </a:rPr>
              <a:t>默认构造方法没有方法体</a:t>
            </a:r>
          </a:p>
          <a:p>
            <a:pPr marL="914400" lvl="1" indent="-457200" algn="just">
              <a:spcBef>
                <a:spcPct val="50000"/>
              </a:spcBef>
              <a:buFontTx/>
              <a:buChar char="–"/>
            </a:pPr>
            <a:r>
              <a:rPr lang="zh-CN" altLang="en-US" dirty="0">
                <a:latin typeface="楷体" panose="02010609060101010101" pitchFamily="49" charset="-122"/>
                <a:cs typeface="Arial Unicode MS" pitchFamily="34" charset="-122"/>
              </a:rPr>
              <a:t>默认的构造方法：</a:t>
            </a:r>
            <a:r>
              <a:rPr lang="en-US" altLang="zh-CN" dirty="0">
                <a:latin typeface="楷体" panose="02010609060101010101" pitchFamily="49" charset="-122"/>
                <a:cs typeface="Arial Unicode MS" pitchFamily="34" charset="-122"/>
              </a:rPr>
              <a:t>Animal(){}</a:t>
            </a:r>
          </a:p>
          <a:p>
            <a:pPr marL="914400" lvl="1" indent="-457200" algn="just">
              <a:spcBef>
                <a:spcPct val="50000"/>
              </a:spcBef>
            </a:pPr>
            <a:r>
              <a:rPr lang="en-US" altLang="zh-CN" dirty="0">
                <a:latin typeface="楷体" panose="02010609060101010101" pitchFamily="49" charset="-122"/>
                <a:cs typeface="Arial Unicode MS" pitchFamily="34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cs typeface="Arial Unicode MS" pitchFamily="34" charset="-122"/>
              </a:rPr>
              <a:t>所以：不编写构造方法就能用</a:t>
            </a:r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cs typeface="Arial Unicode MS" pitchFamily="34" charset="-122"/>
              </a:rPr>
              <a:t>new Xxx()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cs typeface="Arial Unicode MS" pitchFamily="34" charset="-122"/>
              </a:rPr>
              <a:t>创建类的实例。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不带参数构造方法（默认构造方法）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748544"/>
      </p:ext>
    </p:extLst>
  </p:cSld>
  <p:clrMapOvr>
    <a:masterClrMapping/>
  </p:clrMapOvr>
  <p:transition spd="med">
    <p:pull dir="r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latin typeface="楷体" panose="02010609060101010101" pitchFamily="49" charset="-122"/>
              </a:rPr>
              <a:t>无参构造函数创建对象时，</a:t>
            </a:r>
            <a:r>
              <a:rPr kumimoji="1" lang="zh-CN" altLang="en-US" dirty="0">
                <a:solidFill>
                  <a:srgbClr val="FF0000"/>
                </a:solidFill>
                <a:latin typeface="楷体" panose="02010609060101010101" pitchFamily="49" charset="-122"/>
              </a:rPr>
              <a:t>成员变量的值被赋予了数据类型的隐含初值。</a:t>
            </a:r>
            <a:endParaRPr kumimoji="1" lang="en-US" altLang="zh-CN" dirty="0">
              <a:solidFill>
                <a:srgbClr val="FF0000"/>
              </a:solidFill>
              <a:latin typeface="楷体" panose="02010609060101010101" pitchFamily="49" charset="-122"/>
            </a:endParaRPr>
          </a:p>
          <a:p>
            <a:pPr lvl="1"/>
            <a:r>
              <a:rPr kumimoji="1" lang="zh-CN" altLang="en-US" dirty="0">
                <a:latin typeface="楷体" panose="02010609060101010101" pitchFamily="49" charset="-122"/>
              </a:rPr>
              <a:t>例如：</a:t>
            </a:r>
            <a:r>
              <a:rPr kumimoji="1"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整型是 </a:t>
            </a:r>
            <a:r>
              <a:rPr kumimoji="1"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0</a:t>
            </a:r>
            <a:r>
              <a:rPr kumimoji="1"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，实型是 </a:t>
            </a:r>
            <a:r>
              <a:rPr kumimoji="1"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0.0</a:t>
            </a:r>
            <a:r>
              <a:rPr kumimoji="1"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，复合类型是 </a:t>
            </a:r>
            <a:r>
              <a:rPr kumimoji="1" lang="en-US" altLang="zh-CN" dirty="0">
                <a:solidFill>
                  <a:srgbClr val="C00000"/>
                </a:solidFill>
                <a:latin typeface="楷体" panose="02010609060101010101" pitchFamily="49" charset="-122"/>
              </a:rPr>
              <a:t>null </a:t>
            </a:r>
            <a:r>
              <a:rPr kumimoji="1" lang="zh-CN" altLang="en-US" dirty="0">
                <a:solidFill>
                  <a:srgbClr val="C00000"/>
                </a:solidFill>
                <a:latin typeface="楷体" panose="02010609060101010101" pitchFamily="49" charset="-122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不带参数构造方法（默认构造方法）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  <p:graphicFrame>
        <p:nvGraphicFramePr>
          <p:cNvPr id="7" name="Group 4"/>
          <p:cNvGraphicFramePr>
            <a:graphicFrameLocks/>
          </p:cNvGraphicFramePr>
          <p:nvPr/>
        </p:nvGraphicFramePr>
        <p:xfrm>
          <a:off x="2483768" y="2636912"/>
          <a:ext cx="4885259" cy="3532440"/>
        </p:xfrm>
        <a:graphic>
          <a:graphicData uri="http://schemas.openxmlformats.org/drawingml/2006/table">
            <a:tbl>
              <a:tblPr/>
              <a:tblGrid>
                <a:gridCol w="1221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1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1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变量类型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默认值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变量类型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默认值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9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byte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楷体" panose="02010609060101010101" pitchFamily="49" charset="-122"/>
                        </a:rPr>
                        <a:t>short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1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int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楷体" panose="02010609060101010101" pitchFamily="49" charset="-122"/>
                        </a:rPr>
                        <a:t>long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0L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1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float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0.0f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楷体" panose="02010609060101010101" pitchFamily="49" charset="-122"/>
                        </a:rPr>
                        <a:t>double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0.0d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9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char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‘\u0000’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boolean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false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1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引用类型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null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楷体" panose="02010609060101010101" pitchFamily="49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楷体" panose="02010609060101010101" pitchFamily="49" charset="-122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64512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楷体" panose="02010609060101010101" pitchFamily="49" charset="-122"/>
              </a:rPr>
              <a:t>在</a:t>
            </a:r>
            <a:r>
              <a:rPr lang="en-US" altLang="zh-CN" sz="2800" dirty="0">
                <a:latin typeface="楷体" panose="02010609060101010101" pitchFamily="49" charset="-122"/>
              </a:rPr>
              <a:t>Java</a:t>
            </a:r>
            <a:r>
              <a:rPr lang="zh-CN" altLang="en-US" sz="2800" dirty="0">
                <a:latin typeface="楷体" panose="02010609060101010101" pitchFamily="49" charset="-122"/>
              </a:rPr>
              <a:t>里，如果一个类没有明显的表明哪一个类是它的父类，</a:t>
            </a:r>
            <a:r>
              <a:rPr lang="en-US" altLang="zh-CN" sz="2800" dirty="0">
                <a:solidFill>
                  <a:srgbClr val="C00000"/>
                </a:solidFill>
                <a:latin typeface="楷体" panose="02010609060101010101" pitchFamily="49" charset="-122"/>
              </a:rPr>
              <a:t>Object</a:t>
            </a:r>
            <a:r>
              <a:rPr lang="zh-CN" altLang="en-US" sz="2800" dirty="0">
                <a:solidFill>
                  <a:srgbClr val="C00000"/>
                </a:solidFill>
                <a:latin typeface="楷体" panose="02010609060101010101" pitchFamily="49" charset="-122"/>
              </a:rPr>
              <a:t>类就是它的父类。</a:t>
            </a:r>
            <a:endParaRPr lang="en-US" altLang="zh-CN" sz="2800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C00000"/>
                </a:solidFill>
                <a:latin typeface="楷体" panose="02010609060101010101" pitchFamily="49" charset="-122"/>
              </a:rPr>
              <a:t>如果类中没有定义构造函数，编译器会自动创建一个默认的不带参数的构造函数。</a:t>
            </a:r>
            <a:endParaRPr lang="en-US" altLang="zh-CN" sz="2800" dirty="0">
              <a:solidFill>
                <a:srgbClr val="C00000"/>
              </a:solidFill>
              <a:latin typeface="楷体" panose="02010609060101010101" pitchFamily="49" charset="-122"/>
            </a:endParaRPr>
          </a:p>
          <a:p>
            <a:r>
              <a:rPr lang="zh-CN" altLang="en-US" sz="2800" dirty="0">
                <a:latin typeface="楷体" panose="02010609060101010101" pitchFamily="49" charset="-122"/>
              </a:rPr>
              <a:t>如果程序员为类定义了构造函数，</a:t>
            </a:r>
            <a:r>
              <a:rPr lang="en-US" altLang="zh-CN" sz="2800" dirty="0">
                <a:latin typeface="楷体" panose="02010609060101010101" pitchFamily="49" charset="-122"/>
              </a:rPr>
              <a:t>Java</a:t>
            </a:r>
            <a:r>
              <a:rPr lang="zh-CN" altLang="en-US" sz="2800" dirty="0">
                <a:latin typeface="楷体" panose="02010609060101010101" pitchFamily="49" charset="-122"/>
              </a:rPr>
              <a:t>就不会为该类创建默认的不带参数的构造函数。</a:t>
            </a:r>
            <a:endParaRPr lang="en-US" altLang="zh-CN" sz="2800" dirty="0">
              <a:latin typeface="楷体" panose="02010609060101010101" pitchFamily="49" charset="-122"/>
            </a:endParaRPr>
          </a:p>
          <a:p>
            <a:r>
              <a:rPr lang="zh-CN" altLang="en-US" sz="2800" dirty="0">
                <a:latin typeface="楷体" panose="02010609060101010101" pitchFamily="49" charset="-122"/>
              </a:rPr>
              <a:t>注意：如果类中提供的构造函数都不是无参数构造函数，却企图调用无参数构造函数初始化此类的对象，编译时会产生语法错误</a:t>
            </a:r>
          </a:p>
          <a:p>
            <a:endParaRPr lang="zh-CN" altLang="en-US" dirty="0">
              <a:latin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不带参数构造方法（默认构造方法）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3757538"/>
      </p:ext>
    </p:extLst>
  </p:cSld>
  <p:clrMapOvr>
    <a:masterClrMapping/>
  </p:clrMapOvr>
  <p:transition spd="med">
    <p:pull dir="r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通过调用不同的构造方法来表达对象的多种初始化行为</a:t>
            </a:r>
            <a:endParaRPr lang="en-US" altLang="zh-CN" sz="2800" dirty="0">
              <a:latin typeface="楷体" panose="02010609060101010101" pitchFamily="49" charset="-122"/>
              <a:sym typeface="宋体" charset="-122"/>
            </a:endParaRPr>
          </a:p>
          <a:p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例如：</a:t>
            </a:r>
            <a:endParaRPr lang="en-US" altLang="zh-CN" sz="2800" dirty="0">
              <a:latin typeface="楷体" panose="02010609060101010101" pitchFamily="49" charset="-122"/>
              <a:sym typeface="宋体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默认情况下，教师来自北京中心，初始化时，只需提供教员姓名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有时，需要提供所在中心名称及教员姓名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构造方法重载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8841422"/>
      </p:ext>
    </p:extLst>
  </p:cSld>
  <p:clrMapOvr>
    <a:masterClrMapping/>
  </p:clrMapOvr>
  <p:transition spd="med">
    <p:pull dir="r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ym typeface="宋体" charset="-122"/>
              </a:rPr>
              <a:t>构造方法重载是方法重载的典型示例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  <p:sp>
        <p:nvSpPr>
          <p:cNvPr id="7" name="圆角矩形 683011"/>
          <p:cNvSpPr>
            <a:spLocks noChangeArrowheads="1"/>
          </p:cNvSpPr>
          <p:nvPr/>
        </p:nvSpPr>
        <p:spPr bwMode="auto">
          <a:xfrm>
            <a:off x="910887" y="776288"/>
            <a:ext cx="7418388" cy="4368800"/>
          </a:xfrm>
          <a:prstGeom prst="roundRect">
            <a:avLst>
              <a:gd name="adj" fmla="val 592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class Teacher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String name; // </a:t>
            </a:r>
            <a:r>
              <a:rPr lang="zh-CN" altLang="en-US" b="1" dirty="0">
                <a:ea typeface="楷体" panose="02010609060101010101" pitchFamily="49" charset="-122"/>
              </a:rPr>
              <a:t>教员姓名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</a:rPr>
              <a:t>private String school = “</a:t>
            </a:r>
            <a:r>
              <a:rPr lang="zh-CN" altLang="en-US" b="1" dirty="0">
                <a:ea typeface="楷体" panose="02010609060101010101" pitchFamily="49" charset="-122"/>
              </a:rPr>
              <a:t>北航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";  // </a:t>
            </a:r>
            <a:r>
              <a:rPr lang="zh-CN" altLang="en-US" b="1" dirty="0">
                <a:ea typeface="楷体" panose="02010609060101010101" pitchFamily="49" charset="-122"/>
              </a:rPr>
              <a:t>所在中心</a:t>
            </a:r>
          </a:p>
          <a:p>
            <a:pPr lvl="1"/>
            <a:endParaRPr lang="zh-CN" altLang="en-US" b="1" dirty="0">
              <a:ea typeface="楷体" panose="02010609060101010101" pitchFamily="49" charset="-122"/>
              <a:cs typeface="Times New Roman" pitchFamily="18" charset="0"/>
            </a:endParaRP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Teacher(String name)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	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this.name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= name;  //</a:t>
            </a:r>
            <a:r>
              <a:rPr lang="zh-CN" altLang="en-US" b="1" dirty="0">
                <a:ea typeface="楷体" panose="02010609060101010101" pitchFamily="49" charset="-122"/>
              </a:rPr>
              <a:t>设定教员姓名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Teacher(String name, String school) {</a:t>
            </a:r>
          </a:p>
          <a:p>
            <a:pPr lvl="2"/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this.name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= name;     //</a:t>
            </a:r>
            <a:r>
              <a:rPr lang="zh-CN" altLang="en-US" b="1" dirty="0">
                <a:ea typeface="楷体" panose="02010609060101010101" pitchFamily="49" charset="-122"/>
              </a:rPr>
              <a:t>设定教员姓名</a:t>
            </a:r>
          </a:p>
          <a:p>
            <a:pPr lvl="2"/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this.school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= school; //</a:t>
            </a:r>
            <a:r>
              <a:rPr lang="zh-CN" altLang="en-US" b="1" dirty="0">
                <a:ea typeface="楷体" panose="02010609060101010101" pitchFamily="49" charset="-122"/>
              </a:rPr>
              <a:t>设定教员的所在中心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String introduction()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	return "</a:t>
            </a:r>
            <a:r>
              <a:rPr lang="zh-CN" altLang="en-US" b="1" dirty="0">
                <a:ea typeface="楷体" panose="02010609060101010101" pitchFamily="49" charset="-122"/>
              </a:rPr>
              <a:t>大家好！我是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" + school + "</a:t>
            </a:r>
            <a:r>
              <a:rPr lang="zh-CN" altLang="en-US" b="1" dirty="0">
                <a:ea typeface="楷体" panose="02010609060101010101" pitchFamily="49" charset="-122"/>
              </a:rPr>
              <a:t>的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" + name 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8" name="圆角矩形 683012"/>
          <p:cNvSpPr/>
          <p:nvPr/>
        </p:nvSpPr>
        <p:spPr>
          <a:xfrm>
            <a:off x="539809" y="2071688"/>
            <a:ext cx="510778" cy="16430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B563CF"/>
            </a:solidFill>
            <a:prstDash val="solid"/>
            <a:headEnd type="none" w="med" len="med"/>
            <a:tailEnd type="none" w="med" len="med"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构造方法重载</a:t>
            </a:r>
          </a:p>
        </p:txBody>
      </p:sp>
      <p:sp>
        <p:nvSpPr>
          <p:cNvPr id="9" name="右大括号 683013"/>
          <p:cNvSpPr>
            <a:spLocks/>
          </p:cNvSpPr>
          <p:nvPr/>
        </p:nvSpPr>
        <p:spPr bwMode="auto">
          <a:xfrm flipH="1">
            <a:off x="1122025" y="2058988"/>
            <a:ext cx="360362" cy="1873250"/>
          </a:xfrm>
          <a:prstGeom prst="rightBrace">
            <a:avLst>
              <a:gd name="adj1" fmla="val 43319"/>
              <a:gd name="adj2" fmla="val 49995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3441015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7504" y="44625"/>
            <a:ext cx="8856984" cy="634082"/>
          </a:xfrm>
        </p:spPr>
        <p:txBody>
          <a:bodyPr/>
          <a:lstStyle/>
          <a:p>
            <a:r>
              <a:rPr lang="zh-CN" altLang="en-US" dirty="0">
                <a:sym typeface="宋体" charset="-122"/>
              </a:rPr>
              <a:t>通过调用不同的构造方法来表达对象的多种初始化行为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  <p:sp>
        <p:nvSpPr>
          <p:cNvPr id="7" name="圆角矩形 685059"/>
          <p:cNvSpPr>
            <a:spLocks noChangeArrowheads="1"/>
          </p:cNvSpPr>
          <p:nvPr/>
        </p:nvSpPr>
        <p:spPr bwMode="auto">
          <a:xfrm>
            <a:off x="395536" y="1108237"/>
            <a:ext cx="8640960" cy="3028414"/>
          </a:xfrm>
          <a:prstGeom prst="roundRect">
            <a:avLst>
              <a:gd name="adj" fmla="val 9833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 wrap="square">
            <a:spAutoFit/>
          </a:bodyPr>
          <a:lstStyle/>
          <a:p>
            <a:pPr marL="223838" indent="-223838"/>
            <a:r>
              <a:rPr lang="en-US" altLang="zh-CN" sz="2000" b="1" dirty="0">
                <a:ea typeface="楷体" panose="02010609060101010101" pitchFamily="49" charset="-122"/>
                <a:cs typeface="Times New Roman" pitchFamily="18" charset="0"/>
              </a:rPr>
              <a:t>public class </a:t>
            </a:r>
            <a:r>
              <a:rPr lang="en-US" altLang="zh-CN" sz="2000" b="1" dirty="0" err="1">
                <a:ea typeface="楷体" panose="02010609060101010101" pitchFamily="49" charset="-122"/>
                <a:cs typeface="Times New Roman" pitchFamily="18" charset="0"/>
              </a:rPr>
              <a:t>TeacherTest</a:t>
            </a:r>
            <a:r>
              <a:rPr lang="en-US" altLang="zh-CN" sz="2000" b="1" dirty="0">
                <a:ea typeface="楷体" panose="02010609060101010101" pitchFamily="49" charset="-122"/>
                <a:cs typeface="Times New Roman" pitchFamily="18" charset="0"/>
              </a:rPr>
              <a:t> {</a:t>
            </a:r>
          </a:p>
          <a:p>
            <a:pPr marL="223838" indent="-223838"/>
            <a:r>
              <a:rPr lang="en-US" altLang="zh-CN" sz="2000" b="1" dirty="0">
                <a:ea typeface="楷体" panose="02010609060101010101" pitchFamily="49" charset="-122"/>
                <a:cs typeface="Times New Roman" pitchFamily="18" charset="0"/>
              </a:rPr>
              <a:t>       public static void main(String[ ] </a:t>
            </a:r>
            <a:r>
              <a:rPr lang="en-US" altLang="zh-CN" sz="2000" b="1" dirty="0" err="1">
                <a:ea typeface="楷体" panose="02010609060101010101" pitchFamily="49" charset="-122"/>
                <a:cs typeface="Times New Roman" pitchFamily="18" charset="0"/>
              </a:rPr>
              <a:t>args</a:t>
            </a:r>
            <a:r>
              <a:rPr lang="en-US" altLang="zh-CN" sz="2000" b="1" dirty="0">
                <a:ea typeface="楷体" panose="02010609060101010101" pitchFamily="49" charset="-122"/>
                <a:cs typeface="Times New Roman" pitchFamily="18" charset="0"/>
              </a:rPr>
              <a:t>) {</a:t>
            </a:r>
          </a:p>
          <a:p>
            <a:pPr marL="635000" lvl="1" indent="-177800"/>
            <a:r>
              <a:rPr lang="en-US" altLang="zh-CN" sz="20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        Teacher  teacher1 = new Teacher(“</a:t>
            </a:r>
            <a:r>
              <a:rPr lang="en-US" altLang="zh-CN" sz="2000" b="1" dirty="0">
                <a:solidFill>
                  <a:srgbClr val="C00000"/>
                </a:solidFill>
                <a:ea typeface="楷体" panose="02010609060101010101" pitchFamily="49" charset="-122"/>
              </a:rPr>
              <a:t>Mary</a:t>
            </a:r>
            <a:r>
              <a:rPr lang="en-US" altLang="zh-CN" sz="20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");</a:t>
            </a:r>
          </a:p>
          <a:p>
            <a:pPr lvl="2"/>
            <a:r>
              <a:rPr lang="en-US" altLang="zh-CN" sz="2000" b="1" dirty="0" err="1">
                <a:ea typeface="楷体" panose="02010609060101010101" pitchFamily="49" charset="-122"/>
                <a:cs typeface="Times New Roman" pitchFamily="18" charset="0"/>
              </a:rPr>
              <a:t>System.out.println</a:t>
            </a:r>
            <a:r>
              <a:rPr lang="en-US" altLang="zh-CN" sz="2000" b="1" dirty="0">
                <a:ea typeface="楷体" panose="02010609060101010101" pitchFamily="49" charset="-122"/>
                <a:cs typeface="Times New Roman" pitchFamily="18" charset="0"/>
              </a:rPr>
              <a:t>(teacher1.introduction());</a:t>
            </a:r>
          </a:p>
          <a:p>
            <a:pPr lvl="2"/>
            <a:endParaRPr lang="en-US" altLang="zh-CN" sz="2000" b="1" dirty="0">
              <a:ea typeface="楷体" panose="02010609060101010101" pitchFamily="49" charset="-122"/>
              <a:cs typeface="Times New Roman" pitchFamily="18" charset="0"/>
            </a:endParaRPr>
          </a:p>
          <a:p>
            <a:pPr lvl="2"/>
            <a:r>
              <a:rPr lang="en-US" altLang="zh-CN" sz="20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Teacher  teacher2 = new </a:t>
            </a:r>
            <a:r>
              <a:rPr lang="en-US" altLang="zh-CN" sz="2000" b="1" dirty="0" err="1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ATeacher</a:t>
            </a:r>
            <a:r>
              <a:rPr lang="en-US" altLang="zh-CN" sz="20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(</a:t>
            </a:r>
            <a:r>
              <a:rPr lang="en-US" altLang="zh-CN" sz="2000" b="1" dirty="0">
                <a:solidFill>
                  <a:srgbClr val="C00000"/>
                </a:solidFill>
                <a:ea typeface="楷体" panose="02010609060101010101" pitchFamily="49" charset="-122"/>
              </a:rPr>
              <a:t>“Jack”</a:t>
            </a:r>
            <a:r>
              <a:rPr lang="en-US" altLang="zh-CN" sz="20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, </a:t>
            </a:r>
            <a:r>
              <a:rPr lang="en-US" altLang="zh-CN" sz="2000" b="1" dirty="0">
                <a:solidFill>
                  <a:srgbClr val="C00000"/>
                </a:solidFill>
                <a:ea typeface="楷体" panose="02010609060101010101" pitchFamily="49" charset="-122"/>
              </a:rPr>
              <a:t>“</a:t>
            </a:r>
            <a:r>
              <a:rPr lang="zh-CN" altLang="en-US" sz="2000" b="1" dirty="0">
                <a:solidFill>
                  <a:srgbClr val="C00000"/>
                </a:solidFill>
                <a:ea typeface="楷体" panose="02010609060101010101" pitchFamily="49" charset="-122"/>
              </a:rPr>
              <a:t>北航</a:t>
            </a:r>
            <a:r>
              <a:rPr lang="en-US" altLang="zh-CN" sz="20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itchFamily="18" charset="0"/>
              </a:rPr>
              <a:t>");</a:t>
            </a:r>
          </a:p>
          <a:p>
            <a:pPr lvl="2"/>
            <a:r>
              <a:rPr lang="en-US" altLang="zh-CN" sz="2000" b="1" dirty="0" err="1">
                <a:ea typeface="楷体" panose="02010609060101010101" pitchFamily="49" charset="-122"/>
                <a:cs typeface="Times New Roman" pitchFamily="18" charset="0"/>
              </a:rPr>
              <a:t>System.out.println</a:t>
            </a:r>
            <a:r>
              <a:rPr lang="en-US" altLang="zh-CN" sz="2000" b="1" dirty="0">
                <a:ea typeface="楷体" panose="02010609060101010101" pitchFamily="49" charset="-122"/>
                <a:cs typeface="Times New Roman" pitchFamily="18" charset="0"/>
              </a:rPr>
              <a:t>(teacher2.introduction());</a:t>
            </a:r>
          </a:p>
          <a:p>
            <a:pPr marL="635000" lvl="1" indent="-177800"/>
            <a:r>
              <a:rPr lang="en-US" altLang="zh-CN" sz="2000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pPr marL="223838" indent="-223838"/>
            <a:r>
              <a:rPr lang="en-US" altLang="zh-CN" sz="2000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8" name="圆角矩形 685060"/>
          <p:cNvSpPr>
            <a:spLocks noChangeArrowheads="1"/>
          </p:cNvSpPr>
          <p:nvPr/>
        </p:nvSpPr>
        <p:spPr bwMode="auto">
          <a:xfrm>
            <a:off x="395536" y="4567978"/>
            <a:ext cx="7704856" cy="1165278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C99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800080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2800" b="1" dirty="0">
                <a:ea typeface="楷体" panose="02010609060101010101" pitchFamily="49" charset="-122"/>
              </a:rPr>
              <a:t>大家好！我是北京中心的</a:t>
            </a:r>
            <a:r>
              <a:rPr lang="en-US" altLang="zh-CN" sz="2800" b="1" dirty="0">
                <a:ea typeface="楷体" panose="02010609060101010101" pitchFamily="49" charset="-122"/>
              </a:rPr>
              <a:t>Mary</a:t>
            </a:r>
            <a:endParaRPr lang="zh-CN" altLang="en-US" sz="2800" b="1" dirty="0">
              <a:ea typeface="楷体" panose="02010609060101010101" pitchFamily="49" charset="-122"/>
            </a:endParaRPr>
          </a:p>
          <a:p>
            <a:r>
              <a:rPr lang="zh-CN" altLang="en-US" sz="2800" b="1" dirty="0">
                <a:ea typeface="楷体" panose="02010609060101010101" pitchFamily="49" charset="-122"/>
              </a:rPr>
              <a:t>大家好！我是天津中心的</a:t>
            </a:r>
            <a:r>
              <a:rPr lang="en-US" altLang="zh-CN" sz="2800" b="1" dirty="0">
                <a:ea typeface="楷体" panose="02010609060101010101" pitchFamily="49" charset="-122"/>
              </a:rPr>
              <a:t>Jack</a:t>
            </a:r>
            <a:endParaRPr lang="zh-CN" altLang="en-US" sz="2800" b="1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7762731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给定如下</a:t>
            </a:r>
            <a:r>
              <a:rPr lang="en-US" altLang="zh-CN" sz="2800" dirty="0">
                <a:latin typeface="楷体" panose="02010609060101010101" pitchFamily="49" charset="-122"/>
                <a:sym typeface="宋体" charset="-122"/>
              </a:rPr>
              <a:t>Java</a:t>
            </a:r>
            <a:r>
              <a:rPr lang="zh-CN" altLang="en-US" sz="2800" dirty="0">
                <a:latin typeface="楷体" panose="02010609060101010101" pitchFamily="49" charset="-122"/>
                <a:sym typeface="宋体" charset="-122"/>
              </a:rPr>
              <a:t>代码，请指出代码中的错误，并解释原因。</a:t>
            </a: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回答问题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576664"/>
      </p:ext>
    </p:extLst>
  </p:cSld>
  <p:clrMapOvr>
    <a:masterClrMapping/>
  </p:clrMapOvr>
  <p:transition spd="med">
    <p:pull dir="r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回答问题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  <p:sp>
        <p:nvSpPr>
          <p:cNvPr id="7" name="圆角矩形 688131"/>
          <p:cNvSpPr>
            <a:spLocks noChangeArrowheads="1"/>
          </p:cNvSpPr>
          <p:nvPr/>
        </p:nvSpPr>
        <p:spPr bwMode="auto">
          <a:xfrm>
            <a:off x="1685925" y="214313"/>
            <a:ext cx="4370388" cy="6497637"/>
          </a:xfrm>
          <a:prstGeom prst="roundRect">
            <a:avLst>
              <a:gd name="adj" fmla="val 3264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rgbClr val="008080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class Sample 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int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x;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Sample() {  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	x = 1;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Sample(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int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 { 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	x =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int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Sample(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int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 { </a:t>
            </a:r>
          </a:p>
          <a:p>
            <a:pPr lvl="2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x =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;</a:t>
            </a:r>
          </a:p>
          <a:p>
            <a:pPr lvl="2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return x++;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Sample(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int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, String s){}</a:t>
            </a:r>
          </a:p>
          <a:p>
            <a:pPr lvl="1"/>
            <a:endParaRPr lang="en-US" altLang="zh-CN" b="1" dirty="0">
              <a:ea typeface="楷体" panose="02010609060101010101" pitchFamily="49" charset="-122"/>
              <a:cs typeface="Times New Roman" pitchFamily="18" charset="0"/>
            </a:endParaRP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public  Sample(String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s,int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){}</a:t>
            </a:r>
          </a:p>
          <a:p>
            <a:pPr lvl="1"/>
            <a:endParaRPr lang="en-US" altLang="zh-CN" b="1" dirty="0">
              <a:ea typeface="楷体" panose="02010609060101010101" pitchFamily="49" charset="-122"/>
              <a:cs typeface="Times New Roman" pitchFamily="18" charset="0"/>
            </a:endParaRP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private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Sampla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int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){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	x=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++;</a:t>
            </a:r>
          </a:p>
          <a:p>
            <a:pPr lvl="1"/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       private void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Sampla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(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int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){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	x=</a:t>
            </a:r>
            <a:r>
              <a:rPr lang="en-US" altLang="zh-CN" b="1" dirty="0" err="1">
                <a:ea typeface="楷体" panose="02010609060101010101" pitchFamily="49" charset="-122"/>
                <a:cs typeface="Times New Roman" pitchFamily="18" charset="0"/>
              </a:rPr>
              <a:t>i</a:t>
            </a:r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++;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        }</a:t>
            </a:r>
          </a:p>
          <a:p>
            <a:r>
              <a:rPr lang="en-US" altLang="zh-CN" b="1" dirty="0">
                <a:ea typeface="楷体" panose="02010609060101010101" pitchFamily="49" charset="-122"/>
                <a:cs typeface="Times New Roman" pitchFamily="18" charset="0"/>
              </a:rPr>
              <a:t>}</a:t>
            </a:r>
          </a:p>
        </p:txBody>
      </p:sp>
      <p:grpSp>
        <p:nvGrpSpPr>
          <p:cNvPr id="8" name="组合 688133"/>
          <p:cNvGrpSpPr>
            <a:grpSpLocks/>
          </p:cNvGrpSpPr>
          <p:nvPr/>
        </p:nvGrpSpPr>
        <p:grpSpPr bwMode="auto">
          <a:xfrm>
            <a:off x="1951038" y="4749800"/>
            <a:ext cx="215900" cy="215900"/>
            <a:chOff x="4785" y="3475"/>
            <a:chExt cx="182" cy="182"/>
          </a:xfrm>
        </p:grpSpPr>
        <p:sp>
          <p:nvSpPr>
            <p:cNvPr id="9" name="直接连接符 688134"/>
            <p:cNvSpPr>
              <a:spLocks noChangeShapeType="1"/>
            </p:cNvSpPr>
            <p:nvPr/>
          </p:nvSpPr>
          <p:spPr bwMode="auto">
            <a:xfrm>
              <a:off x="4785" y="3475"/>
              <a:ext cx="182" cy="18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10" name="直接连接符 688135"/>
            <p:cNvSpPr>
              <a:spLocks noChangeShapeType="1"/>
            </p:cNvSpPr>
            <p:nvPr/>
          </p:nvSpPr>
          <p:spPr bwMode="auto">
            <a:xfrm flipV="1">
              <a:off x="4785" y="3475"/>
              <a:ext cx="182" cy="18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</p:grpSp>
      <p:grpSp>
        <p:nvGrpSpPr>
          <p:cNvPr id="11" name="组合 688136"/>
          <p:cNvGrpSpPr>
            <a:grpSpLocks/>
          </p:cNvGrpSpPr>
          <p:nvPr/>
        </p:nvGrpSpPr>
        <p:grpSpPr bwMode="auto">
          <a:xfrm>
            <a:off x="1951038" y="862013"/>
            <a:ext cx="215900" cy="288925"/>
            <a:chOff x="1020" y="3702"/>
            <a:chExt cx="272" cy="318"/>
          </a:xfrm>
        </p:grpSpPr>
        <p:sp>
          <p:nvSpPr>
            <p:cNvPr id="12" name="直接连接符 688137"/>
            <p:cNvSpPr>
              <a:spLocks noChangeShapeType="1"/>
            </p:cNvSpPr>
            <p:nvPr/>
          </p:nvSpPr>
          <p:spPr bwMode="auto">
            <a:xfrm>
              <a:off x="1020" y="3884"/>
              <a:ext cx="136" cy="13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13" name="直接连接符 688138"/>
            <p:cNvSpPr>
              <a:spLocks noChangeShapeType="1"/>
            </p:cNvSpPr>
            <p:nvPr/>
          </p:nvSpPr>
          <p:spPr bwMode="auto">
            <a:xfrm flipV="1">
              <a:off x="1156" y="3702"/>
              <a:ext cx="136" cy="31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</p:grpSp>
      <p:sp>
        <p:nvSpPr>
          <p:cNvPr id="14" name="圆角矩形 688139"/>
          <p:cNvSpPr/>
          <p:nvPr/>
        </p:nvSpPr>
        <p:spPr>
          <a:xfrm>
            <a:off x="5840413" y="862013"/>
            <a:ext cx="2014537" cy="3603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无参构造方法</a:t>
            </a:r>
          </a:p>
        </p:txBody>
      </p:sp>
      <p:sp>
        <p:nvSpPr>
          <p:cNvPr id="15" name="圆角矩形 688140"/>
          <p:cNvSpPr/>
          <p:nvPr/>
        </p:nvSpPr>
        <p:spPr>
          <a:xfrm>
            <a:off x="5840413" y="1654175"/>
            <a:ext cx="2014537" cy="3603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带参构造方法</a:t>
            </a:r>
          </a:p>
        </p:txBody>
      </p:sp>
      <p:sp>
        <p:nvSpPr>
          <p:cNvPr id="16" name="圆角矩形 688141"/>
          <p:cNvSpPr/>
          <p:nvPr/>
        </p:nvSpPr>
        <p:spPr>
          <a:xfrm>
            <a:off x="5840413" y="2446338"/>
            <a:ext cx="2016125" cy="3603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不是构造方法</a:t>
            </a:r>
          </a:p>
        </p:txBody>
      </p:sp>
      <p:sp>
        <p:nvSpPr>
          <p:cNvPr id="17" name="圆角矩形 688142"/>
          <p:cNvSpPr/>
          <p:nvPr/>
        </p:nvSpPr>
        <p:spPr>
          <a:xfrm>
            <a:off x="5840413" y="3597275"/>
            <a:ext cx="2017712" cy="3603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带参构造方法</a:t>
            </a:r>
          </a:p>
        </p:txBody>
      </p:sp>
      <p:sp>
        <p:nvSpPr>
          <p:cNvPr id="18" name="圆角矩形 688143"/>
          <p:cNvSpPr/>
          <p:nvPr/>
        </p:nvSpPr>
        <p:spPr>
          <a:xfrm>
            <a:off x="5837238" y="4102100"/>
            <a:ext cx="2017712" cy="3603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带参构造方法</a:t>
            </a:r>
          </a:p>
        </p:txBody>
      </p:sp>
      <p:sp>
        <p:nvSpPr>
          <p:cNvPr id="19" name="圆角矩形 688144"/>
          <p:cNvSpPr/>
          <p:nvPr/>
        </p:nvSpPr>
        <p:spPr>
          <a:xfrm>
            <a:off x="5837238" y="4678363"/>
            <a:ext cx="2017712" cy="3603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名称与类名不相同</a:t>
            </a:r>
          </a:p>
        </p:txBody>
      </p:sp>
      <p:sp>
        <p:nvSpPr>
          <p:cNvPr id="20" name="圆角矩形 688145"/>
          <p:cNvSpPr/>
          <p:nvPr/>
        </p:nvSpPr>
        <p:spPr>
          <a:xfrm>
            <a:off x="5840413" y="5470525"/>
            <a:ext cx="2014537" cy="3603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99">
                  <a:gamma/>
                  <a:tint val="0"/>
                  <a:invGamma/>
                </a:srgbClr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  <a:effectLst>
            <a:outerShdw dist="117088" dir="836392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zh-CN" altLang="en-US" b="1" dirty="0">
                <a:latin typeface="Arial" panose="020B0604020202020204" pitchFamily="34" charset="0"/>
                <a:ea typeface="楷体" panose="02010609060101010101" pitchFamily="49" charset="-122"/>
              </a:rPr>
              <a:t>不是构造方法</a:t>
            </a:r>
          </a:p>
        </p:txBody>
      </p:sp>
      <p:grpSp>
        <p:nvGrpSpPr>
          <p:cNvPr id="21" name="组合 688146"/>
          <p:cNvGrpSpPr>
            <a:grpSpLocks/>
          </p:cNvGrpSpPr>
          <p:nvPr/>
        </p:nvGrpSpPr>
        <p:grpSpPr bwMode="auto">
          <a:xfrm>
            <a:off x="1951038" y="1725613"/>
            <a:ext cx="215900" cy="288925"/>
            <a:chOff x="1020" y="3702"/>
            <a:chExt cx="272" cy="318"/>
          </a:xfrm>
        </p:grpSpPr>
        <p:sp>
          <p:nvSpPr>
            <p:cNvPr id="22" name="直接连接符 688147"/>
            <p:cNvSpPr>
              <a:spLocks noChangeShapeType="1"/>
            </p:cNvSpPr>
            <p:nvPr/>
          </p:nvSpPr>
          <p:spPr bwMode="auto">
            <a:xfrm>
              <a:off x="1020" y="3884"/>
              <a:ext cx="136" cy="13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23" name="直接连接符 688148"/>
            <p:cNvSpPr>
              <a:spLocks noChangeShapeType="1"/>
            </p:cNvSpPr>
            <p:nvPr/>
          </p:nvSpPr>
          <p:spPr bwMode="auto">
            <a:xfrm flipV="1">
              <a:off x="1156" y="3702"/>
              <a:ext cx="136" cy="31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</p:grpSp>
      <p:grpSp>
        <p:nvGrpSpPr>
          <p:cNvPr id="24" name="组合 688149"/>
          <p:cNvGrpSpPr>
            <a:grpSpLocks/>
          </p:cNvGrpSpPr>
          <p:nvPr/>
        </p:nvGrpSpPr>
        <p:grpSpPr bwMode="auto">
          <a:xfrm>
            <a:off x="1951038" y="2517775"/>
            <a:ext cx="215900" cy="288925"/>
            <a:chOff x="1020" y="3702"/>
            <a:chExt cx="272" cy="318"/>
          </a:xfrm>
        </p:grpSpPr>
        <p:sp>
          <p:nvSpPr>
            <p:cNvPr id="25" name="直接连接符 688150"/>
            <p:cNvSpPr>
              <a:spLocks noChangeShapeType="1"/>
            </p:cNvSpPr>
            <p:nvPr/>
          </p:nvSpPr>
          <p:spPr bwMode="auto">
            <a:xfrm>
              <a:off x="1020" y="3884"/>
              <a:ext cx="136" cy="13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26" name="直接连接符 688151"/>
            <p:cNvSpPr>
              <a:spLocks noChangeShapeType="1"/>
            </p:cNvSpPr>
            <p:nvPr/>
          </p:nvSpPr>
          <p:spPr bwMode="auto">
            <a:xfrm flipV="1">
              <a:off x="1156" y="3702"/>
              <a:ext cx="136" cy="31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</p:grpSp>
      <p:grpSp>
        <p:nvGrpSpPr>
          <p:cNvPr id="27" name="组合 688152"/>
          <p:cNvGrpSpPr>
            <a:grpSpLocks/>
          </p:cNvGrpSpPr>
          <p:nvPr/>
        </p:nvGrpSpPr>
        <p:grpSpPr bwMode="auto">
          <a:xfrm>
            <a:off x="1951038" y="3667125"/>
            <a:ext cx="215900" cy="288925"/>
            <a:chOff x="1020" y="3702"/>
            <a:chExt cx="272" cy="318"/>
          </a:xfrm>
        </p:grpSpPr>
        <p:sp>
          <p:nvSpPr>
            <p:cNvPr id="28" name="直接连接符 688153"/>
            <p:cNvSpPr>
              <a:spLocks noChangeShapeType="1"/>
            </p:cNvSpPr>
            <p:nvPr/>
          </p:nvSpPr>
          <p:spPr bwMode="auto">
            <a:xfrm>
              <a:off x="1020" y="3884"/>
              <a:ext cx="136" cy="13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29" name="直接连接符 688154"/>
            <p:cNvSpPr>
              <a:spLocks noChangeShapeType="1"/>
            </p:cNvSpPr>
            <p:nvPr/>
          </p:nvSpPr>
          <p:spPr bwMode="auto">
            <a:xfrm flipV="1">
              <a:off x="1156" y="3702"/>
              <a:ext cx="136" cy="31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</p:grpSp>
      <p:grpSp>
        <p:nvGrpSpPr>
          <p:cNvPr id="30" name="组合 688155"/>
          <p:cNvGrpSpPr>
            <a:grpSpLocks/>
          </p:cNvGrpSpPr>
          <p:nvPr/>
        </p:nvGrpSpPr>
        <p:grpSpPr bwMode="auto">
          <a:xfrm>
            <a:off x="1951038" y="4173538"/>
            <a:ext cx="215900" cy="288925"/>
            <a:chOff x="1020" y="3702"/>
            <a:chExt cx="272" cy="318"/>
          </a:xfrm>
        </p:grpSpPr>
        <p:sp>
          <p:nvSpPr>
            <p:cNvPr id="31" name="直接连接符 688156"/>
            <p:cNvSpPr>
              <a:spLocks noChangeShapeType="1"/>
            </p:cNvSpPr>
            <p:nvPr/>
          </p:nvSpPr>
          <p:spPr bwMode="auto">
            <a:xfrm>
              <a:off x="1020" y="3884"/>
              <a:ext cx="136" cy="13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32" name="直接连接符 688157"/>
            <p:cNvSpPr>
              <a:spLocks noChangeShapeType="1"/>
            </p:cNvSpPr>
            <p:nvPr/>
          </p:nvSpPr>
          <p:spPr bwMode="auto">
            <a:xfrm flipV="1">
              <a:off x="1156" y="3702"/>
              <a:ext cx="136" cy="31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</p:grpSp>
      <p:grpSp>
        <p:nvGrpSpPr>
          <p:cNvPr id="33" name="组合 688158"/>
          <p:cNvGrpSpPr>
            <a:grpSpLocks/>
          </p:cNvGrpSpPr>
          <p:nvPr/>
        </p:nvGrpSpPr>
        <p:grpSpPr bwMode="auto">
          <a:xfrm>
            <a:off x="1952625" y="5541963"/>
            <a:ext cx="215900" cy="288925"/>
            <a:chOff x="1020" y="3702"/>
            <a:chExt cx="272" cy="318"/>
          </a:xfrm>
        </p:grpSpPr>
        <p:sp>
          <p:nvSpPr>
            <p:cNvPr id="34" name="直接连接符 688159"/>
            <p:cNvSpPr>
              <a:spLocks noChangeShapeType="1"/>
            </p:cNvSpPr>
            <p:nvPr/>
          </p:nvSpPr>
          <p:spPr bwMode="auto">
            <a:xfrm>
              <a:off x="1020" y="3884"/>
              <a:ext cx="136" cy="13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35" name="直接连接符 688160"/>
            <p:cNvSpPr>
              <a:spLocks noChangeShapeType="1"/>
            </p:cNvSpPr>
            <p:nvPr/>
          </p:nvSpPr>
          <p:spPr bwMode="auto">
            <a:xfrm flipV="1">
              <a:off x="1156" y="3702"/>
              <a:ext cx="136" cy="31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8394989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692696"/>
            <a:ext cx="8676456" cy="5760640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</a:rPr>
              <a:t>对象与类的概念</a:t>
            </a:r>
            <a:endParaRPr lang="en-US" altLang="zh-CN" dirty="0">
              <a:latin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</a:rPr>
              <a:t>类</a:t>
            </a:r>
            <a:r>
              <a:rPr lang="zh-CN" altLang="en-US" dirty="0">
                <a:latin typeface="楷体" panose="02010609060101010101" pitchFamily="49" charset="-122"/>
              </a:rPr>
              <a:t>的设计与定义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成员变量定义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构造函数定义</a:t>
            </a:r>
            <a:endParaRPr lang="en-US" altLang="zh-CN" dirty="0">
              <a:latin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</a:rPr>
              <a:t>成员方法定义</a:t>
            </a:r>
            <a:endParaRPr lang="en-US" altLang="zh-CN" dirty="0">
              <a:latin typeface="楷体" panose="02010609060101010101" pitchFamily="49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</a:rPr>
              <a:t>类之间的关系</a:t>
            </a:r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本节主要内容：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7094615"/>
      </p:ext>
    </p:extLst>
  </p:cSld>
  <p:clrMapOvr>
    <a:masterClrMapping/>
  </p:clrMapOvr>
  <p:transition spd="med">
    <p:pull dir="r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UML </a:t>
            </a:r>
            <a:r>
              <a:rPr lang="zh-CN" altLang="en-US" dirty="0"/>
              <a:t>的主要目的是：</a:t>
            </a:r>
          </a:p>
          <a:p>
            <a:r>
              <a:rPr lang="zh-CN" altLang="en-US" dirty="0"/>
              <a:t>支持关于所开发系统的分析和设计的沟通</a:t>
            </a:r>
          </a:p>
          <a:p>
            <a:r>
              <a:rPr lang="zh-CN" altLang="en-US" dirty="0"/>
              <a:t>支持从“现实世界”的问题域转向机器中的解决方案域</a:t>
            </a:r>
          </a:p>
          <a:p>
            <a:pPr lvl="1"/>
            <a:r>
              <a:rPr lang="zh-CN" altLang="en-US" dirty="0"/>
              <a:t>对于同一系统，有两种视角：</a:t>
            </a:r>
          </a:p>
          <a:p>
            <a:pPr lvl="2"/>
            <a:r>
              <a:rPr lang="zh-CN" altLang="en-US" dirty="0"/>
              <a:t>一个视角有图表</a:t>
            </a:r>
          </a:p>
          <a:p>
            <a:pPr lvl="2"/>
            <a:r>
              <a:rPr lang="zh-CN" altLang="en-US" dirty="0"/>
              <a:t>源代码是另一个</a:t>
            </a:r>
            <a:r>
              <a:rPr lang="zh-CN" altLang="en-US" dirty="0" smtClean="0"/>
              <a:t>视角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Unified Modeling Language (UML)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pPr>
                <a:defRPr/>
              </a:pPr>
              <a:t>2025/9/18</a:t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68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76849907"/>
      </p:ext>
    </p:extLst>
  </p:cSld>
  <p:clrMapOvr>
    <a:masterClrMapping/>
  </p:clrMapOvr>
  <p:transition spd="med">
    <p:pull dir="ru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UML </a:t>
            </a:r>
            <a:r>
              <a:rPr lang="zh-CN" altLang="en-US" dirty="0"/>
              <a:t>是一种用于描述软件设计的图形符号 它有关于如何绘制以下模型的规则：</a:t>
            </a:r>
          </a:p>
          <a:p>
            <a:pPr lvl="1"/>
            <a:r>
              <a:rPr lang="zh-CN" altLang="en-US" dirty="0"/>
              <a:t>类</a:t>
            </a:r>
          </a:p>
          <a:p>
            <a:pPr lvl="1"/>
            <a:r>
              <a:rPr lang="zh-CN" altLang="en-US" dirty="0"/>
              <a:t>类之间的关联</a:t>
            </a:r>
          </a:p>
          <a:p>
            <a:pPr lvl="1"/>
            <a:r>
              <a:rPr lang="zh-CN" altLang="en-US" dirty="0"/>
              <a:t>对象之间的消息传递</a:t>
            </a:r>
          </a:p>
          <a:p>
            <a:r>
              <a:rPr lang="en-US" altLang="zh-CN" dirty="0"/>
              <a:t>UML </a:t>
            </a:r>
            <a:r>
              <a:rPr lang="zh-CN" altLang="en-US" dirty="0"/>
              <a:t>已成为事实上的行业标准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虽然</a:t>
            </a:r>
            <a:r>
              <a:rPr lang="zh-CN" altLang="en-US" dirty="0"/>
              <a:t>不是官方标准，但几乎所有人都在使用</a:t>
            </a:r>
            <a:r>
              <a:rPr lang="zh-CN" altLang="en-US" dirty="0" smtClean="0"/>
              <a:t>它</a:t>
            </a:r>
            <a:endParaRPr lang="en-US" altLang="zh-CN" dirty="0" smtClean="0"/>
          </a:p>
          <a:p>
            <a:r>
              <a:rPr lang="zh-CN" altLang="en-US" dirty="0" smtClean="0"/>
              <a:t> </a:t>
            </a:r>
            <a:r>
              <a:rPr lang="zh-CN" altLang="en-US" dirty="0"/>
              <a:t>就像一张蓝图，展示分析、设计和实现过程中发生的</a:t>
            </a:r>
            <a:r>
              <a:rPr lang="zh-CN" altLang="en-US" dirty="0" smtClean="0"/>
              <a:t>事情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Unified Modeling Language (UML)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pPr>
                <a:defRPr/>
              </a:pPr>
              <a:t>2025/9/18</a:t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69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76575765"/>
      </p:ext>
    </p:extLst>
  </p:cSld>
  <p:clrMapOvr>
    <a:masterClrMapping/>
  </p:clrMapOvr>
  <p:transition spd="med">
    <p:pull dir="r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表达要实现的类定义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列出</a:t>
            </a:r>
            <a:r>
              <a:rPr lang="zh-CN" altLang="en-US" dirty="0"/>
              <a:t>每个类的名称、属性和方法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展示</a:t>
            </a:r>
            <a:r>
              <a:rPr lang="zh-CN" altLang="en-US" dirty="0"/>
              <a:t>类之间的</a:t>
            </a:r>
            <a:r>
              <a:rPr lang="zh-CN" altLang="en-US" dirty="0" smtClean="0"/>
              <a:t>关系</a:t>
            </a:r>
            <a:endParaRPr lang="en-US" altLang="zh-CN" dirty="0" smtClean="0"/>
          </a:p>
          <a:p>
            <a:r>
              <a:rPr lang="zh-CN" altLang="en-US" dirty="0" smtClean="0"/>
              <a:t> </a:t>
            </a:r>
            <a:r>
              <a:rPr lang="en-US" altLang="zh-CN" dirty="0"/>
              <a:t>UML </a:t>
            </a:r>
            <a:r>
              <a:rPr lang="zh-CN" altLang="en-US" dirty="0"/>
              <a:t>允许对一个类的属性和方法提供不同级别的细节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可以</a:t>
            </a:r>
            <a:r>
              <a:rPr lang="zh-CN" altLang="en-US" dirty="0"/>
              <a:t>只是一个矩形中的类名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也可以类的详细信息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类图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pPr>
                <a:defRPr/>
              </a:pPr>
              <a:t>2025/9/18</a:t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70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5259057"/>
      </p:ext>
    </p:extLst>
  </p:cSld>
  <p:clrMapOvr>
    <a:masterClrMapping/>
  </p:clrMapOvr>
  <p:transition spd="med">
    <p:pull dir="ru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类图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pPr>
                <a:defRPr/>
              </a:pPr>
              <a:t>2025/9/18</a:t>
            </a:fld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591646"/>
            <a:ext cx="633413" cy="365125"/>
          </a:xfrm>
        </p:spPr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71</a:t>
            </a:fld>
            <a:endParaRPr lang="en-US" altLang="zh-CN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15283" y="795337"/>
            <a:ext cx="6091237" cy="649288"/>
          </a:xfrm>
          <a:prstGeom prst="rect">
            <a:avLst/>
          </a:prstGeom>
          <a:solidFill>
            <a:srgbClr val="FFFFFF"/>
          </a:solidFill>
          <a:ln w="792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380470" y="933450"/>
            <a:ext cx="4338638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</a:rPr>
              <a:t>Software Specification (Class Name)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15283" y="1444625"/>
            <a:ext cx="6091237" cy="2360612"/>
          </a:xfrm>
          <a:prstGeom prst="rect">
            <a:avLst/>
          </a:prstGeom>
          <a:solidFill>
            <a:srgbClr val="FFFFFF"/>
          </a:solidFill>
          <a:ln w="792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686733" y="1573212"/>
            <a:ext cx="973137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</a:rPr>
              <a:t>attribute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686733" y="1919287"/>
            <a:ext cx="1703387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</a:rPr>
              <a:t>attribute : type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686733" y="2265362"/>
            <a:ext cx="340042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</a:rPr>
              <a:t>attribute : type = initial value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686733" y="2492896"/>
            <a:ext cx="2190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 dirty="0">
                <a:solidFill>
                  <a:srgbClr val="000000"/>
                </a:solidFill>
              </a:rPr>
              <a:t>...</a:t>
            </a: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15283" y="3040533"/>
            <a:ext cx="6091237" cy="2764731"/>
          </a:xfrm>
          <a:prstGeom prst="rect">
            <a:avLst/>
          </a:prstGeom>
          <a:solidFill>
            <a:srgbClr val="FFFFFF"/>
          </a:solidFill>
          <a:ln w="792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686733" y="3178646"/>
            <a:ext cx="121602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</a:rPr>
              <a:t>method1()</a:t>
            </a: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1697845" y="3524721"/>
            <a:ext cx="46894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 dirty="0">
                <a:solidFill>
                  <a:srgbClr val="000000"/>
                </a:solidFill>
              </a:rPr>
              <a:t>method2(parameter : Type) : return type</a:t>
            </a: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1686733" y="3878733"/>
            <a:ext cx="2043112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 i="1">
                <a:solidFill>
                  <a:srgbClr val="000000"/>
                </a:solidFill>
              </a:rPr>
              <a:t>abstractMethod()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1686733" y="4215283"/>
            <a:ext cx="19970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</a:rPr>
              <a:t>+publicMethod()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1686733" y="4561358"/>
            <a:ext cx="2011362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</a:rPr>
              <a:t>-privateMethod()</a:t>
            </a: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1686733" y="4907433"/>
            <a:ext cx="2335212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</a:rPr>
              <a:t>#protectedMethod()</a:t>
            </a: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1686733" y="5229200"/>
            <a:ext cx="219075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300" dirty="0">
                <a:solidFill>
                  <a:srgbClr val="000000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586926280"/>
      </p:ext>
    </p:extLst>
  </p:cSld>
  <p:clrMapOvr>
    <a:masterClrMapping/>
  </p:clrMapOvr>
  <p:transition spd="med">
    <p:pull dir="ru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类图</a:t>
            </a:r>
            <a:r>
              <a:rPr lang="en-US" altLang="zh-CN" dirty="0" smtClean="0"/>
              <a:t>-</a:t>
            </a:r>
            <a:r>
              <a:rPr lang="zh-CN" altLang="en-US" dirty="0" smtClean="0"/>
              <a:t>类的关系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pPr>
                <a:defRPr/>
              </a:pPr>
              <a:t>2025/9/18</a:t>
            </a:fld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539552" y="1268760"/>
            <a:ext cx="5544616" cy="3495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lr>
                <a:srgbClr val="FFCC00"/>
              </a:buClr>
              <a:buFont typeface="Symbol" panose="05050102010706020507" pitchFamily="18" charset="2"/>
              <a:buChar char=""/>
            </a:pPr>
            <a:r>
              <a:rPr lang="en-US" altLang="zh-CN" sz="3200" dirty="0" smtClean="0">
                <a:solidFill>
                  <a:srgbClr val="000000"/>
                </a:solidFill>
              </a:rPr>
              <a:t>The</a:t>
            </a:r>
            <a:r>
              <a:rPr lang="en-US" altLang="en-US" sz="3200" dirty="0" smtClean="0">
                <a:solidFill>
                  <a:srgbClr val="000000"/>
                </a:solidFill>
              </a:rPr>
              <a:t> </a:t>
            </a:r>
            <a:r>
              <a:rPr lang="en-US" altLang="en-US" sz="3200" dirty="0">
                <a:solidFill>
                  <a:srgbClr val="000000"/>
                </a:solidFill>
              </a:rPr>
              <a:t>Relationships in UML</a:t>
            </a:r>
          </a:p>
          <a:p>
            <a:pPr lvl="1">
              <a:spcBef>
                <a:spcPts val="700"/>
              </a:spcBef>
              <a:buClrTx/>
              <a:buSzTx/>
              <a:buFontTx/>
              <a:buNone/>
            </a:pPr>
            <a:r>
              <a:rPr lang="en-US" altLang="en-US" sz="3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1) </a:t>
            </a:r>
            <a:r>
              <a:rPr lang="zh-CN" altLang="en-US" sz="3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依赖</a:t>
            </a:r>
            <a:endParaRPr lang="en-US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spcBef>
                <a:spcPts val="700"/>
              </a:spcBef>
              <a:buClrTx/>
              <a:buSzTx/>
              <a:buFontTx/>
              <a:buNone/>
            </a:pPr>
            <a:r>
              <a:rPr lang="en-US" altLang="en-US" sz="3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2) </a:t>
            </a:r>
            <a:r>
              <a:rPr lang="zh-CN" altLang="en-US" sz="3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关联</a:t>
            </a:r>
            <a:endParaRPr lang="en-US" altLang="zh-CN" sz="3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spcBef>
                <a:spcPts val="700"/>
              </a:spcBef>
              <a:buClrTx/>
              <a:buSzTx/>
              <a:buFontTx/>
              <a:buNone/>
            </a:pPr>
            <a:r>
              <a:rPr lang="en-US" altLang="zh-CN" sz="3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3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）组合</a:t>
            </a:r>
            <a:endParaRPr lang="en-US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spcBef>
                <a:spcPts val="700"/>
              </a:spcBef>
              <a:buClrTx/>
              <a:buSzTx/>
              <a:buFontTx/>
              <a:buNone/>
            </a:pPr>
            <a:r>
              <a:rPr lang="en-US" altLang="en-US" sz="3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4) </a:t>
            </a:r>
            <a:r>
              <a:rPr lang="zh-CN" altLang="en-US" sz="3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泛化</a:t>
            </a:r>
            <a:endParaRPr lang="en-US" altLang="zh-CN" sz="3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spcBef>
                <a:spcPts val="70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3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）实现</a:t>
            </a:r>
            <a:endParaRPr lang="en-US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9287021"/>
      </p:ext>
    </p:extLst>
  </p:cSld>
  <p:clrMapOvr>
    <a:masterClrMapping/>
  </p:clrMapOvr>
  <p:transition spd="med">
    <p:pull dir="r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2"/>
          <p:cNvSpPr>
            <a:spLocks noGrp="1"/>
          </p:cNvSpPr>
          <p:nvPr>
            <p:ph idx="1"/>
          </p:nvPr>
        </p:nvSpPr>
        <p:spPr>
          <a:xfrm>
            <a:off x="215416" y="908720"/>
            <a:ext cx="8533047" cy="5328418"/>
          </a:xfrm>
        </p:spPr>
        <p:txBody>
          <a:bodyPr/>
          <a:lstStyle/>
          <a:p>
            <a:r>
              <a:rPr lang="zh-CN" altLang="zh-CN" sz="3200" dirty="0"/>
              <a:t>类之间分为以下五种关系：</a:t>
            </a:r>
          </a:p>
          <a:p>
            <a:pPr lvl="1"/>
            <a:r>
              <a:rPr lang="zh-CN" altLang="zh-CN" sz="3000" dirty="0"/>
              <a:t>关联：类</a:t>
            </a:r>
            <a:r>
              <a:rPr lang="en-US" altLang="zh-CN" sz="3000" dirty="0"/>
              <a:t>A</a:t>
            </a:r>
            <a:r>
              <a:rPr lang="zh-CN" altLang="zh-CN" sz="3000" dirty="0"/>
              <a:t>与类</a:t>
            </a:r>
            <a:r>
              <a:rPr lang="en-US" altLang="zh-CN" sz="3000" dirty="0"/>
              <a:t>B</a:t>
            </a:r>
            <a:r>
              <a:rPr lang="zh-CN" altLang="zh-CN" sz="3000" dirty="0"/>
              <a:t>的实例之间存在特定的对应关系。</a:t>
            </a:r>
          </a:p>
          <a:p>
            <a:pPr lvl="1"/>
            <a:r>
              <a:rPr lang="zh-CN" altLang="zh-CN" sz="3000" dirty="0"/>
              <a:t>依赖：类</a:t>
            </a:r>
            <a:r>
              <a:rPr lang="en-US" altLang="zh-CN" sz="3000" dirty="0"/>
              <a:t>A</a:t>
            </a:r>
            <a:r>
              <a:rPr lang="zh-CN" altLang="zh-CN" sz="3000" dirty="0"/>
              <a:t>访问类</a:t>
            </a:r>
            <a:r>
              <a:rPr lang="en-US" altLang="zh-CN" sz="3000" dirty="0"/>
              <a:t>B</a:t>
            </a:r>
            <a:r>
              <a:rPr lang="zh-CN" altLang="zh-CN" sz="3000" dirty="0"/>
              <a:t>提供的服务。</a:t>
            </a:r>
          </a:p>
          <a:p>
            <a:pPr lvl="1"/>
            <a:r>
              <a:rPr lang="zh-CN" altLang="zh-CN" sz="3000" dirty="0"/>
              <a:t>聚集：类</a:t>
            </a:r>
            <a:r>
              <a:rPr lang="en-US" altLang="zh-CN" sz="3000" dirty="0"/>
              <a:t>A</a:t>
            </a:r>
            <a:r>
              <a:rPr lang="zh-CN" altLang="zh-CN" sz="3000" dirty="0"/>
              <a:t>为整体类，类</a:t>
            </a:r>
            <a:r>
              <a:rPr lang="en-US" altLang="zh-CN" sz="3000" dirty="0"/>
              <a:t>B</a:t>
            </a:r>
            <a:r>
              <a:rPr lang="zh-CN" altLang="zh-CN" sz="3000" dirty="0"/>
              <a:t>为局部类，类</a:t>
            </a:r>
            <a:r>
              <a:rPr lang="en-US" altLang="zh-CN" sz="3000" dirty="0"/>
              <a:t>A</a:t>
            </a:r>
            <a:r>
              <a:rPr lang="zh-CN" altLang="zh-CN" sz="3000" dirty="0"/>
              <a:t>的对象由类</a:t>
            </a:r>
            <a:r>
              <a:rPr lang="en-US" altLang="zh-CN" sz="3000" dirty="0"/>
              <a:t>B</a:t>
            </a:r>
            <a:r>
              <a:rPr lang="zh-CN" altLang="zh-CN" sz="3000" dirty="0"/>
              <a:t>的对象组合而成。</a:t>
            </a:r>
          </a:p>
          <a:p>
            <a:pPr lvl="1"/>
            <a:r>
              <a:rPr lang="zh-CN" altLang="zh-CN" sz="3000" dirty="0"/>
              <a:t>泛化：类</a:t>
            </a:r>
            <a:r>
              <a:rPr lang="en-US" altLang="zh-CN" sz="3000" dirty="0"/>
              <a:t>A</a:t>
            </a:r>
            <a:r>
              <a:rPr lang="zh-CN" altLang="zh-CN" sz="3000" dirty="0"/>
              <a:t>继承类</a:t>
            </a:r>
            <a:r>
              <a:rPr lang="en-US" altLang="zh-CN" sz="3000" dirty="0"/>
              <a:t>B</a:t>
            </a:r>
            <a:r>
              <a:rPr lang="zh-CN" altLang="zh-CN" sz="3000" dirty="0"/>
              <a:t>。</a:t>
            </a:r>
          </a:p>
          <a:p>
            <a:pPr lvl="1"/>
            <a:r>
              <a:rPr lang="zh-CN" altLang="zh-CN" sz="3000" dirty="0"/>
              <a:t>实现：类</a:t>
            </a:r>
            <a:r>
              <a:rPr lang="en-US" altLang="zh-CN" sz="3000" dirty="0"/>
              <a:t>A</a:t>
            </a:r>
            <a:r>
              <a:rPr lang="zh-CN" altLang="zh-CN" sz="3000" dirty="0"/>
              <a:t>实现了</a:t>
            </a:r>
            <a:r>
              <a:rPr lang="en-US" altLang="zh-CN" sz="3000" dirty="0"/>
              <a:t>B</a:t>
            </a:r>
            <a:r>
              <a:rPr lang="zh-CN" altLang="zh-CN" sz="3000" dirty="0"/>
              <a:t>接口。</a:t>
            </a:r>
          </a:p>
        </p:txBody>
      </p:sp>
      <p:sp>
        <p:nvSpPr>
          <p:cNvPr id="4198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3769770694"/>
      </p:ext>
    </p:extLst>
  </p:cSld>
  <p:clrMapOvr>
    <a:masterClrMapping/>
  </p:clrMapOvr>
  <p:transition spd="med">
    <p:pull dir="ru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>
                <a:latin typeface="楷体" panose="02010609060101010101" pitchFamily="49" charset="-122"/>
              </a:rPr>
              <a:t>关联指的是类之间的特定对应关系，在</a:t>
            </a:r>
            <a:r>
              <a:rPr lang="en-US" altLang="zh-CN" sz="2800" dirty="0">
                <a:latin typeface="楷体" panose="02010609060101010101" pitchFamily="49" charset="-122"/>
              </a:rPr>
              <a:t>UML</a:t>
            </a:r>
            <a:r>
              <a:rPr lang="zh-CN" altLang="zh-CN" sz="2800" dirty="0">
                <a:latin typeface="楷体" panose="02010609060101010101" pitchFamily="49" charset="-122"/>
              </a:rPr>
              <a:t>中用带实线的箭头表示。</a:t>
            </a:r>
            <a:endParaRPr lang="en-US" altLang="zh-CN" sz="2800" dirty="0">
              <a:latin typeface="楷体" panose="02010609060101010101" pitchFamily="49" charset="-122"/>
            </a:endParaRPr>
          </a:p>
          <a:p>
            <a:r>
              <a:rPr lang="zh-CN" altLang="zh-CN" sz="2800" dirty="0">
                <a:latin typeface="楷体" panose="02010609060101010101" pitchFamily="49" charset="-122"/>
              </a:rPr>
              <a:t>按照类之间的数量对比，关联可分为以下三种：</a:t>
            </a:r>
          </a:p>
          <a:p>
            <a:pPr lvl="1"/>
            <a:r>
              <a:rPr lang="zh-CN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</a:rPr>
              <a:t>一对一关联</a:t>
            </a:r>
            <a:r>
              <a:rPr lang="zh-CN" altLang="zh-CN" dirty="0">
                <a:latin typeface="楷体" panose="02010609060101010101" pitchFamily="49" charset="-122"/>
              </a:rPr>
              <a:t>：例如假定一个家庭教师只教一个学生，一个学生只有一个家庭教师，那么家庭教师和学生之间是一对一关联。</a:t>
            </a:r>
          </a:p>
          <a:p>
            <a:pPr lvl="1"/>
            <a:r>
              <a:rPr lang="zh-CN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</a:rPr>
              <a:t>一对多关联</a:t>
            </a:r>
            <a:r>
              <a:rPr lang="zh-CN" altLang="zh-CN" dirty="0">
                <a:latin typeface="楷体" panose="02010609060101010101" pitchFamily="49" charset="-122"/>
              </a:rPr>
              <a:t>：例如假定一个足球队员只能加入一个球队，一个球队可以包含多个队员，那么球队和队员之间是一对多关联。</a:t>
            </a:r>
          </a:p>
          <a:p>
            <a:pPr lvl="1"/>
            <a:r>
              <a:rPr lang="zh-CN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</a:rPr>
              <a:t>多对多关联</a:t>
            </a:r>
            <a:r>
              <a:rPr lang="zh-CN" altLang="zh-CN" dirty="0">
                <a:latin typeface="楷体" panose="02010609060101010101" pitchFamily="49" charset="-122"/>
              </a:rPr>
              <a:t>：例如假定一个足球队员可以加入多个球队，一个球队可以包含多个队员，那么球队和队员之间是多对多关联。</a:t>
            </a:r>
          </a:p>
        </p:txBody>
      </p:sp>
      <p:sp>
        <p:nvSpPr>
          <p:cNvPr id="4301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关联关系</a:t>
            </a:r>
            <a:r>
              <a:rPr lang="en-US" altLang="zh-CN"/>
              <a:t>(Association)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331425"/>
      </p:ext>
    </p:extLst>
  </p:cSld>
  <p:clrMapOvr>
    <a:masterClrMapping/>
  </p:clrMapOvr>
  <p:transition spd="med">
    <p:pull dir="r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客户和订单的关联关系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80727"/>
            <a:ext cx="7776864" cy="507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9744609"/>
      </p:ext>
    </p:extLst>
  </p:cSld>
  <p:clrMapOvr>
    <a:masterClrMapping/>
  </p:clrMapOvr>
  <p:transition spd="med">
    <p:pull dir="ru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2"/>
          <p:cNvSpPr>
            <a:spLocks noGrp="1"/>
          </p:cNvSpPr>
          <p:nvPr>
            <p:ph idx="1"/>
          </p:nvPr>
        </p:nvSpPr>
        <p:spPr>
          <a:xfrm>
            <a:off x="539552" y="836712"/>
            <a:ext cx="8229600" cy="5472608"/>
          </a:xfrm>
          <a:ln>
            <a:solidFill>
              <a:srgbClr val="C00000"/>
            </a:solidFill>
          </a:ln>
        </p:spPr>
        <p:txBody>
          <a:bodyPr/>
          <a:lstStyle/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public class Customer {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…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/** </a:t>
            </a:r>
            <a:r>
              <a:rPr lang="zh-CN" altLang="zh-CN" sz="2400" dirty="0">
                <a:latin typeface="+mj-lt"/>
              </a:rPr>
              <a:t>所有与</a:t>
            </a:r>
            <a:r>
              <a:rPr lang="en-US" altLang="zh-CN" sz="2400" dirty="0">
                <a:latin typeface="+mj-lt"/>
              </a:rPr>
              <a:t>Customer</a:t>
            </a:r>
            <a:r>
              <a:rPr lang="zh-CN" altLang="zh-CN" sz="2400" dirty="0">
                <a:latin typeface="+mj-lt"/>
              </a:rPr>
              <a:t>对象关联的</a:t>
            </a:r>
            <a:r>
              <a:rPr lang="en-US" altLang="zh-CN" sz="2400" dirty="0">
                <a:latin typeface="+mj-lt"/>
              </a:rPr>
              <a:t>Order</a:t>
            </a:r>
            <a:r>
              <a:rPr lang="zh-CN" altLang="zh-CN" sz="2400" dirty="0">
                <a:latin typeface="+mj-lt"/>
              </a:rPr>
              <a:t>对象</a:t>
            </a:r>
            <a:r>
              <a:rPr lang="en-US" altLang="zh-CN" sz="2400" dirty="0">
                <a:latin typeface="+mj-lt"/>
              </a:rPr>
              <a:t> */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+mj-lt"/>
              </a:rPr>
              <a:t>  private Set&lt;Order&gt; orders=new </a:t>
            </a:r>
            <a:r>
              <a:rPr lang="en-US" altLang="zh-CN" sz="2400" b="1" dirty="0" err="1">
                <a:solidFill>
                  <a:srgbClr val="C00000"/>
                </a:solidFill>
                <a:latin typeface="+mj-lt"/>
              </a:rPr>
              <a:t>HashSet</a:t>
            </a:r>
            <a:r>
              <a:rPr lang="en-US" altLang="zh-CN" sz="2400" b="1" dirty="0">
                <a:solidFill>
                  <a:srgbClr val="C00000"/>
                </a:solidFill>
                <a:latin typeface="+mj-lt"/>
              </a:rPr>
              <a:t>&lt;Order&gt;(); </a:t>
            </a:r>
            <a:endParaRPr lang="zh-CN" altLang="zh-CN" sz="2400" b="1" dirty="0">
              <a:solidFill>
                <a:srgbClr val="C00000"/>
              </a:solidFill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public Set </a:t>
            </a:r>
            <a:r>
              <a:rPr lang="en-US" altLang="zh-CN" sz="2400" dirty="0" err="1">
                <a:latin typeface="+mj-lt"/>
              </a:rPr>
              <a:t>getOrders</a:t>
            </a:r>
            <a:r>
              <a:rPr lang="en-US" altLang="zh-CN" sz="2400" dirty="0">
                <a:latin typeface="+mj-lt"/>
              </a:rPr>
              <a:t>() {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  return orders;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}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 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public void </a:t>
            </a:r>
            <a:r>
              <a:rPr lang="en-US" altLang="zh-CN" sz="2400" dirty="0" err="1">
                <a:latin typeface="+mj-lt"/>
              </a:rPr>
              <a:t>setOrders</a:t>
            </a:r>
            <a:r>
              <a:rPr lang="en-US" altLang="zh-CN" sz="2400" dirty="0">
                <a:latin typeface="+mj-lt"/>
              </a:rPr>
              <a:t>(Set orders) {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  </a:t>
            </a:r>
            <a:r>
              <a:rPr lang="en-US" altLang="zh-CN" sz="2400" dirty="0" err="1">
                <a:latin typeface="+mj-lt"/>
              </a:rPr>
              <a:t>this.orders</a:t>
            </a:r>
            <a:r>
              <a:rPr lang="en-US" altLang="zh-CN" sz="2400" dirty="0">
                <a:latin typeface="+mj-lt"/>
              </a:rPr>
              <a:t> = orders;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}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}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endParaRPr lang="zh-CN" altLang="zh-CN" sz="2400" dirty="0">
              <a:latin typeface="+mj-lt"/>
            </a:endParaRPr>
          </a:p>
        </p:txBody>
      </p:sp>
      <p:sp>
        <p:nvSpPr>
          <p:cNvPr id="4505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Customer</a:t>
            </a:r>
            <a:r>
              <a:rPr lang="zh-CN" altLang="en-US" dirty="0"/>
              <a:t>类关联</a:t>
            </a:r>
            <a:r>
              <a:rPr lang="en-US" altLang="zh-CN" dirty="0"/>
              <a:t>Order</a:t>
            </a:r>
            <a:r>
              <a:rPr lang="zh-CN" altLang="en-US" dirty="0"/>
              <a:t>类</a:t>
            </a:r>
          </a:p>
        </p:txBody>
      </p:sp>
    </p:spTree>
    <p:extLst>
      <p:ext uri="{BB962C8B-B14F-4D97-AF65-F5344CB8AC3E}">
        <p14:creationId xmlns:p14="http://schemas.microsoft.com/office/powerpoint/2010/main" val="3813788981"/>
      </p:ext>
    </p:extLst>
  </p:cSld>
  <p:clrMapOvr>
    <a:masterClrMapping/>
  </p:clrMapOvr>
  <p:transition spd="med">
    <p:pull dir="ru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Order</a:t>
            </a:r>
            <a:r>
              <a:rPr lang="zh-CN" altLang="en-US" dirty="0"/>
              <a:t>类关联</a:t>
            </a:r>
            <a:r>
              <a:rPr lang="en-US" altLang="zh-CN" dirty="0"/>
              <a:t>Customer</a:t>
            </a:r>
            <a:r>
              <a:rPr lang="zh-CN" altLang="en-US" dirty="0"/>
              <a:t>类</a:t>
            </a: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457200" y="908721"/>
            <a:ext cx="8229600" cy="5184575"/>
          </a:xfrm>
          <a:ln>
            <a:solidFill>
              <a:srgbClr val="C00000"/>
            </a:solidFill>
          </a:ln>
        </p:spPr>
        <p:txBody>
          <a:bodyPr/>
          <a:lstStyle/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public class Order {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…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/** </a:t>
            </a:r>
            <a:r>
              <a:rPr lang="zh-CN" altLang="zh-CN" sz="2400" dirty="0">
                <a:latin typeface="+mj-lt"/>
              </a:rPr>
              <a:t>与</a:t>
            </a:r>
            <a:r>
              <a:rPr lang="en-US" altLang="zh-CN" sz="2400" dirty="0">
                <a:latin typeface="+mj-lt"/>
              </a:rPr>
              <a:t>Order</a:t>
            </a:r>
            <a:r>
              <a:rPr lang="zh-CN" altLang="zh-CN" sz="2400" dirty="0">
                <a:latin typeface="+mj-lt"/>
              </a:rPr>
              <a:t>对象关联的</a:t>
            </a:r>
            <a:r>
              <a:rPr lang="en-US" altLang="zh-CN" sz="2400" dirty="0">
                <a:latin typeface="+mj-lt"/>
              </a:rPr>
              <a:t>Customer</a:t>
            </a:r>
            <a:r>
              <a:rPr lang="zh-CN" altLang="zh-CN" sz="2400" dirty="0">
                <a:latin typeface="+mj-lt"/>
              </a:rPr>
              <a:t>对象</a:t>
            </a:r>
            <a:r>
              <a:rPr lang="en-US" altLang="zh-CN" sz="2400" dirty="0">
                <a:latin typeface="+mj-lt"/>
              </a:rPr>
              <a:t> */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+mj-lt"/>
              </a:rPr>
              <a:t>  private Customer </a:t>
            </a:r>
            <a:r>
              <a:rPr lang="en-US" altLang="zh-CN" sz="2400" b="1" dirty="0" err="1">
                <a:solidFill>
                  <a:srgbClr val="C00000"/>
                </a:solidFill>
                <a:latin typeface="+mj-lt"/>
              </a:rPr>
              <a:t>customer</a:t>
            </a:r>
            <a:r>
              <a:rPr lang="en-US" altLang="zh-CN" sz="2400" b="1" dirty="0">
                <a:solidFill>
                  <a:srgbClr val="C00000"/>
                </a:solidFill>
                <a:latin typeface="+mj-lt"/>
              </a:rPr>
              <a:t>;</a:t>
            </a:r>
            <a:endParaRPr lang="zh-CN" altLang="zh-CN" sz="2400" b="1" dirty="0">
              <a:solidFill>
                <a:srgbClr val="C00000"/>
              </a:solidFill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+mj-lt"/>
              </a:rPr>
              <a:t>  public Customer </a:t>
            </a:r>
            <a:r>
              <a:rPr lang="en-US" altLang="zh-CN" sz="2400" b="1" dirty="0" err="1">
                <a:solidFill>
                  <a:srgbClr val="C00000"/>
                </a:solidFill>
                <a:latin typeface="+mj-lt"/>
              </a:rPr>
              <a:t>getCustomer</a:t>
            </a:r>
            <a:r>
              <a:rPr lang="en-US" altLang="zh-CN" sz="2400" b="1" dirty="0">
                <a:solidFill>
                  <a:srgbClr val="C00000"/>
                </a:solidFill>
                <a:latin typeface="+mj-lt"/>
              </a:rPr>
              <a:t>() {</a:t>
            </a:r>
            <a:endParaRPr lang="zh-CN" altLang="zh-CN" sz="2400" b="1" dirty="0">
              <a:solidFill>
                <a:srgbClr val="C00000"/>
              </a:solidFill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+mj-lt"/>
              </a:rPr>
              <a:t>    return </a:t>
            </a:r>
            <a:r>
              <a:rPr lang="en-US" altLang="zh-CN" sz="2400" b="1" dirty="0" err="1">
                <a:solidFill>
                  <a:srgbClr val="C00000"/>
                </a:solidFill>
                <a:latin typeface="+mj-lt"/>
              </a:rPr>
              <a:t>this.customer</a:t>
            </a:r>
            <a:r>
              <a:rPr lang="en-US" altLang="zh-CN" sz="2400" b="1" dirty="0">
                <a:solidFill>
                  <a:srgbClr val="C00000"/>
                </a:solidFill>
                <a:latin typeface="+mj-lt"/>
              </a:rPr>
              <a:t>;</a:t>
            </a:r>
            <a:endParaRPr lang="zh-CN" altLang="zh-CN" sz="2400" b="1" dirty="0">
              <a:solidFill>
                <a:srgbClr val="C00000"/>
              </a:solidFill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}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public void </a:t>
            </a:r>
            <a:r>
              <a:rPr lang="en-US" altLang="zh-CN" sz="2400" dirty="0" err="1">
                <a:latin typeface="+mj-lt"/>
              </a:rPr>
              <a:t>setCustomer</a:t>
            </a:r>
            <a:r>
              <a:rPr lang="en-US" altLang="zh-CN" sz="2400" dirty="0">
                <a:latin typeface="+mj-lt"/>
              </a:rPr>
              <a:t>(Customer customer) {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  </a:t>
            </a:r>
            <a:r>
              <a:rPr lang="en-US" altLang="zh-CN" sz="2400" dirty="0" err="1">
                <a:latin typeface="+mj-lt"/>
              </a:rPr>
              <a:t>this.customer</a:t>
            </a:r>
            <a:r>
              <a:rPr lang="en-US" altLang="zh-CN" sz="2400" dirty="0">
                <a:latin typeface="+mj-lt"/>
              </a:rPr>
              <a:t> = customer;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  }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r>
              <a:rPr lang="en-US" altLang="zh-CN" sz="2400" dirty="0">
                <a:latin typeface="+mj-lt"/>
              </a:rPr>
              <a:t>}</a:t>
            </a:r>
            <a:endParaRPr lang="zh-CN" altLang="zh-CN" sz="2400" dirty="0">
              <a:latin typeface="+mj-lt"/>
            </a:endParaRPr>
          </a:p>
          <a:p>
            <a:pPr marL="0" indent="0">
              <a:buFont typeface="Wingdings 2" pitchFamily="18" charset="2"/>
              <a:buNone/>
            </a:pPr>
            <a:endParaRPr lang="zh-CN" altLang="en-US" sz="2400" dirty="0">
              <a:solidFill>
                <a:srgbClr val="0070C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2886843"/>
      </p:ext>
    </p:extLst>
  </p:cSld>
  <p:clrMapOvr>
    <a:masterClrMapping/>
  </p:clrMapOvr>
  <p:transition spd="med">
    <p:pull dir="ru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依赖关系</a:t>
            </a:r>
            <a:r>
              <a:rPr lang="en-US" altLang="zh-CN"/>
              <a:t>(Dependency)</a:t>
            </a:r>
            <a:endParaRPr lang="zh-CN" altLang="en-US"/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>
          <a:xfrm>
            <a:off x="450850" y="831850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800" dirty="0">
                <a:latin typeface="楷体" panose="02010609060101010101" pitchFamily="49" charset="-122"/>
              </a:rPr>
              <a:t>依赖指的是类之间的调用关系，在</a:t>
            </a:r>
            <a:r>
              <a:rPr lang="en-US" altLang="zh-CN" sz="2800" dirty="0">
                <a:latin typeface="楷体" panose="02010609060101010101" pitchFamily="49" charset="-122"/>
              </a:rPr>
              <a:t>UML</a:t>
            </a:r>
            <a:r>
              <a:rPr lang="zh-CN" altLang="zh-CN" sz="2800" dirty="0">
                <a:latin typeface="楷体" panose="02010609060101010101" pitchFamily="49" charset="-122"/>
              </a:rPr>
              <a:t>中用带虚线的箭头表示。如果类</a:t>
            </a:r>
            <a:r>
              <a:rPr lang="en-US" altLang="zh-CN" sz="2800" dirty="0">
                <a:latin typeface="楷体" panose="02010609060101010101" pitchFamily="49" charset="-122"/>
              </a:rPr>
              <a:t>A</a:t>
            </a:r>
            <a:r>
              <a:rPr lang="zh-CN" altLang="zh-CN" sz="2800" dirty="0">
                <a:latin typeface="楷体" panose="02010609060101010101" pitchFamily="49" charset="-122"/>
              </a:rPr>
              <a:t>访问类</a:t>
            </a:r>
            <a:r>
              <a:rPr lang="en-US" altLang="zh-CN" sz="2800" dirty="0">
                <a:latin typeface="楷体" panose="02010609060101010101" pitchFamily="49" charset="-122"/>
              </a:rPr>
              <a:t>B</a:t>
            </a:r>
            <a:r>
              <a:rPr lang="zh-CN" altLang="zh-CN" sz="2800" dirty="0">
                <a:latin typeface="楷体" panose="02010609060101010101" pitchFamily="49" charset="-122"/>
              </a:rPr>
              <a:t>的属性或方法，或者类</a:t>
            </a:r>
            <a:r>
              <a:rPr lang="en-US" altLang="zh-CN" sz="2800" dirty="0">
                <a:latin typeface="楷体" panose="02010609060101010101" pitchFamily="49" charset="-122"/>
              </a:rPr>
              <a:t>A</a:t>
            </a:r>
            <a:r>
              <a:rPr lang="zh-CN" altLang="zh-CN" sz="2800" dirty="0">
                <a:latin typeface="楷体" panose="02010609060101010101" pitchFamily="49" charset="-122"/>
              </a:rPr>
              <a:t>负责实例化类</a:t>
            </a:r>
            <a:r>
              <a:rPr lang="en-US" altLang="zh-CN" sz="2800" dirty="0">
                <a:latin typeface="楷体" panose="02010609060101010101" pitchFamily="49" charset="-122"/>
              </a:rPr>
              <a:t>B</a:t>
            </a:r>
            <a:r>
              <a:rPr lang="zh-CN" altLang="zh-CN" sz="2800" dirty="0">
                <a:latin typeface="楷体" panose="02010609060101010101" pitchFamily="49" charset="-122"/>
              </a:rPr>
              <a:t>，那么可以说类</a:t>
            </a:r>
            <a:r>
              <a:rPr lang="en-US" altLang="zh-CN" sz="2800" dirty="0">
                <a:latin typeface="楷体" panose="02010609060101010101" pitchFamily="49" charset="-122"/>
              </a:rPr>
              <a:t>A</a:t>
            </a:r>
            <a:r>
              <a:rPr lang="zh-CN" altLang="zh-CN" sz="2800" dirty="0">
                <a:latin typeface="楷体" panose="02010609060101010101" pitchFamily="49" charset="-122"/>
              </a:rPr>
              <a:t>依赖类</a:t>
            </a:r>
            <a:r>
              <a:rPr lang="en-US" altLang="zh-CN" sz="2800" dirty="0">
                <a:latin typeface="楷体" panose="02010609060101010101" pitchFamily="49" charset="-122"/>
              </a:rPr>
              <a:t>B</a:t>
            </a:r>
            <a:r>
              <a:rPr lang="zh-CN" altLang="zh-CN" sz="2800" dirty="0">
                <a:latin typeface="楷体" panose="02010609060101010101" pitchFamily="49" charset="-122"/>
              </a:rPr>
              <a:t>。</a:t>
            </a:r>
            <a:endParaRPr lang="en-US" altLang="zh-CN" sz="2800" dirty="0">
              <a:latin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</a:rPr>
              <a:t>例如：把大象装进冰箱</a:t>
            </a:r>
            <a:endParaRPr lang="en-US" altLang="zh-CN" sz="2400" dirty="0">
              <a:latin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</a:rPr>
              <a:t>例如：在面板中绘图</a:t>
            </a:r>
            <a:endParaRPr lang="zh-CN" altLang="zh-CN" sz="2400" dirty="0">
              <a:latin typeface="楷体" panose="02010609060101010101" pitchFamily="49" charset="-122"/>
            </a:endParaRP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077072"/>
            <a:ext cx="7045325" cy="178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9374767"/>
      </p:ext>
    </p:extLst>
  </p:cSld>
  <p:clrMapOvr>
    <a:masterClrMapping/>
  </p:clrMapOvr>
  <p:transition spd="med">
    <p:pull dir="ru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问题域：</a:t>
            </a:r>
            <a:endParaRPr lang="en-US" altLang="zh-CN" dirty="0"/>
          </a:p>
          <a:p>
            <a:pPr lvl="1"/>
            <a:r>
              <a:rPr lang="zh-CN" altLang="en-US" dirty="0"/>
              <a:t>狗逮耗子</a:t>
            </a:r>
            <a:endParaRPr lang="en-US" altLang="zh-CN" dirty="0"/>
          </a:p>
          <a:p>
            <a:pPr lvl="2"/>
            <a:r>
              <a:rPr lang="en-US" altLang="zh-CN" dirty="0"/>
              <a:t>Mouse</a:t>
            </a:r>
            <a:r>
              <a:rPr lang="zh-CN" altLang="en-US" dirty="0"/>
              <a:t>类</a:t>
            </a:r>
            <a:endParaRPr lang="en-US" altLang="zh-CN" dirty="0"/>
          </a:p>
          <a:p>
            <a:pPr lvl="2"/>
            <a:r>
              <a:rPr lang="en-US" altLang="zh-CN" dirty="0"/>
              <a:t>Dog</a:t>
            </a:r>
            <a:r>
              <a:rPr lang="zh-CN" altLang="en-US" dirty="0"/>
              <a:t>类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案例分析：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3150397"/>
      </p:ext>
    </p:extLst>
  </p:cSld>
  <p:clrMapOvr>
    <a:masterClrMapping/>
  </p:clrMapOvr>
  <p:transition spd="med">
    <p:pull dir="ru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代码分析（</a:t>
            </a:r>
            <a:r>
              <a:rPr lang="en-US" altLang="zh-CN" dirty="0"/>
              <a:t>Mouse</a:t>
            </a:r>
            <a:r>
              <a:rPr lang="zh-CN" altLang="en-US" dirty="0"/>
              <a:t>类）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872325"/>
            <a:ext cx="7488832" cy="540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374037"/>
      </p:ext>
    </p:extLst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代码分析（</a:t>
            </a:r>
            <a:r>
              <a:rPr lang="en-US" altLang="zh-CN" dirty="0"/>
              <a:t>Dog</a:t>
            </a:r>
            <a:r>
              <a:rPr lang="zh-CN" altLang="en-US" dirty="0"/>
              <a:t>类）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2"/>
            <a:ext cx="8568952" cy="55384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98415"/>
      </p:ext>
    </p:extLst>
  </p:cSld>
  <p:clrMapOvr>
    <a:masterClrMapping/>
  </p:clrMapOvr>
  <p:transition spd="med">
    <p:pull dir="ru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 dirty="0"/>
              <a:t>聚集指的是整体与部分之间的关系，在</a:t>
            </a:r>
            <a:r>
              <a:rPr lang="en-US" altLang="zh-CN" dirty="0"/>
              <a:t>UML</a:t>
            </a:r>
            <a:r>
              <a:rPr lang="zh-CN" altLang="zh-CN" dirty="0"/>
              <a:t>中用带实线的菱形箭头表示。</a:t>
            </a:r>
            <a:endParaRPr lang="en-US" altLang="zh-CN" dirty="0"/>
          </a:p>
          <a:p>
            <a:pPr>
              <a:defRPr/>
            </a:pPr>
            <a:r>
              <a:rPr lang="zh-CN" altLang="zh-CN" dirty="0"/>
              <a:t>例如</a:t>
            </a:r>
            <a:r>
              <a:rPr lang="zh-CN" altLang="en-US" dirty="0"/>
              <a:t>：</a:t>
            </a:r>
            <a:r>
              <a:rPr lang="zh-CN" altLang="zh-CN" dirty="0"/>
              <a:t>台灯和灯泡之间就是聚集关系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聚集</a:t>
            </a:r>
            <a:r>
              <a:rPr lang="zh-CN" altLang="en-US" dirty="0"/>
              <a:t>关系</a:t>
            </a:r>
            <a:r>
              <a:rPr lang="en-US" altLang="zh-CN" dirty="0"/>
              <a:t>(Aggregation)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867" y="3266895"/>
            <a:ext cx="4243597" cy="1794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99002" y="3122879"/>
            <a:ext cx="3886000" cy="19389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400" dirty="0">
                <a:latin typeface="+mj-lt"/>
                <a:ea typeface="楷体" panose="02010609060101010101" pitchFamily="49" charset="-122"/>
              </a:rPr>
              <a:t>public class </a:t>
            </a:r>
            <a:r>
              <a:rPr lang="en-US" altLang="zh-CN" sz="2400" dirty="0" err="1">
                <a:latin typeface="+mj-lt"/>
                <a:ea typeface="楷体" panose="02010609060101010101" pitchFamily="49" charset="-122"/>
              </a:rPr>
              <a:t>ReadingLamp</a:t>
            </a:r>
            <a:r>
              <a:rPr lang="en-US" altLang="zh-CN" sz="2400" dirty="0">
                <a:latin typeface="+mj-lt"/>
                <a:ea typeface="楷体" panose="02010609060101010101" pitchFamily="49" charset="-122"/>
              </a:rPr>
              <a:t>{</a:t>
            </a:r>
            <a:endParaRPr lang="zh-CN" altLang="zh-CN" sz="2400" dirty="0">
              <a:latin typeface="+mj-lt"/>
              <a:ea typeface="楷体" panose="02010609060101010101" pitchFamily="49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+mj-lt"/>
                <a:ea typeface="楷体" panose="02010609060101010101" pitchFamily="49" charset="-122"/>
              </a:rPr>
              <a:t>  private Bulb </a:t>
            </a:r>
            <a:r>
              <a:rPr lang="en-US" altLang="zh-CN" sz="2400" b="1" dirty="0" err="1">
                <a:solidFill>
                  <a:srgbClr val="C00000"/>
                </a:solidFill>
                <a:latin typeface="+mj-lt"/>
                <a:ea typeface="楷体" panose="02010609060101010101" pitchFamily="49" charset="-122"/>
              </a:rPr>
              <a:t>bulb</a:t>
            </a:r>
            <a:r>
              <a:rPr lang="en-US" altLang="zh-CN" sz="2400" b="1" dirty="0">
                <a:solidFill>
                  <a:srgbClr val="C00000"/>
                </a:solidFill>
                <a:latin typeface="+mj-lt"/>
                <a:ea typeface="楷体" panose="02010609060101010101" pitchFamily="49" charset="-122"/>
              </a:rPr>
              <a:t>;</a:t>
            </a:r>
            <a:endParaRPr lang="zh-CN" altLang="zh-CN" sz="2400" b="1" dirty="0">
              <a:solidFill>
                <a:srgbClr val="C00000"/>
              </a:solidFill>
              <a:latin typeface="+mj-lt"/>
              <a:ea typeface="楷体" panose="02010609060101010101" pitchFamily="49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+mj-lt"/>
                <a:ea typeface="楷体" panose="02010609060101010101" pitchFamily="49" charset="-122"/>
              </a:rPr>
              <a:t>  private Circuit </a:t>
            </a:r>
            <a:r>
              <a:rPr lang="en-US" altLang="zh-CN" sz="2400" b="1" dirty="0" err="1">
                <a:solidFill>
                  <a:srgbClr val="C00000"/>
                </a:solidFill>
                <a:latin typeface="+mj-lt"/>
                <a:ea typeface="楷体" panose="02010609060101010101" pitchFamily="49" charset="-122"/>
              </a:rPr>
              <a:t>circuit</a:t>
            </a:r>
            <a:r>
              <a:rPr lang="en-US" altLang="zh-CN" sz="2400" b="1" dirty="0">
                <a:solidFill>
                  <a:srgbClr val="C00000"/>
                </a:solidFill>
                <a:latin typeface="+mj-lt"/>
                <a:ea typeface="楷体" panose="02010609060101010101" pitchFamily="49" charset="-122"/>
              </a:rPr>
              <a:t>;</a:t>
            </a:r>
            <a:endParaRPr lang="zh-CN" altLang="zh-CN" sz="2400" b="1" dirty="0">
              <a:solidFill>
                <a:srgbClr val="C00000"/>
              </a:solidFill>
              <a:latin typeface="+mj-lt"/>
              <a:ea typeface="楷体" panose="02010609060101010101" pitchFamily="49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400" dirty="0">
                <a:latin typeface="+mj-lt"/>
                <a:ea typeface="楷体" panose="02010609060101010101" pitchFamily="49" charset="-122"/>
              </a:rPr>
              <a:t>  …</a:t>
            </a:r>
            <a:endParaRPr lang="zh-CN" altLang="zh-CN" sz="2400" dirty="0">
              <a:latin typeface="+mj-lt"/>
              <a:ea typeface="楷体" panose="02010609060101010101" pitchFamily="49" charset="-122"/>
            </a:endParaRPr>
          </a:p>
          <a:p>
            <a:pPr marL="0" indent="0">
              <a:buFont typeface="Wingdings 2" pitchFamily="18" charset="2"/>
              <a:buNone/>
              <a:defRPr/>
            </a:pPr>
            <a:r>
              <a:rPr lang="en-US" altLang="zh-CN" sz="2400" dirty="0">
                <a:latin typeface="+mj-lt"/>
                <a:ea typeface="楷体" panose="02010609060101010101" pitchFamily="49" charset="-122"/>
              </a:rPr>
              <a:t>}</a:t>
            </a:r>
            <a:endParaRPr lang="zh-CN" altLang="zh-CN" sz="2400" dirty="0">
              <a:latin typeface="+mj-lt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4462400"/>
      </p:ext>
    </p:extLst>
  </p:cSld>
  <p:clrMapOvr>
    <a:masterClrMapping/>
  </p:clrMapOvr>
  <p:transition spd="med">
    <p:pull dir="ru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组合是一种用多个简单子系统来组装出复杂系统的有效手段。</a:t>
            </a:r>
            <a:endParaRPr lang="en-US" altLang="zh-CN" dirty="0">
              <a:solidFill>
                <a:schemeClr val="hlink"/>
              </a:solidFill>
            </a:endParaRPr>
          </a:p>
          <a:p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组合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B43D99-7B20-4072-B4F0-963A41F81435}" type="datetime1">
              <a:rPr lang="zh-CN" altLang="en-US" smtClean="0"/>
              <a:t>2025/9/18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 dirty="0">
              <a:ea typeface="楷体" panose="02010609060101010101" pitchFamily="49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04AD9-7DC5-4C25-BE55-9EDE18915E6C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132856"/>
            <a:ext cx="7776863" cy="30963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5621264"/>
      </p:ext>
    </p:extLst>
  </p:cSld>
  <p:clrMapOvr>
    <a:masterClrMapping/>
  </p:clrMapOvr>
  <p:transition spd="med">
    <p:pull dir="ru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/>
              <a:t>泛化</a:t>
            </a:r>
            <a:r>
              <a:rPr lang="zh-CN" altLang="en-US" b="1"/>
              <a:t>关系</a:t>
            </a:r>
            <a:r>
              <a:rPr lang="en-US" altLang="zh-CN" b="1"/>
              <a:t>(Generalization)</a:t>
            </a:r>
            <a:endParaRPr lang="zh-CN" altLang="zh-CN" b="1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/>
              <a:t>泛化指的是类之间的继承关系</a:t>
            </a:r>
            <a:endParaRPr lang="zh-CN" altLang="en-US"/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1824582"/>
            <a:ext cx="6553997" cy="3116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1996873"/>
      </p:ext>
    </p:extLst>
  </p:cSld>
  <p:clrMapOvr>
    <a:masterClrMapping/>
  </p:clrMapOvr>
  <p:transition spd="med">
    <p:pull dir="ru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实现</a:t>
            </a:r>
            <a:r>
              <a:rPr lang="zh-CN" altLang="en-US"/>
              <a:t>关系</a:t>
            </a:r>
            <a:r>
              <a:rPr lang="en-US" altLang="zh-CN"/>
              <a:t>(Realization)</a:t>
            </a:r>
            <a:endParaRPr lang="zh-CN" altLang="en-US"/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800" dirty="0">
                <a:latin typeface="楷体" panose="02010609060101010101" pitchFamily="49" charset="-122"/>
              </a:rPr>
              <a:t>实现指的是类与接口之间的关系</a:t>
            </a:r>
            <a:r>
              <a:rPr lang="zh-CN" altLang="en-US" sz="2800" dirty="0">
                <a:latin typeface="楷体" panose="02010609060101010101" pitchFamily="49" charset="-122"/>
              </a:rPr>
              <a:t>。</a:t>
            </a:r>
            <a:endParaRPr lang="en-US" altLang="zh-CN" sz="2800" dirty="0">
              <a:latin typeface="楷体" panose="02010609060101010101" pitchFamily="49" charset="-122"/>
            </a:endParaRPr>
          </a:p>
          <a:p>
            <a:r>
              <a:rPr lang="zh-CN" altLang="zh-CN" sz="2800" dirty="0">
                <a:latin typeface="楷体" panose="02010609060101010101" pitchFamily="49" charset="-122"/>
              </a:rPr>
              <a:t>在</a:t>
            </a:r>
            <a:r>
              <a:rPr lang="en-US" altLang="zh-CN" sz="2800" dirty="0">
                <a:latin typeface="楷体" panose="02010609060101010101" pitchFamily="49" charset="-122"/>
              </a:rPr>
              <a:t>UML</a:t>
            </a:r>
            <a:r>
              <a:rPr lang="zh-CN" altLang="zh-CN" sz="2800" dirty="0">
                <a:latin typeface="楷体" panose="02010609060101010101" pitchFamily="49" charset="-122"/>
              </a:rPr>
              <a:t>中用带虚线的三角形箭头表示，这里的接口指的是接口类型，接口名字用斜体字表示，接口中的方法都是抽象方法，也采用斜体字表示。 </a:t>
            </a:r>
            <a:endParaRPr lang="en-US" altLang="zh-CN" sz="2800" dirty="0">
              <a:latin typeface="楷体" panose="02010609060101010101" pitchFamily="49" charset="-122"/>
            </a:endParaRPr>
          </a:p>
          <a:p>
            <a:endParaRPr lang="zh-CN" altLang="en-US" sz="2000" dirty="0"/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866" y="2924944"/>
            <a:ext cx="3972326" cy="3789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4607239"/>
      </p:ext>
    </p:extLst>
  </p:cSld>
  <p:clrMapOvr>
    <a:masterClrMapping/>
  </p:clrMapOvr>
  <p:transition spd="med">
    <p:pull dir="ru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6">
            <a:extLst>
              <a:ext uri="{FF2B5EF4-FFF2-40B4-BE49-F238E27FC236}">
                <a16:creationId xmlns:a16="http://schemas.microsoft.com/office/drawing/2014/main" id="{DAD0568E-3CB0-3D4E-976E-B8F9A51508F6}"/>
              </a:ext>
            </a:extLst>
          </p:cNvPr>
          <p:cNvSpPr txBox="1"/>
          <p:nvPr/>
        </p:nvSpPr>
        <p:spPr>
          <a:xfrm>
            <a:off x="0" y="6457890"/>
            <a:ext cx="352839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94D9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报隶-简" panose="02010600040101010101" charset="-122"/>
                <a:ea typeface="报隶-简" panose="02010600040101010101" charset="-122"/>
                <a:cs typeface="报隶-简" panose="02010600040101010101" charset="-122"/>
              </a:rPr>
              <a:t>德才兼备  知行合一</a:t>
            </a:r>
          </a:p>
        </p:txBody>
      </p:sp>
      <p:pic>
        <p:nvPicPr>
          <p:cNvPr id="4" name="Picture 3" descr="立臺灣大學國際事務處暑期課程">
            <a:extLst>
              <a:ext uri="{FF2B5EF4-FFF2-40B4-BE49-F238E27FC236}">
                <a16:creationId xmlns:a16="http://schemas.microsoft.com/office/drawing/2014/main" id="{9E4A6C4E-E009-6B47-BBCC-A57ADA1472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81" t="-9462" r="-2" b="-4302"/>
          <a:stretch/>
        </p:blipFill>
        <p:spPr bwMode="auto">
          <a:xfrm>
            <a:off x="6478216" y="6269307"/>
            <a:ext cx="2664667" cy="57544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9B07ED-87D1-8B4E-9E2E-253C029FD5CE}"/>
              </a:ext>
            </a:extLst>
          </p:cNvPr>
          <p:cNvSpPr txBox="1"/>
          <p:nvPr/>
        </p:nvSpPr>
        <p:spPr>
          <a:xfrm>
            <a:off x="4843693" y="3429230"/>
            <a:ext cx="4112023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+mj-lt"/>
                <a:ea typeface="Zapfino" charset="0"/>
                <a:cs typeface="Zapfino" charset="0"/>
              </a:rPr>
              <a:t>高 祥</a:t>
            </a:r>
            <a:endParaRPr lang="en-US" altLang="zh-CN" sz="2800" b="1" dirty="0">
              <a:latin typeface="+mj-lt"/>
              <a:ea typeface="Zapfino" charset="0"/>
              <a:cs typeface="Zapfino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Email:</a:t>
            </a:r>
            <a:r>
              <a:rPr lang="zh-CN" altLang="en-US" sz="2400" dirty="0"/>
              <a:t> </a:t>
            </a:r>
            <a:r>
              <a:rPr lang="en-US" altLang="zh-CN" sz="2400" dirty="0"/>
              <a:t>xiang_gao@</a:t>
            </a:r>
            <a:r>
              <a:rPr lang="en-US" altLang="zh-CN" sz="2400" dirty="0" smtClean="0"/>
              <a:t>buaa.edu.cn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办公室</a:t>
            </a:r>
            <a:r>
              <a:rPr lang="zh-CN" altLang="en-US" sz="2400" dirty="0" smtClean="0"/>
              <a:t>：新主楼</a:t>
            </a:r>
            <a:r>
              <a:rPr lang="en-US" altLang="zh-CN" sz="2400" dirty="0" smtClean="0"/>
              <a:t>C808</a:t>
            </a:r>
            <a:endParaRPr lang="en-US" sz="24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FFD051-BCCE-D846-93A3-5AF9EC534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181" y="1998186"/>
            <a:ext cx="4432070" cy="828328"/>
          </a:xfrm>
        </p:spPr>
        <p:txBody>
          <a:bodyPr/>
          <a:lstStyle/>
          <a:p>
            <a:r>
              <a:rPr kumimoji="1" lang="zh-CN" altLang="en-US" dirty="0"/>
              <a:t>谢谢大家！</a:t>
            </a:r>
          </a:p>
        </p:txBody>
      </p:sp>
      <p:pic>
        <p:nvPicPr>
          <p:cNvPr id="1026" name="Picture 2" descr="Pin p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612" y="352561"/>
            <a:ext cx="5699628" cy="299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 descr="新主楼1"/>
          <p:cNvPicPr>
            <a:picLocks noChangeAspect="1"/>
          </p:cNvPicPr>
          <p:nvPr/>
        </p:nvPicPr>
        <p:blipFill>
          <a:blip r:embed="rId5" cstate="print"/>
          <a:srcRect l="13745" r="33476" b="145"/>
          <a:stretch>
            <a:fillRect/>
          </a:stretch>
        </p:blipFill>
        <p:spPr>
          <a:xfrm>
            <a:off x="0" y="0"/>
            <a:ext cx="3131840" cy="6223522"/>
          </a:xfrm>
          <a:prstGeom prst="snip2DiagRect">
            <a:avLst/>
          </a:prstGeom>
        </p:spPr>
      </p:pic>
    </p:spTree>
    <p:extLst>
      <p:ext uri="{BB962C8B-B14F-4D97-AF65-F5344CB8AC3E}">
        <p14:creationId xmlns:p14="http://schemas.microsoft.com/office/powerpoint/2010/main" val="67017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使用已经存在的类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使用已经存在的类</Template>
  <TotalTime>2515</TotalTime>
  <Words>6466</Words>
  <Application>Microsoft Office PowerPoint</Application>
  <PresentationFormat>全屏显示(4:3)</PresentationFormat>
  <Paragraphs>793</Paragraphs>
  <Slides>86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86</vt:i4>
      </vt:variant>
    </vt:vector>
  </HeadingPairs>
  <TitlesOfParts>
    <vt:vector size="103" baseType="lpstr">
      <vt:lpstr>Arial Unicode MS</vt:lpstr>
      <vt:lpstr>Microsoft JhengHei</vt:lpstr>
      <vt:lpstr>Zapfino</vt:lpstr>
      <vt:lpstr>宋体</vt:lpstr>
      <vt:lpstr>报隶-简</vt:lpstr>
      <vt:lpstr>楷体</vt:lpstr>
      <vt:lpstr>黑体</vt:lpstr>
      <vt:lpstr>Arial</vt:lpstr>
      <vt:lpstr>Calibri</vt:lpstr>
      <vt:lpstr>Calibri Light</vt:lpstr>
      <vt:lpstr>Courier New</vt:lpstr>
      <vt:lpstr>Symbol</vt:lpstr>
      <vt:lpstr>Tahoma</vt:lpstr>
      <vt:lpstr>Times New Roman</vt:lpstr>
      <vt:lpstr>Wingdings</vt:lpstr>
      <vt:lpstr>Wingdings 2</vt:lpstr>
      <vt:lpstr>使用已经存在的类</vt:lpstr>
      <vt:lpstr>Lession2 认识对象：封装数据为类</vt:lpstr>
      <vt:lpstr>本节主要内容：</vt:lpstr>
      <vt:lpstr>深入理解类</vt:lpstr>
      <vt:lpstr>深入理解对象</vt:lpstr>
      <vt:lpstr>类与对象的关系</vt:lpstr>
      <vt:lpstr>面向对象的思维：（overview）</vt:lpstr>
      <vt:lpstr>1234  1</vt:lpstr>
      <vt:lpstr>1234  2</vt:lpstr>
      <vt:lpstr>1234  3</vt:lpstr>
      <vt:lpstr>1234  4</vt:lpstr>
      <vt:lpstr>案例分析（1）：</vt:lpstr>
      <vt:lpstr>案例分析（2）：</vt:lpstr>
      <vt:lpstr>案例分析（2）</vt:lpstr>
      <vt:lpstr>本节主要内容：</vt:lpstr>
      <vt:lpstr>Java程序的基本结构</vt:lpstr>
      <vt:lpstr>源文件基本语法</vt:lpstr>
      <vt:lpstr>Student.java（一个类放在一个源文件中）</vt:lpstr>
      <vt:lpstr>定义一个类的步骤</vt:lpstr>
      <vt:lpstr>类的定义（[]代表可有可无）</vt:lpstr>
      <vt:lpstr>类的定义说明</vt:lpstr>
      <vt:lpstr>访问控制符</vt:lpstr>
      <vt:lpstr>类的设计原则</vt:lpstr>
      <vt:lpstr>Student.java（多个类放在一个源文件中））</vt:lpstr>
      <vt:lpstr>类的定义-类属性分析</vt:lpstr>
      <vt:lpstr>本节主要内容：</vt:lpstr>
      <vt:lpstr>成员变量</vt:lpstr>
      <vt:lpstr>成员变量的定义（[]代表可有可无）</vt:lpstr>
      <vt:lpstr>访问级别</vt:lpstr>
      <vt:lpstr>成员变量类型</vt:lpstr>
      <vt:lpstr>成员变量类型</vt:lpstr>
      <vt:lpstr>成员变量命名规范</vt:lpstr>
      <vt:lpstr>成员变量的设计原则</vt:lpstr>
      <vt:lpstr>本节主要内容：</vt:lpstr>
      <vt:lpstr>对象的动作：方法</vt:lpstr>
      <vt:lpstr>方法</vt:lpstr>
      <vt:lpstr>类中的方法</vt:lpstr>
      <vt:lpstr>成员方法的定义（[]代表可有可无）</vt:lpstr>
      <vt:lpstr>成员方法命名规范</vt:lpstr>
      <vt:lpstr>成员方法的定义说明</vt:lpstr>
      <vt:lpstr>局部变量和成员变量区别</vt:lpstr>
      <vt:lpstr>局部变量和成员变量区别</vt:lpstr>
      <vt:lpstr>方法的重载</vt:lpstr>
      <vt:lpstr>生活中的方法重载</vt:lpstr>
      <vt:lpstr>方法重载的代码示例</vt:lpstr>
      <vt:lpstr>方法重载的代码示例</vt:lpstr>
      <vt:lpstr>toString()方法 （特殊点强调）</vt:lpstr>
      <vt:lpstr>如何理解“消息”</vt:lpstr>
      <vt:lpstr>本节主要内容：</vt:lpstr>
      <vt:lpstr>创建对象</vt:lpstr>
      <vt:lpstr>构造函数(Constructor)</vt:lpstr>
      <vt:lpstr>构造方法重载</vt:lpstr>
      <vt:lpstr>为什么需要构造方法</vt:lpstr>
      <vt:lpstr>为什么需要构造方法</vt:lpstr>
      <vt:lpstr>不带参数构造方法（默认构造方法）</vt:lpstr>
      <vt:lpstr>带参数的构造方法</vt:lpstr>
      <vt:lpstr>带参数的构造方法</vt:lpstr>
      <vt:lpstr>带参数的构造方法</vt:lpstr>
      <vt:lpstr>构造函数(Constructor)</vt:lpstr>
      <vt:lpstr>不带参数构造方法（默认构造方法）</vt:lpstr>
      <vt:lpstr>不带参数构造方法（默认构造方法）</vt:lpstr>
      <vt:lpstr>不带参数构造方法（默认构造方法）</vt:lpstr>
      <vt:lpstr>构造方法重载</vt:lpstr>
      <vt:lpstr>构造方法重载是方法重载的典型示例</vt:lpstr>
      <vt:lpstr>通过调用不同的构造方法来表达对象的多种初始化行为</vt:lpstr>
      <vt:lpstr>回答问题</vt:lpstr>
      <vt:lpstr>回答问题</vt:lpstr>
      <vt:lpstr>本节主要内容：</vt:lpstr>
      <vt:lpstr>The Unified Modeling Language (UML)</vt:lpstr>
      <vt:lpstr>The Unified Modeling Language (UML)</vt:lpstr>
      <vt:lpstr>类图</vt:lpstr>
      <vt:lpstr>类图</vt:lpstr>
      <vt:lpstr>类图-类的关系</vt:lpstr>
      <vt:lpstr>类之间的关系</vt:lpstr>
      <vt:lpstr>关联关系(Association)</vt:lpstr>
      <vt:lpstr>客户和订单的关联关系</vt:lpstr>
      <vt:lpstr>Customer类关联Order类</vt:lpstr>
      <vt:lpstr>Order类关联Customer类</vt:lpstr>
      <vt:lpstr>依赖关系(Dependency)</vt:lpstr>
      <vt:lpstr>案例分析：</vt:lpstr>
      <vt:lpstr>代码分析（Mouse类）</vt:lpstr>
      <vt:lpstr>代码分析（Dog类）</vt:lpstr>
      <vt:lpstr>聚集关系(Aggregation)</vt:lpstr>
      <vt:lpstr>组合</vt:lpstr>
      <vt:lpstr>泛化关系(Generalization)</vt:lpstr>
      <vt:lpstr>实现关系(Realization)</vt:lpstr>
      <vt:lpstr>谢谢大家！</vt:lpstr>
    </vt:vector>
  </TitlesOfParts>
  <Company>Weatherford Intl.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使用已经存在的类： 继承(inheritance) “is a”</dc:title>
  <dc:creator>dell</dc:creator>
  <cp:lastModifiedBy>Gao Xiang</cp:lastModifiedBy>
  <cp:revision>586</cp:revision>
  <dcterms:created xsi:type="dcterms:W3CDTF">2018-12-19T03:40:53Z</dcterms:created>
  <dcterms:modified xsi:type="dcterms:W3CDTF">2025-09-18T07:27:57Z</dcterms:modified>
</cp:coreProperties>
</file>